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80" r:id="rId7"/>
    <p:sldId id="281" r:id="rId8"/>
    <p:sldId id="289" r:id="rId9"/>
    <p:sldId id="290" r:id="rId10"/>
    <p:sldId id="283" r:id="rId11"/>
    <p:sldId id="282" r:id="rId12"/>
    <p:sldId id="267" r:id="rId13"/>
    <p:sldId id="268" r:id="rId14"/>
    <p:sldId id="269" r:id="rId15"/>
    <p:sldId id="270" r:id="rId16"/>
    <p:sldId id="291" r:id="rId17"/>
    <p:sldId id="271" r:id="rId18"/>
    <p:sldId id="272" r:id="rId19"/>
    <p:sldId id="273" r:id="rId20"/>
    <p:sldId id="274" r:id="rId21"/>
    <p:sldId id="275" r:id="rId22"/>
    <p:sldId id="276" r:id="rId23"/>
    <p:sldId id="277" r:id="rId24"/>
    <p:sldId id="278"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27"/>
    <p:restoredTop sz="95928"/>
  </p:normalViewPr>
  <p:slideViewPr>
    <p:cSldViewPr snapToGrid="0" snapToObjects="1">
      <p:cViewPr varScale="1">
        <p:scale>
          <a:sx n="115" d="100"/>
          <a:sy n="115" d="100"/>
        </p:scale>
        <p:origin x="304"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BE2D20-5FEE-A046-99EE-9372D728C7B5}" type="datetimeFigureOut">
              <a:rPr lang="en-US" smtClean="0"/>
              <a:t>9/26/26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92FACB-1B92-8A4F-A400-6D400849E4F3}" type="slidenum">
              <a:rPr lang="en-US" smtClean="0"/>
              <a:t>‹#›</a:t>
            </a:fld>
            <a:endParaRPr lang="en-US"/>
          </a:p>
        </p:txBody>
      </p:sp>
    </p:spTree>
    <p:extLst>
      <p:ext uri="{BB962C8B-B14F-4D97-AF65-F5344CB8AC3E}">
        <p14:creationId xmlns:p14="http://schemas.microsoft.com/office/powerpoint/2010/main" val="3667741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0:00 – 0:39</a:t>
            </a:r>
          </a:p>
          <a:p>
            <a:r>
              <a:rPr lang="en-US" dirty="0"/>
              <a:t>Good morning. Every year, most of the Northern Territory burns. That is not a disaster — that is the season. What decides whether a fire is a management tool or a catastrophe is not whether it</a:t>
            </a:r>
          </a:p>
          <a:p>
            <a:r>
              <a:rPr lang="en-US" dirty="0"/>
              <a:t>happens. It is when.</a:t>
            </a:r>
          </a:p>
          <a:p>
            <a:endParaRPr lang="en-US" dirty="0"/>
          </a:p>
          <a:p>
            <a:r>
              <a:rPr lang="en-US" dirty="0"/>
              <a:t>We are Group 85 — I am Harsh Rastogi, with Saira Zafar and Tharushi </a:t>
            </a:r>
            <a:r>
              <a:rPr lang="en-US" dirty="0" err="1"/>
              <a:t>Wimalachandra</a:t>
            </a:r>
            <a:r>
              <a:rPr lang="en-US" dirty="0"/>
              <a:t>. Our project is </a:t>
            </a:r>
            <a:r>
              <a:rPr lang="en-US" dirty="0" err="1"/>
              <a:t>Pyrantis</a:t>
            </a:r>
            <a:r>
              <a:rPr lang="en-US" dirty="0"/>
              <a:t>. For every five-</a:t>
            </a:r>
            <a:r>
              <a:rPr lang="en-US" dirty="0" err="1"/>
              <a:t>kilometre</a:t>
            </a:r>
            <a:r>
              <a:rPr lang="en-US" dirty="0"/>
              <a:t> square of the Territory, for every year since 2000, we classify what happened — no fire, a fire before August, or a fire after July — and then we forecast 2026.</a:t>
            </a:r>
          </a:p>
        </p:txBody>
      </p:sp>
      <p:sp>
        <p:nvSpPr>
          <p:cNvPr id="4" name="Slide Number Placeholder 3"/>
          <p:cNvSpPr>
            <a:spLocks noGrp="1"/>
          </p:cNvSpPr>
          <p:nvPr>
            <p:ph type="sldNum" sz="quarter" idx="5"/>
          </p:nvPr>
        </p:nvSpPr>
        <p:spPr/>
        <p:txBody>
          <a:bodyPr/>
          <a:lstStyle/>
          <a:p>
            <a:fld id="{B692FACB-1B92-8A4F-A400-6D400849E4F3}" type="slidenum">
              <a:rPr lang="en-US" smtClean="0"/>
              <a:t>1</a:t>
            </a:fld>
            <a:endParaRPr lang="en-US"/>
          </a:p>
        </p:txBody>
      </p:sp>
    </p:spTree>
    <p:extLst>
      <p:ext uri="{BB962C8B-B14F-4D97-AF65-F5344CB8AC3E}">
        <p14:creationId xmlns:p14="http://schemas.microsoft.com/office/powerpoint/2010/main" val="3828206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0:41 – 1:11</a:t>
            </a:r>
          </a:p>
          <a:p>
            <a:r>
              <a:rPr lang="en-US" dirty="0"/>
              <a:t>Across 2000 to 2025, roughly a third of the Territory carried a fire in any given year — 1.2 million square-years of record, across 46,000 map squares. Look at the split. 69% of those square-years saw no fire. 14.1% burned before August. 16.9% burned after July. Hold on to that imbalance, because the rarest answer is the one we care about most.</a:t>
            </a:r>
          </a:p>
        </p:txBody>
      </p:sp>
      <p:sp>
        <p:nvSpPr>
          <p:cNvPr id="4" name="Slide Number Placeholder 3"/>
          <p:cNvSpPr>
            <a:spLocks noGrp="1"/>
          </p:cNvSpPr>
          <p:nvPr>
            <p:ph type="sldNum" sz="quarter" idx="5"/>
          </p:nvPr>
        </p:nvSpPr>
        <p:spPr/>
        <p:txBody>
          <a:bodyPr/>
          <a:lstStyle/>
          <a:p>
            <a:fld id="{B692FACB-1B92-8A4F-A400-6D400849E4F3}" type="slidenum">
              <a:rPr lang="en-US" smtClean="0"/>
              <a:t>2</a:t>
            </a:fld>
            <a:endParaRPr lang="en-US"/>
          </a:p>
        </p:txBody>
      </p:sp>
    </p:spTree>
    <p:extLst>
      <p:ext uri="{BB962C8B-B14F-4D97-AF65-F5344CB8AC3E}">
        <p14:creationId xmlns:p14="http://schemas.microsoft.com/office/powerpoint/2010/main" val="2092706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August the country is still damp. Fires are cool and they leave a patchwork — rangers light these deliberately to break up the fuel. After July the grass has cured, and fires run with the wind, hot enough to kill canopy and take out fences, stock and country in an afternoon.</a:t>
            </a:r>
          </a:p>
          <a:p>
            <a:r>
              <a:rPr lang="en-US" dirty="0"/>
              <a:t>And it compounds. In the Top End, country burned early carries a late fire the next year about 20.1% of the time, against 31.9% for country left alone. Territory-wide that reverses, because the arid south runs on a different clock — which is why we predict square by square, not region by region.</a:t>
            </a:r>
          </a:p>
        </p:txBody>
      </p:sp>
      <p:sp>
        <p:nvSpPr>
          <p:cNvPr id="4" name="Slide Number Placeholder 3"/>
          <p:cNvSpPr>
            <a:spLocks noGrp="1"/>
          </p:cNvSpPr>
          <p:nvPr>
            <p:ph type="sldNum" sz="quarter" idx="5"/>
          </p:nvPr>
        </p:nvSpPr>
        <p:spPr/>
        <p:txBody>
          <a:bodyPr/>
          <a:lstStyle/>
          <a:p>
            <a:fld id="{B692FACB-1B92-8A4F-A400-6D400849E4F3}" type="slidenum">
              <a:rPr lang="en-US" smtClean="0"/>
              <a:t>3</a:t>
            </a:fld>
            <a:endParaRPr lang="en-US"/>
          </a:p>
        </p:txBody>
      </p:sp>
    </p:spTree>
    <p:extLst>
      <p:ext uri="{BB962C8B-B14F-4D97-AF65-F5344CB8AC3E}">
        <p14:creationId xmlns:p14="http://schemas.microsoft.com/office/powerpoint/2010/main" val="945982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question we set is a 3-class problem. For every square, for every year: unburnt, early, or late.</a:t>
            </a:r>
          </a:p>
          <a:p>
            <a:r>
              <a:rPr lang="en-US" dirty="0"/>
              <a:t>Early means first detected on or before the 31st of July; late means after it. That date is not ours — it is the line the Territory’s own fire management uses, so the classes mean something to the people who would act on them.</a:t>
            </a:r>
          </a:p>
        </p:txBody>
      </p:sp>
      <p:sp>
        <p:nvSpPr>
          <p:cNvPr id="4" name="Slide Number Placeholder 3"/>
          <p:cNvSpPr>
            <a:spLocks noGrp="1"/>
          </p:cNvSpPr>
          <p:nvPr>
            <p:ph type="sldNum" sz="quarter" idx="5"/>
          </p:nvPr>
        </p:nvSpPr>
        <p:spPr/>
        <p:txBody>
          <a:bodyPr/>
          <a:lstStyle/>
          <a:p>
            <a:fld id="{B692FACB-1B92-8A4F-A400-6D400849E4F3}" type="slidenum">
              <a:rPr lang="en-US" smtClean="0"/>
              <a:t>4</a:t>
            </a:fld>
            <a:endParaRPr lang="en-US"/>
          </a:p>
        </p:txBody>
      </p:sp>
    </p:spTree>
    <p:extLst>
      <p:ext uri="{BB962C8B-B14F-4D97-AF65-F5344CB8AC3E}">
        <p14:creationId xmlns:p14="http://schemas.microsoft.com/office/powerpoint/2010/main" val="3396739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NAFI gives us 250-metre burnt-area rasters back to 2000, and each pixel carries the month it was</a:t>
            </a:r>
          </a:p>
          <a:p>
            <a:r>
              <a:rPr lang="en-US" dirty="0"/>
              <a:t>detected — which is what makes an early-or-late label possible at all. SILO gives us daily weather on the same grid. And MODIS gives us satellite greenness: how much fuel is standing when the dry</a:t>
            </a:r>
          </a:p>
          <a:p>
            <a:r>
              <a:rPr lang="en-US" dirty="0"/>
              <a:t>arrives.</a:t>
            </a:r>
          </a:p>
          <a:p>
            <a:r>
              <a:rPr lang="en-US" dirty="0"/>
              <a:t>All three are open data, cited in the report. Nothing here sits behind a login. That leaves 50 features across 966,819 rows.</a:t>
            </a:r>
          </a:p>
          <a:p>
            <a:r>
              <a:rPr lang="en-US" dirty="0"/>
              <a:t>Saira will take you through how we turned that into something a model can learn from.</a:t>
            </a:r>
          </a:p>
        </p:txBody>
      </p:sp>
      <p:sp>
        <p:nvSpPr>
          <p:cNvPr id="4" name="Slide Number Placeholder 3"/>
          <p:cNvSpPr>
            <a:spLocks noGrp="1"/>
          </p:cNvSpPr>
          <p:nvPr>
            <p:ph type="sldNum" sz="quarter" idx="5"/>
          </p:nvPr>
        </p:nvSpPr>
        <p:spPr/>
        <p:txBody>
          <a:bodyPr/>
          <a:lstStyle/>
          <a:p>
            <a:fld id="{B692FACB-1B92-8A4F-A400-6D400849E4F3}" type="slidenum">
              <a:rPr lang="en-US" smtClean="0"/>
              <a:t>5</a:t>
            </a:fld>
            <a:endParaRPr lang="en-US"/>
          </a:p>
        </p:txBody>
      </p:sp>
    </p:spTree>
    <p:extLst>
      <p:ext uri="{BB962C8B-B14F-4D97-AF65-F5344CB8AC3E}">
        <p14:creationId xmlns:p14="http://schemas.microsoft.com/office/powerpoint/2010/main" val="2381472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06CD75-E53E-4D8E-8A6A-3E2099CE312E}" type="slidenum">
              <a:rPr lang="en-US" smtClean="0"/>
              <a:t>6</a:t>
            </a:fld>
            <a:endParaRPr lang="en-US"/>
          </a:p>
        </p:txBody>
      </p:sp>
    </p:spTree>
    <p:extLst>
      <p:ext uri="{BB962C8B-B14F-4D97-AF65-F5344CB8AC3E}">
        <p14:creationId xmlns:p14="http://schemas.microsoft.com/office/powerpoint/2010/main" val="3946278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06CD75-E53E-4D8E-8A6A-3E2099CE312E}" type="slidenum">
              <a:rPr lang="en-US" smtClean="0"/>
              <a:t>7</a:t>
            </a:fld>
            <a:endParaRPr lang="en-US"/>
          </a:p>
        </p:txBody>
      </p:sp>
    </p:spTree>
    <p:extLst>
      <p:ext uri="{BB962C8B-B14F-4D97-AF65-F5344CB8AC3E}">
        <p14:creationId xmlns:p14="http://schemas.microsoft.com/office/powerpoint/2010/main" val="3652635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06CD75-E53E-4D8E-8A6A-3E2099CE312E}" type="slidenum">
              <a:rPr lang="en-US" smtClean="0"/>
              <a:t>8</a:t>
            </a:fld>
            <a:endParaRPr lang="en-US"/>
          </a:p>
        </p:txBody>
      </p:sp>
    </p:spTree>
    <p:extLst>
      <p:ext uri="{BB962C8B-B14F-4D97-AF65-F5344CB8AC3E}">
        <p14:creationId xmlns:p14="http://schemas.microsoft.com/office/powerpoint/2010/main" val="1269510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06CD75-E53E-4D8E-8A6A-3E2099CE312E}" type="slidenum">
              <a:rPr lang="en-US" smtClean="0"/>
              <a:t>9</a:t>
            </a:fld>
            <a:endParaRPr lang="en-US"/>
          </a:p>
        </p:txBody>
      </p:sp>
    </p:spTree>
    <p:extLst>
      <p:ext uri="{BB962C8B-B14F-4D97-AF65-F5344CB8AC3E}">
        <p14:creationId xmlns:p14="http://schemas.microsoft.com/office/powerpoint/2010/main" val="2484742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06CD75-E53E-4D8E-8A6A-3E2099CE312E}" type="slidenum">
              <a:rPr lang="en-US" smtClean="0"/>
              <a:t>10</a:t>
            </a:fld>
            <a:endParaRPr lang="en-US"/>
          </a:p>
        </p:txBody>
      </p:sp>
    </p:spTree>
    <p:extLst>
      <p:ext uri="{BB962C8B-B14F-4D97-AF65-F5344CB8AC3E}">
        <p14:creationId xmlns:p14="http://schemas.microsoft.com/office/powerpoint/2010/main" val="3550368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models. As per requirement we used 5 model — decision tree, random forest, naive Bayes, a multilayer network, and an LSTM reading the twenty-six-year sequence — plus gradient boosting, which won. And two baselines: whatever happened last year, and always say unburnt. A model that cannot beat those has learned nothing. One correction mattered enormously. Late fires are the rarest thing on the map and the thing we care about most. Left unweighted, every model quietly stopped predicting them — it is cheaper to be right about the common answer. Weighting makes that trade expensive. For gradient boosting the score on late fires goes from 0.42 to 0.55. Same model, same data, same split. </a:t>
            </a:r>
            <a:r>
              <a:rPr lang="en-US" dirty="0" err="1"/>
              <a:t>Tharushi</a:t>
            </a:r>
            <a:r>
              <a:rPr lang="en-US" dirty="0"/>
              <a:t> will tell you whether any of this actually works</a:t>
            </a:r>
          </a:p>
        </p:txBody>
      </p:sp>
      <p:sp>
        <p:nvSpPr>
          <p:cNvPr id="4" name="Slide Number Placeholder 3"/>
          <p:cNvSpPr>
            <a:spLocks noGrp="1"/>
          </p:cNvSpPr>
          <p:nvPr>
            <p:ph type="sldNum" sz="quarter" idx="5"/>
          </p:nvPr>
        </p:nvSpPr>
        <p:spPr/>
        <p:txBody>
          <a:bodyPr/>
          <a:lstStyle/>
          <a:p>
            <a:fld id="{0306CD75-E53E-4D8E-8A6A-3E2099CE312E}" type="slidenum">
              <a:rPr lang="en-US" smtClean="0"/>
              <a:t>11</a:t>
            </a:fld>
            <a:endParaRPr lang="en-US"/>
          </a:p>
        </p:txBody>
      </p:sp>
    </p:spTree>
    <p:extLst>
      <p:ext uri="{BB962C8B-B14F-4D97-AF65-F5344CB8AC3E}">
        <p14:creationId xmlns:p14="http://schemas.microsoft.com/office/powerpoint/2010/main" val="2719939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06CD75-E53E-4D8E-8A6A-3E2099CE312E}" type="slidenum">
              <a:rPr lang="en-US" smtClean="0"/>
              <a:t>12</a:t>
            </a:fld>
            <a:endParaRPr lang="en-US"/>
          </a:p>
        </p:txBody>
      </p:sp>
    </p:spTree>
    <p:extLst>
      <p:ext uri="{BB962C8B-B14F-4D97-AF65-F5344CB8AC3E}">
        <p14:creationId xmlns:p14="http://schemas.microsoft.com/office/powerpoint/2010/main" val="9718863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06CD75-E53E-4D8E-8A6A-3E2099CE312E}" type="slidenum">
              <a:rPr lang="en-US" smtClean="0"/>
              <a:t>13</a:t>
            </a:fld>
            <a:endParaRPr lang="en-US"/>
          </a:p>
        </p:txBody>
      </p:sp>
    </p:spTree>
    <p:extLst>
      <p:ext uri="{BB962C8B-B14F-4D97-AF65-F5344CB8AC3E}">
        <p14:creationId xmlns:p14="http://schemas.microsoft.com/office/powerpoint/2010/main" val="2206787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306CD75-E53E-4D8E-8A6A-3E2099CE312E}" type="slidenum">
              <a:rPr lang="en-US" smtClean="0"/>
              <a:t>14</a:t>
            </a:fld>
            <a:endParaRPr lang="en-US"/>
          </a:p>
        </p:txBody>
      </p:sp>
    </p:spTree>
    <p:extLst>
      <p:ext uri="{BB962C8B-B14F-4D97-AF65-F5344CB8AC3E}">
        <p14:creationId xmlns:p14="http://schemas.microsoft.com/office/powerpoint/2010/main" val="27669044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06CD75-E53E-4D8E-8A6A-3E2099CE312E}" type="slidenum">
              <a:rPr lang="en-US" smtClean="0"/>
              <a:t>15</a:t>
            </a:fld>
            <a:endParaRPr lang="en-US"/>
          </a:p>
        </p:txBody>
      </p:sp>
    </p:spTree>
    <p:extLst>
      <p:ext uri="{BB962C8B-B14F-4D97-AF65-F5344CB8AC3E}">
        <p14:creationId xmlns:p14="http://schemas.microsoft.com/office/powerpoint/2010/main" val="1596307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0306CD75-E53E-4D8E-8A6A-3E2099CE312E}" type="slidenum">
              <a:rPr lang="en-US" smtClean="0"/>
              <a:t>16</a:t>
            </a:fld>
            <a:endParaRPr lang="en-US"/>
          </a:p>
        </p:txBody>
      </p:sp>
    </p:spTree>
    <p:extLst>
      <p:ext uri="{BB962C8B-B14F-4D97-AF65-F5344CB8AC3E}">
        <p14:creationId xmlns:p14="http://schemas.microsoft.com/office/powerpoint/2010/main" val="1596307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06CD75-E53E-4D8E-8A6A-3E2099CE312E}" type="slidenum">
              <a:rPr lang="en-US" smtClean="0"/>
              <a:t>17</a:t>
            </a:fld>
            <a:endParaRPr lang="en-US"/>
          </a:p>
        </p:txBody>
      </p:sp>
    </p:spTree>
    <p:extLst>
      <p:ext uri="{BB962C8B-B14F-4D97-AF65-F5344CB8AC3E}">
        <p14:creationId xmlns:p14="http://schemas.microsoft.com/office/powerpoint/2010/main" val="6004646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306CD75-E53E-4D8E-8A6A-3E2099CE312E}" type="slidenum">
              <a:rPr lang="en-US" smtClean="0"/>
              <a:t>18</a:t>
            </a:fld>
            <a:endParaRPr lang="en-US"/>
          </a:p>
        </p:txBody>
      </p:sp>
    </p:spTree>
    <p:extLst>
      <p:ext uri="{BB962C8B-B14F-4D97-AF65-F5344CB8AC3E}">
        <p14:creationId xmlns:p14="http://schemas.microsoft.com/office/powerpoint/2010/main" val="19747342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306CD75-E53E-4D8E-8A6A-3E2099CE312E}" type="slidenum">
              <a:rPr lang="en-US" smtClean="0"/>
              <a:t>19</a:t>
            </a:fld>
            <a:endParaRPr lang="en-US"/>
          </a:p>
        </p:txBody>
      </p:sp>
    </p:spTree>
    <p:extLst>
      <p:ext uri="{BB962C8B-B14F-4D97-AF65-F5344CB8AC3E}">
        <p14:creationId xmlns:p14="http://schemas.microsoft.com/office/powerpoint/2010/main" val="15225262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Tharushi. The last part is the 2026 forecast, and the site we built for it.</a:t>
            </a:r>
          </a:p>
        </p:txBody>
      </p:sp>
      <p:sp>
        <p:nvSpPr>
          <p:cNvPr id="4" name="Slide Number Placeholder 3"/>
          <p:cNvSpPr>
            <a:spLocks noGrp="1"/>
          </p:cNvSpPr>
          <p:nvPr>
            <p:ph type="sldNum" sz="quarter" idx="5"/>
          </p:nvPr>
        </p:nvSpPr>
        <p:spPr/>
        <p:txBody>
          <a:bodyPr/>
          <a:lstStyle/>
          <a:p>
            <a:fld id="{B692FACB-1B92-8A4F-A400-6D400849E4F3}" type="slidenum">
              <a:rPr lang="en-US" smtClean="0"/>
              <a:t>20</a:t>
            </a:fld>
            <a:endParaRPr lang="en-US"/>
          </a:p>
        </p:txBody>
      </p:sp>
    </p:spTree>
    <p:extLst>
      <p:ext uri="{BB962C8B-B14F-4D97-AF65-F5344CB8AC3E}">
        <p14:creationId xmlns:p14="http://schemas.microsoft.com/office/powerpoint/2010/main" val="21198088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2026.</a:t>
            </a:r>
          </a:p>
          <a:p>
            <a:r>
              <a:rPr lang="en-US" dirty="0"/>
              <a:t>The model expects 51% of the Territory to burn this year, against a 26-year average of 33%. 49.2% before August, 36.4% after July. A heavy year, and most of what is left will burn late.</a:t>
            </a:r>
          </a:p>
          <a:p>
            <a:r>
              <a:rPr lang="en-US" dirty="0"/>
              <a:t>It reads that out of a wet season that delivered 783 </a:t>
            </a:r>
            <a:r>
              <a:rPr lang="en-US" dirty="0" err="1"/>
              <a:t>millimetres</a:t>
            </a:r>
            <a:r>
              <a:rPr lang="en-US" dirty="0"/>
              <a:t> — 45% above the 2005 to 2019 average, and the second wettest in 22 years — together with the greenest April on record. More water grew more grass. More grass is more fuel. Mean confidence across the map is 0.733. And because no fire scars exist for 2026 yet, this is not a result — it is a claim we can be held to in 2027.</a:t>
            </a:r>
          </a:p>
        </p:txBody>
      </p:sp>
      <p:sp>
        <p:nvSpPr>
          <p:cNvPr id="4" name="Slide Number Placeholder 3"/>
          <p:cNvSpPr>
            <a:spLocks noGrp="1"/>
          </p:cNvSpPr>
          <p:nvPr>
            <p:ph type="sldNum" sz="quarter" idx="5"/>
          </p:nvPr>
        </p:nvSpPr>
        <p:spPr/>
        <p:txBody>
          <a:bodyPr/>
          <a:lstStyle/>
          <a:p>
            <a:fld id="{B692FACB-1B92-8A4F-A400-6D400849E4F3}" type="slidenum">
              <a:rPr lang="en-US" smtClean="0"/>
              <a:t>21</a:t>
            </a:fld>
            <a:endParaRPr lang="en-US"/>
          </a:p>
        </p:txBody>
      </p:sp>
    </p:spTree>
    <p:extLst>
      <p:ext uri="{BB962C8B-B14F-4D97-AF65-F5344CB8AC3E}">
        <p14:creationId xmlns:p14="http://schemas.microsoft.com/office/powerpoint/2010/main" val="36061404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shipped it.</a:t>
            </a:r>
          </a:p>
          <a:p>
            <a:r>
              <a:rPr lang="en-US" dirty="0"/>
              <a:t>This is a public site. It answers the question in plain English first, then puts the map, the 26-year record and the evidence underneath. You can click any square, or pick any of 41 named towns.</a:t>
            </a:r>
          </a:p>
          <a:p>
            <a:r>
              <a:rPr lang="en-US" dirty="0"/>
              <a:t>Every sentence on it is computed from the model output, so it updates when the data does.</a:t>
            </a:r>
          </a:p>
        </p:txBody>
      </p:sp>
      <p:sp>
        <p:nvSpPr>
          <p:cNvPr id="4" name="Slide Number Placeholder 3"/>
          <p:cNvSpPr>
            <a:spLocks noGrp="1"/>
          </p:cNvSpPr>
          <p:nvPr>
            <p:ph type="sldNum" sz="quarter" idx="5"/>
          </p:nvPr>
        </p:nvSpPr>
        <p:spPr/>
        <p:txBody>
          <a:bodyPr/>
          <a:lstStyle/>
          <a:p>
            <a:fld id="{B692FACB-1B92-8A4F-A400-6D400849E4F3}" type="slidenum">
              <a:rPr lang="en-US" smtClean="0"/>
              <a:t>22</a:t>
            </a:fld>
            <a:endParaRPr lang="en-US"/>
          </a:p>
        </p:txBody>
      </p:sp>
    </p:spTree>
    <p:extLst>
      <p:ext uri="{BB962C8B-B14F-4D97-AF65-F5344CB8AC3E}">
        <p14:creationId xmlns:p14="http://schemas.microsoft.com/office/powerpoint/2010/main" val="26808196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a:t>
            </a:r>
          </a:p>
          <a:p>
            <a:r>
              <a:rPr lang="en-US" dirty="0"/>
              <a:t>Every square, every year, and an honest number on how often it is right. A balanced F1 of 0.684 on years the models never saw. 66 independent re-tests behind that figure. And a forecast of 51 for 2026 that can actually be checked.</a:t>
            </a:r>
          </a:p>
          <a:p>
            <a:r>
              <a:rPr lang="en-US" dirty="0"/>
              <a:t>Fire in the Territory is not going to stop, and it should not. Knowing in April which country is likely to carry an October fire is how a burning </a:t>
            </a:r>
            <a:r>
              <a:rPr lang="en-US" dirty="0" err="1"/>
              <a:t>programme</a:t>
            </a:r>
            <a:r>
              <a:rPr lang="en-US" dirty="0"/>
              <a:t> gets planned in time.</a:t>
            </a:r>
          </a:p>
          <a:p>
            <a:r>
              <a:rPr lang="en-US" dirty="0"/>
              <a:t>Everything — the code, the figures in this deck, and the site — is in the repository, and every source we used is referenced on the last two slides.</a:t>
            </a:r>
          </a:p>
        </p:txBody>
      </p:sp>
      <p:sp>
        <p:nvSpPr>
          <p:cNvPr id="4" name="Slide Number Placeholder 3"/>
          <p:cNvSpPr>
            <a:spLocks noGrp="1"/>
          </p:cNvSpPr>
          <p:nvPr>
            <p:ph type="sldNum" sz="quarter" idx="5"/>
          </p:nvPr>
        </p:nvSpPr>
        <p:spPr/>
        <p:txBody>
          <a:bodyPr/>
          <a:lstStyle/>
          <a:p>
            <a:fld id="{B692FACB-1B92-8A4F-A400-6D400849E4F3}" type="slidenum">
              <a:rPr lang="en-US" smtClean="0"/>
              <a:t>23</a:t>
            </a:fld>
            <a:endParaRPr lang="en-US"/>
          </a:p>
        </p:txBody>
      </p:sp>
    </p:spTree>
    <p:extLst>
      <p:ext uri="{BB962C8B-B14F-4D97-AF65-F5344CB8AC3E}">
        <p14:creationId xmlns:p14="http://schemas.microsoft.com/office/powerpoint/2010/main" val="2163742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BF9"/>
        </a:solidFill>
        <a:effectLst/>
      </p:bgPr>
    </p:bg>
    <p:spTree>
      <p:nvGrpSpPr>
        <p:cNvPr id="1" name=""/>
        <p:cNvGrpSpPr/>
        <p:nvPr/>
      </p:nvGrpSpPr>
      <p:grpSpPr>
        <a:xfrm>
          <a:off x="0" y="0"/>
          <a:ext cx="0" cy="0"/>
          <a:chOff x="0" y="0"/>
          <a:chExt cx="0" cy="0"/>
        </a:xfrm>
      </p:grpSpPr>
      <p:cxnSp>
        <p:nvCxnSpPr>
          <p:cNvPr id="2" name="Connector 1"/>
          <p:cNvCxnSpPr/>
          <p:nvPr/>
        </p:nvCxnSpPr>
        <p:spPr>
          <a:xfrm>
            <a:off x="749808" y="658368"/>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49808" y="822960"/>
            <a:ext cx="7079467" cy="219456"/>
          </a:xfrm>
          <a:prstGeom prst="rect">
            <a:avLst/>
          </a:prstGeom>
          <a:noFill/>
        </p:spPr>
        <p:txBody>
          <a:bodyPr wrap="square" lIns="0" tIns="0" rIns="0" bIns="0" anchor="t">
            <a:noAutofit/>
          </a:bodyPr>
          <a:lstStyle/>
          <a:p>
            <a:pPr algn="l">
              <a:lnSpc>
                <a:spcPct val="100000"/>
              </a:lnSpc>
            </a:pPr>
            <a:r>
              <a:rPr sz="950" b="0" spc="180">
                <a:solidFill>
                  <a:srgbClr val="787066"/>
                </a:solidFill>
                <a:latin typeface="Franklin Gothic Medium"/>
              </a:rPr>
              <a:t>CHARLES DARWIN UNIVERSITY</a:t>
            </a:r>
          </a:p>
        </p:txBody>
      </p:sp>
      <p:sp>
        <p:nvSpPr>
          <p:cNvPr id="4" name="TextBox 3"/>
          <p:cNvSpPr txBox="1"/>
          <p:nvPr/>
        </p:nvSpPr>
        <p:spPr>
          <a:xfrm>
            <a:off x="749808" y="1261872"/>
            <a:ext cx="7982689" cy="1280160"/>
          </a:xfrm>
          <a:prstGeom prst="rect">
            <a:avLst/>
          </a:prstGeom>
          <a:noFill/>
        </p:spPr>
        <p:txBody>
          <a:bodyPr wrap="square" lIns="0" tIns="0" rIns="0" bIns="0" anchor="t">
            <a:noAutofit/>
          </a:bodyPr>
          <a:lstStyle/>
          <a:p>
            <a:pPr algn="l">
              <a:lnSpc>
                <a:spcPct val="100000"/>
              </a:lnSpc>
            </a:pPr>
            <a:r>
              <a:rPr sz="7400" b="0" spc="-100" dirty="0">
                <a:solidFill>
                  <a:srgbClr val="16130F"/>
                </a:solidFill>
                <a:latin typeface="Georgia"/>
              </a:rPr>
              <a:t>PYRANTIS</a:t>
            </a:r>
          </a:p>
        </p:txBody>
      </p:sp>
      <p:cxnSp>
        <p:nvCxnSpPr>
          <p:cNvPr id="5" name="Connector 4"/>
          <p:cNvCxnSpPr/>
          <p:nvPr/>
        </p:nvCxnSpPr>
        <p:spPr>
          <a:xfrm>
            <a:off x="749808" y="2615184"/>
            <a:ext cx="7079467" cy="0"/>
          </a:xfrm>
          <a:prstGeom prst="line">
            <a:avLst/>
          </a:prstGeom>
          <a:ln w="30480">
            <a:solidFill>
              <a:srgbClr val="C8341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49808" y="2798064"/>
            <a:ext cx="7079467" cy="512064"/>
          </a:xfrm>
          <a:prstGeom prst="rect">
            <a:avLst/>
          </a:prstGeom>
          <a:noFill/>
        </p:spPr>
        <p:txBody>
          <a:bodyPr wrap="square" lIns="0" tIns="0" rIns="0" bIns="0" anchor="t">
            <a:noAutofit/>
          </a:bodyPr>
          <a:lstStyle/>
          <a:p>
            <a:pPr algn="l">
              <a:lnSpc>
                <a:spcPct val="124000"/>
              </a:lnSpc>
            </a:pPr>
            <a:r>
              <a:rPr sz="1900" b="0">
                <a:solidFill>
                  <a:srgbClr val="3A342E"/>
                </a:solidFill>
                <a:latin typeface="Georgia"/>
              </a:rPr>
              <a:t>Which country burns in the Northern Territory, and when</a:t>
            </a:r>
          </a:p>
        </p:txBody>
      </p:sp>
      <p:sp>
        <p:nvSpPr>
          <p:cNvPr id="7" name="TextBox 6"/>
          <p:cNvSpPr txBox="1"/>
          <p:nvPr/>
        </p:nvSpPr>
        <p:spPr>
          <a:xfrm>
            <a:off x="749808" y="3456432"/>
            <a:ext cx="6176246" cy="566928"/>
          </a:xfrm>
          <a:prstGeom prst="rect">
            <a:avLst/>
          </a:prstGeom>
          <a:noFill/>
        </p:spPr>
        <p:txBody>
          <a:bodyPr wrap="square" lIns="0" tIns="0" rIns="0" bIns="0" anchor="t">
            <a:noAutofit/>
          </a:bodyPr>
          <a:lstStyle/>
          <a:p>
            <a:pPr algn="l">
              <a:lnSpc>
                <a:spcPct val="144000"/>
              </a:lnSpc>
            </a:pPr>
            <a:r>
              <a:rPr sz="1200" b="0">
                <a:solidFill>
                  <a:srgbClr val="787066"/>
                </a:solidFill>
                <a:latin typeface="Franklin Gothic Book"/>
              </a:rPr>
              <a:t>Multi-class classification of 46,445 map squares across 26 fire years, and a forecast for 2026.</a:t>
            </a:r>
          </a:p>
        </p:txBody>
      </p:sp>
      <p:cxnSp>
        <p:nvCxnSpPr>
          <p:cNvPr id="8" name="Connector 7"/>
          <p:cNvCxnSpPr/>
          <p:nvPr/>
        </p:nvCxnSpPr>
        <p:spPr>
          <a:xfrm>
            <a:off x="749808" y="4315968"/>
            <a:ext cx="7079467"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49808" y="4535424"/>
            <a:ext cx="1051560" cy="201168"/>
          </a:xfrm>
          <a:prstGeom prst="rect">
            <a:avLst/>
          </a:prstGeom>
          <a:noFill/>
        </p:spPr>
        <p:txBody>
          <a:bodyPr wrap="square" lIns="0" tIns="0" rIns="0" bIns="0" anchor="t">
            <a:noAutofit/>
          </a:bodyPr>
          <a:lstStyle/>
          <a:p>
            <a:pPr algn="l">
              <a:lnSpc>
                <a:spcPct val="100000"/>
              </a:lnSpc>
            </a:pPr>
            <a:r>
              <a:rPr sz="900" b="0" spc="90">
                <a:solidFill>
                  <a:srgbClr val="A79D91"/>
                </a:solidFill>
                <a:latin typeface="Franklin Gothic Medium"/>
              </a:rPr>
              <a:t>UNIT</a:t>
            </a:r>
          </a:p>
        </p:txBody>
      </p:sp>
      <p:sp>
        <p:nvSpPr>
          <p:cNvPr id="10" name="TextBox 9"/>
          <p:cNvSpPr txBox="1"/>
          <p:nvPr/>
        </p:nvSpPr>
        <p:spPr>
          <a:xfrm>
            <a:off x="1847088" y="4507992"/>
            <a:ext cx="3520440" cy="219456"/>
          </a:xfrm>
          <a:prstGeom prst="rect">
            <a:avLst/>
          </a:prstGeom>
          <a:noFill/>
        </p:spPr>
        <p:txBody>
          <a:bodyPr wrap="square" lIns="0" tIns="0" rIns="0" bIns="0" anchor="t">
            <a:noAutofit/>
          </a:bodyPr>
          <a:lstStyle/>
          <a:p>
            <a:pPr algn="l">
              <a:lnSpc>
                <a:spcPct val="100000"/>
              </a:lnSpc>
            </a:pPr>
            <a:r>
              <a:rPr sz="1000" b="0">
                <a:solidFill>
                  <a:srgbClr val="3A342E"/>
                </a:solidFill>
                <a:latin typeface="Franklin Gothic Book"/>
              </a:rPr>
              <a:t>Machine Learning, Artificial Intelligence and Algorithms</a:t>
            </a:r>
          </a:p>
        </p:txBody>
      </p:sp>
      <p:sp>
        <p:nvSpPr>
          <p:cNvPr id="11" name="TextBox 10"/>
          <p:cNvSpPr txBox="1"/>
          <p:nvPr/>
        </p:nvSpPr>
        <p:spPr>
          <a:xfrm>
            <a:off x="749808" y="4901184"/>
            <a:ext cx="1051560" cy="201168"/>
          </a:xfrm>
          <a:prstGeom prst="rect">
            <a:avLst/>
          </a:prstGeom>
          <a:noFill/>
        </p:spPr>
        <p:txBody>
          <a:bodyPr wrap="square" lIns="0" tIns="0" rIns="0" bIns="0" anchor="t">
            <a:noAutofit/>
          </a:bodyPr>
          <a:lstStyle/>
          <a:p>
            <a:pPr algn="l">
              <a:lnSpc>
                <a:spcPct val="100000"/>
              </a:lnSpc>
            </a:pPr>
            <a:r>
              <a:rPr sz="900" b="0" spc="90">
                <a:solidFill>
                  <a:srgbClr val="A79D91"/>
                </a:solidFill>
                <a:latin typeface="Franklin Gothic Medium"/>
              </a:rPr>
              <a:t>UNIT CODE</a:t>
            </a:r>
          </a:p>
        </p:txBody>
      </p:sp>
      <p:sp>
        <p:nvSpPr>
          <p:cNvPr id="12" name="TextBox 11"/>
          <p:cNvSpPr txBox="1"/>
          <p:nvPr/>
        </p:nvSpPr>
        <p:spPr>
          <a:xfrm>
            <a:off x="1847088" y="4873752"/>
            <a:ext cx="3520440" cy="219456"/>
          </a:xfrm>
          <a:prstGeom prst="rect">
            <a:avLst/>
          </a:prstGeom>
          <a:noFill/>
        </p:spPr>
        <p:txBody>
          <a:bodyPr wrap="square" lIns="0" tIns="0" rIns="0" bIns="0" anchor="t">
            <a:noAutofit/>
          </a:bodyPr>
          <a:lstStyle/>
          <a:p>
            <a:pPr algn="l">
              <a:lnSpc>
                <a:spcPct val="100000"/>
              </a:lnSpc>
            </a:pPr>
            <a:r>
              <a:rPr sz="1000" b="0">
                <a:solidFill>
                  <a:srgbClr val="3A342E"/>
                </a:solidFill>
                <a:latin typeface="Franklin Gothic Book"/>
              </a:rPr>
              <a:t>PRT565</a:t>
            </a:r>
          </a:p>
        </p:txBody>
      </p:sp>
      <p:sp>
        <p:nvSpPr>
          <p:cNvPr id="13" name="TextBox 12"/>
          <p:cNvSpPr txBox="1"/>
          <p:nvPr/>
        </p:nvSpPr>
        <p:spPr>
          <a:xfrm>
            <a:off x="749808" y="5266944"/>
            <a:ext cx="1051560" cy="201168"/>
          </a:xfrm>
          <a:prstGeom prst="rect">
            <a:avLst/>
          </a:prstGeom>
          <a:noFill/>
        </p:spPr>
        <p:txBody>
          <a:bodyPr wrap="square" lIns="0" tIns="0" rIns="0" bIns="0" anchor="t">
            <a:noAutofit/>
          </a:bodyPr>
          <a:lstStyle/>
          <a:p>
            <a:pPr algn="l">
              <a:lnSpc>
                <a:spcPct val="100000"/>
              </a:lnSpc>
            </a:pPr>
            <a:r>
              <a:rPr sz="900" b="0" spc="90">
                <a:solidFill>
                  <a:srgbClr val="A79D91"/>
                </a:solidFill>
                <a:latin typeface="Franklin Gothic Medium"/>
              </a:rPr>
              <a:t>ASSESSMENT</a:t>
            </a:r>
          </a:p>
        </p:txBody>
      </p:sp>
      <p:sp>
        <p:nvSpPr>
          <p:cNvPr id="14" name="TextBox 13"/>
          <p:cNvSpPr txBox="1"/>
          <p:nvPr/>
        </p:nvSpPr>
        <p:spPr>
          <a:xfrm>
            <a:off x="1847088" y="5239512"/>
            <a:ext cx="3520440" cy="219456"/>
          </a:xfrm>
          <a:prstGeom prst="rect">
            <a:avLst/>
          </a:prstGeom>
          <a:noFill/>
        </p:spPr>
        <p:txBody>
          <a:bodyPr wrap="square" lIns="0" tIns="0" rIns="0" bIns="0" anchor="t">
            <a:noAutofit/>
          </a:bodyPr>
          <a:lstStyle/>
          <a:p>
            <a:pPr algn="l">
              <a:lnSpc>
                <a:spcPct val="100000"/>
              </a:lnSpc>
            </a:pPr>
            <a:r>
              <a:rPr sz="1000" b="0">
                <a:solidFill>
                  <a:srgbClr val="3A342E"/>
                </a:solidFill>
                <a:latin typeface="Franklin Gothic Book"/>
              </a:rPr>
              <a:t>Assessment 3 — Presentation</a:t>
            </a:r>
          </a:p>
        </p:txBody>
      </p:sp>
      <p:sp>
        <p:nvSpPr>
          <p:cNvPr id="15" name="TextBox 14"/>
          <p:cNvSpPr txBox="1"/>
          <p:nvPr/>
        </p:nvSpPr>
        <p:spPr>
          <a:xfrm>
            <a:off x="749808" y="5632704"/>
            <a:ext cx="1051560" cy="201168"/>
          </a:xfrm>
          <a:prstGeom prst="rect">
            <a:avLst/>
          </a:prstGeom>
          <a:noFill/>
        </p:spPr>
        <p:txBody>
          <a:bodyPr wrap="square" lIns="0" tIns="0" rIns="0" bIns="0" anchor="t">
            <a:noAutofit/>
          </a:bodyPr>
          <a:lstStyle/>
          <a:p>
            <a:pPr algn="l">
              <a:lnSpc>
                <a:spcPct val="100000"/>
              </a:lnSpc>
            </a:pPr>
            <a:r>
              <a:rPr sz="900" b="0" spc="90">
                <a:solidFill>
                  <a:srgbClr val="A79D91"/>
                </a:solidFill>
                <a:latin typeface="Franklin Gothic Medium"/>
              </a:rPr>
              <a:t>GROUP</a:t>
            </a:r>
          </a:p>
        </p:txBody>
      </p:sp>
      <p:sp>
        <p:nvSpPr>
          <p:cNvPr id="16" name="TextBox 15"/>
          <p:cNvSpPr txBox="1"/>
          <p:nvPr/>
        </p:nvSpPr>
        <p:spPr>
          <a:xfrm>
            <a:off x="1847088" y="5605272"/>
            <a:ext cx="3520440" cy="219456"/>
          </a:xfrm>
          <a:prstGeom prst="rect">
            <a:avLst/>
          </a:prstGeom>
          <a:noFill/>
        </p:spPr>
        <p:txBody>
          <a:bodyPr wrap="square" lIns="0" tIns="0" rIns="0" bIns="0" anchor="t">
            <a:noAutofit/>
          </a:bodyPr>
          <a:lstStyle/>
          <a:p>
            <a:pPr algn="l">
              <a:lnSpc>
                <a:spcPct val="100000"/>
              </a:lnSpc>
            </a:pPr>
            <a:r>
              <a:rPr sz="1000" b="0">
                <a:solidFill>
                  <a:srgbClr val="3A342E"/>
                </a:solidFill>
                <a:latin typeface="Franklin Gothic Book"/>
              </a:rPr>
              <a:t>Group 85</a:t>
            </a:r>
          </a:p>
        </p:txBody>
      </p:sp>
      <p:sp>
        <p:nvSpPr>
          <p:cNvPr id="17" name="TextBox 16"/>
          <p:cNvSpPr txBox="1"/>
          <p:nvPr/>
        </p:nvSpPr>
        <p:spPr>
          <a:xfrm>
            <a:off x="5532120" y="4535424"/>
            <a:ext cx="1225296" cy="201168"/>
          </a:xfrm>
          <a:prstGeom prst="rect">
            <a:avLst/>
          </a:prstGeom>
          <a:noFill/>
        </p:spPr>
        <p:txBody>
          <a:bodyPr wrap="square" lIns="0" tIns="0" rIns="0" bIns="0" anchor="t">
            <a:noAutofit/>
          </a:bodyPr>
          <a:lstStyle/>
          <a:p>
            <a:pPr algn="l">
              <a:lnSpc>
                <a:spcPct val="100000"/>
              </a:lnSpc>
            </a:pPr>
            <a:r>
              <a:rPr sz="900" b="0" spc="90">
                <a:solidFill>
                  <a:srgbClr val="A79D91"/>
                </a:solidFill>
                <a:latin typeface="Franklin Gothic Medium"/>
              </a:rPr>
              <a:t>TEAM</a:t>
            </a:r>
          </a:p>
        </p:txBody>
      </p:sp>
      <p:sp>
        <p:nvSpPr>
          <p:cNvPr id="18" name="TextBox 17"/>
          <p:cNvSpPr txBox="1"/>
          <p:nvPr/>
        </p:nvSpPr>
        <p:spPr>
          <a:xfrm>
            <a:off x="5532120" y="4873752"/>
            <a:ext cx="1737360" cy="219456"/>
          </a:xfrm>
          <a:prstGeom prst="rect">
            <a:avLst/>
          </a:prstGeom>
          <a:noFill/>
        </p:spPr>
        <p:txBody>
          <a:bodyPr wrap="square" lIns="0" tIns="0" rIns="0" bIns="0" anchor="t">
            <a:noAutofit/>
          </a:bodyPr>
          <a:lstStyle/>
          <a:p>
            <a:pPr algn="l">
              <a:lnSpc>
                <a:spcPct val="100000"/>
              </a:lnSpc>
            </a:pPr>
            <a:r>
              <a:rPr sz="1050" b="0">
                <a:solidFill>
                  <a:srgbClr val="3A342E"/>
                </a:solidFill>
                <a:latin typeface="Franklin Gothic Book"/>
              </a:rPr>
              <a:t>Harsh Rastogi</a:t>
            </a:r>
          </a:p>
        </p:txBody>
      </p:sp>
      <p:sp>
        <p:nvSpPr>
          <p:cNvPr id="19" name="TextBox 18"/>
          <p:cNvSpPr txBox="1"/>
          <p:nvPr/>
        </p:nvSpPr>
        <p:spPr>
          <a:xfrm>
            <a:off x="7315200" y="4873752"/>
            <a:ext cx="640080" cy="219456"/>
          </a:xfrm>
          <a:prstGeom prst="rect">
            <a:avLst/>
          </a:prstGeom>
          <a:noFill/>
        </p:spPr>
        <p:txBody>
          <a:bodyPr wrap="square" lIns="0" tIns="0" rIns="0" bIns="0" anchor="t">
            <a:noAutofit/>
          </a:bodyPr>
          <a:lstStyle/>
          <a:p>
            <a:pPr algn="r">
              <a:lnSpc>
                <a:spcPct val="100000"/>
              </a:lnSpc>
            </a:pPr>
            <a:r>
              <a:rPr sz="1000" b="0">
                <a:solidFill>
                  <a:srgbClr val="A79D91"/>
                </a:solidFill>
                <a:latin typeface="Georgia"/>
              </a:rPr>
              <a:t>386401</a:t>
            </a:r>
          </a:p>
        </p:txBody>
      </p:sp>
      <p:sp>
        <p:nvSpPr>
          <p:cNvPr id="20" name="TextBox 19"/>
          <p:cNvSpPr txBox="1"/>
          <p:nvPr/>
        </p:nvSpPr>
        <p:spPr>
          <a:xfrm>
            <a:off x="5532120" y="5239512"/>
            <a:ext cx="1737360" cy="219456"/>
          </a:xfrm>
          <a:prstGeom prst="rect">
            <a:avLst/>
          </a:prstGeom>
          <a:noFill/>
        </p:spPr>
        <p:txBody>
          <a:bodyPr wrap="square" lIns="0" tIns="0" rIns="0" bIns="0" anchor="t">
            <a:noAutofit/>
          </a:bodyPr>
          <a:lstStyle/>
          <a:p>
            <a:pPr algn="l">
              <a:lnSpc>
                <a:spcPct val="100000"/>
              </a:lnSpc>
            </a:pPr>
            <a:r>
              <a:rPr sz="1050" b="0">
                <a:solidFill>
                  <a:srgbClr val="3A342E"/>
                </a:solidFill>
                <a:latin typeface="Franklin Gothic Book"/>
              </a:rPr>
              <a:t>Saira Zafar</a:t>
            </a:r>
          </a:p>
        </p:txBody>
      </p:sp>
      <p:sp>
        <p:nvSpPr>
          <p:cNvPr id="21" name="TextBox 20"/>
          <p:cNvSpPr txBox="1"/>
          <p:nvPr/>
        </p:nvSpPr>
        <p:spPr>
          <a:xfrm>
            <a:off x="7315200" y="5239512"/>
            <a:ext cx="640080" cy="219456"/>
          </a:xfrm>
          <a:prstGeom prst="rect">
            <a:avLst/>
          </a:prstGeom>
          <a:noFill/>
        </p:spPr>
        <p:txBody>
          <a:bodyPr wrap="square" lIns="0" tIns="0" rIns="0" bIns="0" anchor="t">
            <a:noAutofit/>
          </a:bodyPr>
          <a:lstStyle/>
          <a:p>
            <a:pPr algn="r">
              <a:lnSpc>
                <a:spcPct val="100000"/>
              </a:lnSpc>
            </a:pPr>
            <a:r>
              <a:rPr sz="1000" b="0">
                <a:solidFill>
                  <a:srgbClr val="A79D91"/>
                </a:solidFill>
                <a:latin typeface="Georgia"/>
              </a:rPr>
              <a:t>407193</a:t>
            </a:r>
          </a:p>
        </p:txBody>
      </p:sp>
      <p:sp>
        <p:nvSpPr>
          <p:cNvPr id="22" name="TextBox 21"/>
          <p:cNvSpPr txBox="1"/>
          <p:nvPr/>
        </p:nvSpPr>
        <p:spPr>
          <a:xfrm>
            <a:off x="5532120" y="5605272"/>
            <a:ext cx="1737360" cy="219456"/>
          </a:xfrm>
          <a:prstGeom prst="rect">
            <a:avLst/>
          </a:prstGeom>
          <a:noFill/>
        </p:spPr>
        <p:txBody>
          <a:bodyPr wrap="square" lIns="0" tIns="0" rIns="0" bIns="0" anchor="t">
            <a:noAutofit/>
          </a:bodyPr>
          <a:lstStyle/>
          <a:p>
            <a:pPr algn="l">
              <a:lnSpc>
                <a:spcPct val="100000"/>
              </a:lnSpc>
            </a:pPr>
            <a:r>
              <a:rPr sz="1050" b="0">
                <a:solidFill>
                  <a:srgbClr val="3A342E"/>
                </a:solidFill>
                <a:latin typeface="Franklin Gothic Book"/>
              </a:rPr>
              <a:t>Tharushi Wimalachandra</a:t>
            </a:r>
          </a:p>
        </p:txBody>
      </p:sp>
      <p:sp>
        <p:nvSpPr>
          <p:cNvPr id="23" name="TextBox 22"/>
          <p:cNvSpPr txBox="1"/>
          <p:nvPr/>
        </p:nvSpPr>
        <p:spPr>
          <a:xfrm>
            <a:off x="7315200" y="5605272"/>
            <a:ext cx="640080" cy="219456"/>
          </a:xfrm>
          <a:prstGeom prst="rect">
            <a:avLst/>
          </a:prstGeom>
          <a:noFill/>
        </p:spPr>
        <p:txBody>
          <a:bodyPr wrap="square" lIns="0" tIns="0" rIns="0" bIns="0" anchor="t">
            <a:noAutofit/>
          </a:bodyPr>
          <a:lstStyle/>
          <a:p>
            <a:pPr algn="r">
              <a:lnSpc>
                <a:spcPct val="100000"/>
              </a:lnSpc>
            </a:pPr>
            <a:r>
              <a:rPr sz="1000" b="0" dirty="0">
                <a:solidFill>
                  <a:srgbClr val="A79D91"/>
                </a:solidFill>
                <a:latin typeface="Georgia"/>
              </a:rPr>
              <a:t>38</a:t>
            </a:r>
            <a:r>
              <a:rPr lang="en-AU" sz="1000" b="0" dirty="0">
                <a:solidFill>
                  <a:srgbClr val="A79D91"/>
                </a:solidFill>
                <a:latin typeface="Georgia"/>
              </a:rPr>
              <a:t>7</a:t>
            </a:r>
            <a:r>
              <a:rPr sz="1000" b="0" dirty="0">
                <a:solidFill>
                  <a:srgbClr val="A79D91"/>
                </a:solidFill>
                <a:latin typeface="Georgia"/>
              </a:rPr>
              <a:t>594</a:t>
            </a:r>
          </a:p>
        </p:txBody>
      </p:sp>
      <p:cxnSp>
        <p:nvCxnSpPr>
          <p:cNvPr id="24" name="Connector 23"/>
          <p:cNvCxnSpPr/>
          <p:nvPr/>
        </p:nvCxnSpPr>
        <p:spPr>
          <a:xfrm>
            <a:off x="749808" y="6053328"/>
            <a:ext cx="7079467"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596128" y="6199632"/>
            <a:ext cx="2834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Franklin Gothic Book"/>
              </a:rPr>
              <a:t>pyrantis.harshlabs.workers.dev</a:t>
            </a:r>
          </a:p>
        </p:txBody>
      </p:sp>
      <p:pic>
        <p:nvPicPr>
          <p:cNvPr id="28" name="Pyrantis in frame">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039019" y="822960"/>
            <a:ext cx="2403142" cy="5230368"/>
          </a:xfrm>
          <a:prstGeom prst="rect">
            <a:avLst/>
          </a:prstGeom>
        </p:spPr>
      </p:pic>
      <p:sp>
        <p:nvSpPr>
          <p:cNvPr id="25" name="TextBox 24">
            <a:extLst>
              <a:ext uri="{FF2B5EF4-FFF2-40B4-BE49-F238E27FC236}">
                <a16:creationId xmlns:a16="http://schemas.microsoft.com/office/drawing/2014/main" id="{6DAE41DD-567F-E0E8-A718-FB5C11E63A92}"/>
              </a:ext>
            </a:extLst>
          </p:cNvPr>
          <p:cNvSpPr txBox="1"/>
          <p:nvPr/>
        </p:nvSpPr>
        <p:spPr>
          <a:xfrm>
            <a:off x="749808" y="6217920"/>
            <a:ext cx="1737360" cy="201168"/>
          </a:xfrm>
          <a:prstGeom prst="rect">
            <a:avLst/>
          </a:prstGeom>
          <a:noFill/>
        </p:spPr>
        <p:txBody>
          <a:bodyPr wrap="square" lIns="0" tIns="0" rIns="0" bIns="0" anchor="t">
            <a:noAutofit/>
          </a:bodyPr>
          <a:lstStyle/>
          <a:p>
            <a:pPr algn="l">
              <a:lnSpc>
                <a:spcPct val="100000"/>
              </a:lnSpc>
            </a:pPr>
            <a:r>
              <a:rPr sz="900" b="0" spc="90">
                <a:solidFill>
                  <a:srgbClr val="A79D91"/>
                </a:solidFill>
                <a:latin typeface="Franklin Gothic Medium"/>
              </a:rPr>
              <a:t>RECORDING (UNLISTED)</a:t>
            </a:r>
          </a:p>
        </p:txBody>
      </p:sp>
      <p:sp>
        <p:nvSpPr>
          <p:cNvPr id="26" name="TextBox 25">
            <a:extLst>
              <a:ext uri="{FF2B5EF4-FFF2-40B4-BE49-F238E27FC236}">
                <a16:creationId xmlns:a16="http://schemas.microsoft.com/office/drawing/2014/main" id="{7B583414-B096-A5C4-D78F-1F1F79E862F2}"/>
              </a:ext>
            </a:extLst>
          </p:cNvPr>
          <p:cNvSpPr txBox="1"/>
          <p:nvPr/>
        </p:nvSpPr>
        <p:spPr>
          <a:xfrm>
            <a:off x="2578608" y="6199632"/>
            <a:ext cx="3108960" cy="219456"/>
          </a:xfrm>
          <a:prstGeom prst="rect">
            <a:avLst/>
          </a:prstGeom>
          <a:noFill/>
        </p:spPr>
        <p:txBody>
          <a:bodyPr wrap="square" lIns="0" tIns="0" rIns="0" bIns="0" anchor="t">
            <a:noAutofit/>
          </a:bodyPr>
          <a:lstStyle/>
          <a:p>
            <a:r>
              <a:rPr lang="en-AU" sz="1050" dirty="0">
                <a:solidFill>
                  <a:srgbClr val="C8341B"/>
                </a:solidFill>
                <a:latin typeface="Franklin Gothic Book"/>
              </a:rPr>
              <a:t>https://</a:t>
            </a:r>
            <a:r>
              <a:rPr lang="en-AU" sz="1050" dirty="0" err="1">
                <a:solidFill>
                  <a:srgbClr val="C8341B"/>
                </a:solidFill>
                <a:latin typeface="Franklin Gothic Book"/>
              </a:rPr>
              <a:t>youtu.be</a:t>
            </a:r>
            <a:r>
              <a:rPr lang="en-AU" sz="1050" dirty="0">
                <a:solidFill>
                  <a:srgbClr val="C8341B"/>
                </a:solidFill>
                <a:latin typeface="Franklin Gothic Book"/>
              </a:rPr>
              <a:t>/c_0yCsdZX2U</a:t>
            </a:r>
            <a:endParaRPr sz="1050" b="0" dirty="0">
              <a:solidFill>
                <a:srgbClr val="C8341B"/>
              </a:solidFill>
              <a:latin typeface="Franklin Gothic Book"/>
            </a:endParaRPr>
          </a:p>
        </p:txBody>
      </p:sp>
    </p:spTree>
  </p:cSld>
  <p:clrMapOvr>
    <a:masterClrMapping/>
  </p:clrMapOvr>
  <mc:AlternateContent xmlns:mc="http://schemas.openxmlformats.org/markup-compatibility/2006" xmlns:p14="http://schemas.microsoft.com/office/powerpoint/2010/main">
    <mc:Choice Requires="p14">
      <p:transition spd="slow" p14:dur="2000" advTm="34411"/>
    </mc:Choice>
    <mc:Fallback xmlns="">
      <p:transition spd="slow" advTm="3441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005"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p:stCondLst>
                    <p:cond delay="indefinite"/>
                  </p:stCondLst>
                </p:cTn>
                <p:tgtEl>
                  <p:spTgt spid="28"/>
                </p:tgtEl>
              </p:cMediaNode>
            </p:video>
          </p:childTnLst>
        </p:cTn>
      </p:par>
    </p:tnLst>
  </p:timing>
  <p:extLst>
    <p:ext uri="{E180D4A7-C9FB-4DFB-919C-405C955672EB}">
      <p14:showEvtLst xmlns:p14="http://schemas.microsoft.com/office/powerpoint/2010/main">
        <p14:playEvt time="7" objId="28"/>
        <p14:stopEvt time="34370" objId="28"/>
      </p14:showEvtLst>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BF9"/>
        </a:solidFill>
        <a:effectLst/>
      </p:bgPr>
    </p:bg>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THE SETTING</a:t>
            </a:r>
          </a:p>
        </p:txBody>
      </p:sp>
      <p:sp>
        <p:nvSpPr>
          <p:cNvPr id="4" name="TextBox 3"/>
          <p:cNvSpPr txBox="1"/>
          <p:nvPr/>
        </p:nvSpPr>
        <p:spPr>
          <a:xfrm>
            <a:off x="749808" y="749808"/>
            <a:ext cx="6176246" cy="1005840"/>
          </a:xfrm>
          <a:prstGeom prst="rect">
            <a:avLst/>
          </a:prstGeom>
          <a:noFill/>
        </p:spPr>
        <p:txBody>
          <a:bodyPr wrap="square" lIns="0" tIns="0" rIns="0" bIns="0" anchor="t">
            <a:noAutofit/>
          </a:bodyPr>
          <a:lstStyle/>
          <a:p>
            <a:pPr algn="l">
              <a:lnSpc>
                <a:spcPct val="114000"/>
              </a:lnSpc>
            </a:pPr>
            <a:r>
              <a:rPr sz="3000" b="0" spc="-15">
                <a:solidFill>
                  <a:srgbClr val="16130F"/>
                </a:solidFill>
                <a:latin typeface="Georgia"/>
              </a:rPr>
              <a:t>Most of the Territory burns.
The question is when.</a:t>
            </a:r>
          </a:p>
        </p:txBody>
      </p:sp>
      <p:sp>
        <p:nvSpPr>
          <p:cNvPr id="5" name="TextBox 4"/>
          <p:cNvSpPr txBox="1"/>
          <p:nvPr/>
        </p:nvSpPr>
        <p:spPr>
          <a:xfrm>
            <a:off x="749808" y="2066543"/>
            <a:ext cx="5273024" cy="1371600"/>
          </a:xfrm>
          <a:prstGeom prst="rect">
            <a:avLst/>
          </a:prstGeom>
          <a:noFill/>
        </p:spPr>
        <p:txBody>
          <a:bodyPr wrap="square" lIns="0" tIns="0" rIns="0" bIns="0" anchor="t">
            <a:noAutofit/>
          </a:bodyPr>
          <a:lstStyle/>
          <a:p>
            <a:pPr algn="l">
              <a:lnSpc>
                <a:spcPct val="154000"/>
              </a:lnSpc>
            </a:pPr>
            <a:r>
              <a:rPr sz="1300" b="0">
                <a:solidFill>
                  <a:srgbClr val="3A342E"/>
                </a:solidFill>
                <a:latin typeface="Franklin Gothic Book"/>
              </a:rPr>
              <a:t>Across 2000 to 2025, roughly a third of the Northern Territory carried a fire in any given year. Nearly a million square-years of record say the same thing: burning is not the exception here, it is the season.</a:t>
            </a:r>
          </a:p>
        </p:txBody>
      </p:sp>
      <p:cxnSp>
        <p:nvCxnSpPr>
          <p:cNvPr id="6" name="Connector 5"/>
          <p:cNvCxnSpPr/>
          <p:nvPr/>
        </p:nvCxnSpPr>
        <p:spPr>
          <a:xfrm>
            <a:off x="7043810" y="804672"/>
            <a:ext cx="0" cy="228600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72717" y="841248"/>
            <a:ext cx="4369803" cy="658368"/>
          </a:xfrm>
          <a:prstGeom prst="rect">
            <a:avLst/>
          </a:prstGeom>
          <a:noFill/>
        </p:spPr>
        <p:txBody>
          <a:bodyPr wrap="square" lIns="0" tIns="0" rIns="0" bIns="0" anchor="t">
            <a:noAutofit/>
          </a:bodyPr>
          <a:lstStyle/>
          <a:p>
            <a:pPr algn="l">
              <a:lnSpc>
                <a:spcPct val="100000"/>
              </a:lnSpc>
            </a:pPr>
            <a:r>
              <a:rPr sz="3800" b="0" spc="-40" dirty="0">
                <a:solidFill>
                  <a:srgbClr val="16130F"/>
                </a:solidFill>
                <a:latin typeface="Georgia"/>
              </a:rPr>
              <a:t>1,207,570</a:t>
            </a:r>
          </a:p>
        </p:txBody>
      </p:sp>
      <p:sp>
        <p:nvSpPr>
          <p:cNvPr id="8" name="TextBox 7"/>
          <p:cNvSpPr txBox="1"/>
          <p:nvPr/>
        </p:nvSpPr>
        <p:spPr>
          <a:xfrm>
            <a:off x="7172717" y="1430020"/>
            <a:ext cx="4369803" cy="548640"/>
          </a:xfrm>
          <a:prstGeom prst="rect">
            <a:avLst/>
          </a:prstGeom>
          <a:noFill/>
        </p:spPr>
        <p:txBody>
          <a:bodyPr wrap="square" lIns="0" tIns="0" rIns="0" bIns="0" anchor="t">
            <a:noAutofit/>
          </a:bodyPr>
          <a:lstStyle/>
          <a:p>
            <a:pPr algn="l">
              <a:lnSpc>
                <a:spcPct val="128000"/>
              </a:lnSpc>
            </a:pPr>
            <a:r>
              <a:rPr sz="1000" b="0" spc="20">
                <a:solidFill>
                  <a:srgbClr val="787066"/>
                </a:solidFill>
                <a:latin typeface="Franklin Gothic Medium"/>
              </a:rPr>
              <a:t>square-years of fire record</a:t>
            </a:r>
          </a:p>
        </p:txBody>
      </p:sp>
      <p:sp>
        <p:nvSpPr>
          <p:cNvPr id="9" name="TextBox 8"/>
          <p:cNvSpPr txBox="1"/>
          <p:nvPr/>
        </p:nvSpPr>
        <p:spPr>
          <a:xfrm>
            <a:off x="7172717" y="1975104"/>
            <a:ext cx="4369803" cy="658368"/>
          </a:xfrm>
          <a:prstGeom prst="rect">
            <a:avLst/>
          </a:prstGeom>
          <a:noFill/>
        </p:spPr>
        <p:txBody>
          <a:bodyPr wrap="square" lIns="0" tIns="0" rIns="0" bIns="0" anchor="t">
            <a:noAutofit/>
          </a:bodyPr>
          <a:lstStyle/>
          <a:p>
            <a:pPr algn="l">
              <a:lnSpc>
                <a:spcPct val="100000"/>
              </a:lnSpc>
            </a:pPr>
            <a:r>
              <a:rPr sz="3800" b="0" spc="-40">
                <a:solidFill>
                  <a:srgbClr val="16130F"/>
                </a:solidFill>
                <a:latin typeface="Georgia"/>
              </a:rPr>
              <a:t>46,445</a:t>
            </a:r>
          </a:p>
        </p:txBody>
      </p:sp>
      <p:sp>
        <p:nvSpPr>
          <p:cNvPr id="10" name="TextBox 9"/>
          <p:cNvSpPr txBox="1"/>
          <p:nvPr/>
        </p:nvSpPr>
        <p:spPr>
          <a:xfrm>
            <a:off x="7172717" y="2563876"/>
            <a:ext cx="4369803" cy="548640"/>
          </a:xfrm>
          <a:prstGeom prst="rect">
            <a:avLst/>
          </a:prstGeom>
          <a:noFill/>
        </p:spPr>
        <p:txBody>
          <a:bodyPr wrap="square" lIns="0" tIns="0" rIns="0" bIns="0" anchor="t">
            <a:noAutofit/>
          </a:bodyPr>
          <a:lstStyle/>
          <a:p>
            <a:pPr algn="l">
              <a:lnSpc>
                <a:spcPct val="128000"/>
              </a:lnSpc>
            </a:pPr>
            <a:r>
              <a:rPr sz="1000" b="0" spc="20">
                <a:solidFill>
                  <a:srgbClr val="787066"/>
                </a:solidFill>
                <a:latin typeface="Franklin Gothic Medium"/>
              </a:rPr>
              <a:t>map squares, five kilometres across</a:t>
            </a:r>
          </a:p>
        </p:txBody>
      </p:sp>
      <p:cxnSp>
        <p:nvCxnSpPr>
          <p:cNvPr id="11" name="Connector 10"/>
          <p:cNvCxnSpPr/>
          <p:nvPr/>
        </p:nvCxnSpPr>
        <p:spPr>
          <a:xfrm>
            <a:off x="749808" y="3785615"/>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9808" y="3931920"/>
            <a:ext cx="5486400" cy="201168"/>
          </a:xfrm>
          <a:prstGeom prst="rect">
            <a:avLst/>
          </a:prstGeom>
          <a:noFill/>
        </p:spPr>
        <p:txBody>
          <a:bodyPr wrap="square" lIns="0" tIns="0" rIns="0" bIns="0" anchor="t">
            <a:noAutofit/>
          </a:bodyPr>
          <a:lstStyle/>
          <a:p>
            <a:pPr algn="l">
              <a:lnSpc>
                <a:spcPct val="100000"/>
              </a:lnSpc>
            </a:pPr>
            <a:r>
              <a:rPr sz="900" b="0" spc="140">
                <a:solidFill>
                  <a:srgbClr val="787066"/>
                </a:solidFill>
                <a:latin typeface="Franklin Gothic Medium"/>
              </a:rPr>
              <a:t>EVERY SQUARE, EVERY YEAR, 2005 TO 2025</a:t>
            </a:r>
          </a:p>
        </p:txBody>
      </p:sp>
      <p:pic>
        <p:nvPicPr>
          <p:cNvPr id="13" name="Picture 12" descr="balance.png"/>
          <p:cNvPicPr>
            <a:picLocks noChangeAspect="1"/>
          </p:cNvPicPr>
          <p:nvPr/>
        </p:nvPicPr>
        <p:blipFill>
          <a:blip r:embed="rId3"/>
          <a:stretch>
            <a:fillRect/>
          </a:stretch>
        </p:blipFill>
        <p:spPr>
          <a:xfrm>
            <a:off x="621792" y="4224528"/>
            <a:ext cx="10948385" cy="2244648"/>
          </a:xfrm>
          <a:prstGeom prst="rect">
            <a:avLst/>
          </a:prstGeom>
        </p:spPr>
      </p:pic>
      <p:cxnSp>
        <p:nvCxnSpPr>
          <p:cNvPr id="14" name="Connector 13"/>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9808" y="6345936"/>
            <a:ext cx="891029"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2</a:t>
            </a:r>
          </a:p>
        </p:txBody>
      </p:sp>
      <p:sp>
        <p:nvSpPr>
          <p:cNvPr id="17" name="TextBox 16"/>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Harsh Rastogi</a:t>
            </a:r>
          </a:p>
        </p:txBody>
      </p:sp>
      <p:sp>
        <p:nvSpPr>
          <p:cNvPr id="18" name="TextBox 17">
            <a:extLst>
              <a:ext uri="{FF2B5EF4-FFF2-40B4-BE49-F238E27FC236}">
                <a16:creationId xmlns:a16="http://schemas.microsoft.com/office/drawing/2014/main" id="{8C4D1FE8-EF78-B273-8F5A-201B85F734A1}"/>
              </a:ext>
            </a:extLst>
          </p:cNvPr>
          <p:cNvSpPr txBox="1"/>
          <p:nvPr/>
        </p:nvSpPr>
        <p:spPr>
          <a:xfrm>
            <a:off x="7058721" y="724829"/>
            <a:ext cx="184731" cy="369332"/>
          </a:xfrm>
          <a:prstGeom prst="rect">
            <a:avLst/>
          </a:prstGeom>
          <a:noFill/>
        </p:spPr>
        <p:txBody>
          <a:bodyPr wrap="none" rtlCol="0">
            <a:spAutoFit/>
          </a:bodyPr>
          <a:lstStyle/>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30208"/>
    </mc:Choice>
    <mc:Fallback xmlns="">
      <p:transition spd="slow" advTm="3020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BF9"/>
        </a:solidFill>
        <a:effectLst/>
      </p:bgPr>
    </p:bg>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WHY IT MATTERS</a:t>
            </a:r>
          </a:p>
        </p:txBody>
      </p:sp>
      <p:sp>
        <p:nvSpPr>
          <p:cNvPr id="4" name="TextBox 3"/>
          <p:cNvSpPr txBox="1"/>
          <p:nvPr/>
        </p:nvSpPr>
        <p:spPr>
          <a:xfrm>
            <a:off x="749808" y="749808"/>
            <a:ext cx="9789132"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A fire in June and a fire in October are different events.</a:t>
            </a:r>
          </a:p>
        </p:txBody>
      </p:sp>
      <p:sp>
        <p:nvSpPr>
          <p:cNvPr id="5" name="Rectangle 4"/>
          <p:cNvSpPr/>
          <p:nvPr/>
        </p:nvSpPr>
        <p:spPr>
          <a:xfrm>
            <a:off x="749808" y="1956816"/>
            <a:ext cx="4369803" cy="1517904"/>
          </a:xfrm>
          <a:prstGeom prst="rect">
            <a:avLst/>
          </a:prstGeom>
          <a:solidFill>
            <a:srgbClr val="F4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9808" y="1956816"/>
            <a:ext cx="34747" cy="1517904"/>
          </a:xfrm>
          <a:prstGeom prst="rect">
            <a:avLst/>
          </a:prstGeom>
          <a:solidFill>
            <a:srgbClr val="1E7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8992" y="2176272"/>
            <a:ext cx="3711435" cy="274320"/>
          </a:xfrm>
          <a:prstGeom prst="rect">
            <a:avLst/>
          </a:prstGeom>
          <a:noFill/>
        </p:spPr>
        <p:txBody>
          <a:bodyPr wrap="square" lIns="0" tIns="0" rIns="0" bIns="0" anchor="t">
            <a:noAutofit/>
          </a:bodyPr>
          <a:lstStyle/>
          <a:p>
            <a:pPr algn="l">
              <a:lnSpc>
                <a:spcPct val="100000"/>
              </a:lnSpc>
            </a:pPr>
            <a:r>
              <a:rPr sz="1600" b="0">
                <a:solidFill>
                  <a:srgbClr val="16130F"/>
                </a:solidFill>
                <a:latin typeface="Georgia"/>
              </a:rPr>
              <a:t>Before August</a:t>
            </a:r>
          </a:p>
        </p:txBody>
      </p:sp>
      <p:sp>
        <p:nvSpPr>
          <p:cNvPr id="8" name="TextBox 7"/>
          <p:cNvSpPr txBox="1"/>
          <p:nvPr/>
        </p:nvSpPr>
        <p:spPr>
          <a:xfrm>
            <a:off x="1078992" y="2560320"/>
            <a:ext cx="3711435" cy="841248"/>
          </a:xfrm>
          <a:prstGeom prst="rect">
            <a:avLst/>
          </a:prstGeom>
          <a:noFill/>
        </p:spPr>
        <p:txBody>
          <a:bodyPr wrap="square" lIns="0" tIns="0" rIns="0" bIns="0" anchor="t">
            <a:noAutofit/>
          </a:bodyPr>
          <a:lstStyle/>
          <a:p>
            <a:pPr algn="l">
              <a:lnSpc>
                <a:spcPct val="144000"/>
              </a:lnSpc>
            </a:pPr>
            <a:r>
              <a:rPr sz="1150" b="0">
                <a:solidFill>
                  <a:srgbClr val="3A342E"/>
                </a:solidFill>
                <a:latin typeface="Franklin Gothic Book"/>
              </a:rPr>
              <a:t>The country is still damp from the wet. Fires are cool, they creep, and they leave a patchwork. Rangers light these deliberately to break up the fuel.</a:t>
            </a:r>
          </a:p>
        </p:txBody>
      </p:sp>
      <p:sp>
        <p:nvSpPr>
          <p:cNvPr id="9" name="Rectangle 8"/>
          <p:cNvSpPr/>
          <p:nvPr/>
        </p:nvSpPr>
        <p:spPr>
          <a:xfrm>
            <a:off x="6169136" y="1956816"/>
            <a:ext cx="4369803" cy="1517904"/>
          </a:xfrm>
          <a:prstGeom prst="rect">
            <a:avLst/>
          </a:prstGeom>
          <a:solidFill>
            <a:srgbClr val="F4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69136" y="1956816"/>
            <a:ext cx="34747" cy="151790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8320" y="2176272"/>
            <a:ext cx="3711435" cy="274320"/>
          </a:xfrm>
          <a:prstGeom prst="rect">
            <a:avLst/>
          </a:prstGeom>
          <a:noFill/>
        </p:spPr>
        <p:txBody>
          <a:bodyPr wrap="square" lIns="0" tIns="0" rIns="0" bIns="0" anchor="t">
            <a:noAutofit/>
          </a:bodyPr>
          <a:lstStyle/>
          <a:p>
            <a:pPr algn="l">
              <a:lnSpc>
                <a:spcPct val="100000"/>
              </a:lnSpc>
            </a:pPr>
            <a:r>
              <a:rPr sz="1600" b="0">
                <a:solidFill>
                  <a:srgbClr val="16130F"/>
                </a:solidFill>
                <a:latin typeface="Georgia"/>
              </a:rPr>
              <a:t>After July</a:t>
            </a:r>
          </a:p>
        </p:txBody>
      </p:sp>
      <p:sp>
        <p:nvSpPr>
          <p:cNvPr id="12" name="TextBox 11"/>
          <p:cNvSpPr txBox="1"/>
          <p:nvPr/>
        </p:nvSpPr>
        <p:spPr>
          <a:xfrm>
            <a:off x="6498320" y="2560320"/>
            <a:ext cx="3711435" cy="841248"/>
          </a:xfrm>
          <a:prstGeom prst="rect">
            <a:avLst/>
          </a:prstGeom>
          <a:noFill/>
        </p:spPr>
        <p:txBody>
          <a:bodyPr wrap="square" lIns="0" tIns="0" rIns="0" bIns="0" anchor="t">
            <a:noAutofit/>
          </a:bodyPr>
          <a:lstStyle/>
          <a:p>
            <a:pPr algn="l">
              <a:lnSpc>
                <a:spcPct val="144000"/>
              </a:lnSpc>
            </a:pPr>
            <a:r>
              <a:rPr sz="1150" b="0">
                <a:solidFill>
                  <a:srgbClr val="3A342E"/>
                </a:solidFill>
                <a:latin typeface="Franklin Gothic Book"/>
              </a:rPr>
              <a:t>The grass has cured. Fires run with the wind, burn hot enough to kill canopy, and take out fences, stock and country in a single afternoon.</a:t>
            </a:r>
          </a:p>
        </p:txBody>
      </p:sp>
      <p:pic>
        <p:nvPicPr>
          <p:cNvPr id="13" name="Picture 12" descr="suppression.png"/>
          <p:cNvPicPr>
            <a:picLocks noChangeAspect="1"/>
          </p:cNvPicPr>
          <p:nvPr/>
        </p:nvPicPr>
        <p:blipFill>
          <a:blip r:embed="rId3"/>
          <a:stretch>
            <a:fillRect/>
          </a:stretch>
        </p:blipFill>
        <p:spPr>
          <a:xfrm>
            <a:off x="621792" y="3712463"/>
            <a:ext cx="5669280" cy="2672565"/>
          </a:xfrm>
          <a:prstGeom prst="rect">
            <a:avLst/>
          </a:prstGeom>
        </p:spPr>
      </p:pic>
      <p:cxnSp>
        <p:nvCxnSpPr>
          <p:cNvPr id="14" name="Connector 13"/>
          <p:cNvCxnSpPr/>
          <p:nvPr/>
        </p:nvCxnSpPr>
        <p:spPr>
          <a:xfrm>
            <a:off x="7072358" y="3785615"/>
            <a:ext cx="4369803" cy="0"/>
          </a:xfrm>
          <a:prstGeom prst="line">
            <a:avLst/>
          </a:prstGeom>
          <a:ln w="22860">
            <a:solidFill>
              <a:srgbClr val="C8341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072358" y="3968496"/>
            <a:ext cx="4369803" cy="292608"/>
          </a:xfrm>
          <a:prstGeom prst="rect">
            <a:avLst/>
          </a:prstGeom>
          <a:noFill/>
        </p:spPr>
        <p:txBody>
          <a:bodyPr wrap="square" lIns="0" tIns="0" rIns="0" bIns="0" anchor="t">
            <a:noAutofit/>
          </a:bodyPr>
          <a:lstStyle/>
          <a:p>
            <a:pPr algn="l">
              <a:lnSpc>
                <a:spcPct val="100000"/>
              </a:lnSpc>
            </a:pPr>
            <a:r>
              <a:rPr sz="1500" b="0">
                <a:solidFill>
                  <a:srgbClr val="16130F"/>
                </a:solidFill>
                <a:latin typeface="Georgia"/>
              </a:rPr>
              <a:t>And it compounds.</a:t>
            </a:r>
          </a:p>
        </p:txBody>
      </p:sp>
      <p:sp>
        <p:nvSpPr>
          <p:cNvPr id="16" name="TextBox 15"/>
          <p:cNvSpPr txBox="1"/>
          <p:nvPr/>
        </p:nvSpPr>
        <p:spPr>
          <a:xfrm>
            <a:off x="7072358" y="4334256"/>
            <a:ext cx="4369803" cy="1737360"/>
          </a:xfrm>
          <a:prstGeom prst="rect">
            <a:avLst/>
          </a:prstGeom>
          <a:noFill/>
        </p:spPr>
        <p:txBody>
          <a:bodyPr wrap="square" lIns="0" tIns="0" rIns="0" bIns="0" anchor="t">
            <a:noAutofit/>
          </a:bodyPr>
          <a:lstStyle/>
          <a:p>
            <a:pPr algn="l">
              <a:lnSpc>
                <a:spcPct val="148000"/>
              </a:lnSpc>
            </a:pPr>
            <a:r>
              <a:rPr sz="1150" b="0">
                <a:solidFill>
                  <a:srgbClr val="3A342E"/>
                </a:solidFill>
                <a:latin typeface="Franklin Gothic Book"/>
              </a:rPr>
              <a:t>In the Top End, country burned early is far less likely to carry a late fire the next year — 20.1% against 31.9% for country left alone. Territory-wide the comparison reverses, because the arid south burns on a different clock. One number for the whole map would have hidden both facts.</a:t>
            </a:r>
          </a:p>
        </p:txBody>
      </p:sp>
      <p:cxnSp>
        <p:nvCxnSpPr>
          <p:cNvPr id="17" name="Connector 16"/>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49808" y="6345936"/>
            <a:ext cx="1336544"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3</a:t>
            </a:r>
          </a:p>
        </p:txBody>
      </p:sp>
      <p:sp>
        <p:nvSpPr>
          <p:cNvPr id="20" name="TextBox 19"/>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Harsh Rastogi</a:t>
            </a:r>
          </a:p>
        </p:txBody>
      </p:sp>
    </p:spTree>
  </p:cSld>
  <p:clrMapOvr>
    <a:masterClrMapping/>
  </p:clrMapOvr>
  <mc:AlternateContent xmlns:mc="http://schemas.openxmlformats.org/markup-compatibility/2006" xmlns:p14="http://schemas.microsoft.com/office/powerpoint/2010/main">
    <mc:Choice Requires="p14">
      <p:transition spd="slow" p14:dur="2000" advTm="44093"/>
    </mc:Choice>
    <mc:Fallback xmlns="">
      <p:transition spd="slow" advTm="4409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BF9"/>
        </a:solidFill>
        <a:effectLst/>
      </p:bgPr>
    </p:bg>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THE QUESTION WE SET</a:t>
            </a:r>
          </a:p>
        </p:txBody>
      </p:sp>
      <p:sp>
        <p:nvSpPr>
          <p:cNvPr id="4" name="TextBox 3"/>
          <p:cNvSpPr txBox="1"/>
          <p:nvPr/>
        </p:nvSpPr>
        <p:spPr>
          <a:xfrm>
            <a:off x="749808" y="1207008"/>
            <a:ext cx="9789132" cy="1005840"/>
          </a:xfrm>
          <a:prstGeom prst="rect">
            <a:avLst/>
          </a:prstGeom>
          <a:noFill/>
        </p:spPr>
        <p:txBody>
          <a:bodyPr wrap="square" lIns="0" tIns="0" rIns="0" bIns="0" anchor="t">
            <a:noAutofit/>
          </a:bodyPr>
          <a:lstStyle/>
          <a:p>
            <a:pPr algn="l">
              <a:lnSpc>
                <a:spcPct val="114000"/>
              </a:lnSpc>
            </a:pPr>
            <a:r>
              <a:rPr sz="3300" b="0" spc="-15">
                <a:solidFill>
                  <a:srgbClr val="16130F"/>
                </a:solidFill>
                <a:latin typeface="Georgia"/>
              </a:rPr>
              <a:t>For every square, for every year:
which of three?</a:t>
            </a:r>
          </a:p>
        </p:txBody>
      </p:sp>
      <p:cxnSp>
        <p:nvCxnSpPr>
          <p:cNvPr id="5" name="Connector 4"/>
          <p:cNvCxnSpPr/>
          <p:nvPr/>
        </p:nvCxnSpPr>
        <p:spPr>
          <a:xfrm>
            <a:off x="749808" y="277977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49808" y="3054096"/>
            <a:ext cx="201168" cy="201168"/>
          </a:xfrm>
          <a:prstGeom prst="rect">
            <a:avLst/>
          </a:prstGeom>
          <a:solidFill>
            <a:srgbClr val="8E9A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43584" y="2944368"/>
            <a:ext cx="2560320" cy="420624"/>
          </a:xfrm>
          <a:prstGeom prst="rect">
            <a:avLst/>
          </a:prstGeom>
          <a:noFill/>
        </p:spPr>
        <p:txBody>
          <a:bodyPr wrap="square" lIns="0" tIns="0" rIns="0" bIns="0" anchor="t">
            <a:noAutofit/>
          </a:bodyPr>
          <a:lstStyle/>
          <a:p>
            <a:pPr algn="l">
              <a:lnSpc>
                <a:spcPct val="100000"/>
              </a:lnSpc>
            </a:pPr>
            <a:r>
              <a:rPr sz="2400" b="0">
                <a:solidFill>
                  <a:srgbClr val="16130F"/>
                </a:solidFill>
                <a:latin typeface="Georgia"/>
              </a:rPr>
              <a:t>unburnt</a:t>
            </a:r>
          </a:p>
        </p:txBody>
      </p:sp>
      <p:sp>
        <p:nvSpPr>
          <p:cNvPr id="8" name="TextBox 7"/>
          <p:cNvSpPr txBox="1"/>
          <p:nvPr/>
        </p:nvSpPr>
        <p:spPr>
          <a:xfrm>
            <a:off x="3459472" y="3054096"/>
            <a:ext cx="6176246" cy="320040"/>
          </a:xfrm>
          <a:prstGeom prst="rect">
            <a:avLst/>
          </a:prstGeom>
          <a:noFill/>
        </p:spPr>
        <p:txBody>
          <a:bodyPr wrap="square" lIns="0" tIns="0" rIns="0" bIns="0" anchor="t">
            <a:noAutofit/>
          </a:bodyPr>
          <a:lstStyle/>
          <a:p>
            <a:pPr algn="l">
              <a:lnSpc>
                <a:spcPct val="100000"/>
              </a:lnSpc>
            </a:pPr>
            <a:r>
              <a:rPr sz="1400" b="0">
                <a:solidFill>
                  <a:srgbClr val="3A342E"/>
                </a:solidFill>
                <a:latin typeface="Franklin Gothic Book"/>
              </a:rPr>
              <a:t>no fire detected that year</a:t>
            </a:r>
          </a:p>
        </p:txBody>
      </p:sp>
      <p:cxnSp>
        <p:nvCxnSpPr>
          <p:cNvPr id="9" name="Connector 8"/>
          <p:cNvCxnSpPr/>
          <p:nvPr/>
        </p:nvCxnSpPr>
        <p:spPr>
          <a:xfrm>
            <a:off x="749808" y="36027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49808" y="3877056"/>
            <a:ext cx="201168" cy="201168"/>
          </a:xfrm>
          <a:prstGeom prst="rect">
            <a:avLst/>
          </a:prstGeom>
          <a:solidFill>
            <a:srgbClr val="1E7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43584" y="3767328"/>
            <a:ext cx="2560320" cy="420624"/>
          </a:xfrm>
          <a:prstGeom prst="rect">
            <a:avLst/>
          </a:prstGeom>
          <a:noFill/>
        </p:spPr>
        <p:txBody>
          <a:bodyPr wrap="square" lIns="0" tIns="0" rIns="0" bIns="0" anchor="t">
            <a:noAutofit/>
          </a:bodyPr>
          <a:lstStyle/>
          <a:p>
            <a:pPr algn="l">
              <a:lnSpc>
                <a:spcPct val="100000"/>
              </a:lnSpc>
            </a:pPr>
            <a:r>
              <a:rPr sz="2400" b="0">
                <a:solidFill>
                  <a:srgbClr val="16130F"/>
                </a:solidFill>
                <a:latin typeface="Georgia"/>
              </a:rPr>
              <a:t>early</a:t>
            </a:r>
          </a:p>
        </p:txBody>
      </p:sp>
      <p:sp>
        <p:nvSpPr>
          <p:cNvPr id="12" name="TextBox 11"/>
          <p:cNvSpPr txBox="1"/>
          <p:nvPr/>
        </p:nvSpPr>
        <p:spPr>
          <a:xfrm>
            <a:off x="3459472" y="3877056"/>
            <a:ext cx="6176246" cy="320040"/>
          </a:xfrm>
          <a:prstGeom prst="rect">
            <a:avLst/>
          </a:prstGeom>
          <a:noFill/>
        </p:spPr>
        <p:txBody>
          <a:bodyPr wrap="square" lIns="0" tIns="0" rIns="0" bIns="0" anchor="t">
            <a:noAutofit/>
          </a:bodyPr>
          <a:lstStyle/>
          <a:p>
            <a:pPr algn="l">
              <a:lnSpc>
                <a:spcPct val="100000"/>
              </a:lnSpc>
            </a:pPr>
            <a:r>
              <a:rPr sz="1400" b="0">
                <a:solidFill>
                  <a:srgbClr val="3A342E"/>
                </a:solidFill>
                <a:latin typeface="Franklin Gothic Book"/>
              </a:rPr>
              <a:t>first detected on or before 31 July</a:t>
            </a:r>
          </a:p>
        </p:txBody>
      </p:sp>
      <p:cxnSp>
        <p:nvCxnSpPr>
          <p:cNvPr id="13" name="Connector 12"/>
          <p:cNvCxnSpPr/>
          <p:nvPr/>
        </p:nvCxnSpPr>
        <p:spPr>
          <a:xfrm>
            <a:off x="749808" y="442569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49808" y="4700016"/>
            <a:ext cx="201168" cy="201168"/>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43584" y="4590288"/>
            <a:ext cx="2560320" cy="420624"/>
          </a:xfrm>
          <a:prstGeom prst="rect">
            <a:avLst/>
          </a:prstGeom>
          <a:noFill/>
        </p:spPr>
        <p:txBody>
          <a:bodyPr wrap="square" lIns="0" tIns="0" rIns="0" bIns="0" anchor="t">
            <a:noAutofit/>
          </a:bodyPr>
          <a:lstStyle/>
          <a:p>
            <a:pPr algn="l">
              <a:lnSpc>
                <a:spcPct val="100000"/>
              </a:lnSpc>
            </a:pPr>
            <a:r>
              <a:rPr sz="2400" b="0">
                <a:solidFill>
                  <a:srgbClr val="16130F"/>
                </a:solidFill>
                <a:latin typeface="Georgia"/>
              </a:rPr>
              <a:t>late</a:t>
            </a:r>
          </a:p>
        </p:txBody>
      </p:sp>
      <p:sp>
        <p:nvSpPr>
          <p:cNvPr id="16" name="TextBox 15"/>
          <p:cNvSpPr txBox="1"/>
          <p:nvPr/>
        </p:nvSpPr>
        <p:spPr>
          <a:xfrm>
            <a:off x="3459472" y="4700016"/>
            <a:ext cx="6176246" cy="320040"/>
          </a:xfrm>
          <a:prstGeom prst="rect">
            <a:avLst/>
          </a:prstGeom>
          <a:noFill/>
        </p:spPr>
        <p:txBody>
          <a:bodyPr wrap="square" lIns="0" tIns="0" rIns="0" bIns="0" anchor="t">
            <a:noAutofit/>
          </a:bodyPr>
          <a:lstStyle/>
          <a:p>
            <a:pPr algn="l">
              <a:lnSpc>
                <a:spcPct val="100000"/>
              </a:lnSpc>
            </a:pPr>
            <a:r>
              <a:rPr sz="1400" b="0">
                <a:solidFill>
                  <a:srgbClr val="3A342E"/>
                </a:solidFill>
                <a:latin typeface="Franklin Gothic Book"/>
              </a:rPr>
              <a:t>first detected after 31 July</a:t>
            </a:r>
          </a:p>
        </p:txBody>
      </p:sp>
      <p:cxnSp>
        <p:nvCxnSpPr>
          <p:cNvPr id="17" name="Connector 16"/>
          <p:cNvCxnSpPr/>
          <p:nvPr/>
        </p:nvCxnSpPr>
        <p:spPr>
          <a:xfrm>
            <a:off x="749808" y="524865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49808" y="5559552"/>
            <a:ext cx="7079467" cy="548640"/>
          </a:xfrm>
          <a:prstGeom prst="rect">
            <a:avLst/>
          </a:prstGeom>
          <a:noFill/>
        </p:spPr>
        <p:txBody>
          <a:bodyPr wrap="square" lIns="0" tIns="0" rIns="0" bIns="0" anchor="t">
            <a:noAutofit/>
          </a:bodyPr>
          <a:lstStyle/>
          <a:p>
            <a:pPr algn="l">
              <a:lnSpc>
                <a:spcPct val="144000"/>
              </a:lnSpc>
            </a:pPr>
            <a:r>
              <a:rPr sz="1200" b="0">
                <a:solidFill>
                  <a:srgbClr val="787066"/>
                </a:solidFill>
                <a:latin typeface="Franklin Gothic Book"/>
              </a:rPr>
              <a:t>The 31 July line is the one the Territory's own fire management uses, so the classes mean something to the people who would act on them.</a:t>
            </a:r>
          </a:p>
        </p:txBody>
      </p:sp>
      <p:cxnSp>
        <p:nvCxnSpPr>
          <p:cNvPr id="19" name="Connector 18"/>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49808" y="6345936"/>
            <a:ext cx="1782058"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4</a:t>
            </a:r>
          </a:p>
        </p:txBody>
      </p:sp>
      <p:sp>
        <p:nvSpPr>
          <p:cNvPr id="22" name="TextBox 21"/>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Harsh Rastogi</a:t>
            </a:r>
          </a:p>
        </p:txBody>
      </p:sp>
      <p:pic>
        <p:nvPicPr>
          <p:cNvPr id="23" name="Picture 22">
            <a:extLst>
              <a:ext uri="{FF2B5EF4-FFF2-40B4-BE49-F238E27FC236}">
                <a16:creationId xmlns:a16="http://schemas.microsoft.com/office/drawing/2014/main" id="{D1AE0C4A-9D04-4796-C394-FD2EE4AD874F}"/>
              </a:ext>
            </a:extLst>
          </p:cNvPr>
          <p:cNvPicPr>
            <a:picLocks noChangeAspect="1"/>
          </p:cNvPicPr>
          <p:nvPr/>
        </p:nvPicPr>
        <p:blipFill>
          <a:blip r:embed="rId3"/>
          <a:stretch>
            <a:fillRect/>
          </a:stretch>
        </p:blipFill>
        <p:spPr>
          <a:xfrm>
            <a:off x="6882597" y="804672"/>
            <a:ext cx="4381500" cy="3746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4906"/>
    </mc:Choice>
    <mc:Fallback xmlns="">
      <p:transition spd="slow" advTm="2490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BF9"/>
        </a:solidFill>
        <a:effectLst/>
      </p:bgPr>
    </p:bg>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THE DATA</a:t>
            </a:r>
          </a:p>
        </p:txBody>
      </p:sp>
      <p:sp>
        <p:nvSpPr>
          <p:cNvPr id="4" name="TextBox 3"/>
          <p:cNvSpPr txBox="1"/>
          <p:nvPr/>
        </p:nvSpPr>
        <p:spPr>
          <a:xfrm>
            <a:off x="749808" y="749808"/>
            <a:ext cx="8885910"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Three public sources, joined on one grid.</a:t>
            </a:r>
          </a:p>
        </p:txBody>
      </p:sp>
      <p:cxnSp>
        <p:nvCxnSpPr>
          <p:cNvPr id="5" name="Connector 4"/>
          <p:cNvCxnSpPr/>
          <p:nvPr/>
        </p:nvCxnSpPr>
        <p:spPr>
          <a:xfrm>
            <a:off x="749808" y="1938528"/>
            <a:ext cx="3265413" cy="0"/>
          </a:xfrm>
          <a:prstGeom prst="line">
            <a:avLst/>
          </a:prstGeom>
          <a:ln w="25400">
            <a:solidFill>
              <a:srgbClr val="C8341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49808" y="2139696"/>
            <a:ext cx="3265413" cy="384048"/>
          </a:xfrm>
          <a:prstGeom prst="rect">
            <a:avLst/>
          </a:prstGeom>
          <a:noFill/>
        </p:spPr>
        <p:txBody>
          <a:bodyPr wrap="square" lIns="0" tIns="0" rIns="0" bIns="0" anchor="t">
            <a:noAutofit/>
          </a:bodyPr>
          <a:lstStyle/>
          <a:p>
            <a:pPr algn="l">
              <a:lnSpc>
                <a:spcPct val="100000"/>
              </a:lnSpc>
            </a:pPr>
            <a:r>
              <a:rPr sz="2200" b="0">
                <a:solidFill>
                  <a:srgbClr val="16130F"/>
                </a:solidFill>
                <a:latin typeface="Georgia"/>
              </a:rPr>
              <a:t>NAFI</a:t>
            </a:r>
          </a:p>
        </p:txBody>
      </p:sp>
      <p:sp>
        <p:nvSpPr>
          <p:cNvPr id="7" name="TextBox 6"/>
          <p:cNvSpPr txBox="1"/>
          <p:nvPr/>
        </p:nvSpPr>
        <p:spPr>
          <a:xfrm>
            <a:off x="749808" y="2560320"/>
            <a:ext cx="3265413" cy="274320"/>
          </a:xfrm>
          <a:prstGeom prst="rect">
            <a:avLst/>
          </a:prstGeom>
          <a:noFill/>
        </p:spPr>
        <p:txBody>
          <a:bodyPr wrap="square" lIns="0" tIns="0" rIns="0" bIns="0" anchor="t">
            <a:noAutofit/>
          </a:bodyPr>
          <a:lstStyle/>
          <a:p>
            <a:pPr algn="l">
              <a:lnSpc>
                <a:spcPct val="126000"/>
              </a:lnSpc>
            </a:pPr>
            <a:r>
              <a:rPr sz="900" b="0" spc="40">
                <a:solidFill>
                  <a:srgbClr val="787066"/>
                </a:solidFill>
                <a:latin typeface="Franklin Gothic Medium"/>
              </a:rPr>
              <a:t>North Australian Fire Information</a:t>
            </a:r>
          </a:p>
        </p:txBody>
      </p:sp>
      <p:sp>
        <p:nvSpPr>
          <p:cNvPr id="8" name="TextBox 7"/>
          <p:cNvSpPr txBox="1"/>
          <p:nvPr/>
        </p:nvSpPr>
        <p:spPr>
          <a:xfrm>
            <a:off x="749808" y="2962656"/>
            <a:ext cx="3265413" cy="1188720"/>
          </a:xfrm>
          <a:prstGeom prst="rect">
            <a:avLst/>
          </a:prstGeom>
          <a:noFill/>
        </p:spPr>
        <p:txBody>
          <a:bodyPr wrap="square" lIns="0" tIns="0" rIns="0" bIns="0" anchor="t">
            <a:noAutofit/>
          </a:bodyPr>
          <a:lstStyle/>
          <a:p>
            <a:pPr algn="l">
              <a:lnSpc>
                <a:spcPct val="148000"/>
              </a:lnSpc>
            </a:pPr>
            <a:r>
              <a:rPr sz="1150" b="0">
                <a:solidFill>
                  <a:srgbClr val="3A342E"/>
                </a:solidFill>
                <a:latin typeface="Franklin Gothic Book"/>
              </a:rPr>
              <a:t>250 m burnt-area rasters, 2000 to 2025. Each pixel carries the month it was detected — which is what makes an early/late label possible at all.</a:t>
            </a:r>
          </a:p>
        </p:txBody>
      </p:sp>
      <p:cxnSp>
        <p:nvCxnSpPr>
          <p:cNvPr id="9" name="Connector 8"/>
          <p:cNvCxnSpPr/>
          <p:nvPr/>
        </p:nvCxnSpPr>
        <p:spPr>
          <a:xfrm>
            <a:off x="4362693" y="1938528"/>
            <a:ext cx="3265414" cy="0"/>
          </a:xfrm>
          <a:prstGeom prst="line">
            <a:avLst/>
          </a:prstGeom>
          <a:ln w="25400">
            <a:solidFill>
              <a:srgbClr val="C8341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62693" y="2139696"/>
            <a:ext cx="3265413" cy="384048"/>
          </a:xfrm>
          <a:prstGeom prst="rect">
            <a:avLst/>
          </a:prstGeom>
          <a:noFill/>
        </p:spPr>
        <p:txBody>
          <a:bodyPr wrap="square" lIns="0" tIns="0" rIns="0" bIns="0" anchor="t">
            <a:noAutofit/>
          </a:bodyPr>
          <a:lstStyle/>
          <a:p>
            <a:pPr algn="l">
              <a:lnSpc>
                <a:spcPct val="100000"/>
              </a:lnSpc>
            </a:pPr>
            <a:r>
              <a:rPr sz="2200" b="0">
                <a:solidFill>
                  <a:srgbClr val="16130F"/>
                </a:solidFill>
                <a:latin typeface="Georgia"/>
              </a:rPr>
              <a:t>SILO</a:t>
            </a:r>
          </a:p>
        </p:txBody>
      </p:sp>
      <p:sp>
        <p:nvSpPr>
          <p:cNvPr id="11" name="TextBox 10"/>
          <p:cNvSpPr txBox="1"/>
          <p:nvPr/>
        </p:nvSpPr>
        <p:spPr>
          <a:xfrm>
            <a:off x="4362693" y="2560320"/>
            <a:ext cx="3265413" cy="274320"/>
          </a:xfrm>
          <a:prstGeom prst="rect">
            <a:avLst/>
          </a:prstGeom>
          <a:noFill/>
        </p:spPr>
        <p:txBody>
          <a:bodyPr wrap="square" lIns="0" tIns="0" rIns="0" bIns="0" anchor="t">
            <a:noAutofit/>
          </a:bodyPr>
          <a:lstStyle/>
          <a:p>
            <a:pPr algn="l">
              <a:lnSpc>
                <a:spcPct val="126000"/>
              </a:lnSpc>
            </a:pPr>
            <a:r>
              <a:rPr sz="900" b="0" spc="40">
                <a:solidFill>
                  <a:srgbClr val="787066"/>
                </a:solidFill>
                <a:latin typeface="Franklin Gothic Medium"/>
              </a:rPr>
              <a:t>Queensland Government Data Drill</a:t>
            </a:r>
          </a:p>
        </p:txBody>
      </p:sp>
      <p:sp>
        <p:nvSpPr>
          <p:cNvPr id="12" name="TextBox 11"/>
          <p:cNvSpPr txBox="1"/>
          <p:nvPr/>
        </p:nvSpPr>
        <p:spPr>
          <a:xfrm>
            <a:off x="4362693" y="2962656"/>
            <a:ext cx="3265413" cy="1188720"/>
          </a:xfrm>
          <a:prstGeom prst="rect">
            <a:avLst/>
          </a:prstGeom>
          <a:noFill/>
        </p:spPr>
        <p:txBody>
          <a:bodyPr wrap="square" lIns="0" tIns="0" rIns="0" bIns="0" anchor="t">
            <a:noAutofit/>
          </a:bodyPr>
          <a:lstStyle/>
          <a:p>
            <a:pPr algn="l">
              <a:lnSpc>
                <a:spcPct val="148000"/>
              </a:lnSpc>
            </a:pPr>
            <a:r>
              <a:rPr sz="1150" b="0">
                <a:solidFill>
                  <a:srgbClr val="3A342E"/>
                </a:solidFill>
                <a:latin typeface="Franklin Gothic Book"/>
              </a:rPr>
              <a:t>Daily rainfall, temperature, humidity and radiation, interpolated from Bureau of Meteorology stations to the same 0.05° grid.</a:t>
            </a:r>
          </a:p>
        </p:txBody>
      </p:sp>
      <p:cxnSp>
        <p:nvCxnSpPr>
          <p:cNvPr id="13" name="Connector 12"/>
          <p:cNvCxnSpPr/>
          <p:nvPr/>
        </p:nvCxnSpPr>
        <p:spPr>
          <a:xfrm>
            <a:off x="7975579" y="1938528"/>
            <a:ext cx="3265414" cy="0"/>
          </a:xfrm>
          <a:prstGeom prst="line">
            <a:avLst/>
          </a:prstGeom>
          <a:ln w="25400">
            <a:solidFill>
              <a:srgbClr val="C8341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975579" y="2139696"/>
            <a:ext cx="3265413" cy="384048"/>
          </a:xfrm>
          <a:prstGeom prst="rect">
            <a:avLst/>
          </a:prstGeom>
          <a:noFill/>
        </p:spPr>
        <p:txBody>
          <a:bodyPr wrap="square" lIns="0" tIns="0" rIns="0" bIns="0" anchor="t">
            <a:noAutofit/>
          </a:bodyPr>
          <a:lstStyle/>
          <a:p>
            <a:pPr algn="l">
              <a:lnSpc>
                <a:spcPct val="100000"/>
              </a:lnSpc>
            </a:pPr>
            <a:r>
              <a:rPr sz="2200" b="0">
                <a:solidFill>
                  <a:srgbClr val="16130F"/>
                </a:solidFill>
                <a:latin typeface="Georgia"/>
              </a:rPr>
              <a:t>MODIS</a:t>
            </a:r>
          </a:p>
        </p:txBody>
      </p:sp>
      <p:sp>
        <p:nvSpPr>
          <p:cNvPr id="15" name="TextBox 14"/>
          <p:cNvSpPr txBox="1"/>
          <p:nvPr/>
        </p:nvSpPr>
        <p:spPr>
          <a:xfrm>
            <a:off x="7975579" y="2560320"/>
            <a:ext cx="3265413" cy="274320"/>
          </a:xfrm>
          <a:prstGeom prst="rect">
            <a:avLst/>
          </a:prstGeom>
          <a:noFill/>
        </p:spPr>
        <p:txBody>
          <a:bodyPr wrap="square" lIns="0" tIns="0" rIns="0" bIns="0" anchor="t">
            <a:noAutofit/>
          </a:bodyPr>
          <a:lstStyle/>
          <a:p>
            <a:pPr algn="l">
              <a:lnSpc>
                <a:spcPct val="126000"/>
              </a:lnSpc>
            </a:pPr>
            <a:r>
              <a:rPr sz="900" b="0" spc="40">
                <a:solidFill>
                  <a:srgbClr val="787066"/>
                </a:solidFill>
                <a:latin typeface="Franklin Gothic Medium"/>
              </a:rPr>
              <a:t>MOD13Q1 via Google Earth Engine</a:t>
            </a:r>
          </a:p>
        </p:txBody>
      </p:sp>
      <p:sp>
        <p:nvSpPr>
          <p:cNvPr id="16" name="TextBox 15"/>
          <p:cNvSpPr txBox="1"/>
          <p:nvPr/>
        </p:nvSpPr>
        <p:spPr>
          <a:xfrm>
            <a:off x="7975579" y="2962656"/>
            <a:ext cx="3265413" cy="1188720"/>
          </a:xfrm>
          <a:prstGeom prst="rect">
            <a:avLst/>
          </a:prstGeom>
          <a:noFill/>
        </p:spPr>
        <p:txBody>
          <a:bodyPr wrap="square" lIns="0" tIns="0" rIns="0" bIns="0" anchor="t">
            <a:noAutofit/>
          </a:bodyPr>
          <a:lstStyle/>
          <a:p>
            <a:pPr algn="l">
              <a:lnSpc>
                <a:spcPct val="148000"/>
              </a:lnSpc>
            </a:pPr>
            <a:r>
              <a:rPr sz="1150" b="0">
                <a:solidFill>
                  <a:srgbClr val="3A342E"/>
                </a:solidFill>
                <a:latin typeface="Franklin Gothic Book"/>
              </a:rPr>
              <a:t>Sixteen-day vegetation index. How green the country got over the wet season is how much fuel is standing when the dry arrives.</a:t>
            </a:r>
          </a:p>
        </p:txBody>
      </p:sp>
      <p:cxnSp>
        <p:nvCxnSpPr>
          <p:cNvPr id="17" name="Connector 16"/>
          <p:cNvCxnSpPr/>
          <p:nvPr/>
        </p:nvCxnSpPr>
        <p:spPr>
          <a:xfrm>
            <a:off x="749808" y="4261104"/>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49808" y="4425696"/>
            <a:ext cx="8885910" cy="365760"/>
          </a:xfrm>
          <a:prstGeom prst="rect">
            <a:avLst/>
          </a:prstGeom>
          <a:noFill/>
        </p:spPr>
        <p:txBody>
          <a:bodyPr wrap="square" lIns="0" tIns="0" rIns="0" bIns="0" anchor="t">
            <a:noAutofit/>
          </a:bodyPr>
          <a:lstStyle/>
          <a:p>
            <a:pPr algn="l">
              <a:lnSpc>
                <a:spcPct val="138000"/>
              </a:lnSpc>
            </a:pPr>
            <a:r>
              <a:rPr sz="1250" b="0">
                <a:solidFill>
                  <a:srgbClr val="787066"/>
                </a:solidFill>
                <a:latin typeface="Franklin Gothic Book"/>
              </a:rPr>
              <a:t>All three are open data, used under their own licences and cited in the report. Nothing in this project sits behind a login.</a:t>
            </a:r>
          </a:p>
        </p:txBody>
      </p:sp>
      <p:sp>
        <p:nvSpPr>
          <p:cNvPr id="19" name="TextBox 18"/>
          <p:cNvSpPr txBox="1"/>
          <p:nvPr/>
        </p:nvSpPr>
        <p:spPr>
          <a:xfrm>
            <a:off x="749808" y="4992624"/>
            <a:ext cx="1728216" cy="658368"/>
          </a:xfrm>
          <a:prstGeom prst="rect">
            <a:avLst/>
          </a:prstGeom>
          <a:noFill/>
        </p:spPr>
        <p:txBody>
          <a:bodyPr wrap="square" lIns="0" tIns="0" rIns="0" bIns="0" anchor="t">
            <a:noAutofit/>
          </a:bodyPr>
          <a:lstStyle/>
          <a:p>
            <a:pPr algn="l">
              <a:lnSpc>
                <a:spcPct val="100000"/>
              </a:lnSpc>
            </a:pPr>
            <a:r>
              <a:rPr sz="2200" b="0" spc="-40">
                <a:solidFill>
                  <a:srgbClr val="16130F"/>
                </a:solidFill>
                <a:latin typeface="Georgia"/>
              </a:rPr>
              <a:t>0.05°</a:t>
            </a:r>
          </a:p>
        </p:txBody>
      </p:sp>
      <p:sp>
        <p:nvSpPr>
          <p:cNvPr id="20" name="TextBox 19"/>
          <p:cNvSpPr txBox="1"/>
          <p:nvPr/>
        </p:nvSpPr>
        <p:spPr>
          <a:xfrm>
            <a:off x="749808" y="5333492"/>
            <a:ext cx="1728216" cy="548640"/>
          </a:xfrm>
          <a:prstGeom prst="rect">
            <a:avLst/>
          </a:prstGeom>
          <a:noFill/>
        </p:spPr>
        <p:txBody>
          <a:bodyPr wrap="square" lIns="0" tIns="0" rIns="0" bIns="0" anchor="t">
            <a:noAutofit/>
          </a:bodyPr>
          <a:lstStyle/>
          <a:p>
            <a:pPr algn="l">
              <a:lnSpc>
                <a:spcPct val="128000"/>
              </a:lnSpc>
            </a:pPr>
            <a:r>
              <a:rPr sz="950" b="0" spc="20">
                <a:solidFill>
                  <a:srgbClr val="787066"/>
                </a:solidFill>
                <a:latin typeface="Franklin Gothic Medium"/>
              </a:rPr>
              <a:t>grid cell, about 5 km</a:t>
            </a:r>
          </a:p>
        </p:txBody>
      </p:sp>
      <p:cxnSp>
        <p:nvCxnSpPr>
          <p:cNvPr id="21" name="Connector 20"/>
          <p:cNvCxnSpPr/>
          <p:nvPr/>
        </p:nvCxnSpPr>
        <p:spPr>
          <a:xfrm>
            <a:off x="2496311" y="4992624"/>
            <a:ext cx="0" cy="841248"/>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624327" y="4992624"/>
            <a:ext cx="1728216" cy="658368"/>
          </a:xfrm>
          <a:prstGeom prst="rect">
            <a:avLst/>
          </a:prstGeom>
          <a:noFill/>
        </p:spPr>
        <p:txBody>
          <a:bodyPr wrap="square" lIns="0" tIns="0" rIns="0" bIns="0" anchor="t">
            <a:noAutofit/>
          </a:bodyPr>
          <a:lstStyle/>
          <a:p>
            <a:pPr algn="l">
              <a:lnSpc>
                <a:spcPct val="100000"/>
              </a:lnSpc>
            </a:pPr>
            <a:r>
              <a:rPr sz="2200" b="0" spc="-40">
                <a:solidFill>
                  <a:srgbClr val="16130F"/>
                </a:solidFill>
                <a:latin typeface="Georgia"/>
              </a:rPr>
              <a:t>2000–2025</a:t>
            </a:r>
          </a:p>
        </p:txBody>
      </p:sp>
      <p:sp>
        <p:nvSpPr>
          <p:cNvPr id="23" name="TextBox 22"/>
          <p:cNvSpPr txBox="1"/>
          <p:nvPr/>
        </p:nvSpPr>
        <p:spPr>
          <a:xfrm>
            <a:off x="2624327" y="5333492"/>
            <a:ext cx="1728216" cy="548640"/>
          </a:xfrm>
          <a:prstGeom prst="rect">
            <a:avLst/>
          </a:prstGeom>
          <a:noFill/>
        </p:spPr>
        <p:txBody>
          <a:bodyPr wrap="square" lIns="0" tIns="0" rIns="0" bIns="0" anchor="t">
            <a:noAutofit/>
          </a:bodyPr>
          <a:lstStyle/>
          <a:p>
            <a:pPr algn="l">
              <a:lnSpc>
                <a:spcPct val="128000"/>
              </a:lnSpc>
            </a:pPr>
            <a:r>
              <a:rPr sz="950" b="0" spc="20">
                <a:solidFill>
                  <a:srgbClr val="787066"/>
                </a:solidFill>
                <a:latin typeface="Franklin Gothic Medium"/>
              </a:rPr>
              <a:t>years of fire record</a:t>
            </a:r>
          </a:p>
        </p:txBody>
      </p:sp>
      <p:cxnSp>
        <p:nvCxnSpPr>
          <p:cNvPr id="24" name="Connector 23"/>
          <p:cNvCxnSpPr/>
          <p:nvPr/>
        </p:nvCxnSpPr>
        <p:spPr>
          <a:xfrm>
            <a:off x="4370832" y="4992624"/>
            <a:ext cx="0" cy="841248"/>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498848" y="4992624"/>
            <a:ext cx="1728216" cy="658368"/>
          </a:xfrm>
          <a:prstGeom prst="rect">
            <a:avLst/>
          </a:prstGeom>
          <a:noFill/>
        </p:spPr>
        <p:txBody>
          <a:bodyPr wrap="square" lIns="0" tIns="0" rIns="0" bIns="0" anchor="t">
            <a:noAutofit/>
          </a:bodyPr>
          <a:lstStyle/>
          <a:p>
            <a:pPr algn="l">
              <a:lnSpc>
                <a:spcPct val="100000"/>
              </a:lnSpc>
            </a:pPr>
            <a:r>
              <a:rPr sz="2200" b="0" spc="-40">
                <a:solidFill>
                  <a:srgbClr val="16130F"/>
                </a:solidFill>
                <a:latin typeface="Georgia"/>
              </a:rPr>
              <a:t>50</a:t>
            </a:r>
          </a:p>
        </p:txBody>
      </p:sp>
      <p:sp>
        <p:nvSpPr>
          <p:cNvPr id="26" name="TextBox 25"/>
          <p:cNvSpPr txBox="1"/>
          <p:nvPr/>
        </p:nvSpPr>
        <p:spPr>
          <a:xfrm>
            <a:off x="4498848" y="5333492"/>
            <a:ext cx="1728216" cy="548640"/>
          </a:xfrm>
          <a:prstGeom prst="rect">
            <a:avLst/>
          </a:prstGeom>
          <a:noFill/>
        </p:spPr>
        <p:txBody>
          <a:bodyPr wrap="square" lIns="0" tIns="0" rIns="0" bIns="0" anchor="t">
            <a:noAutofit/>
          </a:bodyPr>
          <a:lstStyle/>
          <a:p>
            <a:pPr algn="l">
              <a:lnSpc>
                <a:spcPct val="128000"/>
              </a:lnSpc>
            </a:pPr>
            <a:r>
              <a:rPr sz="950" b="0" spc="20">
                <a:solidFill>
                  <a:srgbClr val="787066"/>
                </a:solidFill>
                <a:latin typeface="Franklin Gothic Medium"/>
              </a:rPr>
              <a:t>features per square-year</a:t>
            </a:r>
          </a:p>
        </p:txBody>
      </p:sp>
      <p:cxnSp>
        <p:nvCxnSpPr>
          <p:cNvPr id="27" name="Connector 26"/>
          <p:cNvCxnSpPr/>
          <p:nvPr/>
        </p:nvCxnSpPr>
        <p:spPr>
          <a:xfrm>
            <a:off x="6245352" y="4992624"/>
            <a:ext cx="0" cy="841248"/>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73368" y="4992624"/>
            <a:ext cx="1728216" cy="658368"/>
          </a:xfrm>
          <a:prstGeom prst="rect">
            <a:avLst/>
          </a:prstGeom>
          <a:noFill/>
        </p:spPr>
        <p:txBody>
          <a:bodyPr wrap="square" lIns="0" tIns="0" rIns="0" bIns="0" anchor="t">
            <a:noAutofit/>
          </a:bodyPr>
          <a:lstStyle/>
          <a:p>
            <a:pPr algn="l">
              <a:lnSpc>
                <a:spcPct val="100000"/>
              </a:lnSpc>
            </a:pPr>
            <a:r>
              <a:rPr sz="2200" b="0" spc="-40">
                <a:solidFill>
                  <a:srgbClr val="16130F"/>
                </a:solidFill>
                <a:latin typeface="Georgia"/>
              </a:rPr>
              <a:t>966,819</a:t>
            </a:r>
          </a:p>
        </p:txBody>
      </p:sp>
      <p:sp>
        <p:nvSpPr>
          <p:cNvPr id="29" name="TextBox 28"/>
          <p:cNvSpPr txBox="1"/>
          <p:nvPr/>
        </p:nvSpPr>
        <p:spPr>
          <a:xfrm>
            <a:off x="6373368" y="5333492"/>
            <a:ext cx="1728216" cy="548640"/>
          </a:xfrm>
          <a:prstGeom prst="rect">
            <a:avLst/>
          </a:prstGeom>
          <a:noFill/>
        </p:spPr>
        <p:txBody>
          <a:bodyPr wrap="square" lIns="0" tIns="0" rIns="0" bIns="0" anchor="t">
            <a:noAutofit/>
          </a:bodyPr>
          <a:lstStyle/>
          <a:p>
            <a:pPr algn="l">
              <a:lnSpc>
                <a:spcPct val="128000"/>
              </a:lnSpc>
            </a:pPr>
            <a:r>
              <a:rPr sz="950" b="0" spc="20">
                <a:solidFill>
                  <a:srgbClr val="787066"/>
                </a:solidFill>
                <a:latin typeface="Franklin Gothic Medium"/>
              </a:rPr>
              <a:t>rows used for modelling</a:t>
            </a:r>
          </a:p>
        </p:txBody>
      </p:sp>
      <p:cxnSp>
        <p:nvCxnSpPr>
          <p:cNvPr id="30" name="Connector 29"/>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49808" y="6345936"/>
            <a:ext cx="2227573"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5</a:t>
            </a:r>
          </a:p>
        </p:txBody>
      </p:sp>
      <p:sp>
        <p:nvSpPr>
          <p:cNvPr id="33" name="TextBox 32"/>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Harsh Rastogi</a:t>
            </a:r>
          </a:p>
        </p:txBody>
      </p:sp>
    </p:spTree>
  </p:cSld>
  <p:clrMapOvr>
    <a:masterClrMapping/>
  </p:clrMapOvr>
  <mc:AlternateContent xmlns:mc="http://schemas.openxmlformats.org/markup-compatibility/2006" xmlns:p14="http://schemas.microsoft.com/office/powerpoint/2010/main">
    <mc:Choice Requires="p14">
      <p:transition spd="slow" p14:dur="2000" advTm="39504"/>
    </mc:Choice>
    <mc:Fallback xmlns="">
      <p:transition spd="slow" advTm="3950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35921" y="420624"/>
            <a:ext cx="4206240" cy="2377440"/>
          </a:xfrm>
          <a:prstGeom prst="rect">
            <a:avLst/>
          </a:prstGeom>
          <a:noFill/>
        </p:spPr>
        <p:txBody>
          <a:bodyPr wrap="square" lIns="0" tIns="0" rIns="0" bIns="0" anchor="t">
            <a:noAutofit/>
          </a:bodyPr>
          <a:lstStyle/>
          <a:p>
            <a:pPr algn="r">
              <a:lnSpc>
                <a:spcPct val="100000"/>
              </a:lnSpc>
            </a:pPr>
            <a:r>
              <a:rPr sz="15000" b="0" spc="-300">
                <a:solidFill>
                  <a:srgbClr val="DCD5CA"/>
                </a:solidFill>
                <a:latin typeface="Georgia"/>
              </a:rPr>
              <a:t>02</a:t>
            </a:r>
          </a:p>
        </p:txBody>
      </p:sp>
      <p:cxnSp>
        <p:nvCxnSpPr>
          <p:cNvPr id="3" name="Connector 2"/>
          <p:cNvCxnSpPr/>
          <p:nvPr/>
        </p:nvCxnSpPr>
        <p:spPr>
          <a:xfrm>
            <a:off x="749808" y="2468880"/>
            <a:ext cx="1280159" cy="0"/>
          </a:xfrm>
          <a:prstGeom prst="line">
            <a:avLst/>
          </a:prstGeom>
          <a:ln w="33020">
            <a:solidFill>
              <a:srgbClr val="C8341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49808" y="2688336"/>
            <a:ext cx="6176246" cy="219456"/>
          </a:xfrm>
          <a:prstGeom prst="rect">
            <a:avLst/>
          </a:prstGeom>
          <a:noFill/>
        </p:spPr>
        <p:txBody>
          <a:bodyPr wrap="square" lIns="0" tIns="0" rIns="0" bIns="0" anchor="t">
            <a:noAutofit/>
          </a:bodyPr>
          <a:lstStyle/>
          <a:p>
            <a:pPr algn="l">
              <a:lnSpc>
                <a:spcPct val="100000"/>
              </a:lnSpc>
            </a:pPr>
            <a:r>
              <a:rPr sz="950" b="0" spc="180">
                <a:solidFill>
                  <a:srgbClr val="787066"/>
                </a:solidFill>
                <a:latin typeface="Franklin Gothic Medium"/>
              </a:rPr>
              <a:t>ACT TWO</a:t>
            </a:r>
          </a:p>
        </p:txBody>
      </p:sp>
      <p:sp>
        <p:nvSpPr>
          <p:cNvPr id="5" name="TextBox 4"/>
          <p:cNvSpPr txBox="1"/>
          <p:nvPr/>
        </p:nvSpPr>
        <p:spPr>
          <a:xfrm>
            <a:off x="749808" y="3017520"/>
            <a:ext cx="7079467" cy="1371600"/>
          </a:xfrm>
          <a:prstGeom prst="rect">
            <a:avLst/>
          </a:prstGeom>
          <a:noFill/>
        </p:spPr>
        <p:txBody>
          <a:bodyPr wrap="square" lIns="0" tIns="0" rIns="0" bIns="0" anchor="t">
            <a:noAutofit/>
          </a:bodyPr>
          <a:lstStyle/>
          <a:p>
            <a:pPr algn="l">
              <a:lnSpc>
                <a:spcPct val="110000"/>
              </a:lnSpc>
            </a:pPr>
            <a:r>
              <a:rPr sz="4200" b="0" spc="-60">
                <a:solidFill>
                  <a:srgbClr val="16130F"/>
                </a:solidFill>
                <a:latin typeface="Georgia"/>
              </a:rPr>
              <a:t>How we built it</a:t>
            </a:r>
          </a:p>
        </p:txBody>
      </p:sp>
      <p:cxnSp>
        <p:nvCxnSpPr>
          <p:cNvPr id="6" name="Connector 5"/>
          <p:cNvCxnSpPr/>
          <p:nvPr/>
        </p:nvCxnSpPr>
        <p:spPr>
          <a:xfrm>
            <a:off x="749808" y="4626864"/>
            <a:ext cx="3466581"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49808" y="4828032"/>
            <a:ext cx="5273024" cy="914400"/>
          </a:xfrm>
          <a:prstGeom prst="rect">
            <a:avLst/>
          </a:prstGeom>
          <a:noFill/>
        </p:spPr>
        <p:txBody>
          <a:bodyPr wrap="square" lIns="0" tIns="0" rIns="0" bIns="0" anchor="t">
            <a:noAutofit/>
          </a:bodyPr>
          <a:lstStyle/>
          <a:p>
            <a:pPr algn="l">
              <a:lnSpc>
                <a:spcPct val="154000"/>
              </a:lnSpc>
            </a:pPr>
            <a:r>
              <a:rPr sz="1350" b="0">
                <a:solidFill>
                  <a:srgbClr val="3A342E"/>
                </a:solidFill>
                <a:latin typeface="Franklin Gothic Book"/>
              </a:rPr>
              <a:t>Turning satellite scars into labels, deciding what the model is allowed to know, and proving it never saw the answer.</a:t>
            </a:r>
          </a:p>
        </p:txBody>
      </p:sp>
      <p:sp>
        <p:nvSpPr>
          <p:cNvPr id="8" name="TextBox 7"/>
          <p:cNvSpPr txBox="1"/>
          <p:nvPr/>
        </p:nvSpPr>
        <p:spPr>
          <a:xfrm>
            <a:off x="749808" y="5705856"/>
            <a:ext cx="5273024" cy="256032"/>
          </a:xfrm>
          <a:prstGeom prst="rect">
            <a:avLst/>
          </a:prstGeom>
          <a:noFill/>
        </p:spPr>
        <p:txBody>
          <a:bodyPr wrap="square" lIns="0" tIns="0" rIns="0" bIns="0" anchor="t">
            <a:noAutofit/>
          </a:bodyPr>
          <a:lstStyle/>
          <a:p>
            <a:pPr algn="l">
              <a:lnSpc>
                <a:spcPct val="100000"/>
              </a:lnSpc>
            </a:pPr>
            <a:r>
              <a:rPr sz="1050" b="0" spc="60">
                <a:solidFill>
                  <a:srgbClr val="C8341B"/>
                </a:solidFill>
                <a:latin typeface="Franklin Gothic Medium"/>
              </a:rPr>
              <a:t>Saira Zafar</a:t>
            </a:r>
          </a:p>
        </p:txBody>
      </p:sp>
      <p:cxnSp>
        <p:nvCxnSpPr>
          <p:cNvPr id="9" name="Connector 8"/>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49808" y="6345936"/>
            <a:ext cx="2673088"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6</a:t>
            </a:r>
          </a:p>
        </p:txBody>
      </p:sp>
    </p:spTree>
    <p:extLst>
      <p:ext uri="{BB962C8B-B14F-4D97-AF65-F5344CB8AC3E}">
        <p14:creationId xmlns:p14="http://schemas.microsoft.com/office/powerpoint/2010/main" val="3908161899"/>
      </p:ext>
    </p:extLst>
  </p:cSld>
  <p:clrMapOvr>
    <a:masterClrMapping/>
  </p:clrMapOvr>
  <mc:AlternateContent xmlns:mc="http://schemas.openxmlformats.org/markup-compatibility/2006" xmlns:p14="http://schemas.microsoft.com/office/powerpoint/2010/main">
    <mc:Choice Requires="p14">
      <p:transition spd="slow" p14:dur="2000" advTm="10412"/>
    </mc:Choice>
    <mc:Fallback xmlns="">
      <p:transition spd="slow" advTm="10412"/>
    </mc:Fallback>
  </mc:AlternateContent>
  <p:extLst>
    <p:ext uri="{3A86A75C-4F4B-4683-9AE1-C65F6400EC91}">
      <p14:laserTraceLst xmlns:p14="http://schemas.microsoft.com/office/powerpoint/2010/main">
        <p14:tracePtLst>
          <p14:tracePt t="2547" x="2608263" y="6624638"/>
          <p14:tracePt t="2558" x="2576513" y="6435725"/>
          <p14:tracePt t="2570" x="2524125" y="6248400"/>
          <p14:tracePt t="2587" x="2492375" y="6059488"/>
          <p14:tracePt t="2603" x="2446338" y="5891213"/>
          <p14:tracePt t="2620" x="2381250" y="5599113"/>
          <p14:tracePt t="2637" x="2349500" y="5514975"/>
          <p14:tracePt t="2654" x="2316163" y="5418138"/>
          <p14:tracePt t="2670" x="2290763" y="5391150"/>
          <p14:tracePt t="2687" x="2284413" y="5378450"/>
          <p14:tracePt t="2703" x="2263775" y="5372100"/>
          <p14:tracePt t="2720" x="2257425" y="5372100"/>
          <p14:tracePt t="2737" x="2251075" y="5372100"/>
          <p14:tracePt t="2797" x="2244725" y="5372100"/>
          <p14:tracePt t="2821" x="2244725" y="5378450"/>
          <p14:tracePt t="2881" x="2238375" y="5372100"/>
          <p14:tracePt t="2894" x="2238375" y="5365750"/>
          <p14:tracePt t="2906" x="2225675" y="5346700"/>
          <p14:tracePt t="2918" x="2212975" y="5313363"/>
          <p14:tracePt t="2929" x="2179638" y="5248275"/>
          <p14:tracePt t="2942" x="2135188" y="5191125"/>
          <p14:tracePt t="2953" x="2082800" y="5113338"/>
          <p14:tracePt t="2970" x="2024063" y="5035550"/>
          <p14:tracePt t="2986" x="1979613" y="4956175"/>
          <p14:tracePt t="3003" x="1914525" y="4840288"/>
          <p14:tracePt t="3019" x="1881188" y="4821238"/>
          <p14:tracePt t="3037" x="1830388" y="4800600"/>
          <p14:tracePt t="3053" x="1803400" y="4800600"/>
          <p14:tracePt t="3069" x="1778000" y="4800600"/>
          <p14:tracePt t="3086" x="1731963" y="4800600"/>
          <p14:tracePt t="3103" x="1712913" y="4794250"/>
          <p14:tracePt t="3120" x="1700213" y="4794250"/>
          <p14:tracePt t="3136" x="1681163" y="4794250"/>
          <p14:tracePt t="3154" x="1674813" y="4794250"/>
          <p14:tracePt t="3170" x="1660525" y="4794250"/>
          <p14:tracePt t="3186" x="1654175" y="4800600"/>
          <p14:tracePt t="3203" x="1647825" y="4800600"/>
          <p14:tracePt t="3219" x="1628775" y="4794250"/>
          <p14:tracePt t="3236" x="1616075" y="4781550"/>
          <p14:tracePt t="3253" x="1589088" y="4756150"/>
          <p14:tracePt t="3270" x="1576388" y="4737100"/>
          <p14:tracePt t="3286" x="1550988" y="4703763"/>
          <p14:tracePt t="3303" x="1525588" y="4665663"/>
          <p14:tracePt t="3319" x="1511300" y="4632325"/>
          <p14:tracePt t="3336" x="1479550" y="4594225"/>
          <p14:tracePt t="3353" x="1466850" y="4567238"/>
          <p14:tracePt t="3369" x="1460500" y="4554538"/>
          <p14:tracePt t="3386" x="1446213" y="4529138"/>
          <p14:tracePt t="3403" x="1446213" y="4522788"/>
          <p14:tracePt t="3420" x="1446213" y="4516438"/>
          <p14:tracePt t="3421" x="1446213" y="4508500"/>
          <p14:tracePt t="3436" x="1454150" y="4502150"/>
          <p14:tracePt t="3453" x="1460500" y="4495800"/>
          <p14:tracePt t="3469" x="1460500" y="4476750"/>
          <p14:tracePt t="3486" x="1466850" y="4457700"/>
          <p14:tracePt t="3502" x="1479550" y="4424363"/>
          <p14:tracePt t="3519" x="1479550" y="4367213"/>
          <p14:tracePt t="3536" x="1479550" y="4333875"/>
          <p14:tracePt t="3553" x="1479550" y="4281488"/>
          <p14:tracePt t="3569" x="1479550" y="4262438"/>
          <p14:tracePt t="3586" x="1479550" y="4249738"/>
          <p14:tracePt t="3603" x="1479550" y="4224338"/>
          <p14:tracePt t="3619" x="1479550" y="4217988"/>
          <p14:tracePt t="3648" x="1485900" y="4217988"/>
          <p14:tracePt t="3660" x="1492250" y="4217988"/>
          <p14:tracePt t="3673" x="1517650" y="4217988"/>
          <p14:tracePt t="3686" x="1550988" y="4203700"/>
          <p14:tracePt t="3702" x="1616075" y="4184650"/>
          <p14:tracePt t="3720" x="1868488" y="4100513"/>
          <p14:tracePt t="3736" x="2063750" y="4041775"/>
          <p14:tracePt t="3752" x="2278063" y="3990975"/>
          <p14:tracePt t="3769" x="2627313" y="3911600"/>
          <p14:tracePt t="3786" x="2725738" y="3892550"/>
          <p14:tracePt t="3803" x="2803525" y="3867150"/>
          <p14:tracePt t="3819" x="2822575" y="3867150"/>
          <p14:tracePt t="3836" x="2841625" y="3860800"/>
          <p14:tracePt t="3853" x="2868613" y="3860800"/>
          <p14:tracePt t="3869" x="2874963" y="3860800"/>
          <p14:tracePt t="3890" x="2881313" y="3860800"/>
          <p14:tracePt t="4019" x="2881313" y="3867150"/>
          <p14:tracePt t="4043" x="2881313" y="3873500"/>
          <p14:tracePt t="4079" x="2881313" y="3879850"/>
          <p14:tracePt t="4139" x="2881313" y="3886200"/>
          <p14:tracePt t="4176" x="2881313" y="3892550"/>
          <p14:tracePt t="4198" x="2874963" y="3892550"/>
          <p14:tracePt t="6022" x="2868613" y="3963988"/>
          <p14:tracePt t="6031" x="2809875" y="4184650"/>
          <p14:tracePt t="6044" x="2744788" y="4386263"/>
          <p14:tracePt t="6056" x="2686050" y="4560888"/>
          <p14:tracePt t="6067" x="2614613" y="4768850"/>
          <p14:tracePt t="6084" x="2570163" y="4956175"/>
          <p14:tracePt t="6101" x="2524125" y="5113338"/>
          <p14:tracePt t="6117" x="2459038" y="5346700"/>
          <p14:tracePt t="6134" x="2459038" y="5405438"/>
          <p14:tracePt t="6151" x="2459038" y="5483225"/>
          <p14:tracePt t="6167" x="2459038" y="5508625"/>
          <p14:tracePt t="6184" x="2465388" y="5521325"/>
          <p14:tracePt t="6200" x="2478088" y="5534025"/>
          <p14:tracePt t="6217" x="2484438" y="5534025"/>
          <p14:tracePt t="6234" x="2492375" y="5534025"/>
          <p14:tracePt t="6295" x="2498725" y="5534025"/>
          <p14:tracePt t="6331" x="2505075" y="5527675"/>
          <p14:tracePt t="6342" x="2511425" y="5521325"/>
          <p14:tracePt t="6356" x="2517775" y="5514975"/>
          <p14:tracePt t="6367" x="2524125" y="5514975"/>
          <p14:tracePt t="6384" x="2530475" y="5502275"/>
          <p14:tracePt t="6401" x="2543175" y="5502275"/>
          <p14:tracePt t="6404" x="2555875" y="5502275"/>
          <p14:tracePt t="6417" x="2595563" y="5502275"/>
          <p14:tracePt t="6434" x="2654300" y="5508625"/>
          <p14:tracePt t="6451" x="2828925" y="5521325"/>
          <p14:tracePt t="6467" x="2940050" y="5546725"/>
          <p14:tracePt t="6484" x="3068638" y="5567363"/>
          <p14:tracePt t="6486" x="3179763" y="5586413"/>
          <p14:tracePt t="6500" x="3309938" y="5618163"/>
          <p14:tracePt t="6517" x="3451225" y="5638800"/>
          <p14:tracePt t="6534" x="3749675" y="5695950"/>
          <p14:tracePt t="6550" x="3906838" y="5729288"/>
          <p14:tracePt t="6567" x="4035425" y="5761038"/>
          <p14:tracePt t="6583" x="4237038" y="5800725"/>
          <p14:tracePt t="6601" x="4295775" y="5813425"/>
          <p14:tracePt t="6617" x="4333875" y="5819775"/>
          <p14:tracePt t="6619" x="4354513" y="5826125"/>
          <p14:tracePt t="6633" x="4367213" y="5826125"/>
          <p14:tracePt t="6650" x="4373563" y="5826125"/>
          <p14:tracePt t="6667" x="4379913" y="5832475"/>
          <p14:tracePt t="6690" x="4379913" y="5838825"/>
          <p14:tracePt t="6738" x="4379913" y="5845175"/>
          <p14:tracePt t="6762" x="4373563" y="5845175"/>
          <p14:tracePt t="6809" x="4367213" y="5853113"/>
          <p14:tracePt t="6834" x="4360863" y="5859463"/>
          <p14:tracePt t="6846" x="4354513" y="5865813"/>
          <p14:tracePt t="6871" x="4346575" y="5865813"/>
          <p14:tracePt t="6882" x="4340225" y="5865813"/>
          <p14:tracePt t="6905" x="4333875" y="5865813"/>
          <p14:tracePt t="7001" x="4327525" y="5865813"/>
          <p14:tracePt t="7025" x="4321175" y="5865813"/>
          <p14:tracePt t="7049" x="4314825" y="5865813"/>
          <p14:tracePt t="7109" x="4314825" y="5859463"/>
          <p14:tracePt t="7372" x="4314825" y="5853113"/>
          <p14:tracePt t="7803" x="4314825" y="5845175"/>
          <p14:tracePt t="7827" x="4314825" y="5838825"/>
          <p14:tracePt t="7852" x="4321175" y="5826125"/>
          <p14:tracePt t="7863" x="4321175" y="5819775"/>
          <p14:tracePt t="7876" x="4327525" y="5807075"/>
          <p14:tracePt t="7888" x="4327525" y="5800725"/>
          <p14:tracePt t="7901" x="4327525" y="5788025"/>
          <p14:tracePt t="7923" x="4327525" y="5781675"/>
          <p14:tracePt t="7937" x="4327525" y="5773738"/>
          <p14:tracePt t="7972" x="4327525" y="5767388"/>
          <p14:tracePt t="8665" x="4321175" y="5767388"/>
          <p14:tracePt t="8690" x="4314825" y="5767388"/>
          <p14:tracePt t="8703" x="4302125" y="5767388"/>
          <p14:tracePt t="8714" x="4276725" y="5767388"/>
          <p14:tracePt t="8726" x="4237038" y="5767388"/>
          <p14:tracePt t="8739" x="4178300" y="5767388"/>
          <p14:tracePt t="8749" x="4100513" y="5767388"/>
          <p14:tracePt t="8765" x="4016375" y="5767388"/>
          <p14:tracePt t="8782" x="3925888" y="5767388"/>
          <p14:tracePt t="8798" x="3743325" y="5788025"/>
          <p14:tracePt t="8815" x="3659188" y="5794375"/>
          <p14:tracePt t="8832" x="3600450" y="5807075"/>
          <p14:tracePt t="8848" x="3522663" y="5807075"/>
          <p14:tracePt t="8865" x="3497263" y="5807075"/>
          <p14:tracePt t="8882" x="3471863" y="5807075"/>
          <p14:tracePt t="8898" x="3465513" y="5807075"/>
          <p14:tracePt t="8915" x="3459163" y="5807075"/>
          <p14:tracePt t="8955" x="3465513" y="5807075"/>
          <p14:tracePt t="8965" x="3465513" y="5800725"/>
          <p14:tracePt t="8977" x="3471863" y="5794375"/>
          <p14:tracePt t="9013" x="3478213" y="5794375"/>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LABELLING</a:t>
            </a:r>
          </a:p>
        </p:txBody>
      </p:sp>
      <p:sp>
        <p:nvSpPr>
          <p:cNvPr id="4" name="TextBox 3"/>
          <p:cNvSpPr txBox="1"/>
          <p:nvPr/>
        </p:nvSpPr>
        <p:spPr>
          <a:xfrm>
            <a:off x="749808" y="749808"/>
            <a:ext cx="8885910"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From burnt pixels to one answer per square.</a:t>
            </a:r>
          </a:p>
        </p:txBody>
      </p:sp>
      <p:cxnSp>
        <p:nvCxnSpPr>
          <p:cNvPr id="5" name="Connector 4"/>
          <p:cNvCxnSpPr/>
          <p:nvPr/>
        </p:nvCxnSpPr>
        <p:spPr>
          <a:xfrm>
            <a:off x="749808" y="1920240"/>
            <a:ext cx="5273024"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49808" y="2103120"/>
            <a:ext cx="457200" cy="384048"/>
          </a:xfrm>
          <a:prstGeom prst="rect">
            <a:avLst/>
          </a:prstGeom>
          <a:noFill/>
        </p:spPr>
        <p:txBody>
          <a:bodyPr wrap="square" lIns="0" tIns="0" rIns="0" bIns="0" anchor="t">
            <a:noAutofit/>
          </a:bodyPr>
          <a:lstStyle/>
          <a:p>
            <a:pPr algn="l">
              <a:lnSpc>
                <a:spcPct val="100000"/>
              </a:lnSpc>
            </a:pPr>
            <a:r>
              <a:rPr sz="1900" b="0">
                <a:solidFill>
                  <a:srgbClr val="C8341B"/>
                </a:solidFill>
                <a:latin typeface="Georgia"/>
              </a:rPr>
              <a:t>1</a:t>
            </a:r>
          </a:p>
        </p:txBody>
      </p:sp>
      <p:sp>
        <p:nvSpPr>
          <p:cNvPr id="7" name="TextBox 6"/>
          <p:cNvSpPr txBox="1"/>
          <p:nvPr/>
        </p:nvSpPr>
        <p:spPr>
          <a:xfrm>
            <a:off x="1316736" y="2103120"/>
            <a:ext cx="4369803" cy="292608"/>
          </a:xfrm>
          <a:prstGeom prst="rect">
            <a:avLst/>
          </a:prstGeom>
          <a:noFill/>
        </p:spPr>
        <p:txBody>
          <a:bodyPr wrap="square" lIns="0" tIns="0" rIns="0" bIns="0" anchor="t">
            <a:noAutofit/>
          </a:bodyPr>
          <a:lstStyle/>
          <a:p>
            <a:pPr algn="l">
              <a:lnSpc>
                <a:spcPct val="100000"/>
              </a:lnSpc>
            </a:pPr>
            <a:r>
              <a:rPr sz="1600" b="0">
                <a:solidFill>
                  <a:srgbClr val="16130F"/>
                </a:solidFill>
                <a:latin typeface="Georgia"/>
              </a:rPr>
              <a:t>Read the scar</a:t>
            </a:r>
          </a:p>
        </p:txBody>
      </p:sp>
      <p:sp>
        <p:nvSpPr>
          <p:cNvPr id="8" name="TextBox 7"/>
          <p:cNvSpPr txBox="1"/>
          <p:nvPr/>
        </p:nvSpPr>
        <p:spPr>
          <a:xfrm>
            <a:off x="1316736" y="2450592"/>
            <a:ext cx="4260075" cy="914400"/>
          </a:xfrm>
          <a:prstGeom prst="rect">
            <a:avLst/>
          </a:prstGeom>
          <a:noFill/>
        </p:spPr>
        <p:txBody>
          <a:bodyPr wrap="square" lIns="0" tIns="0" rIns="0" bIns="0" anchor="t">
            <a:noAutofit/>
          </a:bodyPr>
          <a:lstStyle/>
          <a:p>
            <a:pPr algn="l">
              <a:lnSpc>
                <a:spcPct val="146000"/>
              </a:lnSpc>
            </a:pPr>
            <a:r>
              <a:rPr sz="1150" b="0">
                <a:solidFill>
                  <a:srgbClr val="3A342E"/>
                </a:solidFill>
                <a:latin typeface="Franklin Gothic Book"/>
              </a:rPr>
              <a:t>Each NAFI pixel holds the month it burned, 1 to 12, or zero for no fire.</a:t>
            </a:r>
          </a:p>
        </p:txBody>
      </p:sp>
      <p:cxnSp>
        <p:nvCxnSpPr>
          <p:cNvPr id="9" name="Connector 8"/>
          <p:cNvCxnSpPr/>
          <p:nvPr/>
        </p:nvCxnSpPr>
        <p:spPr>
          <a:xfrm>
            <a:off x="749808" y="3273552"/>
            <a:ext cx="5273024"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49808" y="3456432"/>
            <a:ext cx="457200" cy="384048"/>
          </a:xfrm>
          <a:prstGeom prst="rect">
            <a:avLst/>
          </a:prstGeom>
          <a:noFill/>
        </p:spPr>
        <p:txBody>
          <a:bodyPr wrap="square" lIns="0" tIns="0" rIns="0" bIns="0" anchor="t">
            <a:noAutofit/>
          </a:bodyPr>
          <a:lstStyle/>
          <a:p>
            <a:pPr algn="l">
              <a:lnSpc>
                <a:spcPct val="100000"/>
              </a:lnSpc>
            </a:pPr>
            <a:r>
              <a:rPr sz="1900" b="0">
                <a:solidFill>
                  <a:srgbClr val="C8341B"/>
                </a:solidFill>
                <a:latin typeface="Georgia"/>
              </a:rPr>
              <a:t>2</a:t>
            </a:r>
          </a:p>
        </p:txBody>
      </p:sp>
      <p:sp>
        <p:nvSpPr>
          <p:cNvPr id="11" name="TextBox 10"/>
          <p:cNvSpPr txBox="1"/>
          <p:nvPr/>
        </p:nvSpPr>
        <p:spPr>
          <a:xfrm>
            <a:off x="1316736" y="3456432"/>
            <a:ext cx="4369803" cy="292608"/>
          </a:xfrm>
          <a:prstGeom prst="rect">
            <a:avLst/>
          </a:prstGeom>
          <a:noFill/>
        </p:spPr>
        <p:txBody>
          <a:bodyPr wrap="square" lIns="0" tIns="0" rIns="0" bIns="0" anchor="t">
            <a:noAutofit/>
          </a:bodyPr>
          <a:lstStyle/>
          <a:p>
            <a:pPr algn="l">
              <a:lnSpc>
                <a:spcPct val="100000"/>
              </a:lnSpc>
            </a:pPr>
            <a:r>
              <a:rPr sz="1600" b="0">
                <a:solidFill>
                  <a:srgbClr val="16130F"/>
                </a:solidFill>
                <a:latin typeface="Georgia"/>
              </a:rPr>
              <a:t>Pool to a square</a:t>
            </a:r>
          </a:p>
        </p:txBody>
      </p:sp>
      <p:sp>
        <p:nvSpPr>
          <p:cNvPr id="12" name="TextBox 11"/>
          <p:cNvSpPr txBox="1"/>
          <p:nvPr/>
        </p:nvSpPr>
        <p:spPr>
          <a:xfrm>
            <a:off x="1316736" y="3803904"/>
            <a:ext cx="4260075" cy="914400"/>
          </a:xfrm>
          <a:prstGeom prst="rect">
            <a:avLst/>
          </a:prstGeom>
          <a:noFill/>
        </p:spPr>
        <p:txBody>
          <a:bodyPr wrap="square" lIns="0" tIns="0" rIns="0" bIns="0" anchor="t">
            <a:noAutofit/>
          </a:bodyPr>
          <a:lstStyle/>
          <a:p>
            <a:pPr algn="l">
              <a:lnSpc>
                <a:spcPct val="146000"/>
              </a:lnSpc>
            </a:pPr>
            <a:r>
              <a:rPr sz="1150" b="0">
                <a:solidFill>
                  <a:srgbClr val="3A342E"/>
                </a:solidFill>
                <a:latin typeface="Franklin Gothic Book"/>
              </a:rPr>
              <a:t>Every 20 × 20 block of pixels becomes one 0.05° cell, and we count what fraction burned early and what fraction burned late.</a:t>
            </a:r>
          </a:p>
        </p:txBody>
      </p:sp>
      <p:cxnSp>
        <p:nvCxnSpPr>
          <p:cNvPr id="13" name="Connector 12"/>
          <p:cNvCxnSpPr/>
          <p:nvPr/>
        </p:nvCxnSpPr>
        <p:spPr>
          <a:xfrm>
            <a:off x="749808" y="4626864"/>
            <a:ext cx="5273024"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9808" y="4809744"/>
            <a:ext cx="457200" cy="384048"/>
          </a:xfrm>
          <a:prstGeom prst="rect">
            <a:avLst/>
          </a:prstGeom>
          <a:noFill/>
        </p:spPr>
        <p:txBody>
          <a:bodyPr wrap="square" lIns="0" tIns="0" rIns="0" bIns="0" anchor="t">
            <a:noAutofit/>
          </a:bodyPr>
          <a:lstStyle/>
          <a:p>
            <a:pPr algn="l">
              <a:lnSpc>
                <a:spcPct val="100000"/>
              </a:lnSpc>
            </a:pPr>
            <a:r>
              <a:rPr sz="1900" b="0">
                <a:solidFill>
                  <a:srgbClr val="C8341B"/>
                </a:solidFill>
                <a:latin typeface="Georgia"/>
              </a:rPr>
              <a:t>3</a:t>
            </a:r>
          </a:p>
        </p:txBody>
      </p:sp>
      <p:sp>
        <p:nvSpPr>
          <p:cNvPr id="15" name="TextBox 14"/>
          <p:cNvSpPr txBox="1"/>
          <p:nvPr/>
        </p:nvSpPr>
        <p:spPr>
          <a:xfrm>
            <a:off x="1316736" y="4809744"/>
            <a:ext cx="4369803" cy="292608"/>
          </a:xfrm>
          <a:prstGeom prst="rect">
            <a:avLst/>
          </a:prstGeom>
          <a:noFill/>
        </p:spPr>
        <p:txBody>
          <a:bodyPr wrap="square" lIns="0" tIns="0" rIns="0" bIns="0" anchor="t">
            <a:noAutofit/>
          </a:bodyPr>
          <a:lstStyle/>
          <a:p>
            <a:pPr algn="l">
              <a:lnSpc>
                <a:spcPct val="100000"/>
              </a:lnSpc>
            </a:pPr>
            <a:r>
              <a:rPr sz="1600" b="0">
                <a:solidFill>
                  <a:srgbClr val="16130F"/>
                </a:solidFill>
                <a:latin typeface="Georgia"/>
              </a:rPr>
              <a:t>Decide the class</a:t>
            </a:r>
          </a:p>
        </p:txBody>
      </p:sp>
      <p:sp>
        <p:nvSpPr>
          <p:cNvPr id="16" name="TextBox 15"/>
          <p:cNvSpPr txBox="1"/>
          <p:nvPr/>
        </p:nvSpPr>
        <p:spPr>
          <a:xfrm>
            <a:off x="1316736" y="5157216"/>
            <a:ext cx="4260075" cy="914400"/>
          </a:xfrm>
          <a:prstGeom prst="rect">
            <a:avLst/>
          </a:prstGeom>
          <a:noFill/>
        </p:spPr>
        <p:txBody>
          <a:bodyPr wrap="square" lIns="0" tIns="0" rIns="0" bIns="0" anchor="t">
            <a:noAutofit/>
          </a:bodyPr>
          <a:lstStyle/>
          <a:p>
            <a:pPr algn="l">
              <a:lnSpc>
                <a:spcPct val="146000"/>
              </a:lnSpc>
            </a:pPr>
            <a:r>
              <a:rPr sz="1150" b="0">
                <a:solidFill>
                  <a:srgbClr val="3A342E"/>
                </a:solidFill>
                <a:latin typeface="Franklin Gothic Book"/>
              </a:rPr>
              <a:t>A square counts as burnt only if at least 5% of it burned, and is only used at all if at least half its pixels were readable. Whichever season holds more of the burnt area names the year.</a:t>
            </a:r>
          </a:p>
        </p:txBody>
      </p:sp>
      <p:sp>
        <p:nvSpPr>
          <p:cNvPr id="17" name="Rectangle 16"/>
          <p:cNvSpPr/>
          <p:nvPr/>
        </p:nvSpPr>
        <p:spPr>
          <a:xfrm>
            <a:off x="7072358" y="1920240"/>
            <a:ext cx="4369803" cy="3163824"/>
          </a:xfrm>
          <a:prstGeom prst="rect">
            <a:avLst/>
          </a:prstGeom>
          <a:solidFill>
            <a:srgbClr val="F4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072358" y="1920240"/>
            <a:ext cx="34747" cy="31638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56406" y="2176272"/>
            <a:ext cx="3601707" cy="310896"/>
          </a:xfrm>
          <a:prstGeom prst="rect">
            <a:avLst/>
          </a:prstGeom>
          <a:noFill/>
        </p:spPr>
        <p:txBody>
          <a:bodyPr wrap="square" lIns="0" tIns="0" rIns="0" bIns="0" anchor="t">
            <a:noAutofit/>
          </a:bodyPr>
          <a:lstStyle/>
          <a:p>
            <a:pPr algn="l">
              <a:lnSpc>
                <a:spcPct val="100000"/>
              </a:lnSpc>
            </a:pPr>
            <a:r>
              <a:rPr sz="1600" b="0">
                <a:solidFill>
                  <a:srgbClr val="16130F"/>
                </a:solidFill>
                <a:latin typeface="Georgia"/>
              </a:rPr>
              <a:t>The check that mattered</a:t>
            </a:r>
          </a:p>
        </p:txBody>
      </p:sp>
      <p:sp>
        <p:nvSpPr>
          <p:cNvPr id="20" name="TextBox 19"/>
          <p:cNvSpPr txBox="1"/>
          <p:nvPr/>
        </p:nvSpPr>
        <p:spPr>
          <a:xfrm>
            <a:off x="7456406" y="2615184"/>
            <a:ext cx="3601707" cy="2286000"/>
          </a:xfrm>
          <a:prstGeom prst="rect">
            <a:avLst/>
          </a:prstGeom>
          <a:noFill/>
        </p:spPr>
        <p:txBody>
          <a:bodyPr wrap="square" lIns="0" tIns="0" rIns="0" bIns="0" anchor="t">
            <a:noAutofit/>
          </a:bodyPr>
          <a:lstStyle/>
          <a:p>
            <a:pPr algn="l">
              <a:lnSpc>
                <a:spcPct val="150000"/>
              </a:lnSpc>
            </a:pPr>
            <a:r>
              <a:rPr sz="1150" b="0">
                <a:solidFill>
                  <a:srgbClr val="3A342E"/>
                </a:solidFill>
                <a:latin typeface="Franklin Gothic Book"/>
              </a:rPr>
              <a:t>Labels are the one thing no metric can catch. So we tested them against fire history the Territory already knows: 2011, the year after the 2010–11 La Niña, comes out as the heaviest on record at 65.7% of the map burnt. 2020 comes out the lightest at 15.9%. Both match the published record. If the labels had been wrong, every number after this would have been wrong too.</a:t>
            </a:r>
          </a:p>
        </p:txBody>
      </p:sp>
      <p:cxnSp>
        <p:nvCxnSpPr>
          <p:cNvPr id="21" name="Connector 20"/>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49808" y="6345936"/>
            <a:ext cx="3118603"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7</a:t>
            </a:r>
          </a:p>
        </p:txBody>
      </p:sp>
      <p:sp>
        <p:nvSpPr>
          <p:cNvPr id="24" name="TextBox 23"/>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Saira Zafar</a:t>
            </a:r>
          </a:p>
        </p:txBody>
      </p:sp>
    </p:spTree>
    <p:extLst>
      <p:ext uri="{BB962C8B-B14F-4D97-AF65-F5344CB8AC3E}">
        <p14:creationId xmlns:p14="http://schemas.microsoft.com/office/powerpoint/2010/main" val="1865803657"/>
      </p:ext>
    </p:extLst>
  </p:cSld>
  <p:clrMapOvr>
    <a:masterClrMapping/>
  </p:clrMapOvr>
  <mc:AlternateContent xmlns:mc="http://schemas.openxmlformats.org/markup-compatibility/2006" xmlns:p14="http://schemas.microsoft.com/office/powerpoint/2010/main">
    <mc:Choice Requires="p14">
      <p:transition spd="slow" p14:dur="2000" advTm="47892"/>
    </mc:Choice>
    <mc:Fallback xmlns="">
      <p:transition spd="slow" advTm="47892"/>
    </mc:Fallback>
  </mc:AlternateContent>
  <p:extLst>
    <p:ext uri="{3A86A75C-4F4B-4683-9AE1-C65F6400EC91}">
      <p14:laserTraceLst xmlns:p14="http://schemas.microsoft.com/office/powerpoint/2010/main">
        <p14:tracePtLst>
          <p14:tracePt t="198" x="1582738" y="1797050"/>
          <p14:tracePt t="219" x="1589088" y="1803400"/>
          <p14:tracePt t="243" x="1595438" y="1809750"/>
          <p14:tracePt t="598" x="1595438" y="1946275"/>
          <p14:tracePt t="611" x="1589088" y="2076450"/>
          <p14:tracePt t="623" x="1589088" y="2166938"/>
          <p14:tracePt t="634" x="1582738" y="2238375"/>
          <p14:tracePt t="647" x="1582738" y="2263775"/>
          <p14:tracePt t="660" x="1582738" y="2278063"/>
          <p14:tracePt t="675" x="1582738" y="2290763"/>
          <p14:tracePt t="692" x="1589088" y="2290763"/>
          <p14:tracePt t="719" x="1589088" y="2284413"/>
          <p14:tracePt t="731" x="1589088" y="2278063"/>
          <p14:tracePt t="766" x="1595438" y="2278063"/>
          <p14:tracePt t="862" x="1595438" y="2270125"/>
          <p14:tracePt t="898" x="1595438" y="2263775"/>
          <p14:tracePt t="933" x="1603375" y="2257425"/>
          <p14:tracePt t="1030" x="1595438" y="2263775"/>
          <p14:tracePt t="1401" x="1582738" y="2263775"/>
          <p14:tracePt t="1413" x="1525588" y="2263775"/>
          <p14:tracePt t="1425" x="1466850" y="2284413"/>
          <p14:tracePt t="1437" x="1389063" y="2328863"/>
          <p14:tracePt t="1449" x="1323975" y="2374900"/>
          <p14:tracePt t="1463" x="1246188" y="2452688"/>
          <p14:tracePt t="1474" x="1147763" y="2562225"/>
          <p14:tracePt t="1491" x="1050925" y="2673350"/>
          <p14:tracePt t="1508" x="895350" y="2900363"/>
          <p14:tracePt t="1525" x="842963" y="3003550"/>
          <p14:tracePt t="1541" x="817563" y="3108325"/>
          <p14:tracePt t="1557" x="811213" y="3270250"/>
          <p14:tracePt t="1574" x="857250" y="3360738"/>
          <p14:tracePt t="1591" x="889000" y="3400425"/>
          <p14:tracePt t="1607" x="1168400" y="3556000"/>
          <p14:tracePt t="1624" x="1330325" y="3600450"/>
          <p14:tracePt t="1641" x="1582738" y="3646488"/>
          <p14:tracePt t="1657" x="1654175" y="3652838"/>
          <p14:tracePt t="1674" x="1687513" y="3665538"/>
          <p14:tracePt t="1691" x="1712913" y="3678238"/>
          <p14:tracePt t="1707" x="1712913" y="3684588"/>
          <p14:tracePt t="1725" x="1712913" y="3705225"/>
          <p14:tracePt t="1741" x="1681163" y="3717925"/>
          <p14:tracePt t="1758" x="1641475" y="3736975"/>
          <p14:tracePt t="1774" x="1473200" y="3821113"/>
          <p14:tracePt t="1791" x="1368425" y="3886200"/>
          <p14:tracePt t="1808" x="1193800" y="4041775"/>
          <p14:tracePt t="1824" x="1141413" y="4146550"/>
          <p14:tracePt t="1841" x="1122363" y="4243388"/>
          <p14:tracePt t="1857" x="1122363" y="4476750"/>
          <p14:tracePt t="1874" x="1155700" y="4594225"/>
          <p14:tracePt t="1890" x="1200150" y="4722813"/>
          <p14:tracePt t="1893" x="1277938" y="4872038"/>
          <p14:tracePt t="1907" x="1382713" y="4995863"/>
          <p14:tracePt t="1924" x="1479550" y="5119688"/>
          <p14:tracePt t="1940" x="1712913" y="5300663"/>
          <p14:tracePt t="1957" x="1830388" y="5353050"/>
          <p14:tracePt t="1974" x="1958975" y="5384800"/>
          <p14:tracePt t="1978" x="2089150" y="5405438"/>
          <p14:tracePt t="1990" x="2212975" y="5418138"/>
          <p14:tracePt t="2007" x="2322513" y="5418138"/>
          <p14:tracePt t="2024" x="2484438" y="5437188"/>
          <p14:tracePt t="2040" x="2524125" y="5443538"/>
          <p14:tracePt t="2057" x="2543175" y="5449888"/>
          <p14:tracePt t="2074" x="2555875" y="5462588"/>
          <p14:tracePt t="2091" x="2555875" y="5475288"/>
          <p14:tracePt t="2108" x="2555875" y="5489575"/>
          <p14:tracePt t="2110" x="2555875" y="5495925"/>
          <p14:tracePt t="2145" x="2562225" y="5502275"/>
          <p14:tracePt t="2168" x="2570163" y="5508625"/>
          <p14:tracePt t="2181" x="2570163" y="5514975"/>
          <p14:tracePt t="2203" x="2576513" y="5514975"/>
          <p14:tracePt t="2216" x="2576513" y="5521325"/>
          <p14:tracePt t="2263" x="2570163" y="5521325"/>
          <p14:tracePt t="2276" x="2570163" y="5514975"/>
          <p14:tracePt t="2288" x="2562225" y="5514975"/>
          <p14:tracePt t="2300" x="2562225" y="5508625"/>
          <p14:tracePt t="2324" x="2555875" y="5502275"/>
          <p14:tracePt t="2348" x="2549525" y="5495925"/>
          <p14:tracePt t="2372" x="2549525" y="5489575"/>
          <p14:tracePt t="2385" x="2543175" y="5483225"/>
          <p14:tracePt t="2396" x="2543175" y="5468938"/>
          <p14:tracePt t="2407" x="2536825" y="5430838"/>
          <p14:tracePt t="2424" x="2498725" y="5319713"/>
          <p14:tracePt t="2440" x="2439988" y="5157788"/>
          <p14:tracePt t="2457" x="2316163" y="4710113"/>
          <p14:tracePt t="2474" x="2244725" y="4489450"/>
          <p14:tracePt t="2491" x="2147888" y="4159250"/>
          <p14:tracePt t="2492" x="2114550" y="4054475"/>
          <p14:tracePt t="2507" x="2030413" y="3860800"/>
          <p14:tracePt t="2524" x="1920875" y="3692525"/>
          <p14:tracePt t="2540" x="1666875" y="3425825"/>
          <p14:tracePt t="2557" x="1538288" y="3302000"/>
          <p14:tracePt t="2574" x="1376363" y="3146425"/>
          <p14:tracePt t="2590" x="1323975" y="3114675"/>
          <p14:tracePt t="2607" x="1304925" y="3087688"/>
          <p14:tracePt t="2623" x="1271588" y="3068638"/>
          <p14:tracePt t="2640" x="1265238" y="3068638"/>
          <p14:tracePt t="2656" x="1258888" y="3068638"/>
          <p14:tracePt t="2683" x="1258888" y="3062288"/>
          <p14:tracePt t="2707" x="1258888" y="3055938"/>
          <p14:tracePt t="2719" x="1258888" y="3049588"/>
          <p14:tracePt t="2731" x="1258888" y="3043238"/>
          <p14:tracePt t="2744" x="1258888" y="3030538"/>
          <p14:tracePt t="2757" x="1252538" y="3016250"/>
          <p14:tracePt t="2773" x="1246188" y="2997200"/>
          <p14:tracePt t="2790" x="1239838" y="2952750"/>
          <p14:tracePt t="2806" x="1233488" y="2925763"/>
          <p14:tracePt t="2824" x="1219200" y="2913063"/>
          <p14:tracePt t="2840" x="1219200" y="2881313"/>
          <p14:tracePt t="2856" x="1219200" y="2874963"/>
          <p14:tracePt t="2887" x="1233488" y="2881313"/>
          <p14:tracePt t="2898" x="1239838" y="2887663"/>
          <p14:tracePt t="2911" x="1246188" y="2894013"/>
          <p14:tracePt t="2923" x="1258888" y="2900363"/>
          <p14:tracePt t="2940" x="1290638" y="2906713"/>
          <p14:tracePt t="2956" x="1368425" y="2919413"/>
          <p14:tracePt t="2973" x="1693863" y="2919413"/>
          <p14:tracePt t="2990" x="1874838" y="2913063"/>
          <p14:tracePt t="3006" x="2108200" y="2906713"/>
          <p14:tracePt t="3023" x="2179638" y="2894013"/>
          <p14:tracePt t="3040" x="2219325" y="2887663"/>
          <p14:tracePt t="3056" x="2263775" y="2887663"/>
          <p14:tracePt t="3073" x="2278063" y="2881313"/>
          <p14:tracePt t="3091" x="2284413" y="2881313"/>
          <p14:tracePt t="3151" x="2284413" y="2874963"/>
          <p14:tracePt t="3198" x="2284413" y="2867025"/>
          <p14:tracePt t="3223" x="2284413" y="2860675"/>
          <p14:tracePt t="3234" x="2290763" y="2860675"/>
          <p14:tracePt t="3246" x="2290763" y="2854325"/>
          <p14:tracePt t="3259" x="2290763" y="2847975"/>
          <p14:tracePt t="3273" x="2290763" y="2841625"/>
          <p14:tracePt t="3354" x="2297113" y="2841625"/>
          <p14:tracePt t="3366" x="2303463" y="2841625"/>
          <p14:tracePt t="3379" x="2316163" y="2841625"/>
          <p14:tracePt t="3390" x="2335213" y="2841625"/>
          <p14:tracePt t="3406" x="2355850" y="2835275"/>
          <p14:tracePt t="3423" x="2381250" y="2835275"/>
          <p14:tracePt t="3439" x="2427288" y="2822575"/>
          <p14:tracePt t="3456" x="2439988" y="2822575"/>
          <p14:tracePt t="3473" x="2465388" y="2816225"/>
          <p14:tracePt t="3489" x="2471738" y="2809875"/>
          <p14:tracePt t="3506" x="2478088" y="2809875"/>
          <p14:tracePt t="3523" x="2492375" y="2809875"/>
          <p14:tracePt t="3617" x="2498725" y="2809875"/>
          <p14:tracePt t="3653" x="2517775" y="2809875"/>
          <p14:tracePt t="3665" x="2543175" y="2809875"/>
          <p14:tracePt t="3679" x="2595563" y="2803525"/>
          <p14:tracePt t="3689" x="2673350" y="2789238"/>
          <p14:tracePt t="3706" x="2757488" y="2782888"/>
          <p14:tracePt t="3722" x="2835275" y="2776538"/>
          <p14:tracePt t="3739" x="2925763" y="2763838"/>
          <p14:tracePt t="3756" x="2946400" y="2763838"/>
          <p14:tracePt t="3773" x="2971800" y="2757488"/>
          <p14:tracePt t="3797" x="2978150" y="2757488"/>
          <p14:tracePt t="3810" x="2978150" y="2751138"/>
          <p14:tracePt t="3869" x="2971800" y="2751138"/>
          <p14:tracePt t="3905" x="2965450" y="2751138"/>
          <p14:tracePt t="3930" x="2959100" y="2751138"/>
          <p14:tracePt t="3943" x="2952750" y="2744788"/>
          <p14:tracePt t="3965" x="2946400" y="2744788"/>
          <p14:tracePt t="3988" x="2940050" y="2744788"/>
          <p14:tracePt t="4000" x="2932113" y="2744788"/>
          <p14:tracePt t="4013" x="2925763" y="2744788"/>
          <p14:tracePt t="4027" x="2919413" y="2744788"/>
          <p14:tracePt t="4039" x="2913063" y="2744788"/>
          <p14:tracePt t="4056" x="2906713" y="2751138"/>
          <p14:tracePt t="4073" x="2887663" y="2757488"/>
          <p14:tracePt t="4089" x="2881313" y="2757488"/>
          <p14:tracePt t="4105" x="2874963" y="2763838"/>
          <p14:tracePt t="4122" x="2860675" y="2763838"/>
          <p14:tracePt t="4139" x="2854325" y="2770188"/>
          <p14:tracePt t="4156" x="2841625" y="2770188"/>
          <p14:tracePt t="4157" x="2835275" y="2776538"/>
          <p14:tracePt t="4180" x="2828925" y="2776538"/>
          <p14:tracePt t="4193" x="2822575" y="2776538"/>
          <p14:tracePt t="4205" x="2816225" y="2776538"/>
          <p14:tracePt t="4276" x="2828925" y="2776538"/>
          <p14:tracePt t="4289" x="2841625" y="2776538"/>
          <p14:tracePt t="4301" x="2860675" y="2776538"/>
          <p14:tracePt t="4313" x="2881313" y="2776538"/>
          <p14:tracePt t="4327" x="2913063" y="2776538"/>
          <p14:tracePt t="4339" x="2952750" y="2776538"/>
          <p14:tracePt t="4355" x="2997200" y="2776538"/>
          <p14:tracePt t="4372" x="3179763" y="2776538"/>
          <p14:tracePt t="4388" x="3289300" y="2776538"/>
          <p14:tracePt t="4405" x="3413125" y="2776538"/>
          <p14:tracePt t="4422" x="3549650" y="2776538"/>
          <p14:tracePt t="4439" x="3581400" y="2776538"/>
          <p14:tracePt t="4455" x="3608388" y="2776538"/>
          <p14:tracePt t="4457" x="3621088" y="2776538"/>
          <p14:tracePt t="4472" x="3633788" y="2776538"/>
          <p14:tracePt t="4489" x="3640138" y="2776538"/>
          <p14:tracePt t="4529" x="3627438" y="2776538"/>
          <p14:tracePt t="4541" x="3614738" y="2776538"/>
          <p14:tracePt t="4553" x="3600450" y="2776538"/>
          <p14:tracePt t="4564" x="3581400" y="2776538"/>
          <p14:tracePt t="4577" x="3562350" y="2782888"/>
          <p14:tracePt t="4589" x="3549650" y="2789238"/>
          <p14:tracePt t="4605" x="3529013" y="2789238"/>
          <p14:tracePt t="4622" x="3516313" y="2789238"/>
          <p14:tracePt t="4638" x="3509963" y="2789238"/>
          <p14:tracePt t="4655" x="3503613" y="2789238"/>
          <p14:tracePt t="4696" x="3516313" y="2789238"/>
          <p14:tracePt t="4709" x="3522663" y="2789238"/>
          <p14:tracePt t="4720" x="3536950" y="2789238"/>
          <p14:tracePt t="4732" x="3543300" y="2789238"/>
          <p14:tracePt t="4744" x="3549650" y="2789238"/>
          <p14:tracePt t="4755" x="3562350" y="2789238"/>
          <p14:tracePt t="4772" x="3568700" y="2789238"/>
          <p14:tracePt t="4788" x="3581400" y="2789238"/>
          <p14:tracePt t="4805" x="3621088" y="2789238"/>
          <p14:tracePt t="4822" x="3640138" y="2789238"/>
          <p14:tracePt t="4838" x="3665538" y="2789238"/>
          <p14:tracePt t="4840" x="3686175" y="2789238"/>
          <p14:tracePt t="4855" x="3698875" y="2789238"/>
          <p14:tracePt t="4872" x="3705225" y="2782888"/>
          <p14:tracePt t="4888" x="3724275" y="2782888"/>
          <p14:tracePt t="4905" x="3730625" y="2782888"/>
          <p14:tracePt t="4924" x="3736975" y="2782888"/>
          <p14:tracePt t="4996" x="3736975" y="2776538"/>
          <p14:tracePt t="5511" x="3730625" y="2776538"/>
          <p14:tracePt t="5571" x="3724275" y="2776538"/>
          <p14:tracePt t="5594" x="3717925" y="2776538"/>
          <p14:tracePt t="5608" x="3711575" y="2776538"/>
          <p14:tracePt t="5618" x="3705225" y="2776538"/>
          <p14:tracePt t="5631" x="3671888" y="2776538"/>
          <p14:tracePt t="5643" x="3640138" y="2797175"/>
          <p14:tracePt t="5654" x="3594100" y="2809875"/>
          <p14:tracePt t="5671" x="3522663" y="2835275"/>
          <p14:tracePt t="5688" x="3373438" y="2932113"/>
          <p14:tracePt t="5704" x="2711450" y="3413125"/>
          <p14:tracePt t="5721" x="2238375" y="3762375"/>
          <p14:tracePt t="5738" x="1466850" y="4352925"/>
          <p14:tracePt t="5754" x="1252538" y="4502150"/>
          <p14:tracePt t="5771" x="1103313" y="4606925"/>
          <p14:tracePt t="5787" x="927100" y="4743450"/>
          <p14:tracePt t="5804" x="882650" y="4775200"/>
          <p14:tracePt t="5822" x="811213" y="4806950"/>
          <p14:tracePt t="5837" x="798513" y="4806950"/>
          <p14:tracePt t="5854" x="771525" y="4806950"/>
          <p14:tracePt t="5871" x="758825" y="4781550"/>
          <p14:tracePt t="5887" x="752475" y="4762500"/>
          <p14:tracePt t="5904" x="752475" y="4743450"/>
          <p14:tracePt t="5920" x="746125" y="4691063"/>
          <p14:tracePt t="5937" x="739775" y="4672013"/>
          <p14:tracePt t="5955" x="727075" y="4613275"/>
          <p14:tracePt t="5971" x="720725" y="4579938"/>
          <p14:tracePt t="5987" x="720725" y="4567238"/>
          <p14:tracePt t="6005" x="720725" y="4535488"/>
          <p14:tracePt t="6021" x="733425" y="4529138"/>
          <p14:tracePt t="6038" x="765175" y="4495800"/>
          <p14:tracePt t="6054" x="777875" y="4483100"/>
          <p14:tracePt t="6070" x="804863" y="4457700"/>
          <p14:tracePt t="6087" x="842963" y="4430713"/>
          <p14:tracePt t="6104" x="876300" y="4405313"/>
          <p14:tracePt t="6121" x="908050" y="4367213"/>
          <p14:tracePt t="6137" x="914400" y="4352925"/>
          <p14:tracePt t="6154" x="920750" y="4340225"/>
          <p14:tracePt t="6170" x="920750" y="4308475"/>
          <p14:tracePt t="6187" x="920750" y="4295775"/>
          <p14:tracePt t="6210" x="920750" y="4249738"/>
          <p14:tracePt t="6221" x="927100" y="4237038"/>
          <p14:tracePt t="6237" x="935038" y="4230688"/>
          <p14:tracePt t="6254" x="947738" y="4217988"/>
          <p14:tracePt t="6270" x="954088" y="4210050"/>
          <p14:tracePt t="6287" x="960438" y="4210050"/>
          <p14:tracePt t="6304" x="973138" y="4210050"/>
          <p14:tracePt t="6326" x="973138" y="4217988"/>
          <p14:tracePt t="6337" x="966788" y="4217988"/>
          <p14:tracePt t="6354" x="954088" y="4224338"/>
          <p14:tracePt t="6370" x="941388" y="4230688"/>
          <p14:tracePt t="6387" x="901700" y="4230688"/>
          <p14:tracePt t="6404" x="882650" y="4230688"/>
          <p14:tracePt t="6421" x="857250" y="4224338"/>
          <p14:tracePt t="6437" x="849313" y="4210050"/>
          <p14:tracePt t="6454" x="849313" y="4197350"/>
          <p14:tracePt t="6470" x="857250" y="4152900"/>
          <p14:tracePt t="6487" x="882650" y="4125913"/>
          <p14:tracePt t="6504" x="908050" y="4094163"/>
          <p14:tracePt t="6505" x="920750" y="4081463"/>
          <p14:tracePt t="6520" x="947738" y="4068763"/>
          <p14:tracePt t="6537" x="973138" y="4060825"/>
          <p14:tracePt t="6553" x="1076325" y="4048125"/>
          <p14:tracePt t="6570" x="1181100" y="4041775"/>
          <p14:tracePt t="6587" x="1304925" y="4029075"/>
          <p14:tracePt t="6604" x="1582738" y="4029075"/>
          <p14:tracePt t="6621" x="1647825" y="4035425"/>
          <p14:tracePt t="6637" x="1719263" y="4048125"/>
          <p14:tracePt t="6653" x="1725613" y="4054475"/>
          <p14:tracePt t="6670" x="1731963" y="4060825"/>
          <p14:tracePt t="6687" x="1731963" y="4068763"/>
          <p14:tracePt t="6720" x="1725613" y="4075113"/>
          <p14:tracePt t="6744" x="1719263" y="4075113"/>
          <p14:tracePt t="6758" x="1712913" y="4075113"/>
          <p14:tracePt t="6769" x="1706563" y="4075113"/>
          <p14:tracePt t="6780" x="1700213" y="4075113"/>
          <p14:tracePt t="6792" x="1693863" y="4075113"/>
          <p14:tracePt t="6828" x="1687513" y="4075113"/>
          <p14:tracePt t="6841" x="1687513" y="4081463"/>
          <p14:tracePt t="6889" x="1681163" y="4081463"/>
          <p14:tracePt t="7164" x="1654175" y="4081463"/>
          <p14:tracePt t="7176" x="1622425" y="4075113"/>
          <p14:tracePt t="7187" x="1603375" y="4068763"/>
          <p14:tracePt t="7200" x="1582738" y="4068763"/>
          <p14:tracePt t="7213" x="1570038" y="4068763"/>
          <p14:tracePt t="7260" x="1576388" y="4068763"/>
          <p14:tracePt t="7272" x="1603375" y="4068763"/>
          <p14:tracePt t="7284" x="1635125" y="4075113"/>
          <p14:tracePt t="7296" x="1693863" y="4081463"/>
          <p14:tracePt t="7309" x="1790700" y="4094163"/>
          <p14:tracePt t="7320" x="1901825" y="4106863"/>
          <p14:tracePt t="7336" x="2011363" y="4125913"/>
          <p14:tracePt t="7354" x="2082800" y="4132263"/>
          <p14:tracePt t="7355" x="2122488" y="4132263"/>
          <p14:tracePt t="7369" x="2141538" y="4132263"/>
          <p14:tracePt t="7386" x="2160588" y="4132263"/>
          <p14:tracePt t="7403" x="2173288" y="4132263"/>
          <p14:tracePt t="7427" x="2179638" y="4132263"/>
          <p14:tracePt t="7452" x="2185988" y="4132263"/>
          <p14:tracePt t="7462" x="2185988" y="4125913"/>
          <p14:tracePt t="7475" x="2193925" y="4125913"/>
          <p14:tracePt t="7487" x="2206625" y="4119563"/>
          <p14:tracePt t="7503" x="2232025" y="4113213"/>
          <p14:tracePt t="7519" x="2284413" y="4113213"/>
          <p14:tracePt t="7536" x="2420938" y="4106863"/>
          <p14:tracePt t="7553" x="2478088" y="4106863"/>
          <p14:tracePt t="7569" x="2517775" y="4106863"/>
          <p14:tracePt t="7586" x="2555875" y="4106863"/>
          <p14:tracePt t="7618" x="2549525" y="4106863"/>
          <p14:tracePt t="7620" x="2543175" y="4106863"/>
          <p14:tracePt t="7632" x="2517775" y="4106863"/>
          <p14:tracePt t="7642" x="2484438" y="4113213"/>
          <p14:tracePt t="7655" x="2459038" y="4125913"/>
          <p14:tracePt t="7669" x="2427288" y="4125913"/>
          <p14:tracePt t="7686" x="2406650" y="4125913"/>
          <p14:tracePt t="7703" x="2381250" y="4125913"/>
          <p14:tracePt t="7720" x="2374900" y="4125913"/>
          <p14:tracePt t="7736" x="2368550" y="4119563"/>
          <p14:tracePt t="7753" x="2374900" y="4119563"/>
          <p14:tracePt t="7769" x="2387600" y="4119563"/>
          <p14:tracePt t="7786" x="2420938" y="4119563"/>
          <p14:tracePt t="7803" x="2433638" y="4119563"/>
          <p14:tracePt t="7819" x="2452688" y="4119563"/>
          <p14:tracePt t="7836" x="2484438" y="4119563"/>
          <p14:tracePt t="7852" x="2498725" y="4119563"/>
          <p14:tracePt t="7869" x="2511425" y="4119563"/>
          <p14:tracePt t="7871" x="2524125" y="4119563"/>
          <p14:tracePt t="7886" x="2549525" y="4119563"/>
          <p14:tracePt t="7902" x="2555875" y="4119563"/>
          <p14:tracePt t="7919" x="2576513" y="4119563"/>
          <p14:tracePt t="7936" x="2582863" y="4119563"/>
          <p14:tracePt t="7966" x="2582863" y="4113213"/>
          <p14:tracePt t="8038" x="2582863" y="4106863"/>
          <p14:tracePt t="8074" x="2576513" y="4106863"/>
          <p14:tracePt t="8133" x="2576513" y="4100513"/>
          <p14:tracePt t="8398" x="2776538" y="4100513"/>
          <p14:tracePt t="8409" x="3062288" y="4100513"/>
          <p14:tracePt t="8423" x="3322638" y="4100513"/>
          <p14:tracePt t="8434" x="3536950" y="4100513"/>
          <p14:tracePt t="8445" x="3671888" y="4100513"/>
          <p14:tracePt t="8457" x="3757613" y="4094163"/>
          <p14:tracePt t="8469" x="3821113" y="4094163"/>
          <p14:tracePt t="8485" x="3860800" y="4094163"/>
          <p14:tracePt t="8502" x="3879850" y="4094163"/>
          <p14:tracePt t="8518" x="3913188" y="4094163"/>
          <p14:tracePt t="8535" x="3919538" y="4094163"/>
          <p14:tracePt t="8552" x="3925888" y="4094163"/>
          <p14:tracePt t="8568" x="3932238" y="4094163"/>
          <p14:tracePt t="8709" x="3938588" y="4094163"/>
          <p14:tracePt t="8732" x="3951288" y="4094163"/>
          <p14:tracePt t="8745" x="3990975" y="4094163"/>
          <p14:tracePt t="8758" x="4062413" y="4100513"/>
          <p14:tracePt t="8769" x="4152900" y="4100513"/>
          <p14:tracePt t="8785" x="4262438" y="4100513"/>
          <p14:tracePt t="8802" x="4354513" y="4100513"/>
          <p14:tracePt t="8819" x="4464050" y="4100513"/>
          <p14:tracePt t="8835" x="4483100" y="4087813"/>
          <p14:tracePt t="8852" x="4522788" y="4081463"/>
          <p14:tracePt t="8868" x="4522788" y="4075113"/>
          <p14:tracePt t="8885" x="4529138" y="4075113"/>
          <p14:tracePt t="8902" x="4535488" y="4075113"/>
          <p14:tracePt t="8973" x="4529138" y="4075113"/>
          <p14:tracePt t="9020" x="4522788" y="4075113"/>
          <p14:tracePt t="9104" x="4516438" y="4075113"/>
          <p14:tracePt t="9392" x="4503738" y="4075113"/>
          <p14:tracePt t="9405" x="4495800" y="4068763"/>
          <p14:tracePt t="9417" x="4470400" y="4068763"/>
          <p14:tracePt t="9428" x="4451350" y="4060825"/>
          <p14:tracePt t="9440" x="4425950" y="4048125"/>
          <p14:tracePt t="9451" x="4392613" y="4041775"/>
          <p14:tracePt t="9468" x="4340225" y="4022725"/>
          <p14:tracePt t="9485" x="4283075" y="3997325"/>
          <p14:tracePt t="9501" x="4075113" y="3957638"/>
          <p14:tracePt t="9518" x="3898900" y="3938588"/>
          <p14:tracePt t="9535" x="3432175" y="3944938"/>
          <p14:tracePt t="9551" x="3173413" y="3951288"/>
          <p14:tracePt t="9568" x="2900363" y="3990975"/>
          <p14:tracePt t="9584" x="2433638" y="4087813"/>
          <p14:tracePt t="9601" x="2244725" y="4146550"/>
          <p14:tracePt t="9618" x="2082800" y="4203700"/>
          <p14:tracePt t="9620" x="1939925" y="4275138"/>
          <p14:tracePt t="9634" x="1824038" y="4314825"/>
          <p14:tracePt t="9651" x="1712913" y="4367213"/>
          <p14:tracePt t="9668" x="1616075" y="4430713"/>
          <p14:tracePt t="9684" x="1582738" y="4451350"/>
          <p14:tracePt t="9701" x="1570038" y="4476750"/>
          <p14:tracePt t="9718" x="1538288" y="4502150"/>
          <p14:tracePt t="9734" x="1531938" y="4516438"/>
          <p14:tracePt t="9751" x="1517650" y="4541838"/>
          <p14:tracePt t="9768" x="1511300" y="4548188"/>
          <p14:tracePt t="9784" x="1504950" y="4554538"/>
          <p14:tracePt t="9801" x="1504950" y="4567238"/>
          <p14:tracePt t="9823" x="1498600" y="4573588"/>
          <p14:tracePt t="9835" x="1498600" y="4579938"/>
          <p14:tracePt t="9851" x="1498600" y="4587875"/>
          <p14:tracePt t="9868" x="1492250" y="4594225"/>
          <p14:tracePt t="9884" x="1479550" y="4600575"/>
          <p14:tracePt t="9901" x="1473200" y="4600575"/>
          <p14:tracePt t="9917" x="1473200" y="4606925"/>
          <p14:tracePt t="9934" x="1466850" y="4619625"/>
          <p14:tracePt t="9967" x="1466850" y="4625975"/>
          <p14:tracePt t="10266" x="1466850" y="4619625"/>
          <p14:tracePt t="10302" x="1466850" y="4613275"/>
          <p14:tracePt t="10314" x="1473200" y="4613275"/>
          <p14:tracePt t="10351" x="1473200" y="4606925"/>
          <p14:tracePt t="10363" x="1479550" y="4606925"/>
          <p14:tracePt t="10388" x="1479550" y="4600575"/>
          <p14:tracePt t="10410" x="1485900" y="4600575"/>
          <p14:tracePt t="10423" x="1485900" y="4594225"/>
          <p14:tracePt t="10459" x="1492250" y="4594225"/>
          <p14:tracePt t="10506" x="1492250" y="4587875"/>
          <p14:tracePt t="10542" x="1492250" y="4579938"/>
          <p14:tracePt t="10578" x="1498600" y="4579938"/>
          <p14:tracePt t="12687" x="1498600" y="4587875"/>
          <p14:tracePt t="12734" x="1498600" y="4594225"/>
          <p14:tracePt t="12746" x="1498600" y="4600575"/>
          <p14:tracePt t="12794" x="1498600" y="4606925"/>
          <p14:tracePt t="12818" x="1498600" y="4613275"/>
          <p14:tracePt t="12830" x="1498600" y="4625975"/>
          <p14:tracePt t="12842" x="1511300" y="4651375"/>
          <p14:tracePt t="12854" x="1511300" y="4703763"/>
          <p14:tracePt t="12867" x="1511300" y="4794250"/>
          <p14:tracePt t="12882" x="1511300" y="4899025"/>
          <p14:tracePt t="12898" x="1517650" y="5027613"/>
          <p14:tracePt t="12915" x="1517650" y="5216525"/>
          <p14:tracePt t="12932" x="1517650" y="5256213"/>
          <p14:tracePt t="12948" x="1517650" y="5294313"/>
          <p14:tracePt t="12951" x="1517650" y="5319713"/>
          <p14:tracePt t="12965" x="1517650" y="5340350"/>
          <p14:tracePt t="12982" x="1517650" y="5353050"/>
          <p14:tracePt t="12998" x="1511300" y="5384800"/>
          <p14:tracePt t="13015" x="1511300" y="5391150"/>
          <p14:tracePt t="13032" x="1504950" y="5397500"/>
          <p14:tracePt t="13048" x="1504950" y="5405438"/>
          <p14:tracePt t="13071" x="1498600" y="5405438"/>
          <p14:tracePt t="13094" x="1492250" y="5397500"/>
          <p14:tracePt t="13107" x="1492250" y="5384800"/>
          <p14:tracePt t="13119" x="1492250" y="5378450"/>
          <p14:tracePt t="13131" x="1485900" y="5365750"/>
          <p14:tracePt t="13148" x="1485900" y="5359400"/>
          <p14:tracePt t="13165" x="1479550" y="5353050"/>
          <p14:tracePt t="13167" x="1479550" y="5346700"/>
          <p14:tracePt t="13181" x="1479550" y="5340350"/>
          <p14:tracePt t="13226" x="1485900" y="5340350"/>
          <p14:tracePt t="13238" x="1492250" y="5340350"/>
          <p14:tracePt t="13250" x="1498600" y="5340350"/>
          <p14:tracePt t="13262" x="1498600" y="5346700"/>
          <p14:tracePt t="13273" x="1504950" y="5346700"/>
          <p14:tracePt t="13298" x="1511300" y="5346700"/>
          <p14:tracePt t="13309" x="1517650" y="5346700"/>
          <p14:tracePt t="13335" x="1525588" y="5346700"/>
          <p14:tracePt t="13344" x="1538288" y="5353050"/>
          <p14:tracePt t="13358" x="1550988" y="5353050"/>
          <p14:tracePt t="13370" x="1563688" y="5353050"/>
          <p14:tracePt t="13382" x="1576388" y="5359400"/>
          <p14:tracePt t="13398" x="1589088" y="5359400"/>
          <p14:tracePt t="13414" x="1603375" y="5359400"/>
          <p14:tracePt t="13431" x="1622425" y="5359400"/>
          <p14:tracePt t="13448" x="1635125" y="5359400"/>
          <p14:tracePt t="13465" x="1681163" y="5359400"/>
          <p14:tracePt t="13481" x="1712913" y="5359400"/>
          <p14:tracePt t="13498" x="1758950" y="5359400"/>
          <p14:tracePt t="13514" x="1830388" y="5359400"/>
          <p14:tracePt t="13531" x="1874838" y="5365750"/>
          <p14:tracePt t="13549" x="2005013" y="5365750"/>
          <p14:tracePt t="13564" x="2154238" y="5359400"/>
          <p14:tracePt t="13581" x="2335213" y="5359400"/>
          <p14:tracePt t="13598" x="2698750" y="5346700"/>
          <p14:tracePt t="13615" x="2809875" y="5340350"/>
          <p14:tracePt t="13631" x="2868613" y="5340350"/>
          <p14:tracePt t="13633" x="2900363" y="5340350"/>
          <p14:tracePt t="13648" x="2919413" y="5340350"/>
          <p14:tracePt t="13664" x="2932113" y="5346700"/>
          <p14:tracePt t="13681" x="2932113" y="5353050"/>
          <p14:tracePt t="13698" x="2932113" y="5359400"/>
          <p14:tracePt t="13714" x="2925763" y="5365750"/>
          <p14:tracePt t="13731" x="2894013" y="5372100"/>
          <p14:tracePt t="13748" x="2854325" y="5384800"/>
          <p14:tracePt t="13765" x="2725738" y="5418138"/>
          <p14:tracePt t="13781" x="2633663" y="5443538"/>
          <p14:tracePt t="13798" x="2543175" y="5456238"/>
          <p14:tracePt t="13814" x="2446338" y="5462588"/>
          <p14:tracePt t="13831" x="2420938" y="5468938"/>
          <p14:tracePt t="13848" x="2406650" y="5468938"/>
          <p14:tracePt t="13864" x="2420938" y="5468938"/>
          <p14:tracePt t="13881" x="2439988" y="5468938"/>
          <p14:tracePt t="13898" x="2530475" y="5468938"/>
          <p14:tracePt t="13914" x="2608263" y="5456238"/>
          <p14:tracePt t="13931" x="2732088" y="5449888"/>
          <p14:tracePt t="13934" x="2854325" y="5437188"/>
          <p14:tracePt t="13948" x="2952750" y="5424488"/>
          <p14:tracePt t="13964" x="3009900" y="5424488"/>
          <p14:tracePt t="13981" x="3043238" y="5424488"/>
          <p14:tracePt t="13997" x="3049588" y="5424488"/>
          <p14:tracePt t="14028" x="3036888" y="5424488"/>
          <p14:tracePt t="14040" x="3030538" y="5430838"/>
          <p14:tracePt t="14053" x="3017838" y="5430838"/>
          <p14:tracePt t="14064" x="3009900" y="5430838"/>
          <p14:tracePt t="14081" x="2997200" y="5437188"/>
          <p14:tracePt t="14097" x="2990850" y="5437188"/>
          <p14:tracePt t="14114" x="2965450" y="5443538"/>
          <p14:tracePt t="14131" x="2952750" y="5443538"/>
          <p14:tracePt t="14148" x="2925763" y="5443538"/>
          <p14:tracePt t="14164" x="2919413" y="5443538"/>
          <p14:tracePt t="14181" x="2913063" y="5443538"/>
          <p14:tracePt t="14316" x="2919413" y="5443538"/>
          <p14:tracePt t="14340" x="2919413" y="5437188"/>
          <p14:tracePt t="14820" x="2919413" y="5411788"/>
          <p14:tracePt t="14830" x="2952750" y="5313363"/>
          <p14:tracePt t="14842" x="2978150" y="5222875"/>
          <p14:tracePt t="14855" x="3017838" y="5164138"/>
          <p14:tracePt t="14869" x="3043238" y="5113338"/>
          <p14:tracePt t="14880" x="3062288" y="5073650"/>
          <p14:tracePt t="14897" x="3095625" y="5041900"/>
          <p14:tracePt t="14914" x="3108325" y="5027613"/>
          <p14:tracePt t="14915" x="3127375" y="5021263"/>
          <p14:tracePt t="14930" x="3133725" y="5021263"/>
          <p14:tracePt t="14947" x="3160713" y="5021263"/>
          <p14:tracePt t="14964" x="3192463" y="5021263"/>
          <p14:tracePt t="14980" x="3211513" y="5027613"/>
          <p14:tracePt t="14997" x="3257550" y="5035550"/>
          <p14:tracePt t="15014" x="3348038" y="5060950"/>
          <p14:tracePt t="15030" x="3406775" y="5080000"/>
          <p14:tracePt t="15047" x="3509963" y="5113338"/>
          <p14:tracePt t="15063" x="3536950" y="5126038"/>
          <p14:tracePt t="15080" x="3562350" y="5138738"/>
          <p14:tracePt t="15097" x="3587750" y="5151438"/>
          <p14:tracePt t="15113" x="3594100" y="5164138"/>
          <p14:tracePt t="15130" x="3600450" y="5176838"/>
          <p14:tracePt t="15147" x="3608388" y="5184775"/>
          <p14:tracePt t="15163" x="3614738" y="5197475"/>
          <p14:tracePt t="15180" x="3633788" y="5229225"/>
          <p14:tracePt t="15197" x="3640138" y="5241925"/>
          <p14:tracePt t="15214" x="3665538" y="5281613"/>
          <p14:tracePt t="15230" x="3678238" y="5287963"/>
          <p14:tracePt t="15246" x="3692525" y="5294313"/>
          <p14:tracePt t="15263" x="3736975" y="5307013"/>
          <p14:tracePt t="15280" x="3789363" y="5313363"/>
          <p14:tracePt t="15296" x="3827463" y="5334000"/>
          <p14:tracePt t="15299" x="3854450" y="5340350"/>
          <p14:tracePt t="15313" x="3873500" y="5346700"/>
          <p14:tracePt t="15330" x="3886200" y="5353050"/>
          <p14:tracePt t="15346" x="3892550" y="5359400"/>
          <p14:tracePt t="15383" x="3892550" y="5365750"/>
          <p14:tracePt t="15872" x="3898900" y="5365750"/>
          <p14:tracePt t="15885" x="3906838" y="5365750"/>
          <p14:tracePt t="15896" x="3919538" y="5365750"/>
          <p14:tracePt t="15909" x="3938588" y="5365750"/>
          <p14:tracePt t="15921" x="3984625" y="5365750"/>
          <p14:tracePt t="15935" x="4041775" y="5353050"/>
          <p14:tracePt t="15946" x="4119563" y="5353050"/>
          <p14:tracePt t="15963" x="4197350" y="5353050"/>
          <p14:tracePt t="15979" x="4249738" y="5353050"/>
          <p14:tracePt t="15996" x="4314825" y="5353050"/>
          <p14:tracePt t="16013" x="4327525" y="5353050"/>
          <p14:tracePt t="16029" x="4346575" y="5353050"/>
          <p14:tracePt t="16046" x="4354513" y="5353050"/>
          <p14:tracePt t="16245" x="4360863" y="5353050"/>
          <p14:tracePt t="16257" x="4373563" y="5353050"/>
          <p14:tracePt t="16269" x="4386263" y="5353050"/>
          <p14:tracePt t="16280" x="4392613" y="5353050"/>
          <p14:tracePt t="16295" x="4398963" y="5353050"/>
          <p14:tracePt t="16312" x="4405313" y="5353050"/>
          <p14:tracePt t="16329" x="4411663" y="5353050"/>
          <p14:tracePt t="16346" x="4418013" y="5353050"/>
          <p14:tracePt t="16389" x="4425950" y="5353050"/>
          <p14:tracePt t="16436" x="4432300" y="5353050"/>
          <p14:tracePt t="16472" x="4438650" y="5353050"/>
          <p14:tracePt t="16509" x="4445000" y="5353050"/>
          <p14:tracePt t="16557" x="4451350" y="5353050"/>
          <p14:tracePt t="16592" x="4457700" y="5353050"/>
          <p14:tracePt t="16604" x="4457700" y="5359400"/>
          <p14:tracePt t="16651" x="4464050" y="5359400"/>
          <p14:tracePt t="16687" x="4470400" y="5359400"/>
          <p14:tracePt t="16700" x="4470400" y="5365750"/>
          <p14:tracePt t="16724" x="4476750" y="5365750"/>
          <p14:tracePt t="16795" x="4483100" y="5365750"/>
          <p14:tracePt t="17047" x="4483100" y="5372100"/>
          <p14:tracePt t="17059" x="4489450" y="5372100"/>
          <p14:tracePt t="17071" x="4495800" y="5372100"/>
          <p14:tracePt t="17084" x="4516438" y="5372100"/>
          <p14:tracePt t="17095" x="4548188" y="5372100"/>
          <p14:tracePt t="17112" x="4575175" y="5372100"/>
          <p14:tracePt t="17129" x="4625975" y="5372100"/>
          <p14:tracePt t="17145" x="4724400" y="5372100"/>
          <p14:tracePt t="17161" x="4749800" y="5372100"/>
          <p14:tracePt t="17179" x="4827588" y="5359400"/>
          <p14:tracePt t="17195" x="4859338" y="5359400"/>
          <p14:tracePt t="17211" x="4879975" y="5353050"/>
          <p14:tracePt t="17228" x="4905375" y="5346700"/>
          <p14:tracePt t="17245" x="4918075" y="5340350"/>
          <p14:tracePt t="17262" x="4930775" y="5334000"/>
          <p14:tracePt t="17278" x="4930775" y="5326063"/>
          <p14:tracePt t="17295" x="4930775" y="5319713"/>
          <p14:tracePt t="17311" x="4930775" y="5300663"/>
          <p14:tracePt t="17328" x="4918075" y="5294313"/>
          <p14:tracePt t="17345" x="4899025" y="5281613"/>
          <p14:tracePt t="17347" x="4852988" y="5256213"/>
          <p14:tracePt t="17361" x="4781550" y="5216525"/>
          <p14:tracePt t="17378" x="4638675" y="5157788"/>
          <p14:tracePt t="17396" x="4100513" y="5060950"/>
          <p14:tracePt t="17412" x="3749675" y="5048250"/>
          <p14:tracePt t="17428" x="3302000" y="5054600"/>
          <p14:tracePt t="17431" x="2978150" y="5105400"/>
          <p14:tracePt t="17444" x="2686050" y="5184775"/>
          <p14:tracePt t="17461" x="2439988" y="5248275"/>
          <p14:tracePt t="17478" x="2070100" y="5397500"/>
          <p14:tracePt t="17494" x="1952625" y="5462588"/>
          <p14:tracePt t="17511" x="1868488" y="5521325"/>
          <p14:tracePt t="17528" x="1765300" y="5611813"/>
          <p14:tracePt t="17545" x="1731963" y="5638800"/>
          <p14:tracePt t="17561" x="1712913" y="5657850"/>
          <p14:tracePt t="17563" x="1693863" y="5689600"/>
          <p14:tracePt t="17578" x="1681163" y="5703888"/>
          <p14:tracePt t="17594" x="1666875" y="5716588"/>
          <p14:tracePt t="17611" x="1666875" y="5729288"/>
          <p14:tracePt t="17634" x="1660525" y="5729288"/>
          <p14:tracePt t="17647" x="1660525" y="5735638"/>
          <p14:tracePt t="17670" x="1660525" y="5741988"/>
          <p14:tracePt t="17742" x="1666875" y="5735638"/>
          <p14:tracePt t="17754" x="1674813" y="5735638"/>
          <p14:tracePt t="17767" x="1681163" y="5729288"/>
          <p14:tracePt t="17778" x="1681163" y="5722938"/>
          <p14:tracePt t="17795" x="1687513" y="5722938"/>
          <p14:tracePt t="17811" x="1693863" y="5716588"/>
          <p14:tracePt t="17828" x="1693863" y="5710238"/>
          <p14:tracePt t="17844" x="1700213" y="5710238"/>
          <p14:tracePt t="17861" x="1700213" y="5703888"/>
          <p14:tracePt t="17878" x="1700213" y="5695950"/>
          <p14:tracePt t="17894" x="1706563" y="5695950"/>
          <p14:tracePt t="17911" x="1712913" y="5683250"/>
          <p14:tracePt t="17928" x="1719263" y="5676900"/>
          <p14:tracePt t="17948" x="1725613" y="5670550"/>
          <p14:tracePt t="17970" x="1731963" y="5670550"/>
          <p14:tracePt t="17983" x="1738313" y="5664200"/>
          <p14:tracePt t="17994" x="1752600" y="5664200"/>
          <p14:tracePt t="18011" x="1758950" y="5664200"/>
          <p14:tracePt t="18028" x="1778000" y="5664200"/>
          <p14:tracePt t="18044" x="1836738" y="5664200"/>
          <p14:tracePt t="18061" x="1887538" y="5664200"/>
          <p14:tracePt t="18078" x="2005013" y="5657850"/>
          <p14:tracePt t="18095" x="2063750" y="5657850"/>
          <p14:tracePt t="18111" x="2108200" y="5651500"/>
          <p14:tracePt t="18114" x="2160588" y="5651500"/>
          <p14:tracePt t="18127" x="2206625" y="5638800"/>
          <p14:tracePt t="18144" x="2257425" y="5638800"/>
          <p14:tracePt t="18161" x="2328863" y="5624513"/>
          <p14:tracePt t="18177" x="2349500" y="5618163"/>
          <p14:tracePt t="18194" x="2362200" y="5618163"/>
          <p14:tracePt t="18211" x="2387600" y="5618163"/>
          <p14:tracePt t="18228" x="2393950" y="5618163"/>
          <p14:tracePt t="18245" x="2406650" y="5618163"/>
          <p14:tracePt t="18269" x="2413000" y="5618163"/>
          <p14:tracePt t="18282" x="2420938" y="5618163"/>
          <p14:tracePt t="18294" x="2427288" y="5611813"/>
          <p14:tracePt t="18310" x="2439988" y="5611813"/>
          <p14:tracePt t="18328" x="2459038" y="5611813"/>
          <p14:tracePt t="18331" x="2478088" y="5605463"/>
          <p14:tracePt t="18344" x="2511425" y="5605463"/>
          <p14:tracePt t="18360" x="2530475" y="5605463"/>
          <p14:tracePt t="18377" x="2608263" y="5580063"/>
          <p14:tracePt t="18394" x="2633663" y="5580063"/>
          <p14:tracePt t="18411" x="2660650" y="5573713"/>
          <p14:tracePt t="18427" x="2698750" y="5561013"/>
          <p14:tracePt t="18444" x="2711450" y="5561013"/>
          <p14:tracePt t="18461" x="2725738" y="5554663"/>
          <p14:tracePt t="18477" x="2732088" y="5554663"/>
          <p14:tracePt t="18604" x="2738438" y="5554663"/>
          <p14:tracePt t="18616" x="2744788" y="5554663"/>
          <p14:tracePt t="18631" x="2763838" y="5561013"/>
          <p14:tracePt t="18642" x="2803525" y="5567363"/>
          <p14:tracePt t="18653" x="2874963" y="5580063"/>
          <p14:tracePt t="18666" x="2971800" y="5599113"/>
          <p14:tracePt t="18677" x="3068638" y="5618163"/>
          <p14:tracePt t="18694" x="3167063" y="5638800"/>
          <p14:tracePt t="18711" x="3224213" y="5651500"/>
          <p14:tracePt t="18714" x="3263900" y="5664200"/>
          <p14:tracePt t="18727" x="3289300" y="5664200"/>
          <p14:tracePt t="18744" x="3302000" y="5670550"/>
          <p14:tracePt t="18761" x="3322638" y="5670550"/>
          <p14:tracePt t="19024" x="3328988" y="5670550"/>
          <p14:tracePt t="19060" x="3335338" y="5670550"/>
          <p14:tracePt t="19084" x="3341688" y="5670550"/>
          <p14:tracePt t="19097" x="3348038" y="5670550"/>
          <p14:tracePt t="19108" x="3360738" y="5670550"/>
          <p14:tracePt t="19120" x="3387725" y="5670550"/>
          <p14:tracePt t="19133" x="3413125" y="5676900"/>
          <p14:tracePt t="19144" x="3465513" y="5676900"/>
          <p14:tracePt t="19160" x="3509963" y="5676900"/>
          <p14:tracePt t="19177" x="3581400" y="5676900"/>
          <p14:tracePt t="19184" x="3652838" y="5676900"/>
          <p14:tracePt t="19194" x="3698875" y="5676900"/>
          <p14:tracePt t="19210" x="3736975" y="5676900"/>
          <p14:tracePt t="19227" x="3776663" y="5676900"/>
          <p14:tracePt t="19228" x="3814763" y="5676900"/>
          <p14:tracePt t="19243" x="3835400" y="5676900"/>
          <p14:tracePt t="19260" x="3867150" y="5676900"/>
          <p14:tracePt t="19277" x="3898900" y="5676900"/>
          <p14:tracePt t="19294" x="3906838" y="5676900"/>
          <p14:tracePt t="19310" x="3913188" y="5676900"/>
          <p14:tracePt t="19326" x="3925888" y="5676900"/>
          <p14:tracePt t="19372" x="3919538" y="5676900"/>
          <p14:tracePt t="19384" x="3913188" y="5676900"/>
          <p14:tracePt t="19398" x="3898900" y="5676900"/>
          <p14:tracePt t="19407" x="3892550" y="5676900"/>
          <p14:tracePt t="19420" x="3873500" y="5676900"/>
          <p14:tracePt t="19432" x="3854450" y="5676900"/>
          <p14:tracePt t="19444" x="3821113" y="5676900"/>
          <p14:tracePt t="19460" x="3783013" y="5676900"/>
          <p14:tracePt t="19476" x="3757613" y="5676900"/>
          <p14:tracePt t="19493" x="3711575" y="5676900"/>
          <p14:tracePt t="19510" x="3698875" y="5676900"/>
          <p14:tracePt t="19527" x="3686175" y="5683250"/>
          <p14:tracePt t="19543" x="3678238" y="5683250"/>
          <p14:tracePt t="19624" x="3686175" y="5683250"/>
          <p14:tracePt t="19635" x="3692525" y="5683250"/>
          <p14:tracePt t="19648" x="3698875" y="5683250"/>
          <p14:tracePt t="19660" x="3705225" y="5683250"/>
          <p14:tracePt t="19676" x="3711575" y="5683250"/>
          <p14:tracePt t="19693" x="3730625" y="5689600"/>
          <p14:tracePt t="19710" x="3763963" y="5689600"/>
          <p14:tracePt t="19726" x="3789363" y="5695950"/>
          <p14:tracePt t="19743" x="3848100" y="5695950"/>
          <p14:tracePt t="19760" x="3898900" y="5695950"/>
          <p14:tracePt t="19776" x="3944938" y="5695950"/>
          <p14:tracePt t="19793" x="4035425" y="5695950"/>
          <p14:tracePt t="19810" x="4075113" y="5695950"/>
          <p14:tracePt t="19826" x="4140200" y="5695950"/>
          <p14:tracePt t="19843" x="4152900" y="5695950"/>
          <p14:tracePt t="19860" x="4171950" y="5695950"/>
          <p14:tracePt t="19876" x="4191000" y="5695950"/>
          <p14:tracePt t="19893" x="4205288" y="5695950"/>
          <p14:tracePt t="19910" x="4211638" y="5695950"/>
          <p14:tracePt t="19934" x="4217988" y="5695950"/>
          <p14:tracePt t="19994" x="4217988" y="5703888"/>
          <p14:tracePt t="20031" x="4217988" y="5710238"/>
          <p14:tracePt t="20223" x="4211638" y="5710238"/>
          <p14:tracePt t="20258" x="4211638" y="5703888"/>
          <p14:tracePt t="20558" x="4217988" y="5703888"/>
          <p14:tracePt t="20570" x="4276725" y="5695950"/>
          <p14:tracePt t="20582" x="4333875" y="5695950"/>
          <p14:tracePt t="20594" x="4386263" y="5683250"/>
          <p14:tracePt t="20609" x="4445000" y="5683250"/>
          <p14:tracePt t="20625" x="4503738" y="5676900"/>
          <p14:tracePt t="20642" x="4594225" y="5670550"/>
          <p14:tracePt t="20659" x="4613275" y="5670550"/>
          <p14:tracePt t="20676" x="4625975" y="5664200"/>
          <p14:tracePt t="20692" x="4645025" y="5664200"/>
          <p14:tracePt t="20709" x="4652963" y="5657850"/>
          <p14:tracePt t="20774" x="4645025" y="5657850"/>
          <p14:tracePt t="20786" x="4638675" y="5657850"/>
          <p14:tracePt t="20809" x="4638675" y="5664200"/>
          <p14:tracePt t="20834" x="4632325" y="5664200"/>
          <p14:tracePt t="20846" x="4632325" y="5670550"/>
          <p14:tracePt t="20940" x="4638675" y="5670550"/>
          <p14:tracePt t="20953" x="4645025" y="5670550"/>
          <p14:tracePt t="20965" x="4659313" y="5670550"/>
          <p14:tracePt t="20976" x="4672013" y="5670550"/>
          <p14:tracePt t="20992" x="4691063" y="5670550"/>
          <p14:tracePt t="21008" x="4710113" y="5670550"/>
          <p14:tracePt t="21025" x="4737100" y="5670550"/>
          <p14:tracePt t="21042" x="4749800" y="5670550"/>
          <p14:tracePt t="21059" x="4762500" y="5670550"/>
          <p14:tracePt t="21075" x="4775200" y="5670550"/>
          <p14:tracePt t="21092" x="4781550" y="5670550"/>
          <p14:tracePt t="21109" x="4795838" y="5670550"/>
          <p14:tracePt t="21517" x="4684713" y="5670550"/>
          <p14:tracePt t="21530" x="4230688" y="5695950"/>
          <p14:tracePt t="21540" x="3652838" y="5748338"/>
          <p14:tracePt t="21552" x="3133725" y="5800725"/>
          <p14:tracePt t="21564" x="2719388" y="5872163"/>
          <p14:tracePt t="21575" x="2381250" y="5956300"/>
          <p14:tracePt t="21592" x="2095500" y="6015038"/>
          <p14:tracePt t="21608" x="1862138" y="6065838"/>
          <p14:tracePt t="21624" x="1498600" y="6143625"/>
          <p14:tracePt t="21641" x="1401763" y="6176963"/>
          <p14:tracePt t="21658" x="1343025" y="6183313"/>
          <p14:tracePt t="21660" x="1311275" y="6196013"/>
          <p14:tracePt t="21675" x="1290638" y="6196013"/>
          <p14:tracePt t="21691" x="1284288" y="6202363"/>
          <p14:tracePt t="21708" x="1271588" y="6202363"/>
          <p14:tracePt t="21725" x="1265238" y="6202363"/>
          <p14:tracePt t="21741" x="1258888" y="6202363"/>
          <p14:tracePt t="21744" x="1252538" y="6202363"/>
          <p14:tracePt t="21758" x="1246188" y="6196013"/>
          <p14:tracePt t="21774" x="1246188" y="6189663"/>
          <p14:tracePt t="21792" x="1252538" y="6176963"/>
          <p14:tracePt t="21808" x="1258888" y="6176963"/>
          <p14:tracePt t="21824" x="1271588" y="6170613"/>
          <p14:tracePt t="21841" x="1284288" y="6170613"/>
          <p14:tracePt t="21858" x="1296988" y="6164263"/>
          <p14:tracePt t="21875" x="1311275" y="6157913"/>
          <p14:tracePt t="21891" x="1317625" y="6157913"/>
          <p14:tracePt t="21908" x="1323975" y="6157913"/>
          <p14:tracePt t="21925" x="1336675" y="6151563"/>
          <p14:tracePt t="21941" x="1349375" y="6143625"/>
          <p14:tracePt t="21958" x="1355725" y="6143625"/>
          <p14:tracePt t="21959" x="1362075" y="6137275"/>
          <p14:tracePt t="21974" x="1382713" y="6130925"/>
          <p14:tracePt t="21991" x="1414463" y="6118225"/>
          <p14:tracePt t="22008" x="1538288" y="6111875"/>
          <p14:tracePt t="22025" x="1635125" y="6105525"/>
          <p14:tracePt t="22041" x="1725613" y="6105525"/>
          <p14:tracePt t="22044" x="1803400" y="6105525"/>
          <p14:tracePt t="22058" x="1887538" y="6105525"/>
          <p14:tracePt t="22074" x="1946275" y="6092825"/>
          <p14:tracePt t="22092" x="2070100" y="6086475"/>
          <p14:tracePt t="22107" x="2122488" y="6080125"/>
          <p14:tracePt t="22124" x="2147888" y="6080125"/>
          <p14:tracePt t="22141" x="2200275" y="6080125"/>
          <p14:tracePt t="22158" x="2212975" y="6080125"/>
          <p14:tracePt t="22175" x="2232025" y="6080125"/>
          <p14:tracePt t="22191" x="2238375" y="6080125"/>
          <p14:tracePt t="22235" x="2244725" y="6080125"/>
          <p14:tracePt t="22270" x="2244725" y="6072188"/>
          <p14:tracePt t="22283" x="2251075" y="6072188"/>
          <p14:tracePt t="22295" x="2257425" y="6072188"/>
          <p14:tracePt t="22307" x="2263775" y="6072188"/>
          <p14:tracePt t="22319" x="2278063" y="6072188"/>
          <p14:tracePt t="22331" x="2290763" y="6072188"/>
          <p14:tracePt t="22343" x="2297113" y="6059488"/>
          <p14:tracePt t="22357" x="2303463" y="6059488"/>
          <p14:tracePt t="22374" x="2309813" y="6059488"/>
          <p14:tracePt t="22391" x="2322513" y="6053138"/>
          <p14:tracePt t="22427" x="2328863" y="6046788"/>
          <p14:tracePt t="22474" x="2335213" y="6046788"/>
          <p14:tracePt t="22486" x="2335213" y="6040438"/>
          <p14:tracePt t="22498" x="2343150" y="6040438"/>
          <p14:tracePt t="22523" x="2362200" y="6040438"/>
          <p14:tracePt t="22534" x="2374900" y="6034088"/>
          <p14:tracePt t="22546" x="2413000" y="6015038"/>
          <p14:tracePt t="22558" x="2459038" y="6015038"/>
          <p14:tracePt t="22574" x="2505075" y="6008688"/>
          <p14:tracePt t="22591" x="2549525" y="6002338"/>
          <p14:tracePt t="22607" x="2608263" y="5994400"/>
          <p14:tracePt t="22624" x="2627313" y="5994400"/>
          <p14:tracePt t="22640" x="2641600" y="5994400"/>
          <p14:tracePt t="22643" x="2654300" y="5994400"/>
          <p14:tracePt t="22657" x="2660650" y="5994400"/>
          <p14:tracePt t="22674" x="2667000" y="5994400"/>
          <p14:tracePt t="22739" x="2667000" y="6002338"/>
          <p14:tracePt t="22762" x="2660650" y="6002338"/>
          <p14:tracePt t="22774" x="2660650" y="6008688"/>
          <p14:tracePt t="22786" x="2654300" y="6008688"/>
          <p14:tracePt t="22812" x="2647950" y="6008688"/>
          <p14:tracePt t="22846" x="2641600" y="6008688"/>
          <p14:tracePt t="22954" x="2647950" y="6008688"/>
          <p14:tracePt t="22965" x="2660650" y="6002338"/>
          <p14:tracePt t="22979" x="2698750" y="6002338"/>
          <p14:tracePt t="22990" x="2751138" y="5988050"/>
          <p14:tracePt t="23001" x="2841625" y="5981700"/>
          <p14:tracePt t="23013" x="2984500" y="5969000"/>
          <p14:tracePt t="23027" x="3133725" y="5969000"/>
          <p14:tracePt t="23040" x="3289300" y="5962650"/>
          <p14:tracePt t="23057" x="3413125" y="5962650"/>
          <p14:tracePt t="23073" x="3562350" y="5962650"/>
          <p14:tracePt t="23090" x="3614738" y="5962650"/>
          <p14:tracePt t="23107" x="3659188" y="5949950"/>
          <p14:tracePt t="23124" x="3730625" y="5943600"/>
          <p14:tracePt t="23140" x="3749675" y="5943600"/>
          <p14:tracePt t="23157" x="3783013" y="5943600"/>
          <p14:tracePt t="23173" x="3795713" y="5943600"/>
          <p14:tracePt t="23190" x="3808413" y="5943600"/>
          <p14:tracePt t="23207" x="3821113" y="5943600"/>
          <p14:tracePt t="23224" x="3827463" y="5943600"/>
          <p14:tracePt t="23241" x="3848100" y="5943600"/>
          <p14:tracePt t="23257" x="3854450" y="5943600"/>
          <p14:tracePt t="23279" x="3860800" y="5943600"/>
          <p14:tracePt t="23313" x="3867150" y="5943600"/>
          <p14:tracePt t="23612" x="3867150" y="5949950"/>
          <p14:tracePt t="23648" x="3867150" y="5956300"/>
          <p14:tracePt t="23686" x="3867150" y="5962650"/>
          <p14:tracePt t="23732" x="3860800" y="5962650"/>
          <p14:tracePt t="23756" x="3860800" y="5969000"/>
          <p14:tracePt t="23792" x="3854450" y="5975350"/>
          <p14:tracePt t="23828" x="3848100" y="5975350"/>
          <p14:tracePt t="23912" x="3841750" y="5975350"/>
          <p14:tracePt t="23948" x="3835400" y="5975350"/>
          <p14:tracePt t="23996" x="3827463" y="5975350"/>
          <p14:tracePt t="24019" x="3821113" y="5975350"/>
          <p14:tracePt t="24032" x="3814763" y="5975350"/>
          <p14:tracePt t="24045" x="3808413" y="5975350"/>
          <p14:tracePt t="24056" x="3802063" y="5975350"/>
          <p14:tracePt t="24068" x="3795713" y="5975350"/>
          <p14:tracePt t="24080" x="3776663" y="5969000"/>
          <p14:tracePt t="24093" x="3749675" y="5962650"/>
          <p14:tracePt t="24106" x="3698875" y="5943600"/>
          <p14:tracePt t="24123" x="3614738" y="5916613"/>
          <p14:tracePt t="24139" x="3211513" y="5845175"/>
          <p14:tracePt t="24156" x="2906713" y="5794375"/>
          <p14:tracePt t="24173" x="2511425" y="5735638"/>
          <p14:tracePt t="24189" x="1790700" y="5657850"/>
          <p14:tracePt t="24206" x="1538288" y="5645150"/>
          <p14:tracePt t="24223" x="1212850" y="5645150"/>
          <p14:tracePt t="24239" x="1135063" y="5645150"/>
          <p14:tracePt t="24256" x="1084263" y="5645150"/>
          <p14:tracePt t="24273" x="1044575" y="5645150"/>
          <p14:tracePt t="24289" x="1044575" y="5638800"/>
          <p14:tracePt t="24307" x="1044575" y="5632450"/>
          <p14:tracePt t="24323" x="1050925" y="5632450"/>
          <p14:tracePt t="24339" x="1050925" y="5624513"/>
          <p14:tracePt t="24356" x="1063625" y="5618163"/>
          <p14:tracePt t="24372" x="1063625" y="5611813"/>
          <p14:tracePt t="24389" x="1069975" y="5605463"/>
          <p14:tracePt t="24415" x="1076325" y="5605463"/>
          <p14:tracePt t="24427" x="1084263" y="5605463"/>
          <p14:tracePt t="24725" x="1084263" y="5391150"/>
          <p14:tracePt t="24739" x="1084263" y="5138738"/>
          <p14:tracePt t="24751" x="1135063" y="4846638"/>
          <p14:tracePt t="24763" x="1219200" y="4567238"/>
          <p14:tracePt t="24776" x="1323975" y="4327525"/>
          <p14:tracePt t="24789" x="1414463" y="4178300"/>
          <p14:tracePt t="24805" x="1485900" y="4087813"/>
          <p14:tracePt t="24823" x="1576388" y="4022725"/>
          <p14:tracePt t="24839" x="1609725" y="4016375"/>
          <p14:tracePt t="24855" x="1616075" y="4016375"/>
          <p14:tracePt t="24872" x="1616075" y="4010025"/>
          <p14:tracePt t="24889" x="1595438" y="4010025"/>
          <p14:tracePt t="24906" x="1466850" y="4022725"/>
          <p14:tracePt t="24922" x="1355725" y="3997325"/>
          <p14:tracePt t="24939" x="1181100" y="3951288"/>
          <p14:tracePt t="24955" x="817563" y="3833813"/>
          <p14:tracePt t="24972" x="642938" y="3776663"/>
          <p14:tracePt t="24989" x="525463" y="3730625"/>
          <p14:tracePt t="24990" x="422275" y="3678238"/>
          <p14:tracePt t="25005" x="369888" y="3627438"/>
          <p14:tracePt t="25022" x="344488" y="3562350"/>
          <p14:tracePt t="25039" x="357188" y="3400425"/>
          <p14:tracePt t="25055" x="395288" y="3295650"/>
          <p14:tracePt t="25072" x="454025" y="3165475"/>
          <p14:tracePt t="25074" x="531813" y="3030538"/>
          <p14:tracePt t="25089" x="596900" y="2894013"/>
          <p14:tracePt t="25105" x="661988" y="2776538"/>
          <p14:tracePt t="25123" x="746125" y="2633663"/>
          <p14:tracePt t="25139" x="792163" y="2595563"/>
          <p14:tracePt t="25155" x="817563" y="2549525"/>
          <p14:tracePt t="25172" x="876300" y="2498725"/>
          <p14:tracePt t="25188" x="901700" y="2484438"/>
          <p14:tracePt t="25205" x="941388" y="2465388"/>
          <p14:tracePt t="25222" x="966788" y="2459038"/>
          <p14:tracePt t="25238" x="992188" y="2452688"/>
          <p14:tracePt t="25255" x="1069975" y="2406650"/>
          <p14:tracePt t="25272" x="1103313" y="2387600"/>
          <p14:tracePt t="25289" x="1155700" y="2335213"/>
          <p14:tracePt t="25305" x="1168400" y="2316163"/>
          <p14:tracePt t="25322" x="1174750" y="2309813"/>
          <p14:tracePt t="25338" x="1181100" y="2297113"/>
          <p14:tracePt t="25375" x="1174750" y="2297113"/>
          <p14:tracePt t="25385" x="1174750" y="2303463"/>
          <p14:tracePt t="25397" x="1168400" y="2303463"/>
          <p14:tracePt t="25410" x="1162050" y="2309813"/>
          <p14:tracePt t="25434" x="1162050" y="2316163"/>
          <p14:tracePt t="25459" x="1155700" y="2322513"/>
          <p14:tracePt t="25469" x="1155700" y="2328863"/>
          <p14:tracePt t="25494" x="1147763" y="2328863"/>
          <p14:tracePt t="25505" x="1147763" y="2335213"/>
          <p14:tracePt t="25529" x="1141413" y="2335213"/>
          <p14:tracePt t="25542" x="1141413" y="2341563"/>
          <p14:tracePt t="25577" x="1141413" y="2349500"/>
          <p14:tracePt t="25613" x="1135063" y="2349500"/>
          <p14:tracePt t="25626" x="1135063" y="2355850"/>
          <p14:tracePt t="25649" x="1128713" y="2355850"/>
          <p14:tracePt t="25661" x="1128713" y="2362200"/>
          <p14:tracePt t="25685" x="1128713" y="2368550"/>
          <p14:tracePt t="25709" x="1122363" y="2368550"/>
          <p14:tracePt t="25733" x="1116013" y="2374900"/>
          <p14:tracePt t="25745" x="1109663" y="2374900"/>
          <p14:tracePt t="25758" x="1109663" y="2381250"/>
          <p14:tracePt t="25769" x="1103313" y="2387600"/>
          <p14:tracePt t="25781" x="1096963" y="2387600"/>
          <p14:tracePt t="25794" x="1090613" y="2393950"/>
          <p14:tracePt t="25805" x="1084263" y="2400300"/>
          <p14:tracePt t="25821" x="1076325" y="2406650"/>
          <p14:tracePt t="25838" x="1069975" y="2413000"/>
          <p14:tracePt t="25842" x="1057275" y="2427288"/>
          <p14:tracePt t="25855" x="1050925" y="2433638"/>
          <p14:tracePt t="25871" x="1044575" y="2439988"/>
          <p14:tracePt t="25888" x="1031875" y="2446338"/>
          <p14:tracePt t="25905" x="1025525" y="2452688"/>
          <p14:tracePt t="25921" x="1025525" y="2459038"/>
          <p14:tracePt t="25938" x="1006475" y="2471738"/>
          <p14:tracePt t="25955" x="992188" y="2484438"/>
          <p14:tracePt t="25972" x="973138" y="2505075"/>
          <p14:tracePt t="25988" x="960438" y="2511425"/>
          <p14:tracePt t="26005" x="954088" y="2524125"/>
          <p14:tracePt t="26021" x="947738" y="2536825"/>
          <p14:tracePt t="26044" x="941388" y="2543175"/>
          <p14:tracePt t="26068" x="941388" y="2549525"/>
          <p14:tracePt t="26093" x="941388" y="2555875"/>
          <p14:tracePt t="26103" x="935038" y="2562225"/>
          <p14:tracePt t="26127" x="935038" y="2568575"/>
          <p14:tracePt t="26141" x="935038" y="2576513"/>
          <p14:tracePt t="26151" x="935038" y="2589213"/>
          <p14:tracePt t="26164" x="935038" y="2608263"/>
          <p14:tracePt t="26176" x="935038" y="2640013"/>
          <p14:tracePt t="26188" x="920750" y="2692400"/>
          <p14:tracePt t="26204" x="914400" y="2738438"/>
          <p14:tracePt t="26221" x="908050" y="2797175"/>
          <p14:tracePt t="26238" x="857250" y="2971800"/>
          <p14:tracePt t="26254" x="830263" y="3055938"/>
          <p14:tracePt t="26271" x="792163" y="3236913"/>
          <p14:tracePt t="26287" x="771525" y="3335338"/>
          <p14:tracePt t="26304" x="758825" y="3432175"/>
          <p14:tracePt t="26321" x="739775" y="3640138"/>
          <p14:tracePt t="26337" x="739775" y="3705225"/>
          <p14:tracePt t="26355" x="739775" y="3827463"/>
          <p14:tracePt t="26371" x="758825" y="3873500"/>
          <p14:tracePt t="26388" x="765175" y="3905250"/>
          <p14:tracePt t="26404" x="785813" y="3963988"/>
          <p14:tracePt t="26421" x="798513" y="3997325"/>
          <p14:tracePt t="26438" x="804863" y="4010025"/>
          <p14:tracePt t="26439" x="811213" y="4029075"/>
          <p14:tracePt t="26454" x="817563" y="4048125"/>
          <p14:tracePt t="26471" x="830263" y="4060825"/>
          <p14:tracePt t="26488" x="876300" y="4100513"/>
          <p14:tracePt t="26504" x="901700" y="4113213"/>
          <p14:tracePt t="26521" x="947738" y="4140200"/>
          <p14:tracePt t="26538" x="998538" y="4159250"/>
          <p14:tracePt t="26554" x="1038225" y="4178300"/>
          <p14:tracePt t="26571" x="1076325" y="4184650"/>
          <p14:tracePt t="26587" x="1090613" y="4184650"/>
          <p14:tracePt t="26604" x="1096963" y="4184650"/>
          <p14:tracePt t="26621" x="1103313" y="4203700"/>
          <p14:tracePt t="26638" x="1103313" y="4210050"/>
          <p14:tracePt t="26654" x="1096963" y="4230688"/>
          <p14:tracePt t="26671" x="1090613" y="4237038"/>
          <p14:tracePt t="26688" x="1084263" y="4256088"/>
          <p14:tracePt t="26704" x="1057275" y="4314825"/>
          <p14:tracePt t="26721" x="1031875" y="4367213"/>
          <p14:tracePt t="26738" x="985838" y="4508500"/>
          <p14:tracePt t="26754" x="979488" y="4587875"/>
          <p14:tracePt t="26771" x="960438" y="4672013"/>
          <p14:tracePt t="26787" x="941388" y="4800600"/>
          <p14:tracePt t="26804" x="935038" y="4852988"/>
          <p14:tracePt t="26821" x="935038" y="4892675"/>
          <p14:tracePt t="26824" x="954088" y="4930775"/>
          <p14:tracePt t="26837" x="966788" y="4964113"/>
          <p14:tracePt t="26854" x="979488" y="4983163"/>
          <p14:tracePt t="26871" x="1038225" y="5021263"/>
          <p14:tracePt t="26887" x="1057275" y="5035550"/>
          <p14:tracePt t="26904" x="1096963" y="5048250"/>
          <p14:tracePt t="26920" x="1155700" y="5067300"/>
          <p14:tracePt t="26938" x="1200150" y="5080000"/>
          <p14:tracePt t="26954" x="1239838" y="5092700"/>
          <p14:tracePt t="26970" x="1258888" y="5092700"/>
          <p14:tracePt t="26987" x="1277938" y="5099050"/>
          <p14:tracePt t="27006" x="1296988" y="5105400"/>
          <p14:tracePt t="27020" x="1311275" y="5105400"/>
          <p14:tracePt t="27037" x="1317625" y="5105400"/>
          <p14:tracePt t="27054" x="1323975" y="5105400"/>
          <p14:tracePt t="27076" x="1323975" y="5113338"/>
          <p14:tracePt t="27121" x="1323975" y="5119688"/>
          <p14:tracePt t="27194" x="1323975" y="5126038"/>
          <p14:tracePt t="27481" x="1323975" y="5119688"/>
          <p14:tracePt t="27493" x="1317625" y="5105400"/>
          <p14:tracePt t="27506" x="1317625" y="5086350"/>
          <p14:tracePt t="27517" x="1317625" y="5048250"/>
          <p14:tracePt t="27529" x="1317625" y="4970463"/>
          <p14:tracePt t="27542" x="1323975" y="4865688"/>
          <p14:tracePt t="27553" x="1343025" y="4710113"/>
          <p14:tracePt t="27570" x="1355725" y="4554538"/>
          <p14:tracePt t="27587" x="1389063" y="4379913"/>
          <p14:tracePt t="27603" x="1504950" y="4060825"/>
          <p14:tracePt t="27620" x="1589088" y="3854450"/>
          <p14:tracePt t="27637" x="1830388" y="3490913"/>
          <p14:tracePt t="27653" x="1939925" y="3379788"/>
          <p14:tracePt t="27670" x="2051050" y="3308350"/>
          <p14:tracePt t="27686" x="2212975" y="3224213"/>
          <p14:tracePt t="27703" x="2263775" y="3217863"/>
          <p14:tracePt t="27721" x="2328863" y="3230563"/>
          <p14:tracePt t="27737" x="2362200" y="3244850"/>
          <p14:tracePt t="27753" x="2381250" y="3244850"/>
          <p14:tracePt t="27770" x="2413000" y="3257550"/>
          <p14:tracePt t="27786" x="2420938" y="3257550"/>
          <p14:tracePt t="27804" x="2427288" y="3257550"/>
          <p14:tracePt t="27853" x="2420938" y="3257550"/>
          <p14:tracePt t="27864" x="2413000" y="3257550"/>
          <p14:tracePt t="28212" x="2406650" y="3217863"/>
          <p14:tracePt t="28225" x="2343150" y="3081338"/>
          <p14:tracePt t="28235" x="2290763" y="2978150"/>
          <p14:tracePt t="28247" x="2232025" y="2847975"/>
          <p14:tracePt t="28259" x="2225675" y="2717800"/>
          <p14:tracePt t="28272" x="2225675" y="2627313"/>
          <p14:tracePt t="28286" x="2232025" y="2555875"/>
          <p14:tracePt t="28302" x="2251075" y="2505075"/>
          <p14:tracePt t="28319" x="2290763" y="2459038"/>
          <p14:tracePt t="28336" x="2303463" y="2446338"/>
          <p14:tracePt t="28353" x="2316163" y="2439988"/>
          <p14:tracePt t="28369" x="2349500" y="2406650"/>
          <p14:tracePt t="28386" x="2368550" y="2400300"/>
          <p14:tracePt t="28403" x="2381250" y="2387600"/>
          <p14:tracePt t="28451" x="2374900" y="2387600"/>
          <p14:tracePt t="28463" x="2368550" y="2387600"/>
          <p14:tracePt t="28499" x="2374900" y="2387600"/>
          <p14:tracePt t="28511" x="2387600" y="2381250"/>
          <p14:tracePt t="28525" x="2420938" y="2368550"/>
          <p14:tracePt t="28536" x="2530475" y="2328863"/>
          <p14:tracePt t="28553" x="2732088" y="2278063"/>
          <p14:tracePt t="28569" x="3055938" y="2225675"/>
          <p14:tracePt t="28573" x="3438525" y="2212975"/>
          <p14:tracePt t="28586" x="3913188" y="2225675"/>
          <p14:tracePt t="28603" x="4438650" y="2290763"/>
          <p14:tracePt t="28619" x="5235575" y="2490788"/>
          <p14:tracePt t="28636" x="5476875" y="2589213"/>
          <p14:tracePt t="28652" x="5611813" y="2679700"/>
          <p14:tracePt t="28669" x="5768975" y="2860675"/>
          <p14:tracePt t="28686" x="5826125" y="2938463"/>
          <p14:tracePt t="28703" x="5891213" y="3087688"/>
          <p14:tracePt t="28719" x="5924550" y="3140075"/>
          <p14:tracePt t="28736" x="5949950" y="3192463"/>
          <p14:tracePt t="28752" x="5995988" y="3244850"/>
          <p14:tracePt t="28769" x="6008688" y="3257550"/>
          <p14:tracePt t="28786" x="6015038" y="3257550"/>
          <p14:tracePt t="28788" x="6021388" y="3263900"/>
          <p14:tracePt t="28811" x="6027738" y="3257550"/>
          <p14:tracePt t="28825" x="6027738" y="3244850"/>
          <p14:tracePt t="28836" x="6027738" y="3217863"/>
          <p14:tracePt t="29050" x="6124575" y="3205163"/>
          <p14:tracePt t="29062" x="6443663" y="3205163"/>
          <p14:tracePt t="29075" x="6838950" y="3205163"/>
          <p14:tracePt t="29086" x="7280275" y="3205163"/>
          <p14:tracePt t="29102" x="7604125" y="3205163"/>
          <p14:tracePt t="29119" x="7877175" y="3205163"/>
          <p14:tracePt t="29135" x="8201025" y="3211513"/>
          <p14:tracePt t="29152" x="8299450" y="3217863"/>
          <p14:tracePt t="29169" x="8377238" y="3217863"/>
          <p14:tracePt t="29185" x="8396288" y="3217863"/>
          <p14:tracePt t="29202" x="8408988" y="3217863"/>
          <p14:tracePt t="29219" x="8442325" y="3217863"/>
          <p14:tracePt t="29235" x="8455025" y="3217863"/>
          <p14:tracePt t="29252" x="8461375" y="3217863"/>
          <p14:tracePt t="29255" x="8467725" y="3217863"/>
          <p14:tracePt t="29269" x="8474075" y="3217863"/>
          <p14:tracePt t="29302" x="8461375" y="3217863"/>
          <p14:tracePt t="29313" x="8448675" y="3217863"/>
          <p14:tracePt t="29325" x="8428038" y="3217863"/>
          <p14:tracePt t="29341" x="8408988" y="3217863"/>
          <p14:tracePt t="29352" x="8377238" y="3217863"/>
          <p14:tracePt t="29368" x="8343900" y="3217863"/>
          <p14:tracePt t="29386" x="8272463" y="3230563"/>
          <p14:tracePt t="29402" x="8240713" y="3236913"/>
          <p14:tracePt t="29418" x="8201025" y="3244850"/>
          <p14:tracePt t="29435" x="8169275" y="3244850"/>
          <p14:tracePt t="29452" x="8156575" y="3244850"/>
          <p14:tracePt t="29469" x="8150225" y="3244850"/>
          <p14:tracePt t="29485" x="8156575" y="3244850"/>
          <p14:tracePt t="29502" x="8169275" y="3244850"/>
          <p14:tracePt t="29518" x="8194675" y="3244850"/>
          <p14:tracePt t="29535" x="8213725" y="3244850"/>
          <p14:tracePt t="29552" x="8234363" y="3244850"/>
          <p14:tracePt t="29555" x="8253413" y="3244850"/>
          <p14:tracePt t="29568" x="8285163" y="3244850"/>
          <p14:tracePt t="29585" x="8331200" y="3244850"/>
          <p14:tracePt t="29602" x="8448675" y="3244850"/>
          <p14:tracePt t="29618" x="8526463" y="3244850"/>
          <p14:tracePt t="29635" x="8610600" y="3244850"/>
          <p14:tracePt t="29652" x="8753475" y="3244850"/>
          <p14:tracePt t="29668" x="8824913" y="3244850"/>
          <p14:tracePt t="29685" x="8953500" y="3236913"/>
          <p14:tracePt t="29702" x="9012238" y="3224213"/>
          <p14:tracePt t="29718" x="9077325" y="3217863"/>
          <p14:tracePt t="29735" x="9194800" y="3217863"/>
          <p14:tracePt t="29751" x="9245600" y="3211513"/>
          <p14:tracePt t="29769" x="9323388" y="3205163"/>
          <p14:tracePt t="29785" x="9356725" y="3205163"/>
          <p14:tracePt t="29802" x="9382125" y="3205163"/>
          <p14:tracePt t="29818" x="9428163" y="3205163"/>
          <p14:tracePt t="29834" x="9453563" y="3205163"/>
          <p14:tracePt t="29852" x="9493250" y="3205163"/>
          <p14:tracePt t="29868" x="9505950" y="3205163"/>
          <p14:tracePt t="29885" x="9525000" y="3205163"/>
          <p14:tracePt t="29901" x="9550400" y="3205163"/>
          <p14:tracePt t="29918" x="9558338" y="3205163"/>
          <p14:tracePt t="29935" x="9571038" y="3205163"/>
          <p14:tracePt t="29951" x="9583738" y="3205163"/>
          <p14:tracePt t="29968" x="9590088" y="3205163"/>
          <p14:tracePt t="29985" x="9602788" y="3205163"/>
          <p14:tracePt t="30001" x="9609138" y="3205163"/>
          <p14:tracePt t="30019" x="9615488" y="3205163"/>
          <p14:tracePt t="30035" x="9621838" y="3211513"/>
          <p14:tracePt t="30051" x="9629775" y="3211513"/>
          <p14:tracePt t="30069" x="9655175" y="3211513"/>
          <p14:tracePt t="30085" x="9667875" y="3211513"/>
          <p14:tracePt t="30101" x="9686925" y="3205163"/>
          <p14:tracePt t="30118" x="9752013" y="3192463"/>
          <p14:tracePt t="30135" x="9804400" y="3186113"/>
          <p14:tracePt t="30152" x="9894888" y="3159125"/>
          <p14:tracePt t="30168" x="9920288" y="3152775"/>
          <p14:tracePt t="30184" x="9940925" y="3152775"/>
          <p14:tracePt t="30202" x="9959975" y="3152775"/>
          <p14:tracePt t="30218" x="9972675" y="3152775"/>
          <p14:tracePt t="30235" x="9979025" y="3152775"/>
          <p14:tracePt t="30284" x="9985375" y="3159125"/>
          <p14:tracePt t="30368" x="9985375" y="3165475"/>
          <p14:tracePt t="30823" x="10012363" y="3165475"/>
          <p14:tracePt t="30835" x="10025063" y="3165475"/>
          <p14:tracePt t="30847" x="10044113" y="3165475"/>
          <p14:tracePt t="30860" x="10050463" y="3165475"/>
          <p14:tracePt t="30873" x="10063163" y="3165475"/>
          <p14:tracePt t="30884" x="10069513" y="3165475"/>
          <p14:tracePt t="30900" x="10077450" y="3165475"/>
          <p14:tracePt t="30921" x="10083800" y="3165475"/>
          <p14:tracePt t="30967" x="10077450" y="3165475"/>
          <p14:tracePt t="30979" x="10056813" y="3165475"/>
          <p14:tracePt t="30992" x="10018713" y="3165475"/>
          <p14:tracePt t="31003" x="9947275" y="3165475"/>
          <p14:tracePt t="31017" x="9817100" y="3165475"/>
          <p14:tracePt t="31034" x="9615488" y="3165475"/>
          <p14:tracePt t="31051" x="9039225" y="3236913"/>
          <p14:tracePt t="31067" x="8747125" y="3270250"/>
          <p14:tracePt t="31084" x="8442325" y="3322638"/>
          <p14:tracePt t="31100" x="8020050" y="3444875"/>
          <p14:tracePt t="31117" x="7889875" y="3490913"/>
          <p14:tracePt t="31135" x="7753350" y="3535363"/>
          <p14:tracePt t="31151" x="7702550" y="3549650"/>
          <p14:tracePt t="31168" x="7656513" y="3562350"/>
          <p14:tracePt t="31184" x="7572375" y="3581400"/>
          <p14:tracePt t="31201" x="7546975" y="3587750"/>
          <p14:tracePt t="31217" x="7507288" y="3587750"/>
          <p14:tracePt t="31220" x="7494588" y="3587750"/>
          <p14:tracePt t="31234" x="7481888" y="3587750"/>
          <p14:tracePt t="31256" x="7475538" y="3587750"/>
          <p14:tracePt t="31302" x="7467600" y="3587750"/>
          <p14:tracePt t="31315" x="7461250" y="3587750"/>
          <p14:tracePt t="31327" x="7454900" y="3587750"/>
          <p14:tracePt t="31340" x="7448550" y="3581400"/>
          <p14:tracePt t="31350" x="7448550" y="3575050"/>
          <p14:tracePt t="31367" x="7448550" y="3568700"/>
          <p14:tracePt t="31384" x="7454900" y="3562350"/>
          <p14:tracePt t="31400" x="7475538" y="3556000"/>
          <p14:tracePt t="31417" x="7481888" y="3549650"/>
          <p14:tracePt t="31434" x="7500938" y="3543300"/>
          <p14:tracePt t="31450" x="7513638" y="3543300"/>
          <p14:tracePt t="31467" x="7526338" y="3535363"/>
          <p14:tracePt t="31484" x="7553325" y="3535363"/>
          <p14:tracePt t="31500" x="7566025" y="3535363"/>
          <p14:tracePt t="31517" x="7578725" y="3535363"/>
          <p14:tracePt t="31519" x="7597775" y="3535363"/>
          <p14:tracePt t="31533" x="7610475" y="3529013"/>
          <p14:tracePt t="31550" x="7624763" y="3529013"/>
          <p14:tracePt t="31567" x="7643813" y="3516313"/>
          <p14:tracePt t="31583" x="7656513" y="3516313"/>
          <p14:tracePt t="31600" x="7669213" y="3516313"/>
          <p14:tracePt t="31617" x="7688263" y="3516313"/>
          <p14:tracePt t="31633" x="7702550" y="3509963"/>
          <p14:tracePt t="31650" x="7715250" y="3509963"/>
          <p14:tracePt t="31667" x="7721600" y="3503613"/>
          <p14:tracePt t="31698" x="7727950" y="3503613"/>
          <p14:tracePt t="31757" x="7734300" y="3503613"/>
          <p14:tracePt t="31782" x="7734300" y="3497263"/>
          <p14:tracePt t="31877" x="7740650" y="3497263"/>
          <p14:tracePt t="31925" x="7747000" y="3490913"/>
          <p14:tracePt t="31985" x="7753350" y="3490913"/>
          <p14:tracePt t="32249" x="7759700" y="3490913"/>
          <p14:tracePt t="32296" x="7766050" y="3490913"/>
          <p14:tracePt t="32308" x="7780338" y="3490913"/>
          <p14:tracePt t="32322" x="7818438" y="3490913"/>
          <p14:tracePt t="32333" x="7864475" y="3490913"/>
          <p14:tracePt t="32349" x="7935913" y="3490913"/>
          <p14:tracePt t="32366" x="8026400" y="3490913"/>
          <p14:tracePt t="32383" x="8175625" y="3490913"/>
          <p14:tracePt t="32400" x="8201025" y="3484563"/>
          <p14:tracePt t="32416" x="8247063" y="3478213"/>
          <p14:tracePt t="32433" x="8253413" y="3478213"/>
          <p14:tracePt t="32449" x="8259763" y="3478213"/>
          <p14:tracePt t="32536" x="8253413" y="3478213"/>
          <p14:tracePt t="32549" x="8247063" y="3478213"/>
          <p14:tracePt t="32573" x="8240713" y="3478213"/>
          <p14:tracePt t="32586" x="8234363" y="3484563"/>
          <p14:tracePt t="32608" x="8228013" y="3484563"/>
          <p14:tracePt t="32633" x="8221663" y="3484563"/>
          <p14:tracePt t="32668" x="8213725" y="3484563"/>
          <p14:tracePt t="33243" x="8221663" y="3484563"/>
          <p14:tracePt t="33255" x="8240713" y="3484563"/>
          <p14:tracePt t="33270" x="8253413" y="3484563"/>
          <p14:tracePt t="33279" x="8272463" y="3484563"/>
          <p14:tracePt t="33291" x="8285163" y="3484563"/>
          <p14:tracePt t="33305" x="8299450" y="3484563"/>
          <p14:tracePt t="33315" x="8305800" y="3484563"/>
          <p14:tracePt t="33332" x="8312150" y="3484563"/>
          <p14:tracePt t="33352" x="8318500" y="3484563"/>
          <p14:tracePt t="33627" x="8318500" y="3478213"/>
          <p14:tracePt t="33638" x="8318500" y="3471863"/>
          <p14:tracePt t="33662" x="8318500" y="3463925"/>
          <p14:tracePt t="33687" x="8324850" y="3457575"/>
          <p14:tracePt t="33710" x="8337550" y="3451225"/>
          <p14:tracePt t="33722" x="8350250" y="3444875"/>
          <p14:tracePt t="33737" x="8370888" y="3444875"/>
          <p14:tracePt t="33746" x="8402638" y="3438525"/>
          <p14:tracePt t="33759" x="8461375" y="3438525"/>
          <p14:tracePt t="33771" x="8520113" y="3425825"/>
          <p14:tracePt t="33782" x="8564563" y="3425825"/>
          <p14:tracePt t="33798" x="8616950" y="3425825"/>
          <p14:tracePt t="33815" x="8636000" y="3425825"/>
          <p14:tracePt t="33831" x="8669338" y="3425825"/>
          <p14:tracePt t="33848" x="8675688" y="3425825"/>
          <p14:tracePt t="33865" x="8682038" y="3425825"/>
          <p14:tracePt t="33903" x="8688388" y="3425825"/>
          <p14:tracePt t="33925" x="8694738" y="3432175"/>
          <p14:tracePt t="33962" x="8701088" y="3432175"/>
          <p14:tracePt t="34214" x="8707438" y="3432175"/>
          <p14:tracePt t="34225" x="8707438" y="3438525"/>
          <p14:tracePt t="34251" x="8713788" y="3438525"/>
          <p14:tracePt t="34261" x="8713788" y="3444875"/>
          <p14:tracePt t="34309" x="8720138" y="3444875"/>
          <p14:tracePt t="34321" x="8726488" y="3451225"/>
          <p14:tracePt t="34334" x="8732838" y="3451225"/>
          <p14:tracePt t="34344" x="8740775" y="3451225"/>
          <p14:tracePt t="34357" x="8759825" y="3451225"/>
          <p14:tracePt t="34370" x="8778875" y="3457575"/>
          <p14:tracePt t="34381" x="8797925" y="3457575"/>
          <p14:tracePt t="34398" x="8824913" y="3457575"/>
          <p14:tracePt t="34414" x="8850313" y="3457575"/>
          <p14:tracePt t="34431" x="8890000" y="3457575"/>
          <p14:tracePt t="34448" x="8921750" y="3457575"/>
          <p14:tracePt t="34465" x="8961438" y="3457575"/>
          <p14:tracePt t="34481" x="8999538" y="3457575"/>
          <p14:tracePt t="34498" x="9039225" y="3451225"/>
          <p14:tracePt t="34514" x="9129713" y="3444875"/>
          <p14:tracePt t="34531" x="9167813" y="3444875"/>
          <p14:tracePt t="34548" x="9194800" y="3438525"/>
          <p14:tracePt t="34550" x="9226550" y="3438525"/>
          <p14:tracePt t="34564" x="9251950" y="3438525"/>
          <p14:tracePt t="34581" x="9272588" y="3432175"/>
          <p14:tracePt t="34598" x="9323388" y="3432175"/>
          <p14:tracePt t="34614" x="9350375" y="3425825"/>
          <p14:tracePt t="34631" x="9382125" y="3425825"/>
          <p14:tracePt t="34648" x="9447213" y="3425825"/>
          <p14:tracePt t="34664" x="9486900" y="3425825"/>
          <p14:tracePt t="34681" x="9544050" y="3425825"/>
          <p14:tracePt t="34697" x="9577388" y="3425825"/>
          <p14:tracePt t="34714" x="9602788" y="3425825"/>
          <p14:tracePt t="34731" x="9636125" y="3425825"/>
          <p14:tracePt t="34747" x="9655175" y="3425825"/>
          <p14:tracePt t="34764" x="9674225" y="3425825"/>
          <p14:tracePt t="34781" x="9686925" y="3425825"/>
          <p14:tracePt t="34798" x="9693275" y="3425825"/>
          <p14:tracePt t="34814" x="9699625" y="3425825"/>
          <p14:tracePt t="34831" x="9707563" y="3432175"/>
          <p14:tracePt t="34943" x="9713913" y="3432175"/>
          <p14:tracePt t="34980" x="9720263" y="3432175"/>
          <p14:tracePt t="35005" x="9726613" y="3432175"/>
          <p14:tracePt t="35017" x="9732963" y="3432175"/>
          <p14:tracePt t="35040" x="9745663" y="3432175"/>
          <p14:tracePt t="35052" x="9752013" y="3432175"/>
          <p14:tracePt t="35064" x="9758363" y="3432175"/>
          <p14:tracePt t="35076" x="9764713" y="3432175"/>
          <p14:tracePt t="35087" x="9771063" y="3432175"/>
          <p14:tracePt t="35112" x="9779000" y="3432175"/>
          <p14:tracePt t="35124" x="9785350" y="3432175"/>
          <p14:tracePt t="35147" x="9791700" y="3432175"/>
          <p14:tracePt t="35171" x="9798050" y="3432175"/>
          <p14:tracePt t="35195" x="9804400" y="3432175"/>
          <p14:tracePt t="35255" x="9810750" y="3432175"/>
          <p14:tracePt t="35496" x="9779000" y="3432175"/>
          <p14:tracePt t="35507" x="9732963" y="3425825"/>
          <p14:tracePt t="35520" x="9661525" y="3419475"/>
          <p14:tracePt t="35531" x="9550400" y="3400425"/>
          <p14:tracePt t="35547" x="9394825" y="3379788"/>
          <p14:tracePt t="35564" x="9194800" y="3354388"/>
          <p14:tracePt t="35580" x="8740775" y="3360738"/>
          <p14:tracePt t="35596" x="8545513" y="3379788"/>
          <p14:tracePt t="35614" x="8207375" y="3463925"/>
          <p14:tracePt t="35630" x="8064500" y="3509963"/>
          <p14:tracePt t="35647" x="7954963" y="3529013"/>
          <p14:tracePt t="35663" x="7812088" y="3575050"/>
          <p14:tracePt t="35680" x="7747000" y="3587750"/>
          <p14:tracePt t="35697" x="7702550" y="3606800"/>
          <p14:tracePt t="35700" x="7656513" y="3633788"/>
          <p14:tracePt t="35713" x="7616825" y="3646488"/>
          <p14:tracePt t="35730" x="7597775" y="3652838"/>
          <p14:tracePt t="35747" x="7559675" y="3678238"/>
          <p14:tracePt t="35764" x="7546975" y="3678238"/>
          <p14:tracePt t="35780" x="7539038" y="3678238"/>
          <p14:tracePt t="35797" x="7532688" y="3684588"/>
          <p14:tracePt t="35814" x="7526338" y="3692525"/>
          <p14:tracePt t="35830" x="7526338" y="3698875"/>
          <p14:tracePt t="35846" x="7513638" y="3705225"/>
          <p14:tracePt t="35863" x="7507288" y="3711575"/>
          <p14:tracePt t="35880" x="7500938" y="3724275"/>
          <p14:tracePt t="35897" x="7500938" y="3730625"/>
          <p14:tracePt t="35926" x="7507288" y="3730625"/>
          <p14:tracePt t="35938" x="7513638" y="3724275"/>
          <p14:tracePt t="35952" x="7519988" y="3717925"/>
          <p14:tracePt t="35974" x="7532688" y="3711575"/>
          <p14:tracePt t="35986" x="7539038" y="3705225"/>
          <p14:tracePt t="35998" x="7553325" y="3705225"/>
          <p14:tracePt t="36013" x="7566025" y="3698875"/>
          <p14:tracePt t="36029" x="7578725" y="3698875"/>
          <p14:tracePt t="36047" x="7597775" y="3698875"/>
          <p14:tracePt t="36063" x="7610475" y="3698875"/>
          <p14:tracePt t="36080" x="7624763" y="3698875"/>
          <p14:tracePt t="36096" x="7650163" y="3698875"/>
          <p14:tracePt t="36113" x="7681913" y="3698875"/>
          <p14:tracePt t="36130" x="7740650" y="3705225"/>
          <p14:tracePt t="36146" x="7759700" y="3705225"/>
          <p14:tracePt t="36163" x="7780338" y="3711575"/>
          <p14:tracePt t="36180" x="7824788" y="3711575"/>
          <p14:tracePt t="36196" x="7837488" y="3711575"/>
          <p14:tracePt t="36214" x="7870825" y="3717925"/>
          <p14:tracePt t="36230" x="7889875" y="3717925"/>
          <p14:tracePt t="36246" x="7923213" y="3717925"/>
          <p14:tracePt t="36263" x="7994650" y="3724275"/>
          <p14:tracePt t="36280" x="8032750" y="3724275"/>
          <p14:tracePt t="36296" x="8064500" y="3724275"/>
          <p14:tracePt t="36298" x="8091488" y="3724275"/>
          <p14:tracePt t="36313" x="8129588" y="3724275"/>
          <p14:tracePt t="36330" x="8162925" y="3724275"/>
          <p14:tracePt t="36347" x="8201025" y="3717925"/>
          <p14:tracePt t="36363" x="8221663" y="3717925"/>
          <p14:tracePt t="36380" x="8240713" y="3717925"/>
          <p14:tracePt t="36396" x="8272463" y="3717925"/>
          <p14:tracePt t="36413" x="8299450" y="3717925"/>
          <p14:tracePt t="36430" x="8331200" y="3717925"/>
          <p14:tracePt t="36446" x="8350250" y="3717925"/>
          <p14:tracePt t="36463" x="8370888" y="3717925"/>
          <p14:tracePt t="36480" x="8421688" y="3717925"/>
          <p14:tracePt t="36496" x="8442325" y="3717925"/>
          <p14:tracePt t="36513" x="8480425" y="3717925"/>
          <p14:tracePt t="36529" x="8493125" y="3717925"/>
          <p14:tracePt t="36546" x="8505825" y="3717925"/>
          <p14:tracePt t="36563" x="8526463" y="3724275"/>
          <p14:tracePt t="36579" x="8532813" y="3724275"/>
          <p14:tracePt t="36597" x="8539163" y="3724275"/>
          <p14:tracePt t="36613" x="8545513" y="3724275"/>
          <p14:tracePt t="36629" x="8545513" y="3730625"/>
          <p14:tracePt t="36646" x="8551863" y="3730625"/>
          <p14:tracePt t="36683" x="8558213" y="3730625"/>
          <p14:tracePt t="37053" x="8564563" y="3730625"/>
          <p14:tracePt t="37066" x="8570913" y="3730625"/>
          <p14:tracePt t="37076" x="8591550" y="3730625"/>
          <p14:tracePt t="37088" x="8616950" y="3724275"/>
          <p14:tracePt t="37101" x="8655050" y="3717925"/>
          <p14:tracePt t="37113" x="8688388" y="3717925"/>
          <p14:tracePt t="37129" x="8732838" y="3705225"/>
          <p14:tracePt t="37146" x="8772525" y="3698875"/>
          <p14:tracePt t="37162" x="8818563" y="3698875"/>
          <p14:tracePt t="37179" x="8837613" y="3698875"/>
          <p14:tracePt t="37196" x="8863013" y="3692525"/>
          <p14:tracePt t="37212" x="8875713" y="3692525"/>
          <p14:tracePt t="37229" x="8890000" y="3692525"/>
          <p14:tracePt t="37245" x="8902700" y="3692525"/>
          <p14:tracePt t="37262" x="8909050" y="3692525"/>
          <p14:tracePt t="37280" x="8915400" y="3692525"/>
          <p14:tracePt t="37926" x="8934450" y="3692525"/>
          <p14:tracePt t="37939" x="8980488" y="3684588"/>
          <p14:tracePt t="37952" x="9051925" y="3671888"/>
          <p14:tracePt t="37963" x="9142413" y="3671888"/>
          <p14:tracePt t="37978" x="9266238" y="3665538"/>
          <p14:tracePt t="37995" x="9409113" y="3665538"/>
          <p14:tracePt t="38011" x="9636125" y="3665538"/>
          <p14:tracePt t="38028" x="9745663" y="3665538"/>
          <p14:tracePt t="38046" x="9817100" y="3665538"/>
          <p14:tracePt t="38048" x="9875838" y="3665538"/>
          <p14:tracePt t="38062" x="9901238" y="3665538"/>
          <p14:tracePt t="38078" x="9920288" y="3665538"/>
          <p14:tracePt t="38095" x="9940925" y="3665538"/>
          <p14:tracePt t="38154" x="9934575" y="3665538"/>
          <p14:tracePt t="38167" x="9920288" y="3671888"/>
          <p14:tracePt t="38178" x="9907588" y="3671888"/>
          <p14:tracePt t="38190" x="9894888" y="3678238"/>
          <p14:tracePt t="38202" x="9882188" y="3678238"/>
          <p14:tracePt t="38215" x="9869488" y="3678238"/>
          <p14:tracePt t="38228" x="9856788" y="3678238"/>
          <p14:tracePt t="38245" x="9842500" y="3684588"/>
          <p14:tracePt t="38262" x="9810750" y="3684588"/>
          <p14:tracePt t="38278" x="9791700" y="3684588"/>
          <p14:tracePt t="38294" x="9779000" y="3692525"/>
          <p14:tracePt t="38311" x="9745663" y="3692525"/>
          <p14:tracePt t="38328" x="9739313" y="3698875"/>
          <p14:tracePt t="38345" x="9726613" y="3698875"/>
          <p14:tracePt t="38347" x="9713913" y="3698875"/>
          <p14:tracePt t="38370" x="9707563" y="3705225"/>
          <p14:tracePt t="38383" x="9699625" y="3705225"/>
          <p14:tracePt t="38394" x="9693275" y="3705225"/>
          <p14:tracePt t="38489" x="9699625" y="3705225"/>
          <p14:tracePt t="38561" x="9707563" y="3705225"/>
          <p14:tracePt t="38573" x="9707563" y="3698875"/>
          <p14:tracePt t="38585" x="9713913" y="3698875"/>
          <p14:tracePt t="38609" x="9720263" y="3698875"/>
          <p14:tracePt t="38621" x="9726613" y="3698875"/>
          <p14:tracePt t="38657" x="9732963" y="3698875"/>
          <p14:tracePt t="38717" x="9739313" y="3698875"/>
          <p14:tracePt t="38765" x="9745663" y="3698875"/>
          <p14:tracePt t="38801" x="9752013" y="3698875"/>
          <p14:tracePt t="38873" x="9752013" y="3692525"/>
          <p14:tracePt t="38944" x="9758363" y="3692525"/>
          <p14:tracePt t="39004" x="9764713" y="3692525"/>
          <p14:tracePt t="39041" x="9771063" y="3692525"/>
          <p14:tracePt t="39089" x="9771063" y="3684588"/>
          <p14:tracePt t="39784" x="9764713" y="3678238"/>
          <p14:tracePt t="39798" x="9713913" y="3659188"/>
          <p14:tracePt t="39807" x="9642475" y="3621088"/>
          <p14:tracePt t="39819" x="9537700" y="3581400"/>
          <p14:tracePt t="39833" x="9409113" y="3549650"/>
          <p14:tracePt t="39844" x="9266238" y="3516313"/>
          <p14:tracePt t="39860" x="9110663" y="3503613"/>
          <p14:tracePt t="39877" x="8940800" y="3497263"/>
          <p14:tracePt t="39893" x="8570913" y="3509963"/>
          <p14:tracePt t="39910" x="8402638" y="3556000"/>
          <p14:tracePt t="39927" x="8150225" y="3646488"/>
          <p14:tracePt t="39943" x="8064500" y="3671888"/>
          <p14:tracePt t="39960" x="7994650" y="3692525"/>
          <p14:tracePt t="39976" x="7915275" y="3724275"/>
          <p14:tracePt t="39993" x="7883525" y="3743325"/>
          <p14:tracePt t="40010" x="7851775" y="3762375"/>
          <p14:tracePt t="40012" x="7837488" y="3776663"/>
          <p14:tracePt t="40027" x="7824788" y="3783013"/>
          <p14:tracePt t="40043" x="7812088" y="3795713"/>
          <p14:tracePt t="40060" x="7793038" y="3814763"/>
          <p14:tracePt t="40077" x="7786688" y="3814763"/>
          <p14:tracePt t="40093" x="7780338" y="3827463"/>
          <p14:tracePt t="40096" x="7773988" y="3833813"/>
          <p14:tracePt t="40110" x="7759700" y="3854450"/>
          <p14:tracePt t="40126" x="7747000" y="3860800"/>
          <p14:tracePt t="40143" x="7721600" y="3879850"/>
          <p14:tracePt t="40160" x="7708900" y="3892550"/>
          <p14:tracePt t="40176" x="7696200" y="3892550"/>
          <p14:tracePt t="40193" x="7669213" y="3905250"/>
          <p14:tracePt t="40210" x="7656513" y="3911600"/>
          <p14:tracePt t="40227" x="7637463" y="3919538"/>
          <p14:tracePt t="40243" x="7631113" y="3925888"/>
          <p14:tracePt t="40260" x="7624763" y="3932238"/>
          <p14:tracePt t="40276" x="7616825" y="3938588"/>
          <p14:tracePt t="40299" x="7616825" y="3944938"/>
          <p14:tracePt t="40610" x="7616825" y="3938588"/>
          <p14:tracePt t="40659" x="7624763" y="3938588"/>
          <p14:tracePt t="40694" x="7631113" y="3938588"/>
          <p14:tracePt t="40706" x="7631113" y="3932238"/>
          <p14:tracePt t="40814" x="7637463" y="3932238"/>
          <p14:tracePt t="40826" x="7637463" y="3925888"/>
          <p14:tracePt t="40850" x="7643813" y="3925888"/>
          <p14:tracePt t="40886" x="7650163" y="3919538"/>
          <p14:tracePt t="40946" x="7650163" y="3911600"/>
          <p14:tracePt t="40958" x="7656513" y="3911600"/>
          <p14:tracePt t="40982" x="7656513" y="3905250"/>
          <p14:tracePt t="41006" x="7662863" y="3905250"/>
          <p14:tracePt t="41017" x="7669213" y="3905250"/>
          <p14:tracePt t="41042" x="7675563" y="3905250"/>
          <p14:tracePt t="41043" x="7681913" y="3905250"/>
          <p14:tracePt t="41054" x="7688263" y="3898900"/>
          <p14:tracePt t="41066" x="7696200" y="3898900"/>
          <p14:tracePt t="41079" x="7715250" y="3892550"/>
          <p14:tracePt t="41093" x="7734300" y="3892550"/>
          <p14:tracePt t="41109" x="7766050" y="3886200"/>
          <p14:tracePt t="41126" x="7883525" y="3886200"/>
          <p14:tracePt t="41143" x="7948613" y="3886200"/>
          <p14:tracePt t="41159" x="8020050" y="3886200"/>
          <p14:tracePt t="41176" x="8104188" y="3886200"/>
          <p14:tracePt t="41192" x="8129588" y="3886200"/>
          <p14:tracePt t="41209" x="8175625" y="3886200"/>
          <p14:tracePt t="41226" x="8181975" y="3886200"/>
          <p14:tracePt t="41242" x="8188325" y="3886200"/>
          <p14:tracePt t="41259" x="8201025" y="3886200"/>
          <p14:tracePt t="41293" x="8207375" y="3886200"/>
          <p14:tracePt t="41341" x="8213725" y="3886200"/>
          <p14:tracePt t="41365" x="8221663" y="3886200"/>
          <p14:tracePt t="41389" x="8228013" y="3886200"/>
          <p14:tracePt t="41401" x="8234363" y="3886200"/>
          <p14:tracePt t="41414" x="8240713" y="3886200"/>
          <p14:tracePt t="41425" x="8247063" y="3886200"/>
          <p14:tracePt t="41437" x="8253413" y="3886200"/>
          <p14:tracePt t="41449" x="8259763" y="3892550"/>
          <p14:tracePt t="41463" x="8266113" y="3892550"/>
          <p14:tracePt t="41475" x="8285163" y="3892550"/>
          <p14:tracePt t="41492" x="8299450" y="3898900"/>
          <p14:tracePt t="41509" x="8337550" y="3905250"/>
          <p14:tracePt t="41525" x="8356600" y="3905250"/>
          <p14:tracePt t="41542" x="8370888" y="3911600"/>
          <p14:tracePt t="41558" x="8396288" y="3911600"/>
          <p14:tracePt t="41576" x="8408988" y="3911600"/>
          <p14:tracePt t="41593" x="8428038" y="3919538"/>
          <p14:tracePt t="41609" x="8434388" y="3919538"/>
          <p14:tracePt t="41626" x="8448675" y="3919538"/>
          <p14:tracePt t="41642" x="8467725" y="3919538"/>
          <p14:tracePt t="41659" x="8486775" y="3919538"/>
          <p14:tracePt t="41676" x="8499475" y="3919538"/>
          <p14:tracePt t="41678" x="8539163" y="3919538"/>
          <p14:tracePt t="41692" x="8564563" y="3919538"/>
          <p14:tracePt t="41709" x="8616950" y="3925888"/>
          <p14:tracePt t="41725" x="8726488" y="3925888"/>
          <p14:tracePt t="41742" x="8804275" y="3925888"/>
          <p14:tracePt t="41759" x="8869363" y="3919538"/>
          <p14:tracePt t="41762" x="8928100" y="3919538"/>
          <p14:tracePt t="41775" x="8993188" y="3905250"/>
          <p14:tracePt t="41792" x="9039225" y="3898900"/>
          <p14:tracePt t="41808" x="9117013" y="3892550"/>
          <p14:tracePt t="41825" x="9148763" y="3892550"/>
          <p14:tracePt t="41842" x="9174163" y="3892550"/>
          <p14:tracePt t="41845" x="9194800" y="3892550"/>
          <p14:tracePt t="41858" x="9226550" y="3892550"/>
          <p14:tracePt t="41875" x="9245600" y="3892550"/>
          <p14:tracePt t="41892" x="9272588" y="3892550"/>
          <p14:tracePt t="41908" x="9285288" y="3892550"/>
          <p14:tracePt t="41925" x="9297988" y="3892550"/>
          <p14:tracePt t="41942" x="9317038" y="3892550"/>
          <p14:tracePt t="41958" x="9323388" y="3892550"/>
          <p14:tracePt t="41976" x="9331325" y="3892550"/>
          <p14:tracePt t="41991" x="9337675" y="3892550"/>
          <p14:tracePt t="42013" x="9344025" y="3892550"/>
          <p14:tracePt t="42036" x="9350375" y="3892550"/>
          <p14:tracePt t="42061" x="9356725" y="3892550"/>
          <p14:tracePt t="42084" x="9363075" y="3892550"/>
          <p14:tracePt t="42097" x="9369425" y="3892550"/>
          <p14:tracePt t="42108" x="9369425" y="3898900"/>
          <p14:tracePt t="42120" x="9375775" y="3898900"/>
          <p14:tracePt t="42132" x="9382125" y="3905250"/>
          <p14:tracePt t="42146" x="9388475" y="3905250"/>
          <p14:tracePt t="42158" x="9394825" y="3905250"/>
          <p14:tracePt t="42175" x="9401175" y="3905250"/>
          <p14:tracePt t="42192" x="9415463" y="3905250"/>
          <p14:tracePt t="42208" x="9421813" y="3905250"/>
          <p14:tracePt t="42225" x="9428163" y="3905250"/>
          <p14:tracePt t="42241" x="9434513" y="3905250"/>
          <p14:tracePt t="42265" x="9440863" y="3905250"/>
          <p14:tracePt t="42276" x="9447213" y="3905250"/>
          <p14:tracePt t="42313" x="9453563" y="3905250"/>
          <p14:tracePt t="42348" x="9459913" y="3905250"/>
          <p14:tracePt t="42384" x="9466263" y="3905250"/>
          <p14:tracePt t="42408" x="9466263" y="3911600"/>
          <p14:tracePt t="42479" x="9466263" y="3919538"/>
          <p14:tracePt t="42516" x="9472613" y="3919538"/>
          <p14:tracePt t="43126" x="9472613" y="3925888"/>
          <p14:tracePt t="43174" x="9472613" y="3932238"/>
          <p14:tracePt t="43234" x="9472613" y="3938588"/>
          <p14:tracePt t="44096" x="9453563" y="3938588"/>
          <p14:tracePt t="44110" x="9440863" y="3938588"/>
          <p14:tracePt t="44120" x="9401175" y="3938588"/>
          <p14:tracePt t="44133" x="9350375" y="3944938"/>
          <p14:tracePt t="44146" x="9259888" y="3944938"/>
          <p14:tracePt t="44157" x="9102725" y="3970338"/>
          <p14:tracePt t="44173" x="8875713" y="3990975"/>
          <p14:tracePt t="44190" x="8616950" y="4029075"/>
          <p14:tracePt t="44207" x="8135938" y="4113213"/>
          <p14:tracePt t="44223" x="7967663" y="4152900"/>
          <p14:tracePt t="44240" x="7786688" y="4184650"/>
          <p14:tracePt t="44256" x="7734300" y="4197350"/>
          <p14:tracePt t="44273" x="7702550" y="4203700"/>
          <p14:tracePt t="44290" x="7662863" y="4217988"/>
          <p14:tracePt t="44306" x="7656513" y="4217988"/>
          <p14:tracePt t="44324" x="7656513" y="4230688"/>
          <p14:tracePt t="44384" x="7662863" y="4224338"/>
          <p14:tracePt t="44396" x="7669213" y="4224338"/>
          <p14:tracePt t="44409" x="7675563" y="4224338"/>
          <p14:tracePt t="44444" x="7681913" y="4224338"/>
          <p14:tracePt t="44468" x="7688263" y="4224338"/>
          <p14:tracePt t="44480" x="7702550" y="4217988"/>
          <p14:tracePt t="44494" x="7708900" y="4217988"/>
          <p14:tracePt t="44504" x="7721600" y="4210050"/>
          <p14:tracePt t="44516" x="7734300" y="4210050"/>
          <p14:tracePt t="44529" x="7747000" y="4203700"/>
          <p14:tracePt t="44540" x="7759700" y="4203700"/>
          <p14:tracePt t="44556" x="7773988" y="4203700"/>
          <p14:tracePt t="44573" x="7786688" y="4203700"/>
          <p14:tracePt t="44590" x="7818438" y="4203700"/>
          <p14:tracePt t="44606" x="7824788" y="4203700"/>
          <p14:tracePt t="44624" x="7837488" y="4197350"/>
          <p14:tracePt t="44639" x="7845425" y="4197350"/>
          <p14:tracePt t="44662" x="7851775" y="4197350"/>
          <p14:tracePt t="44696" x="7858125" y="4197350"/>
          <p14:tracePt t="44983" x="7883525" y="4197350"/>
          <p14:tracePt t="44995" x="7929563" y="4197350"/>
          <p14:tracePt t="45007" x="7980363" y="4197350"/>
          <p14:tracePt t="45019" x="8026400" y="4191000"/>
          <p14:tracePt t="45031" x="8085138" y="4191000"/>
          <p14:tracePt t="45044" x="8143875" y="4191000"/>
          <p14:tracePt t="45056" x="8181975" y="4191000"/>
          <p14:tracePt t="45072" x="8221663" y="4191000"/>
          <p14:tracePt t="45090" x="8259763" y="4197350"/>
          <p14:tracePt t="45093" x="8293100" y="4197350"/>
          <p14:tracePt t="45106" x="8312150" y="4197350"/>
          <p14:tracePt t="45123" x="8318500" y="4197350"/>
          <p14:tracePt t="45139" x="8337550" y="4203700"/>
          <p14:tracePt t="45163" x="8343900" y="4210050"/>
          <p14:tracePt t="45186" x="8343900" y="4217988"/>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FEATURES</a:t>
            </a:r>
          </a:p>
        </p:txBody>
      </p:sp>
      <p:sp>
        <p:nvSpPr>
          <p:cNvPr id="4" name="TextBox 3"/>
          <p:cNvSpPr txBox="1"/>
          <p:nvPr/>
        </p:nvSpPr>
        <p:spPr>
          <a:xfrm>
            <a:off x="749808" y="749808"/>
            <a:ext cx="6176246" cy="1005840"/>
          </a:xfrm>
          <a:prstGeom prst="rect">
            <a:avLst/>
          </a:prstGeom>
          <a:noFill/>
        </p:spPr>
        <p:txBody>
          <a:bodyPr wrap="square" lIns="0" tIns="0" rIns="0" bIns="0" anchor="t">
            <a:noAutofit/>
          </a:bodyPr>
          <a:lstStyle/>
          <a:p>
            <a:pPr algn="l">
              <a:lnSpc>
                <a:spcPct val="114000"/>
              </a:lnSpc>
            </a:pPr>
            <a:r>
              <a:rPr sz="2800" b="0" spc="-15">
                <a:solidFill>
                  <a:srgbClr val="16130F"/>
                </a:solidFill>
                <a:latin typeface="Georgia"/>
              </a:rPr>
              <a:t>Only what a forecaster could
actually know on 30 April.</a:t>
            </a:r>
          </a:p>
        </p:txBody>
      </p:sp>
      <p:sp>
        <p:nvSpPr>
          <p:cNvPr id="5" name="TextBox 4"/>
          <p:cNvSpPr txBox="1"/>
          <p:nvPr/>
        </p:nvSpPr>
        <p:spPr>
          <a:xfrm>
            <a:off x="749808" y="2066543"/>
            <a:ext cx="5273024" cy="822960"/>
          </a:xfrm>
          <a:prstGeom prst="rect">
            <a:avLst/>
          </a:prstGeom>
          <a:noFill/>
        </p:spPr>
        <p:txBody>
          <a:bodyPr wrap="square" lIns="0" tIns="0" rIns="0" bIns="0" anchor="t">
            <a:noAutofit/>
          </a:bodyPr>
          <a:lstStyle/>
          <a:p>
            <a:pPr algn="l">
              <a:lnSpc>
                <a:spcPct val="148000"/>
              </a:lnSpc>
            </a:pPr>
            <a:r>
              <a:rPr sz="1250" b="0" dirty="0">
                <a:solidFill>
                  <a:srgbClr val="787066"/>
                </a:solidFill>
                <a:latin typeface="Franklin Gothic Book"/>
              </a:rPr>
              <a:t>The forecast has to be useful before the fire season starts, so every one of the 50 features is built from information available by the end of April in the year being predicted — and nothing later.</a:t>
            </a:r>
          </a:p>
        </p:txBody>
      </p:sp>
      <p:cxnSp>
        <p:nvCxnSpPr>
          <p:cNvPr id="6" name="Connector 5"/>
          <p:cNvCxnSpPr/>
          <p:nvPr/>
        </p:nvCxnSpPr>
        <p:spPr>
          <a:xfrm>
            <a:off x="7902427" y="804672"/>
            <a:ext cx="0" cy="173736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034954" y="841248"/>
            <a:ext cx="3466581" cy="658368"/>
          </a:xfrm>
          <a:prstGeom prst="rect">
            <a:avLst/>
          </a:prstGeom>
          <a:noFill/>
        </p:spPr>
        <p:txBody>
          <a:bodyPr wrap="square" lIns="0" tIns="0" rIns="0" bIns="0" anchor="t">
            <a:noAutofit/>
          </a:bodyPr>
          <a:lstStyle/>
          <a:p>
            <a:pPr algn="l">
              <a:lnSpc>
                <a:spcPct val="100000"/>
              </a:lnSpc>
            </a:pPr>
            <a:r>
              <a:rPr sz="3800" b="0" spc="-40" dirty="0">
                <a:solidFill>
                  <a:srgbClr val="C8341B"/>
                </a:solidFill>
                <a:latin typeface="Georgia"/>
              </a:rPr>
              <a:t>30 April</a:t>
            </a:r>
          </a:p>
        </p:txBody>
      </p:sp>
      <p:sp>
        <p:nvSpPr>
          <p:cNvPr id="8" name="TextBox 7"/>
          <p:cNvSpPr txBox="1"/>
          <p:nvPr/>
        </p:nvSpPr>
        <p:spPr>
          <a:xfrm>
            <a:off x="8034954" y="1430020"/>
            <a:ext cx="3466581" cy="548640"/>
          </a:xfrm>
          <a:prstGeom prst="rect">
            <a:avLst/>
          </a:prstGeom>
          <a:noFill/>
        </p:spPr>
        <p:txBody>
          <a:bodyPr wrap="square" lIns="0" tIns="0" rIns="0" bIns="0" anchor="t">
            <a:noAutofit/>
          </a:bodyPr>
          <a:lstStyle/>
          <a:p>
            <a:pPr algn="l">
              <a:lnSpc>
                <a:spcPct val="128000"/>
              </a:lnSpc>
            </a:pPr>
            <a:r>
              <a:rPr sz="1000" b="0" spc="20">
                <a:solidFill>
                  <a:srgbClr val="787066"/>
                </a:solidFill>
                <a:latin typeface="Franklin Gothic Medium"/>
              </a:rPr>
              <a:t>the cut-off, every feature, every year</a:t>
            </a:r>
          </a:p>
        </p:txBody>
      </p:sp>
      <p:cxnSp>
        <p:nvCxnSpPr>
          <p:cNvPr id="9" name="Connector 8"/>
          <p:cNvCxnSpPr/>
          <p:nvPr/>
        </p:nvCxnSpPr>
        <p:spPr>
          <a:xfrm>
            <a:off x="749808" y="3090672"/>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49808" y="3090672"/>
            <a:ext cx="1554480" cy="21945"/>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3291840"/>
            <a:ext cx="2194560" cy="274320"/>
          </a:xfrm>
          <a:prstGeom prst="rect">
            <a:avLst/>
          </a:prstGeom>
          <a:noFill/>
        </p:spPr>
        <p:txBody>
          <a:bodyPr wrap="square" lIns="0" tIns="0" rIns="0" bIns="0" anchor="t">
            <a:noAutofit/>
          </a:bodyPr>
          <a:lstStyle/>
          <a:p>
            <a:pPr algn="l">
              <a:lnSpc>
                <a:spcPct val="100000"/>
              </a:lnSpc>
            </a:pPr>
            <a:r>
              <a:rPr sz="1500" b="0">
                <a:solidFill>
                  <a:srgbClr val="16130F"/>
                </a:solidFill>
                <a:latin typeface="Georgia"/>
              </a:rPr>
              <a:t>Fire history</a:t>
            </a:r>
          </a:p>
        </p:txBody>
      </p:sp>
      <p:sp>
        <p:nvSpPr>
          <p:cNvPr id="12" name="TextBox 11"/>
          <p:cNvSpPr txBox="1"/>
          <p:nvPr/>
        </p:nvSpPr>
        <p:spPr>
          <a:xfrm>
            <a:off x="749808" y="3602736"/>
            <a:ext cx="2194560" cy="219456"/>
          </a:xfrm>
          <a:prstGeom prst="rect">
            <a:avLst/>
          </a:prstGeom>
          <a:noFill/>
        </p:spPr>
        <p:txBody>
          <a:bodyPr wrap="square" lIns="0" tIns="0" rIns="0" bIns="0" anchor="t">
            <a:noAutofit/>
          </a:bodyPr>
          <a:lstStyle/>
          <a:p>
            <a:pPr algn="l">
              <a:lnSpc>
                <a:spcPct val="100000"/>
              </a:lnSpc>
            </a:pPr>
            <a:r>
              <a:rPr sz="950" b="0" dirty="0">
                <a:solidFill>
                  <a:srgbClr val="C8341B"/>
                </a:solidFill>
                <a:latin typeface="Franklin Gothic Medium"/>
              </a:rPr>
              <a:t>26 features</a:t>
            </a:r>
          </a:p>
        </p:txBody>
      </p:sp>
      <p:sp>
        <p:nvSpPr>
          <p:cNvPr id="13" name="TextBox 12"/>
          <p:cNvSpPr txBox="1"/>
          <p:nvPr/>
        </p:nvSpPr>
        <p:spPr>
          <a:xfrm>
            <a:off x="3459472" y="3291840"/>
            <a:ext cx="7982689" cy="566928"/>
          </a:xfrm>
          <a:prstGeom prst="rect">
            <a:avLst/>
          </a:prstGeom>
          <a:noFill/>
        </p:spPr>
        <p:txBody>
          <a:bodyPr wrap="square" lIns="0" tIns="0" rIns="0" bIns="0" anchor="t">
            <a:noAutofit/>
          </a:bodyPr>
          <a:lstStyle/>
          <a:p>
            <a:pPr algn="l">
              <a:lnSpc>
                <a:spcPct val="144000"/>
              </a:lnSpc>
            </a:pPr>
            <a:r>
              <a:rPr sz="1150" b="0">
                <a:solidFill>
                  <a:srgbClr val="3A342E"/>
                </a:solidFill>
                <a:latin typeface="Franklin Gothic Book"/>
              </a:rPr>
              <a:t>Years since the last fire and the last late fire, how often it burnt over 3, 5, 10, 15, 20 and 25 years, what it did last year, and what its neighbours did.</a:t>
            </a:r>
          </a:p>
        </p:txBody>
      </p:sp>
      <p:cxnSp>
        <p:nvCxnSpPr>
          <p:cNvPr id="14" name="Connector 13"/>
          <p:cNvCxnSpPr/>
          <p:nvPr/>
        </p:nvCxnSpPr>
        <p:spPr>
          <a:xfrm>
            <a:off x="749808" y="3895344"/>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49808" y="3895344"/>
            <a:ext cx="1554480" cy="21945"/>
          </a:xfrm>
          <a:prstGeom prst="rect">
            <a:avLst/>
          </a:prstGeom>
          <a:solidFill>
            <a:srgbClr val="2E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4096511"/>
            <a:ext cx="2194560" cy="274320"/>
          </a:xfrm>
          <a:prstGeom prst="rect">
            <a:avLst/>
          </a:prstGeom>
          <a:noFill/>
        </p:spPr>
        <p:txBody>
          <a:bodyPr wrap="square" lIns="0" tIns="0" rIns="0" bIns="0" anchor="t">
            <a:noAutofit/>
          </a:bodyPr>
          <a:lstStyle/>
          <a:p>
            <a:pPr algn="l">
              <a:lnSpc>
                <a:spcPct val="100000"/>
              </a:lnSpc>
            </a:pPr>
            <a:r>
              <a:rPr sz="1500" b="0">
                <a:solidFill>
                  <a:srgbClr val="16130F"/>
                </a:solidFill>
                <a:latin typeface="Georgia"/>
              </a:rPr>
              <a:t>Weather</a:t>
            </a:r>
          </a:p>
        </p:txBody>
      </p:sp>
      <p:sp>
        <p:nvSpPr>
          <p:cNvPr id="17" name="TextBox 16"/>
          <p:cNvSpPr txBox="1"/>
          <p:nvPr/>
        </p:nvSpPr>
        <p:spPr>
          <a:xfrm>
            <a:off x="749808" y="4407408"/>
            <a:ext cx="2194560" cy="219456"/>
          </a:xfrm>
          <a:prstGeom prst="rect">
            <a:avLst/>
          </a:prstGeom>
          <a:noFill/>
        </p:spPr>
        <p:txBody>
          <a:bodyPr wrap="square" lIns="0" tIns="0" rIns="0" bIns="0" anchor="t">
            <a:noAutofit/>
          </a:bodyPr>
          <a:lstStyle/>
          <a:p>
            <a:pPr algn="l">
              <a:lnSpc>
                <a:spcPct val="100000"/>
              </a:lnSpc>
            </a:pPr>
            <a:r>
              <a:rPr sz="950" b="0">
                <a:solidFill>
                  <a:srgbClr val="2E6E96"/>
                </a:solidFill>
                <a:latin typeface="Franklin Gothic Medium"/>
              </a:rPr>
              <a:t>14 features</a:t>
            </a:r>
          </a:p>
        </p:txBody>
      </p:sp>
      <p:sp>
        <p:nvSpPr>
          <p:cNvPr id="18" name="TextBox 17"/>
          <p:cNvSpPr txBox="1"/>
          <p:nvPr/>
        </p:nvSpPr>
        <p:spPr>
          <a:xfrm>
            <a:off x="3459472" y="4096511"/>
            <a:ext cx="7982689" cy="566928"/>
          </a:xfrm>
          <a:prstGeom prst="rect">
            <a:avLst/>
          </a:prstGeom>
          <a:noFill/>
        </p:spPr>
        <p:txBody>
          <a:bodyPr wrap="square" lIns="0" tIns="0" rIns="0" bIns="0" anchor="t">
            <a:noAutofit/>
          </a:bodyPr>
          <a:lstStyle/>
          <a:p>
            <a:pPr algn="l">
              <a:lnSpc>
                <a:spcPct val="144000"/>
              </a:lnSpc>
            </a:pPr>
            <a:r>
              <a:rPr sz="1150" b="0">
                <a:solidFill>
                  <a:srgbClr val="3A342E"/>
                </a:solidFill>
                <a:latin typeface="Franklin Gothic Book"/>
              </a:rPr>
              <a:t>Wet-season rainfall, heat, humidity deficit and sunlight, plus the dry season before it, and how far the wet sat from its own local normal.</a:t>
            </a:r>
          </a:p>
        </p:txBody>
      </p:sp>
      <p:cxnSp>
        <p:nvCxnSpPr>
          <p:cNvPr id="19" name="Connector 18"/>
          <p:cNvCxnSpPr/>
          <p:nvPr/>
        </p:nvCxnSpPr>
        <p:spPr>
          <a:xfrm>
            <a:off x="749808" y="470001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49808" y="4700016"/>
            <a:ext cx="1554480" cy="21945"/>
          </a:xfrm>
          <a:prstGeom prst="rect">
            <a:avLst/>
          </a:prstGeom>
          <a:solidFill>
            <a:srgbClr val="1E7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4901183"/>
            <a:ext cx="2194560" cy="274320"/>
          </a:xfrm>
          <a:prstGeom prst="rect">
            <a:avLst/>
          </a:prstGeom>
          <a:noFill/>
        </p:spPr>
        <p:txBody>
          <a:bodyPr wrap="square" lIns="0" tIns="0" rIns="0" bIns="0" anchor="t">
            <a:noAutofit/>
          </a:bodyPr>
          <a:lstStyle/>
          <a:p>
            <a:pPr algn="l">
              <a:lnSpc>
                <a:spcPct val="100000"/>
              </a:lnSpc>
            </a:pPr>
            <a:r>
              <a:rPr sz="1500" b="0">
                <a:solidFill>
                  <a:srgbClr val="16130F"/>
                </a:solidFill>
                <a:latin typeface="Georgia"/>
              </a:rPr>
              <a:t>Greenness</a:t>
            </a:r>
          </a:p>
        </p:txBody>
      </p:sp>
      <p:sp>
        <p:nvSpPr>
          <p:cNvPr id="22" name="TextBox 21"/>
          <p:cNvSpPr txBox="1"/>
          <p:nvPr/>
        </p:nvSpPr>
        <p:spPr>
          <a:xfrm>
            <a:off x="749808" y="5212079"/>
            <a:ext cx="2194560" cy="219456"/>
          </a:xfrm>
          <a:prstGeom prst="rect">
            <a:avLst/>
          </a:prstGeom>
          <a:noFill/>
        </p:spPr>
        <p:txBody>
          <a:bodyPr wrap="square" lIns="0" tIns="0" rIns="0" bIns="0" anchor="t">
            <a:noAutofit/>
          </a:bodyPr>
          <a:lstStyle/>
          <a:p>
            <a:pPr algn="l">
              <a:lnSpc>
                <a:spcPct val="100000"/>
              </a:lnSpc>
            </a:pPr>
            <a:r>
              <a:rPr sz="950" b="0">
                <a:solidFill>
                  <a:srgbClr val="1E7A50"/>
                </a:solidFill>
                <a:latin typeface="Franklin Gothic Medium"/>
              </a:rPr>
              <a:t>7 features</a:t>
            </a:r>
          </a:p>
        </p:txBody>
      </p:sp>
      <p:sp>
        <p:nvSpPr>
          <p:cNvPr id="23" name="TextBox 22"/>
          <p:cNvSpPr txBox="1"/>
          <p:nvPr/>
        </p:nvSpPr>
        <p:spPr>
          <a:xfrm>
            <a:off x="3459472" y="4901183"/>
            <a:ext cx="7982689" cy="566928"/>
          </a:xfrm>
          <a:prstGeom prst="rect">
            <a:avLst/>
          </a:prstGeom>
          <a:noFill/>
        </p:spPr>
        <p:txBody>
          <a:bodyPr wrap="square" lIns="0" tIns="0" rIns="0" bIns="0" anchor="t">
            <a:noAutofit/>
          </a:bodyPr>
          <a:lstStyle/>
          <a:p>
            <a:pPr algn="l">
              <a:lnSpc>
                <a:spcPct val="144000"/>
              </a:lnSpc>
            </a:pPr>
            <a:r>
              <a:rPr sz="1150" b="0">
                <a:solidFill>
                  <a:srgbClr val="3A342E"/>
                </a:solidFill>
                <a:latin typeface="Franklin Gothic Book"/>
              </a:rPr>
              <a:t>How green the country got over the wet, where it peaked, how fast it greened up, and how far April sat above or below normal.</a:t>
            </a:r>
          </a:p>
        </p:txBody>
      </p:sp>
      <p:cxnSp>
        <p:nvCxnSpPr>
          <p:cNvPr id="24" name="Connector 23"/>
          <p:cNvCxnSpPr/>
          <p:nvPr/>
        </p:nvCxnSpPr>
        <p:spPr>
          <a:xfrm>
            <a:off x="749808" y="5504688"/>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49808" y="5504688"/>
            <a:ext cx="1554480" cy="21945"/>
          </a:xfrm>
          <a:prstGeom prst="rect">
            <a:avLst/>
          </a:prstGeom>
          <a:solidFill>
            <a:srgbClr val="6E7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 y="5705855"/>
            <a:ext cx="2194560" cy="274320"/>
          </a:xfrm>
          <a:prstGeom prst="rect">
            <a:avLst/>
          </a:prstGeom>
          <a:noFill/>
        </p:spPr>
        <p:txBody>
          <a:bodyPr wrap="square" lIns="0" tIns="0" rIns="0" bIns="0" anchor="t">
            <a:noAutofit/>
          </a:bodyPr>
          <a:lstStyle/>
          <a:p>
            <a:pPr algn="l">
              <a:lnSpc>
                <a:spcPct val="100000"/>
              </a:lnSpc>
            </a:pPr>
            <a:r>
              <a:rPr sz="1500" b="0">
                <a:solidFill>
                  <a:srgbClr val="16130F"/>
                </a:solidFill>
                <a:latin typeface="Georgia"/>
              </a:rPr>
              <a:t>Place</a:t>
            </a:r>
          </a:p>
        </p:txBody>
      </p:sp>
      <p:sp>
        <p:nvSpPr>
          <p:cNvPr id="27" name="TextBox 26"/>
          <p:cNvSpPr txBox="1"/>
          <p:nvPr/>
        </p:nvSpPr>
        <p:spPr>
          <a:xfrm>
            <a:off x="749808" y="6016752"/>
            <a:ext cx="2194560" cy="219456"/>
          </a:xfrm>
          <a:prstGeom prst="rect">
            <a:avLst/>
          </a:prstGeom>
          <a:noFill/>
        </p:spPr>
        <p:txBody>
          <a:bodyPr wrap="square" lIns="0" tIns="0" rIns="0" bIns="0" anchor="t">
            <a:noAutofit/>
          </a:bodyPr>
          <a:lstStyle/>
          <a:p>
            <a:pPr algn="l">
              <a:lnSpc>
                <a:spcPct val="100000"/>
              </a:lnSpc>
            </a:pPr>
            <a:r>
              <a:rPr sz="950" b="0">
                <a:solidFill>
                  <a:srgbClr val="6E7C84"/>
                </a:solidFill>
                <a:latin typeface="Franklin Gothic Medium"/>
              </a:rPr>
              <a:t>3 features</a:t>
            </a:r>
          </a:p>
        </p:txBody>
      </p:sp>
      <p:sp>
        <p:nvSpPr>
          <p:cNvPr id="28" name="TextBox 27"/>
          <p:cNvSpPr txBox="1"/>
          <p:nvPr/>
        </p:nvSpPr>
        <p:spPr>
          <a:xfrm>
            <a:off x="3459472" y="5705855"/>
            <a:ext cx="7982689" cy="566928"/>
          </a:xfrm>
          <a:prstGeom prst="rect">
            <a:avLst/>
          </a:prstGeom>
          <a:noFill/>
        </p:spPr>
        <p:txBody>
          <a:bodyPr wrap="square" lIns="0" tIns="0" rIns="0" bIns="0" anchor="t">
            <a:noAutofit/>
          </a:bodyPr>
          <a:lstStyle/>
          <a:p>
            <a:pPr algn="l">
              <a:lnSpc>
                <a:spcPct val="144000"/>
              </a:lnSpc>
            </a:pPr>
            <a:r>
              <a:rPr sz="1150" b="0">
                <a:solidFill>
                  <a:srgbClr val="3A342E"/>
                </a:solidFill>
                <a:latin typeface="Franklin Gothic Book"/>
              </a:rPr>
              <a:t>Longitude, latitude and elevation, so the model can tell the Top End from the arid south without being handed the regions.</a:t>
            </a:r>
          </a:p>
        </p:txBody>
      </p:sp>
      <p:cxnSp>
        <p:nvCxnSpPr>
          <p:cNvPr id="29" name="Connector 28"/>
          <p:cNvCxnSpPr/>
          <p:nvPr/>
        </p:nvCxnSpPr>
        <p:spPr>
          <a:xfrm>
            <a:off x="749808" y="6309359"/>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49808" y="6345936"/>
            <a:ext cx="3564117"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8</a:t>
            </a:r>
          </a:p>
        </p:txBody>
      </p:sp>
      <p:sp>
        <p:nvSpPr>
          <p:cNvPr id="33" name="TextBox 32"/>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Saira Zafar</a:t>
            </a:r>
          </a:p>
        </p:txBody>
      </p:sp>
    </p:spTree>
    <p:extLst>
      <p:ext uri="{BB962C8B-B14F-4D97-AF65-F5344CB8AC3E}">
        <p14:creationId xmlns:p14="http://schemas.microsoft.com/office/powerpoint/2010/main" val="2606065590"/>
      </p:ext>
    </p:extLst>
  </p:cSld>
  <p:clrMapOvr>
    <a:masterClrMapping/>
  </p:clrMapOvr>
  <mc:AlternateContent xmlns:mc="http://schemas.openxmlformats.org/markup-compatibility/2006" xmlns:p14="http://schemas.microsoft.com/office/powerpoint/2010/main">
    <mc:Choice Requires="p14">
      <p:transition spd="slow" p14:dur="2000" advTm="42014"/>
    </mc:Choice>
    <mc:Fallback xmlns="">
      <p:transition spd="slow" advTm="42014"/>
    </mc:Fallback>
  </mc:AlternateContent>
  <p:extLst>
    <p:ext uri="{3A86A75C-4F4B-4683-9AE1-C65F6400EC91}">
      <p14:laserTraceLst xmlns:p14="http://schemas.microsoft.com/office/powerpoint/2010/main">
        <p14:tracePtLst>
          <p14:tracePt t="130" x="1595438" y="1881188"/>
          <p14:tracePt t="153" x="1589088" y="1887538"/>
          <p14:tracePt t="170" x="1563688" y="1887538"/>
          <p14:tracePt t="188" x="1525588" y="1887538"/>
          <p14:tracePt t="203" x="1479550" y="1887538"/>
          <p14:tracePt t="205" x="1395413" y="1881188"/>
          <p14:tracePt t="219" x="1284288" y="1862138"/>
          <p14:tracePt t="236" x="1162050" y="1849438"/>
          <p14:tracePt t="253" x="954088" y="1836738"/>
          <p14:tracePt t="270" x="901700" y="1836738"/>
          <p14:tracePt t="286" x="863600" y="1836738"/>
          <p14:tracePt t="289" x="836613" y="1836738"/>
          <p14:tracePt t="303" x="823913" y="1836738"/>
          <p14:tracePt t="320" x="823913" y="1843088"/>
          <p14:tracePt t="342" x="823913" y="1849438"/>
          <p14:tracePt t="385" x="830263" y="1843088"/>
          <p14:tracePt t="420" x="836613" y="1843088"/>
          <p14:tracePt t="457" x="842963" y="1836738"/>
          <p14:tracePt t="480" x="849313" y="1836738"/>
          <p14:tracePt t="505" x="857250" y="1836738"/>
          <p14:tracePt t="542" x="863600" y="1836738"/>
          <p14:tracePt t="589" x="863600" y="1830388"/>
          <p14:tracePt t="660" x="869950" y="1830388"/>
          <p14:tracePt t="684" x="869950" y="1822450"/>
          <p14:tracePt t="697" x="876300" y="1822450"/>
          <p14:tracePt t="768" x="882650" y="1822450"/>
          <p14:tracePt t="2266" x="889000" y="1822450"/>
          <p14:tracePt t="2290" x="901700" y="1830388"/>
          <p14:tracePt t="2301" x="920750" y="1862138"/>
          <p14:tracePt t="2313" x="960438" y="1893888"/>
          <p14:tracePt t="2325" x="1012825" y="1946275"/>
          <p14:tracePt t="2339" x="1076325" y="2017713"/>
          <p14:tracePt t="2351" x="1162050" y="2095500"/>
          <p14:tracePt t="2368" x="1258888" y="2179638"/>
          <p14:tracePt t="2385" x="1408113" y="2335213"/>
          <p14:tracePt t="2401" x="1454150" y="2368550"/>
          <p14:tracePt t="2418" x="1473200" y="2393950"/>
          <p14:tracePt t="2435" x="1492250" y="2413000"/>
          <p14:tracePt t="2451" x="1498600" y="2419350"/>
          <p14:tracePt t="2468" x="1504950" y="2427288"/>
          <p14:tracePt t="2529" x="1511300" y="2427288"/>
          <p14:tracePt t="2577" x="1517650" y="2427288"/>
          <p14:tracePt t="2589" x="1525588" y="2427288"/>
          <p14:tracePt t="2601" x="1531938" y="2427288"/>
          <p14:tracePt t="2612" x="1538288" y="2427288"/>
          <p14:tracePt t="2624" x="1544638" y="2427288"/>
          <p14:tracePt t="2638" x="1563688" y="2427288"/>
          <p14:tracePt t="2651" x="1576388" y="2427288"/>
          <p14:tracePt t="2668" x="1589088" y="2427288"/>
          <p14:tracePt t="2685" x="1641475" y="2427288"/>
          <p14:tracePt t="2701" x="1654175" y="2427288"/>
          <p14:tracePt t="2718" x="1666875" y="2427288"/>
          <p14:tracePt t="2720" x="1674813" y="2427288"/>
          <p14:tracePt t="2734" x="1687513" y="2427288"/>
          <p14:tracePt t="2985" x="1706563" y="2427288"/>
          <p14:tracePt t="2996" x="1790700" y="2433638"/>
          <p14:tracePt t="3008" x="1901825" y="2452688"/>
          <p14:tracePt t="3020" x="2057400" y="2452688"/>
          <p14:tracePt t="3034" x="2271713" y="2465388"/>
          <p14:tracePt t="3051" x="2478088" y="2465388"/>
          <p14:tracePt t="3068" x="2887663" y="2459038"/>
          <p14:tracePt t="3084" x="3055938" y="2459038"/>
          <p14:tracePt t="3101" x="3146425" y="2459038"/>
          <p14:tracePt t="3117" x="3263900" y="2452688"/>
          <p14:tracePt t="3134" x="3295650" y="2452688"/>
          <p14:tracePt t="3151" x="3354388" y="2446338"/>
          <p14:tracePt t="3167" x="3379788" y="2446338"/>
          <p14:tracePt t="3184" x="3432175" y="2446338"/>
          <p14:tracePt t="3201" x="3516313" y="2439988"/>
          <p14:tracePt t="3218" x="3568700" y="2439988"/>
          <p14:tracePt t="3234" x="3614738" y="2427288"/>
          <p14:tracePt t="3236" x="3665538" y="2427288"/>
          <p14:tracePt t="3251" x="3711575" y="2427288"/>
          <p14:tracePt t="3267" x="3749675" y="2427288"/>
          <p14:tracePt t="3284" x="3827463" y="2433638"/>
          <p14:tracePt t="3301" x="3873500" y="2439988"/>
          <p14:tracePt t="3317" x="3898900" y="2439988"/>
          <p14:tracePt t="3334" x="3925888" y="2439988"/>
          <p14:tracePt t="3350" x="3938588" y="2439988"/>
          <p14:tracePt t="3367" x="3944938" y="2439988"/>
          <p14:tracePt t="3583" x="3938588" y="2439988"/>
          <p14:tracePt t="4829" x="3957638" y="2439988"/>
          <p14:tracePt t="4842" x="4075113" y="2427288"/>
          <p14:tracePt t="4855" x="4256088" y="2419350"/>
          <p14:tracePt t="4866" x="4438650" y="2419350"/>
          <p14:tracePt t="4883" x="4625975" y="2419350"/>
          <p14:tracePt t="4899" x="4775200" y="2419350"/>
          <p14:tracePt t="4901" x="4873625" y="2419350"/>
          <p14:tracePt t="4916" x="4930775" y="2419350"/>
          <p14:tracePt t="4933" x="4957763" y="2419350"/>
          <p14:tracePt t="4949" x="4983163" y="2419350"/>
          <p14:tracePt t="4966" x="4989513" y="2419350"/>
          <p14:tracePt t="5021" x="4989513" y="2427288"/>
          <p14:tracePt t="5105" x="4989513" y="2433638"/>
          <p14:tracePt t="5189" x="4995863" y="2433638"/>
          <p14:tracePt t="5309" x="4989513" y="2433638"/>
          <p14:tracePt t="5321" x="4983163" y="2433638"/>
          <p14:tracePt t="5344" x="4976813" y="2433638"/>
          <p14:tracePt t="5357" x="4957763" y="2433638"/>
          <p14:tracePt t="5370" x="4937125" y="2433638"/>
          <p14:tracePt t="5381" x="4879975" y="2419350"/>
          <p14:tracePt t="5393" x="4762500" y="2400300"/>
          <p14:tracePt t="5405" x="4470400" y="2387600"/>
          <p14:tracePt t="5416" x="3944938" y="2387600"/>
          <p14:tracePt t="5432" x="3133725" y="2400300"/>
          <p14:tracePt t="5449" x="2284413" y="2459038"/>
          <p14:tracePt t="5465" x="1168400" y="2608263"/>
          <p14:tracePt t="5483" x="908050" y="2647950"/>
          <p14:tracePt t="5499" x="733425" y="2692400"/>
          <p14:tracePt t="5501" x="649288" y="2711450"/>
          <p14:tracePt t="5515" x="590550" y="2725738"/>
          <p14:tracePt t="5533" x="565150" y="2725738"/>
          <p14:tracePt t="5549" x="544513" y="2732088"/>
          <p14:tracePt t="5607" x="544513" y="2725738"/>
          <p14:tracePt t="5621" x="550863" y="2725738"/>
          <p14:tracePt t="5632" x="550863" y="2717800"/>
          <p14:tracePt t="5644" x="550863" y="2711450"/>
          <p14:tracePt t="5656" x="558800" y="2711450"/>
          <p14:tracePt t="5669" x="558800" y="2705100"/>
          <p14:tracePt t="5693" x="558800" y="2698750"/>
          <p14:tracePt t="5705" x="558800" y="2692400"/>
          <p14:tracePt t="5715" x="558800" y="2686050"/>
          <p14:tracePt t="5740" x="565150" y="2686050"/>
          <p14:tracePt t="5753" x="571500" y="2686050"/>
          <p14:tracePt t="5765" x="577850" y="2679700"/>
          <p14:tracePt t="5782" x="590550" y="2679700"/>
          <p14:tracePt t="5799" x="603250" y="2673350"/>
          <p14:tracePt t="5801" x="615950" y="2667000"/>
          <p14:tracePt t="5815" x="642938" y="2660650"/>
          <p14:tracePt t="5832" x="693738" y="2654300"/>
          <p14:tracePt t="5849" x="889000" y="2654300"/>
          <p14:tracePt t="5865" x="973138" y="2654300"/>
          <p14:tracePt t="5882" x="1031875" y="2654300"/>
          <p14:tracePt t="5885" x="1069975" y="2654300"/>
          <p14:tracePt t="5898" x="1109663" y="2654300"/>
          <p14:tracePt t="5915" x="1135063" y="2654300"/>
          <p14:tracePt t="5932" x="1168400" y="2654300"/>
          <p14:tracePt t="5949" x="1174750" y="2654300"/>
          <p14:tracePt t="5966" x="1181100" y="2654300"/>
          <p14:tracePt t="5968" x="1187450" y="2654300"/>
          <p14:tracePt t="5982" x="1193800" y="2654300"/>
          <p14:tracePt t="5998" x="1193800" y="2660650"/>
          <p14:tracePt t="6051" x="1200150" y="2660650"/>
          <p14:tracePt t="6098" x="1200150" y="2667000"/>
          <p14:tracePt t="6206" x="1200150" y="2673350"/>
          <p14:tracePt t="6902" x="1206500" y="2673350"/>
          <p14:tracePt t="6914" x="1212850" y="2673350"/>
          <p14:tracePt t="6926" x="1219200" y="2673350"/>
          <p14:tracePt t="6938" x="1246188" y="2673350"/>
          <p14:tracePt t="6950" x="1296988" y="2673350"/>
          <p14:tracePt t="6965" x="1389063" y="2673350"/>
          <p14:tracePt t="6981" x="1498600" y="2673350"/>
          <p14:tracePt t="6998" x="1771650" y="2673350"/>
          <p14:tracePt t="7014" x="1914525" y="2686050"/>
          <p14:tracePt t="7031" x="2024063" y="2698750"/>
          <p14:tracePt t="7047" x="2154238" y="2705100"/>
          <p14:tracePt t="7064" x="2200275" y="2711450"/>
          <p14:tracePt t="7081" x="2238375" y="2717800"/>
          <p14:tracePt t="7098" x="2251075" y="2717800"/>
          <p14:tracePt t="7114" x="2263775" y="2717800"/>
          <p14:tracePt t="7131" x="2271713" y="2717800"/>
          <p14:tracePt t="7148" x="2278063" y="2717800"/>
          <p14:tracePt t="7165" x="2290763" y="2725738"/>
          <p14:tracePt t="7181" x="2297113" y="2725738"/>
          <p14:tracePt t="7197" x="2303463" y="2725738"/>
          <p14:tracePt t="7214" x="2328863" y="2732088"/>
          <p14:tracePt t="7231" x="2355850" y="2732088"/>
          <p14:tracePt t="7247" x="2400300" y="2732088"/>
          <p14:tracePt t="7264" x="2543175" y="2744788"/>
          <p14:tracePt t="7281" x="2620963" y="2751138"/>
          <p14:tracePt t="7298" x="2816225" y="2770188"/>
          <p14:tracePt t="7314" x="2906713" y="2770188"/>
          <p14:tracePt t="7330" x="2965450" y="2770188"/>
          <p14:tracePt t="7347" x="3036888" y="2770188"/>
          <p14:tracePt t="7364" x="3062288" y="2770188"/>
          <p14:tracePt t="7381" x="3114675" y="2770188"/>
          <p14:tracePt t="7397" x="3133725" y="2770188"/>
          <p14:tracePt t="7414" x="3152775" y="2770188"/>
          <p14:tracePt t="7431" x="3179763" y="2770188"/>
          <p14:tracePt t="7447" x="3186113" y="2770188"/>
          <p14:tracePt t="7464" x="3198813" y="2770188"/>
          <p14:tracePt t="7489" x="3205163" y="2770188"/>
          <p14:tracePt t="7536" x="3211513" y="2770188"/>
          <p14:tracePt t="7657" x="3217863" y="2770188"/>
          <p14:tracePt t="7680" x="3224213" y="2770188"/>
          <p14:tracePt t="7693" x="3230563" y="2770188"/>
          <p14:tracePt t="7704" x="3238500" y="2770188"/>
          <p14:tracePt t="7717" x="3251200" y="2770188"/>
          <p14:tracePt t="7730" x="3270250" y="2770188"/>
          <p14:tracePt t="7747" x="3282950" y="2770188"/>
          <p14:tracePt t="7764" x="3322638" y="2770188"/>
          <p14:tracePt t="7780" x="3335338" y="2770188"/>
          <p14:tracePt t="7797" x="3360738" y="2770188"/>
          <p14:tracePt t="7814" x="3373438" y="2770188"/>
          <p14:tracePt t="7830" x="3379788" y="2763838"/>
          <p14:tracePt t="7847" x="3387725" y="2763838"/>
          <p14:tracePt t="7849" x="3394075" y="2763838"/>
          <p14:tracePt t="7864" x="3400425" y="2763838"/>
          <p14:tracePt t="7881" x="3406775" y="2763838"/>
          <p14:tracePt t="7908" x="3413125" y="2763838"/>
          <p14:tracePt t="7944" x="3419475" y="2763838"/>
          <p14:tracePt t="7956" x="3419475" y="2757488"/>
          <p14:tracePt t="8711" x="3478213" y="2732088"/>
          <p14:tracePt t="8724" x="3711575" y="2595563"/>
          <p14:tracePt t="8736" x="4106863" y="2393950"/>
          <p14:tracePt t="8747" x="4659313" y="2166938"/>
          <p14:tracePt t="8763" x="5340350" y="1958975"/>
          <p14:tracePt t="8780" x="6008688" y="1809750"/>
          <p14:tracePt t="8796" x="7169150" y="1687513"/>
          <p14:tracePt t="8813" x="7519988" y="1660525"/>
          <p14:tracePt t="8831" x="8110538" y="1647825"/>
          <p14:tracePt t="8846" x="8305800" y="1647825"/>
          <p14:tracePt t="8862" x="8461375" y="1654175"/>
          <p14:tracePt t="8879" x="8616950" y="1660525"/>
          <p14:tracePt t="8896" x="8655050" y="1660525"/>
          <p14:tracePt t="8912" x="8675688" y="1660525"/>
          <p14:tracePt t="8917" x="8688388" y="1660525"/>
          <p14:tracePt t="8929" x="8694738" y="1660525"/>
          <p14:tracePt t="8946" x="8701088" y="1660525"/>
          <p14:tracePt t="8963" x="8701088" y="1666875"/>
          <p14:tracePt t="8980" x="8701088" y="1673225"/>
          <p14:tracePt t="8996" x="8694738" y="1681163"/>
          <p14:tracePt t="9013" x="8675688" y="1693863"/>
          <p14:tracePt t="9029" x="8669338" y="1700213"/>
          <p14:tracePt t="9046" x="8655050" y="1700213"/>
          <p14:tracePt t="9062" x="8648700" y="1700213"/>
          <p14:tracePt t="9079" x="8636000" y="1700213"/>
          <p14:tracePt t="9095" x="8604250" y="1700213"/>
          <p14:tracePt t="9112" x="8577263" y="1700213"/>
          <p14:tracePt t="9129" x="8545513" y="1693863"/>
          <p14:tracePt t="9132" x="8493125" y="1687513"/>
          <p14:tracePt t="9146" x="8442325" y="1666875"/>
          <p14:tracePt t="9162" x="8377238" y="1654175"/>
          <p14:tracePt t="9179" x="8272463" y="1601788"/>
          <p14:tracePt t="9196" x="8234363" y="1582738"/>
          <p14:tracePt t="9213" x="8194675" y="1570038"/>
          <p14:tracePt t="9215" x="8181975" y="1557338"/>
          <p14:tracePt t="9229" x="8175625" y="1550988"/>
          <p14:tracePt t="9251" x="8175625" y="1544638"/>
          <p14:tracePt t="9274" x="8181975" y="1538288"/>
          <p14:tracePt t="9299" x="8188325" y="1538288"/>
          <p14:tracePt t="9322" x="8194675" y="1538288"/>
          <p14:tracePt t="9442" x="8188325" y="1531938"/>
          <p14:tracePt t="9454" x="8181975" y="1531938"/>
          <p14:tracePt t="9467" x="8175625" y="1531938"/>
          <p14:tracePt t="9478" x="8169275" y="1524000"/>
          <p14:tracePt t="9490" x="8162925" y="1524000"/>
          <p14:tracePt t="9502" x="8156575" y="1524000"/>
          <p14:tracePt t="9526" x="8150225" y="1524000"/>
          <p14:tracePt t="9538" x="8150225" y="1517650"/>
          <p14:tracePt t="9551" x="8143875" y="1517650"/>
          <p14:tracePt t="9562" x="8135938" y="1504950"/>
          <p14:tracePt t="9586" x="8129588" y="1504950"/>
          <p14:tracePt t="9670" x="8135938" y="1504950"/>
          <p14:tracePt t="9684" x="8150225" y="1504950"/>
          <p14:tracePt t="9694" x="8175625" y="1504950"/>
          <p14:tracePt t="9705" x="8213725" y="1504950"/>
          <p14:tracePt t="9718" x="8293100" y="1504950"/>
          <p14:tracePt t="9729" x="8448675" y="1504950"/>
          <p14:tracePt t="9746" x="8655050" y="1504950"/>
          <p14:tracePt t="9763" x="8947150" y="1504950"/>
          <p14:tracePt t="9778" x="9486900" y="1479550"/>
          <p14:tracePt t="9795" x="9655175" y="1466850"/>
          <p14:tracePt t="9812" x="9771063" y="1460500"/>
          <p14:tracePt t="9814" x="9823450" y="1460500"/>
          <p14:tracePt t="9829" x="9863138" y="1460500"/>
          <p14:tracePt t="9845" x="9888538" y="1439863"/>
          <p14:tracePt t="9862" x="9901238" y="1439863"/>
          <p14:tracePt t="9879" x="9901238" y="1433513"/>
          <p14:tracePt t="9896" x="9888538" y="1433513"/>
          <p14:tracePt t="9899" x="9856788" y="1420813"/>
          <p14:tracePt t="9912" x="9798050" y="1414463"/>
          <p14:tracePt t="9929" x="9707563" y="1401763"/>
          <p14:tracePt t="9945" x="9350375" y="1355725"/>
          <p14:tracePt t="9962" x="9148763" y="1336675"/>
          <p14:tracePt t="9979" x="8993188" y="1323975"/>
          <p14:tracePt t="9995" x="8896350" y="1303338"/>
          <p14:tracePt t="10012" x="8882063" y="1303338"/>
          <p14:tracePt t="10029" x="8896350" y="1303338"/>
          <p14:tracePt t="10045" x="8909050" y="1303338"/>
          <p14:tracePt t="10062" x="8928100" y="1303338"/>
          <p14:tracePt t="10078" x="9031288" y="1303338"/>
          <p14:tracePt t="10095" x="9194800" y="1317625"/>
          <p14:tracePt t="10112" x="9577388" y="1317625"/>
          <p14:tracePt t="10128" x="9758363" y="1343025"/>
          <p14:tracePt t="10145" x="9901238" y="1349375"/>
          <p14:tracePt t="10162" x="9998075" y="1374775"/>
          <p14:tracePt t="10179" x="10006013" y="1382713"/>
          <p14:tracePt t="10195" x="10012363" y="1382713"/>
          <p14:tracePt t="10212" x="10012363" y="1389063"/>
          <p14:tracePt t="10229" x="10006013" y="1389063"/>
          <p14:tracePt t="10245" x="9991725" y="1395413"/>
          <p14:tracePt t="10262" x="9979025" y="1395413"/>
          <p14:tracePt t="10278" x="9972675" y="1395413"/>
          <p14:tracePt t="10295" x="9959975" y="1395413"/>
          <p14:tracePt t="10311" x="9953625" y="1395413"/>
          <p14:tracePt t="10328" x="9940925" y="1395413"/>
          <p14:tracePt t="10353" x="9934575" y="1395413"/>
          <p14:tracePt t="10366" x="9928225" y="1395413"/>
          <p14:tracePt t="10378" x="9920288" y="1395413"/>
          <p14:tracePt t="10437" x="9913938" y="1395413"/>
          <p14:tracePt t="10473" x="9907588" y="1395413"/>
          <p14:tracePt t="10532" x="9901238" y="1395413"/>
          <p14:tracePt t="10604" x="9894888" y="1395413"/>
          <p14:tracePt t="11346" x="9888538" y="1401763"/>
          <p14:tracePt t="11383" x="9888538" y="1408113"/>
          <p14:tracePt t="11443" x="9882188" y="1408113"/>
          <p14:tracePt t="11478" x="9875838" y="1408113"/>
          <p14:tracePt t="11527" x="9869488" y="1408113"/>
          <p14:tracePt t="11563" x="9863138" y="1408113"/>
          <p14:tracePt t="11575" x="9863138" y="1414463"/>
          <p14:tracePt t="11600" x="9856788" y="1414463"/>
          <p14:tracePt t="11623" x="9856788" y="1420813"/>
          <p14:tracePt t="11635" x="9848850" y="1427163"/>
          <p14:tracePt t="11659" x="9842500" y="1427163"/>
          <p14:tracePt t="11671" x="9836150" y="1433513"/>
          <p14:tracePt t="11684" x="9829800" y="1439863"/>
          <p14:tracePt t="11694" x="9817100" y="1446213"/>
          <p14:tracePt t="11710" x="9791700" y="1473200"/>
          <p14:tracePt t="11727" x="9758363" y="1485900"/>
          <p14:tracePt t="11744" x="9667875" y="1524000"/>
          <p14:tracePt t="11761" x="9609138" y="1550988"/>
          <p14:tracePt t="11778" x="9499600" y="1601788"/>
          <p14:tracePt t="11793" x="9428163" y="1641475"/>
          <p14:tracePt t="11810" x="9363075" y="1687513"/>
          <p14:tracePt t="11827" x="9213850" y="1758950"/>
          <p14:tracePt t="11844" x="9110663" y="1803400"/>
          <p14:tracePt t="11861" x="8967788" y="1849438"/>
          <p14:tracePt t="11863" x="8759825" y="1893888"/>
          <p14:tracePt t="11877" x="8499475" y="1958975"/>
          <p14:tracePt t="11894" x="8207375" y="2005013"/>
          <p14:tracePt t="11910" x="7500938" y="2114550"/>
          <p14:tracePt t="11927" x="7105650" y="2141538"/>
          <p14:tracePt t="11944" x="6702425" y="2200275"/>
          <p14:tracePt t="11947" x="6273800" y="2244725"/>
          <p14:tracePt t="11960" x="5865813" y="2303463"/>
          <p14:tracePt t="11977" x="5514975" y="2355850"/>
          <p14:tracePt t="11994" x="4945063" y="2471738"/>
          <p14:tracePt t="12010" x="4710113" y="2543175"/>
          <p14:tracePt t="12027" x="4548188" y="2601913"/>
          <p14:tracePt t="12043" x="4295775" y="2725738"/>
          <p14:tracePt t="12060" x="4211638" y="2751138"/>
          <p14:tracePt t="12077" x="4119563" y="2776538"/>
          <p14:tracePt t="12094" x="4087813" y="2782888"/>
          <p14:tracePt t="12110" x="4068763" y="2789238"/>
          <p14:tracePt t="12126" x="4056063" y="2797175"/>
          <p14:tracePt t="12144" x="4048125" y="2803525"/>
          <p14:tracePt t="12161" x="4041775" y="2803525"/>
          <p14:tracePt t="12177" x="4035425" y="2803525"/>
          <p14:tracePt t="12193" x="4029075" y="2803525"/>
          <p14:tracePt t="12211" x="4022725" y="2803525"/>
          <p14:tracePt t="12227" x="4016375" y="2809875"/>
          <p14:tracePt t="12244" x="4010025" y="2809875"/>
          <p14:tracePt t="12260" x="3997325" y="2816225"/>
          <p14:tracePt t="12278" x="3990975" y="2822575"/>
          <p14:tracePt t="12821" x="3984625" y="2822575"/>
          <p14:tracePt t="12833" x="3925888" y="2822575"/>
          <p14:tracePt t="12845" x="3821113" y="2822575"/>
          <p14:tracePt t="12857" x="3686175" y="2822575"/>
          <p14:tracePt t="12869" x="3503613" y="2835275"/>
          <p14:tracePt t="12883" x="3316288" y="2847975"/>
          <p14:tracePt t="12893" x="3133725" y="2860675"/>
          <p14:tracePt t="12910" x="2978150" y="2881313"/>
          <p14:tracePt t="12926" x="2860675" y="2900363"/>
          <p14:tracePt t="12943" x="2686050" y="2932113"/>
          <p14:tracePt t="12960" x="2647950" y="2932113"/>
          <p14:tracePt t="12976" x="2582863" y="2946400"/>
          <p14:tracePt t="12993" x="2562225" y="2952750"/>
          <p14:tracePt t="13010" x="2543175" y="2959100"/>
          <p14:tracePt t="13013" x="2511425" y="2965450"/>
          <p14:tracePt t="13026" x="2484438" y="2971800"/>
          <p14:tracePt t="13043" x="2452688" y="2984500"/>
          <p14:tracePt t="13060" x="2374900" y="2997200"/>
          <p14:tracePt t="13076" x="2328863" y="3024188"/>
          <p14:tracePt t="13093" x="2290763" y="3024188"/>
          <p14:tracePt t="13109" x="2193925" y="3036888"/>
          <p14:tracePt t="13126" x="2154238" y="3049588"/>
          <p14:tracePt t="13144" x="2057400" y="3055938"/>
          <p14:tracePt t="13159" x="2017713" y="3068638"/>
          <p14:tracePt t="13176" x="1979613" y="3087688"/>
          <p14:tracePt t="13192" x="1914525" y="3114675"/>
          <p14:tracePt t="13209" x="1893888" y="3121025"/>
          <p14:tracePt t="13226" x="1874838" y="3133725"/>
          <p14:tracePt t="13229" x="1862138" y="3140075"/>
          <p14:tracePt t="13242" x="1855788" y="3152775"/>
          <p14:tracePt t="13259" x="1849438" y="3159125"/>
          <p14:tracePt t="13276" x="1843088" y="3165475"/>
          <p14:tracePt t="13293" x="1843088" y="3173413"/>
          <p14:tracePt t="13309" x="1836738" y="3179763"/>
          <p14:tracePt t="13326" x="1824038" y="3198813"/>
          <p14:tracePt t="13343" x="1809750" y="3205163"/>
          <p14:tracePt t="13359" x="1778000" y="3244850"/>
          <p14:tracePt t="13376" x="1758950" y="3263900"/>
          <p14:tracePt t="13392" x="1744663" y="3276600"/>
          <p14:tracePt t="13409" x="1700213" y="3302000"/>
          <p14:tracePt t="13426" x="1674813" y="3308350"/>
          <p14:tracePt t="13443" x="1603375" y="3348038"/>
          <p14:tracePt t="13459" x="1570038" y="3354388"/>
          <p14:tracePt t="13476" x="1525588" y="3373438"/>
          <p14:tracePt t="13492" x="1439863" y="3386138"/>
          <p14:tracePt t="13509" x="1395413" y="3406775"/>
          <p14:tracePt t="13526" x="1336675" y="3425825"/>
          <p14:tracePt t="13542" x="1212850" y="3438525"/>
          <p14:tracePt t="13559" x="1168400" y="3438525"/>
          <p14:tracePt t="13576" x="1076325" y="3438525"/>
          <p14:tracePt t="13593" x="1038225" y="3432175"/>
          <p14:tracePt t="13609" x="1012825" y="3419475"/>
          <p14:tracePt t="13626" x="941388" y="3413125"/>
          <p14:tracePt t="13642" x="920750" y="3406775"/>
          <p14:tracePt t="13659" x="895350" y="3394075"/>
          <p14:tracePt t="13676" x="882650" y="3386138"/>
          <p14:tracePt t="13692" x="876300" y="3379788"/>
          <p14:tracePt t="13709" x="863600" y="3354388"/>
          <p14:tracePt t="13725" x="857250" y="3335338"/>
          <p14:tracePt t="13743" x="849313" y="3295650"/>
          <p14:tracePt t="13759" x="842963" y="3270250"/>
          <p14:tracePt t="13776" x="836613" y="3236913"/>
          <p14:tracePt t="13792" x="817563" y="3186113"/>
          <p14:tracePt t="13809" x="817563" y="3152775"/>
          <p14:tracePt t="13827" x="811213" y="3121025"/>
          <p14:tracePt t="13842" x="811213" y="3114675"/>
          <p14:tracePt t="13859" x="811213" y="3108325"/>
          <p14:tracePt t="13875" x="811213" y="3101975"/>
          <p14:tracePt t="14965" x="811213" y="3087688"/>
          <p14:tracePt t="14979" x="811213" y="3074988"/>
          <p14:tracePt t="14990" x="811213" y="3055938"/>
          <p14:tracePt t="15002" x="811213" y="3043238"/>
          <p14:tracePt t="15015" x="817563" y="3024188"/>
          <p14:tracePt t="15025" x="817563" y="3009900"/>
          <p14:tracePt t="15041" x="817563" y="2997200"/>
          <p14:tracePt t="15098" x="811213" y="3003550"/>
          <p14:tracePt t="15109" x="804863" y="3009900"/>
          <p14:tracePt t="15122" x="798513" y="3016250"/>
          <p14:tracePt t="15133" x="792163" y="3030538"/>
          <p14:tracePt t="15146" x="792163" y="3043238"/>
          <p14:tracePt t="15158" x="792163" y="3074988"/>
          <p14:tracePt t="15174" x="792163" y="3127375"/>
          <p14:tracePt t="15191" x="792163" y="3198813"/>
          <p14:tracePt t="15194" x="804863" y="3257550"/>
          <p14:tracePt t="15208" x="817563" y="3314700"/>
          <p14:tracePt t="15224" x="817563" y="3360738"/>
          <p14:tracePt t="15241" x="830263" y="3444875"/>
          <p14:tracePt t="15258" x="836613" y="3484563"/>
          <p14:tracePt t="15274" x="836613" y="3503613"/>
          <p14:tracePt t="15291" x="849313" y="3556000"/>
          <p14:tracePt t="15308" x="849313" y="3587750"/>
          <p14:tracePt t="15325" x="857250" y="3640138"/>
          <p14:tracePt t="15341" x="863600" y="3659188"/>
          <p14:tracePt t="15358" x="863600" y="3678238"/>
          <p14:tracePt t="15374" x="876300" y="3717925"/>
          <p14:tracePt t="15391" x="876300" y="3743325"/>
          <p14:tracePt t="15408" x="876300" y="3756025"/>
          <p14:tracePt t="15410" x="882650" y="3776663"/>
          <p14:tracePt t="15424" x="882650" y="3789363"/>
          <p14:tracePt t="15441" x="882650" y="3802063"/>
          <p14:tracePt t="15457" x="882650" y="3833813"/>
          <p14:tracePt t="15474" x="882650" y="3848100"/>
          <p14:tracePt t="15491" x="882650" y="3867150"/>
          <p14:tracePt t="15507" x="889000" y="3951288"/>
          <p14:tracePt t="15524" x="889000" y="4010025"/>
          <p14:tracePt t="15541" x="895350" y="4203700"/>
          <p14:tracePt t="15558" x="895350" y="4327525"/>
          <p14:tracePt t="15574" x="895350" y="4464050"/>
          <p14:tracePt t="15577" x="882650" y="4606925"/>
          <p14:tracePt t="15591" x="869950" y="4762500"/>
          <p14:tracePt t="15607" x="876300" y="4872038"/>
          <p14:tracePt t="15625" x="882650" y="5119688"/>
          <p14:tracePt t="15641" x="882650" y="5241925"/>
          <p14:tracePt t="15657" x="895350" y="5353050"/>
          <p14:tracePt t="15674" x="901700" y="5527675"/>
          <p14:tracePt t="15691" x="914400" y="5611813"/>
          <p14:tracePt t="15707" x="920750" y="5703888"/>
          <p14:tracePt t="15709" x="935038" y="5800725"/>
          <p14:tracePt t="15724" x="935038" y="5891213"/>
          <p14:tracePt t="15741" x="935038" y="5975350"/>
          <p14:tracePt t="15757" x="941388" y="6099175"/>
          <p14:tracePt t="15774" x="941388" y="6151563"/>
          <p14:tracePt t="15792" x="941388" y="6215063"/>
          <p14:tracePt t="15807" x="941388" y="6254750"/>
          <p14:tracePt t="15824" x="941388" y="6280150"/>
          <p14:tracePt t="15840" x="941388" y="6332538"/>
          <p14:tracePt t="15857" x="941388" y="6351588"/>
          <p14:tracePt t="15874" x="941388" y="6364288"/>
          <p14:tracePt t="15876" x="941388" y="6370638"/>
          <p14:tracePt t="15900" x="941388" y="6378575"/>
          <p14:tracePt t="16403" x="941388" y="6364288"/>
          <p14:tracePt t="16416" x="941388" y="6357938"/>
          <p14:tracePt t="16428" x="935038" y="6338888"/>
          <p14:tracePt t="16440" x="935038" y="6313488"/>
          <p14:tracePt t="16457" x="935038" y="6261100"/>
          <p14:tracePt t="16474" x="935038" y="6196013"/>
          <p14:tracePt t="16478" x="920750" y="6072188"/>
          <p14:tracePt t="16490" x="920750" y="5903913"/>
          <p14:tracePt t="16506" x="914400" y="5695950"/>
          <p14:tracePt t="16524" x="901700" y="5268913"/>
          <p14:tracePt t="16540" x="876300" y="5067300"/>
          <p14:tracePt t="16557" x="863600" y="4899025"/>
          <p14:tracePt t="16559" x="863600" y="4806950"/>
          <p14:tracePt t="16561" x="857250" y="4729163"/>
          <p14:tracePt t="16573" x="857250" y="4579938"/>
          <p14:tracePt t="16590" x="857250" y="4470400"/>
          <p14:tracePt t="16607" x="857250" y="4340225"/>
          <p14:tracePt t="16623" x="857250" y="4295775"/>
          <p14:tracePt t="16640" x="857250" y="4262438"/>
          <p14:tracePt t="16657" x="857250" y="4217988"/>
          <p14:tracePt t="16673" x="849313" y="4197350"/>
          <p14:tracePt t="16690" x="836613" y="4159250"/>
          <p14:tracePt t="16706" x="836613" y="4146550"/>
          <p14:tracePt t="16723" x="836613" y="4125913"/>
          <p14:tracePt t="16740" x="817563" y="4087813"/>
          <p14:tracePt t="16757" x="817563" y="4068763"/>
          <p14:tracePt t="16774" x="804863" y="4022725"/>
          <p14:tracePt t="16790" x="798513" y="4003675"/>
          <p14:tracePt t="16807" x="792163" y="3983038"/>
          <p14:tracePt t="16823" x="785813" y="3963988"/>
          <p14:tracePt t="16846" x="777875" y="3963988"/>
          <p14:tracePt t="16930" x="777875" y="3970338"/>
          <p14:tracePt t="16942" x="771525" y="3970338"/>
          <p14:tracePt t="16966" x="765175" y="3970338"/>
          <p14:tracePt t="16979" x="758825" y="3970338"/>
          <p14:tracePt t="16990" x="752475" y="3970338"/>
          <p14:tracePt t="17002" x="746125" y="3970338"/>
          <p14:tracePt t="17014" x="746125" y="3963988"/>
          <p14:tracePt t="17027" x="739775" y="3963988"/>
          <p14:tracePt t="17039" x="739775" y="3957638"/>
          <p14:tracePt t="17056" x="739775" y="3951288"/>
          <p14:tracePt t="17086" x="746125" y="3944938"/>
          <p14:tracePt t="17098" x="758825" y="3938588"/>
          <p14:tracePt t="17111" x="771525" y="3938588"/>
          <p14:tracePt t="17122" x="785813" y="3932238"/>
          <p14:tracePt t="17140" x="804863" y="3925888"/>
          <p14:tracePt t="17156" x="823913" y="3919538"/>
          <p14:tracePt t="17173" x="836613" y="3905250"/>
          <p14:tracePt t="17190" x="842963" y="3905250"/>
          <p14:tracePt t="17206" x="842963" y="3898900"/>
          <p14:tracePt t="17223" x="836613" y="3886200"/>
          <p14:tracePt t="17239" x="830263" y="3886200"/>
          <p14:tracePt t="17256" x="792163" y="3860800"/>
          <p14:tracePt t="17273" x="765175" y="3833813"/>
          <p14:tracePt t="17290" x="727075" y="3808413"/>
          <p14:tracePt t="17306" x="714375" y="3795713"/>
          <p14:tracePt t="17323" x="700088" y="3783013"/>
          <p14:tracePt t="17340" x="687388" y="3762375"/>
          <p14:tracePt t="17356" x="687388" y="3749675"/>
          <p14:tracePt t="17373" x="681038" y="3717925"/>
          <p14:tracePt t="17389" x="681038" y="3705225"/>
          <p14:tracePt t="17406" x="681038" y="3684588"/>
          <p14:tracePt t="17423" x="681038" y="3659188"/>
          <p14:tracePt t="17440" x="681038" y="3633788"/>
          <p14:tracePt t="17455" x="681038" y="3627438"/>
          <p14:tracePt t="17473" x="681038" y="3600450"/>
          <p14:tracePt t="17489" x="681038" y="3594100"/>
          <p14:tracePt t="17506" x="687388" y="3581400"/>
          <p14:tracePt t="17522" x="693738" y="3575050"/>
          <p14:tracePt t="17542" x="700088" y="3568700"/>
          <p14:tracePt t="17544" x="700088" y="3562350"/>
          <p14:tracePt t="17556" x="714375" y="3556000"/>
          <p14:tracePt t="17572" x="733425" y="3535363"/>
          <p14:tracePt t="17590" x="836613" y="3522663"/>
          <p14:tracePt t="17606" x="935038" y="3509963"/>
          <p14:tracePt t="17622" x="1031875" y="3503613"/>
          <p14:tracePt t="17639" x="1219200" y="3484563"/>
          <p14:tracePt t="17656" x="1290638" y="3471863"/>
          <p14:tracePt t="17673" x="1389063" y="3471863"/>
          <p14:tracePt t="17689" x="1408113" y="3471863"/>
          <p14:tracePt t="17706" x="1433513" y="3471863"/>
          <p14:tracePt t="17722" x="1479550" y="3471863"/>
          <p14:tracePt t="17739" x="1492250" y="3471863"/>
          <p14:tracePt t="17756" x="1511300" y="3471863"/>
          <p14:tracePt t="17772" x="1517650" y="3471863"/>
          <p14:tracePt t="17794" x="1525588" y="3471863"/>
          <p14:tracePt t="17853" x="1517650" y="3471863"/>
          <p14:tracePt t="17879" x="1504950" y="3490913"/>
          <p14:tracePt t="17889" x="1492250" y="3503613"/>
          <p14:tracePt t="17902" x="1473200" y="3522663"/>
          <p14:tracePt t="17913" x="1439863" y="3556000"/>
          <p14:tracePt t="17926" x="1420813" y="3587750"/>
          <p14:tracePt t="17939" x="1376363" y="3627438"/>
          <p14:tracePt t="17956" x="1311275" y="3684588"/>
          <p14:tracePt t="17973" x="1206500" y="3770313"/>
          <p14:tracePt t="17974" x="1168400" y="3814763"/>
          <p14:tracePt t="17989" x="1116013" y="3854450"/>
          <p14:tracePt t="18005" x="1069975" y="3886200"/>
          <p14:tracePt t="18022" x="1038225" y="3932238"/>
          <p14:tracePt t="18038" x="1031875" y="3938588"/>
          <p14:tracePt t="18056" x="1031875" y="3944938"/>
          <p14:tracePt t="18072" x="1038225" y="3944938"/>
          <p14:tracePt t="18089" x="1050925" y="3944938"/>
          <p14:tracePt t="18105" x="1069975" y="3925888"/>
          <p14:tracePt t="18122" x="1084263" y="3919538"/>
          <p14:tracePt t="18139" x="1096963" y="3911600"/>
          <p14:tracePt t="18142" x="1116013" y="3905250"/>
          <p14:tracePt t="18155" x="1128713" y="3905250"/>
          <p14:tracePt t="18172" x="1147763" y="3898900"/>
          <p14:tracePt t="18189" x="1200150" y="3898900"/>
          <p14:tracePt t="18205" x="1225550" y="3898900"/>
          <p14:tracePt t="18222" x="1265238" y="3898900"/>
          <p14:tracePt t="18238" x="1323975" y="3898900"/>
          <p14:tracePt t="18255" x="1355725" y="3898900"/>
          <p14:tracePt t="18273" x="1395413" y="3898900"/>
          <p14:tracePt t="18289" x="1408113" y="3898900"/>
          <p14:tracePt t="18305" x="1414463" y="3898900"/>
          <p14:tracePt t="18322" x="1427163" y="3898900"/>
          <p14:tracePt t="18340" x="1433513" y="3898900"/>
          <p14:tracePt t="18764" x="1433513" y="3892550"/>
          <p14:tracePt t="18788" x="1439863" y="3892550"/>
          <p14:tracePt t="18799" x="1454150" y="3886200"/>
          <p14:tracePt t="18811" x="1485900" y="3873500"/>
          <p14:tracePt t="18825" x="1544638" y="3848100"/>
          <p14:tracePt t="18838" x="1666875" y="3814763"/>
          <p14:tracePt t="18855" x="1809750" y="3770313"/>
          <p14:tracePt t="18871" x="2179638" y="3652838"/>
          <p14:tracePt t="18888" x="2349500" y="3606800"/>
          <p14:tracePt t="18905" x="2465388" y="3575050"/>
          <p14:tracePt t="18921" x="2589213" y="3543300"/>
          <p14:tracePt t="18938" x="2614613" y="3535363"/>
          <p14:tracePt t="18955" x="2633663" y="3535363"/>
          <p14:tracePt t="18971" x="2641600" y="3535363"/>
          <p14:tracePt t="19063" x="2641600" y="3543300"/>
          <p14:tracePt t="19077" x="2633663" y="3543300"/>
          <p14:tracePt t="19171" x="2633663" y="3549650"/>
          <p14:tracePt t="19206" x="2654300" y="3556000"/>
          <p14:tracePt t="19220" x="2692400" y="3562350"/>
          <p14:tracePt t="19231" x="2744788" y="3568700"/>
          <p14:tracePt t="19243" x="2822575" y="3575050"/>
          <p14:tracePt t="19255" x="2906713" y="3594100"/>
          <p14:tracePt t="19271" x="3003550" y="3606800"/>
          <p14:tracePt t="19288" x="3089275" y="3613150"/>
          <p14:tracePt t="19305" x="3198813" y="3633788"/>
          <p14:tracePt t="19321" x="3238500" y="3633788"/>
          <p14:tracePt t="19338" x="3295650" y="3640138"/>
          <p14:tracePt t="19354" x="3316288" y="3640138"/>
          <p14:tracePt t="19371" x="3328988" y="3640138"/>
          <p14:tracePt t="19388" x="3341688" y="3640138"/>
          <p14:tracePt t="19412" x="3348038" y="3640138"/>
          <p14:tracePt t="19447" x="3354388" y="3640138"/>
          <p14:tracePt t="19459" x="3367088" y="3640138"/>
          <p14:tracePt t="19471" x="3379788" y="3640138"/>
          <p14:tracePt t="19482" x="3400425" y="3640138"/>
          <p14:tracePt t="19495" x="3419475" y="3633788"/>
          <p14:tracePt t="19508" x="3444875" y="3627438"/>
          <p14:tracePt t="19521" x="3465513" y="3627438"/>
          <p14:tracePt t="19538" x="3484563" y="3627438"/>
          <p14:tracePt t="19554" x="3516313" y="3621088"/>
          <p14:tracePt t="19570" x="3536950" y="3621088"/>
          <p14:tracePt t="19587" x="3556000" y="3621088"/>
          <p14:tracePt t="19604" x="3587750" y="3621088"/>
          <p14:tracePt t="19621" x="3600450" y="3621088"/>
          <p14:tracePt t="19637" x="3614738" y="3621088"/>
          <p14:tracePt t="20034" x="3652838" y="3621088"/>
          <p14:tracePt t="20046" x="3795713" y="3621088"/>
          <p14:tracePt t="20059" x="3944938" y="3606800"/>
          <p14:tracePt t="20070" x="4100513" y="3594100"/>
          <p14:tracePt t="20087" x="4243388" y="3594100"/>
          <p14:tracePt t="20104" x="4379913" y="3594100"/>
          <p14:tracePt t="20120" x="4541838" y="3594100"/>
          <p14:tracePt t="20137" x="4587875" y="3594100"/>
          <p14:tracePt t="20154" x="4638675" y="3587750"/>
          <p14:tracePt t="20171" x="4652963" y="3587750"/>
          <p14:tracePt t="20187" x="4659313" y="3587750"/>
          <p14:tracePt t="20204" x="4665663" y="3581400"/>
          <p14:tracePt t="20221" x="4672013" y="3575050"/>
          <p14:tracePt t="20237" x="4678363" y="3575050"/>
          <p14:tracePt t="20254" x="4684713" y="3575050"/>
          <p14:tracePt t="20275" x="4691063" y="3568700"/>
          <p14:tracePt t="20298" x="4697413" y="3568700"/>
          <p14:tracePt t="20465" x="4703763" y="3568700"/>
          <p14:tracePt t="20525" x="4710113" y="3568700"/>
          <p14:tracePt t="21411" x="4775200" y="3568700"/>
          <p14:tracePt t="21425" x="4989513" y="3562350"/>
          <p14:tracePt t="21436" x="5229225" y="3549650"/>
          <p14:tracePt t="21448" x="5489575" y="3549650"/>
          <p14:tracePt t="21459" x="5729288" y="3543300"/>
          <p14:tracePt t="21472" x="5943600" y="3529013"/>
          <p14:tracePt t="21486" x="6111875" y="3529013"/>
          <p14:tracePt t="21502" x="6223000" y="3529013"/>
          <p14:tracePt t="21520" x="6326188" y="3529013"/>
          <p14:tracePt t="21536" x="6365875" y="3529013"/>
          <p14:tracePt t="21553" x="6403975" y="3529013"/>
          <p14:tracePt t="21555" x="6423025" y="3529013"/>
          <p14:tracePt t="21569" x="6437313" y="3529013"/>
          <p14:tracePt t="21586" x="6450013" y="3529013"/>
          <p14:tracePt t="21603" x="6462713" y="3529013"/>
          <p14:tracePt t="21619" x="6469063" y="3529013"/>
          <p14:tracePt t="21686" x="6469063" y="3535363"/>
          <p14:tracePt t="21711" x="6469063" y="3543300"/>
          <p14:tracePt t="21746" x="6469063" y="3549650"/>
          <p14:tracePt t="21855" x="6481763" y="3549650"/>
          <p14:tracePt t="21868" x="6494463" y="3549650"/>
          <p14:tracePt t="21878" x="6534150" y="3543300"/>
          <p14:tracePt t="21892" x="6586538" y="3543300"/>
          <p14:tracePt t="21903" x="6630988" y="3543300"/>
          <p14:tracePt t="21919" x="6702425" y="3543300"/>
          <p14:tracePt t="21936" x="6761163" y="3543300"/>
          <p14:tracePt t="21952" x="6845300" y="3543300"/>
          <p14:tracePt t="21969" x="6884988" y="3543300"/>
          <p14:tracePt t="21986" x="6916738" y="3535363"/>
          <p14:tracePt t="22002" x="6923088" y="3535363"/>
          <p14:tracePt t="22019" x="6929438" y="3535363"/>
          <p14:tracePt t="22035" x="6942138" y="3535363"/>
          <p14:tracePt t="22052" x="6948488" y="3529013"/>
          <p14:tracePt t="22072" x="6956425" y="3529013"/>
          <p14:tracePt t="22094" x="6962775" y="3529013"/>
          <p14:tracePt t="22130" x="6969125" y="3529013"/>
          <p14:tracePt t="22142" x="6975475" y="3529013"/>
          <p14:tracePt t="22166" x="6981825" y="3529013"/>
          <p14:tracePt t="22609" x="6988175" y="3529013"/>
          <p14:tracePt t="22622" x="7000875" y="3529013"/>
          <p14:tracePt t="22634" x="7034213" y="3529013"/>
          <p14:tracePt t="22646" x="7072313" y="3529013"/>
          <p14:tracePt t="22658" x="7112000" y="3529013"/>
          <p14:tracePt t="22670" x="7169150" y="3529013"/>
          <p14:tracePt t="22685" x="7215188" y="3529013"/>
          <p14:tracePt t="22702" x="7267575" y="3529013"/>
          <p14:tracePt t="22718" x="7326313" y="3529013"/>
          <p14:tracePt t="22735" x="7351713" y="3529013"/>
          <p14:tracePt t="22752" x="7383463" y="3529013"/>
          <p14:tracePt t="22768" x="7423150" y="3522663"/>
          <p14:tracePt t="22785" x="7429500" y="3522663"/>
          <p14:tracePt t="22802" x="7448550" y="3516313"/>
          <p14:tracePt t="22826" x="7454900" y="3516313"/>
          <p14:tracePt t="22982" x="7454900" y="3522663"/>
          <p14:tracePt t="23017" x="7454900" y="3529013"/>
          <p14:tracePt t="23053" x="7454900" y="3535363"/>
          <p14:tracePt t="23101" x="7461250" y="3535363"/>
          <p14:tracePt t="23113" x="7467600" y="3543300"/>
          <p14:tracePt t="23124" x="7488238" y="3543300"/>
          <p14:tracePt t="23138" x="7526338" y="3543300"/>
          <p14:tracePt t="23151" x="7578725" y="3556000"/>
          <p14:tracePt t="23168" x="7624763" y="3556000"/>
          <p14:tracePt t="23185" x="7702550" y="3562350"/>
          <p14:tracePt t="23201" x="7721600" y="3568700"/>
          <p14:tracePt t="23218" x="7747000" y="3568700"/>
          <p14:tracePt t="23234" x="7766050" y="3575050"/>
          <p14:tracePt t="23251" x="7773988" y="3575050"/>
          <p14:tracePt t="23268" x="7780338" y="3575050"/>
          <p14:tracePt t="23292" x="7786688" y="3575050"/>
          <p14:tracePt t="23664" x="7812088" y="3575050"/>
          <p14:tracePt t="23676" x="7923213" y="3562350"/>
          <p14:tracePt t="23689" x="8078788" y="3549650"/>
          <p14:tracePt t="23701" x="8228013" y="3549650"/>
          <p14:tracePt t="23717" x="8408988" y="3549650"/>
          <p14:tracePt t="23734" x="8577263" y="3549650"/>
          <p14:tracePt t="23751" x="8856663" y="3549650"/>
          <p14:tracePt t="23767" x="8947150" y="3549650"/>
          <p14:tracePt t="23784" x="9090025" y="3549650"/>
          <p14:tracePt t="23801" x="9136063" y="3556000"/>
          <p14:tracePt t="23818" x="9167813" y="3556000"/>
          <p14:tracePt t="23834" x="9207500" y="3568700"/>
          <p14:tracePt t="23851" x="9213850" y="3568700"/>
          <p14:tracePt t="23868" x="9232900" y="3568700"/>
          <p14:tracePt t="23884" x="9239250" y="3568700"/>
          <p14:tracePt t="23999" x="9232900" y="3568700"/>
          <p14:tracePt t="24024" x="9226550" y="3568700"/>
          <p14:tracePt t="24048" x="9220200" y="3568700"/>
          <p14:tracePt t="24060" x="9220200" y="3575050"/>
          <p14:tracePt t="24072" x="9213850" y="3575050"/>
          <p14:tracePt t="24550" x="9220200" y="3575050"/>
          <p14:tracePt t="24563" x="9232900" y="3575050"/>
          <p14:tracePt t="24575" x="9272588" y="3581400"/>
          <p14:tracePt t="24588" x="9310688" y="3581400"/>
          <p14:tracePt t="24600" x="9363075" y="3581400"/>
          <p14:tracePt t="24617" x="9428163" y="3581400"/>
          <p14:tracePt t="24634" x="9564688" y="3581400"/>
          <p14:tracePt t="24650" x="9648825" y="3587750"/>
          <p14:tracePt t="24667" x="9707563" y="3587750"/>
          <p14:tracePt t="24683" x="9791700" y="3587750"/>
          <p14:tracePt t="24700" x="9823450" y="3600450"/>
          <p14:tracePt t="24717" x="9836150" y="3600450"/>
          <p14:tracePt t="24733" x="9856788" y="3600450"/>
          <p14:tracePt t="24750" x="9863138" y="3600450"/>
          <p14:tracePt t="24767" x="9869488" y="3600450"/>
          <p14:tracePt t="24850" x="9863138" y="3600450"/>
          <p14:tracePt t="24886" x="9856788" y="3600450"/>
          <p14:tracePt t="24911" x="9848850" y="3600450"/>
          <p14:tracePt t="24946" x="9842500" y="3600450"/>
          <p14:tracePt t="24971" x="9836150" y="3600450"/>
          <p14:tracePt t="24994" x="9829800" y="3600450"/>
          <p14:tracePt t="25030" x="9823450" y="3600450"/>
          <p14:tracePt t="28050" x="7273925" y="3730625"/>
          <p14:tracePt t="28062" x="5846763" y="3821113"/>
          <p14:tracePt t="28074" x="5399088" y="3833813"/>
          <p14:tracePt t="28087" x="4613275" y="3990975"/>
          <p14:tracePt t="28097" x="4003675" y="4152900"/>
          <p14:tracePt t="28114" x="3633788" y="4314825"/>
          <p14:tracePt t="28130" x="3354388" y="4445000"/>
          <p14:tracePt t="28147" x="2978150" y="4684713"/>
          <p14:tracePt t="28164" x="2854325" y="4775200"/>
          <p14:tracePt t="28181" x="2757488" y="4859338"/>
          <p14:tracePt t="28182" x="2692400" y="4918075"/>
          <p14:tracePt t="28197" x="2641600" y="4970463"/>
          <p14:tracePt t="28214" x="2595563" y="5002213"/>
          <p14:tracePt t="28230" x="2536825" y="5054600"/>
          <p14:tracePt t="28247" x="2524125" y="5067300"/>
          <p14:tracePt t="28264" x="2511425" y="5073650"/>
          <p14:tracePt t="28266" x="2498725" y="5080000"/>
          <p14:tracePt t="28281" x="2484438" y="5086350"/>
          <p14:tracePt t="28297" x="2459038" y="5099050"/>
          <p14:tracePt t="28314" x="2413000" y="5113338"/>
          <p14:tracePt t="28330" x="2387600" y="5126038"/>
          <p14:tracePt t="28347" x="2355850" y="5132388"/>
          <p14:tracePt t="28363" x="2225675" y="5151438"/>
          <p14:tracePt t="28380" x="2114550" y="5151438"/>
          <p14:tracePt t="28397" x="1881188" y="5145088"/>
          <p14:tracePt t="28414" x="1797050" y="5145088"/>
          <p14:tracePt t="28430" x="1719263" y="5138738"/>
          <p14:tracePt t="28447" x="1550988" y="5092700"/>
          <p14:tracePt t="28463" x="1466850" y="5073650"/>
          <p14:tracePt t="28481" x="1355725" y="5035550"/>
          <p14:tracePt t="28497" x="1330325" y="5027613"/>
          <p14:tracePt t="28513" x="1317625" y="5021263"/>
          <p14:tracePt t="28530" x="1304925" y="5014913"/>
          <p14:tracePt t="28780" x="1277938" y="4983163"/>
          <p14:tracePt t="28793" x="1219200" y="4905375"/>
          <p14:tracePt t="28804" x="1147763" y="4833938"/>
          <p14:tracePt t="28817" x="1090613" y="4768850"/>
          <p14:tracePt t="28830" x="1038225" y="4716463"/>
          <p14:tracePt t="28847" x="1006475" y="4672013"/>
          <p14:tracePt t="28863" x="954088" y="4606925"/>
          <p14:tracePt t="28880" x="947738" y="4600575"/>
          <p14:tracePt t="28897" x="941388" y="4600575"/>
          <p14:tracePt t="28924" x="941388" y="4606925"/>
          <p14:tracePt t="28937" x="941388" y="4613275"/>
          <p14:tracePt t="28960" x="941388" y="4619625"/>
          <p14:tracePt t="28971" x="947738" y="4619625"/>
          <p14:tracePt t="28985" x="954088" y="4619625"/>
          <p14:tracePt t="28996" x="960438" y="4613275"/>
          <p14:tracePt t="29013" x="966788" y="4594225"/>
          <p14:tracePt t="29030" x="979488" y="4573588"/>
          <p14:tracePt t="29033" x="992188" y="4529138"/>
          <p14:tracePt t="29046" x="1012825" y="4457700"/>
          <p14:tracePt t="29063" x="1031875" y="4386263"/>
          <p14:tracePt t="29080" x="1044575" y="4289425"/>
          <p14:tracePt t="29096" x="1050925" y="4256088"/>
          <p14:tracePt t="29113" x="1057275" y="4249738"/>
          <p14:tracePt t="29130" x="1076325" y="4268788"/>
          <p14:tracePt t="29147" x="1084263" y="4281488"/>
          <p14:tracePt t="29163" x="1096963" y="4333875"/>
          <p14:tracePt t="29180" x="1116013" y="4373563"/>
          <p14:tracePt t="29197" x="1174750" y="4451350"/>
          <p14:tracePt t="29213" x="1246188" y="4560888"/>
          <p14:tracePt t="29230" x="1265238" y="4594225"/>
          <p14:tracePt t="29247" x="1284288" y="4613275"/>
          <p14:tracePt t="29263" x="1290638" y="4613275"/>
          <p14:tracePt t="29280" x="1296988" y="4613275"/>
          <p14:tracePt t="29296" x="1304925" y="4594225"/>
          <p14:tracePt t="29313" x="1304925" y="4573588"/>
          <p14:tracePt t="29329" x="1304925" y="4554538"/>
          <p14:tracePt t="29346" x="1311275" y="4489450"/>
          <p14:tracePt t="29363" x="1323975" y="4445000"/>
          <p14:tracePt t="29380" x="1336675" y="4411663"/>
          <p14:tracePt t="29396" x="1343025" y="4411663"/>
          <p14:tracePt t="29413" x="1349375" y="4411663"/>
          <p14:tracePt t="29430" x="1355725" y="4424363"/>
          <p14:tracePt t="29446" x="1355725" y="4438650"/>
          <p14:tracePt t="29463" x="1349375" y="4508500"/>
          <p14:tracePt t="29481" x="1382713" y="4606925"/>
          <p14:tracePt t="29496" x="1446213" y="4756150"/>
          <p14:tracePt t="29513" x="1595438" y="5035550"/>
          <p14:tracePt t="29530" x="1628775" y="5092700"/>
          <p14:tracePt t="29547" x="1660525" y="5126038"/>
          <p14:tracePt t="29563" x="1666875" y="5132388"/>
          <p14:tracePt t="29580" x="1674813" y="5132388"/>
          <p14:tracePt t="29596" x="1687513" y="5132388"/>
          <p14:tracePt t="29613" x="1693863" y="5126038"/>
          <p14:tracePt t="29630" x="1712913" y="5080000"/>
          <p14:tracePt t="29646" x="1738313" y="5041900"/>
          <p14:tracePt t="29663" x="1784350" y="4970463"/>
          <p14:tracePt t="29679" x="1979613" y="4749800"/>
          <p14:tracePt t="29696" x="2108200" y="4632325"/>
          <p14:tracePt t="29713" x="2244725" y="4529138"/>
          <p14:tracePt t="29729" x="2452688" y="4430713"/>
          <p14:tracePt t="29747" x="2524125" y="4418013"/>
          <p14:tracePt t="29763" x="2667000" y="4418013"/>
          <p14:tracePt t="29779" x="2738438" y="4418013"/>
          <p14:tracePt t="29796" x="2790825" y="4424363"/>
          <p14:tracePt t="29813" x="2887663" y="4470400"/>
          <p14:tracePt t="29829" x="2925763" y="4495800"/>
          <p14:tracePt t="29846" x="2990850" y="4522788"/>
          <p14:tracePt t="29862" x="3009900" y="4541838"/>
          <p14:tracePt t="29879" x="3030538" y="4548188"/>
          <p14:tracePt t="29896" x="3068638" y="4560888"/>
          <p14:tracePt t="29912" x="3081338" y="4560888"/>
          <p14:tracePt t="29930" x="3140075" y="4567238"/>
          <p14:tracePt t="29945" x="3179763" y="4573588"/>
          <p14:tracePt t="29963" x="3217863" y="4573588"/>
          <p14:tracePt t="29979" x="3295650" y="4579938"/>
          <p14:tracePt t="29996" x="3322638" y="4579938"/>
          <p14:tracePt t="30014" x="3373438" y="4579938"/>
          <p14:tracePt t="30029" x="3394075" y="4573588"/>
          <p14:tracePt t="30046" x="3413125" y="4573588"/>
          <p14:tracePt t="30062" x="3459163" y="4567238"/>
          <p14:tracePt t="30080" x="3471863" y="4554538"/>
          <p14:tracePt t="30095" x="3484563" y="4548188"/>
          <p14:tracePt t="30112" x="3516313" y="4541838"/>
          <p14:tracePt t="30129" x="3529013" y="4535488"/>
          <p14:tracePt t="30147" x="3556000" y="4516438"/>
          <p14:tracePt t="30163" x="3562350" y="4516438"/>
          <p14:tracePt t="30179" x="3568700" y="4508500"/>
          <p14:tracePt t="30195" x="3575050" y="4508500"/>
          <p14:tracePt t="30218" x="3575050" y="4502150"/>
          <p14:tracePt t="31847" x="3503613" y="4502150"/>
          <p14:tracePt t="31859" x="3198813" y="4502150"/>
          <p14:tracePt t="31871" x="2770188" y="4594225"/>
          <p14:tracePt t="31885" x="2271713" y="4762500"/>
          <p14:tracePt t="31895" x="1752600" y="4970463"/>
          <p14:tracePt t="31911" x="1349375" y="5157788"/>
          <p14:tracePt t="31927" x="1076325" y="5313363"/>
          <p14:tracePt t="31944" x="674688" y="5483225"/>
          <p14:tracePt t="31961" x="571500" y="5521325"/>
          <p14:tracePt t="31977" x="500063" y="5561013"/>
          <p14:tracePt t="31994" x="441325" y="5580063"/>
          <p14:tracePt t="32011" x="434975" y="5586413"/>
          <p14:tracePt t="32028" x="428625" y="5586413"/>
          <p14:tracePt t="32076" x="428625" y="5580063"/>
          <p14:tracePt t="32099" x="434975" y="5580063"/>
          <p14:tracePt t="32124" x="441325" y="5580063"/>
          <p14:tracePt t="32136" x="447675" y="5573713"/>
          <p14:tracePt t="32150" x="454025" y="5573713"/>
          <p14:tracePt t="32195" x="460375" y="5573713"/>
          <p14:tracePt t="32219" x="466725" y="5573713"/>
          <p14:tracePt t="32244" x="473075" y="5567363"/>
          <p14:tracePt t="32256" x="479425" y="5567363"/>
          <p14:tracePt t="32267" x="493713" y="5567363"/>
          <p14:tracePt t="32279" x="500063" y="5561013"/>
          <p14:tracePt t="32294" x="506413" y="5546725"/>
          <p14:tracePt t="32310" x="531813" y="5540375"/>
          <p14:tracePt t="32327" x="558800" y="5521325"/>
          <p14:tracePt t="32344" x="577850" y="5514975"/>
          <p14:tracePt t="32360" x="590550" y="5502275"/>
          <p14:tracePt t="32377" x="622300" y="5489575"/>
          <p14:tracePt t="32394" x="636588" y="5475288"/>
          <p14:tracePt t="32411" x="655638" y="5468938"/>
          <p14:tracePt t="32427" x="661988" y="5462588"/>
          <p14:tracePt t="32443" x="668338" y="5456238"/>
          <p14:tracePt t="32460" x="681038" y="5456238"/>
          <p14:tracePt t="32477" x="687388" y="5456238"/>
          <p14:tracePt t="32494" x="708025" y="5456238"/>
          <p14:tracePt t="32510" x="720725" y="5456238"/>
          <p14:tracePt t="32527" x="739775" y="5456238"/>
          <p14:tracePt t="32544" x="777875" y="5449888"/>
          <p14:tracePt t="32561" x="792163" y="5449888"/>
          <p14:tracePt t="32577" x="804863" y="5443538"/>
          <p14:tracePt t="32594" x="817563" y="5437188"/>
          <p14:tracePt t="32610" x="823913" y="5430838"/>
          <p14:tracePt t="32627" x="830263" y="5424488"/>
          <p14:tracePt t="32650" x="830263" y="5418138"/>
          <p14:tracePt t="32686" x="830263" y="5411788"/>
          <p14:tracePt t="32722" x="823913" y="5411788"/>
          <p14:tracePt t="32782" x="817563" y="5411788"/>
          <p14:tracePt t="32794" x="817563" y="5405438"/>
          <p14:tracePt t="32818" x="811213" y="5405438"/>
          <p14:tracePt t="32831" x="804863" y="5397500"/>
          <p14:tracePt t="32842" x="804863" y="5391150"/>
          <p14:tracePt t="32854" x="798513" y="5384800"/>
          <p14:tracePt t="32866" x="792163" y="5372100"/>
          <p14:tracePt t="32877" x="785813" y="5353050"/>
          <p14:tracePt t="32894" x="777875" y="5334000"/>
          <p14:tracePt t="32910" x="765175" y="5300663"/>
          <p14:tracePt t="32926" x="746125" y="5235575"/>
          <p14:tracePt t="32944" x="752475" y="5184775"/>
          <p14:tracePt t="32960" x="752475" y="5157788"/>
          <p14:tracePt t="32962" x="765175" y="5126038"/>
          <p14:tracePt t="32977" x="771525" y="5105400"/>
          <p14:tracePt t="32993" x="785813" y="5099050"/>
          <p14:tracePt t="33010" x="798513" y="5099050"/>
          <p14:tracePt t="33027" x="811213" y="5105400"/>
          <p14:tracePt t="33043" x="817563" y="5113338"/>
          <p14:tracePt t="33046" x="830263" y="5119688"/>
          <p14:tracePt t="33060" x="869950" y="5126038"/>
          <p14:tracePt t="33077" x="914400" y="5151438"/>
          <p14:tracePt t="33094" x="1038225" y="5184775"/>
          <p14:tracePt t="33110" x="1076325" y="5203825"/>
          <p14:tracePt t="33127" x="1116013" y="5210175"/>
          <p14:tracePt t="33130" x="1135063" y="5222875"/>
          <p14:tracePt t="33143" x="1147763" y="5229225"/>
          <p14:tracePt t="33166" x="1155700" y="5235575"/>
          <p14:tracePt t="33200" x="1155700" y="5241925"/>
          <p14:tracePt t="33273" x="1155700" y="5248275"/>
          <p14:tracePt t="33380" x="1155700" y="5256213"/>
          <p14:tracePt t="33405" x="1155700" y="5262563"/>
          <p14:tracePt t="33441" x="1162050" y="5262563"/>
          <p14:tracePt t="33453" x="1174750" y="5262563"/>
          <p14:tracePt t="33465" x="1181100" y="5268913"/>
          <p14:tracePt t="33476" x="1206500" y="5275263"/>
          <p14:tracePt t="33493" x="1219200" y="5281613"/>
          <p14:tracePt t="33510" x="1225550" y="5281613"/>
          <p14:tracePt t="33526" x="1252538" y="5287963"/>
          <p14:tracePt t="33543" x="1265238" y="5294313"/>
          <p14:tracePt t="33561" x="1271588" y="5294313"/>
          <p14:tracePt t="33576" x="1277938" y="5300663"/>
          <p14:tracePt t="33621" x="1284288" y="5300663"/>
          <p14:tracePt t="34136" x="1284288" y="5313363"/>
          <p14:tracePt t="34149" x="1265238" y="5326063"/>
          <p14:tracePt t="34159" x="1252538" y="5359400"/>
          <p14:tracePt t="34172" x="1219200" y="5391150"/>
          <p14:tracePt t="34184" x="1181100" y="5449888"/>
          <p14:tracePt t="34196" x="1135063" y="5527675"/>
          <p14:tracePt t="34209" x="1096963" y="5645150"/>
          <p14:tracePt t="34226" x="1038225" y="5761038"/>
          <p14:tracePt t="34242" x="1012825" y="5865813"/>
          <p14:tracePt t="34244" x="973138" y="5937250"/>
          <p14:tracePt t="34259" x="954088" y="5988050"/>
          <p14:tracePt t="34276" x="927100" y="6027738"/>
          <p14:tracePt t="34292" x="908050" y="6072188"/>
          <p14:tracePt t="34309" x="901700" y="6086475"/>
          <p14:tracePt t="34325" x="895350" y="6092825"/>
          <p14:tracePt t="34342" x="882650" y="6099175"/>
          <p14:tracePt t="34359" x="876300" y="6099175"/>
          <p14:tracePt t="34376" x="863600" y="6105525"/>
          <p14:tracePt t="34392" x="849313" y="6105525"/>
          <p14:tracePt t="34409" x="842963" y="6105525"/>
          <p14:tracePt t="34425" x="830263" y="6105525"/>
          <p14:tracePt t="34442" x="823913" y="6105525"/>
          <p14:tracePt t="34459" x="798513" y="6099175"/>
          <p14:tracePt t="34475" x="785813" y="6099175"/>
          <p14:tracePt t="34492" x="765175" y="6099175"/>
          <p14:tracePt t="34508" x="708025" y="6099175"/>
          <p14:tracePt t="34525" x="681038" y="6105525"/>
          <p14:tracePt t="34542" x="628650" y="6124575"/>
          <p14:tracePt t="34559" x="609600" y="6130925"/>
          <p14:tracePt t="34575" x="596900" y="6137275"/>
          <p14:tracePt t="34592" x="571500" y="6157913"/>
          <p14:tracePt t="34609" x="565150" y="6164263"/>
          <p14:tracePt t="34625" x="550863" y="6170613"/>
          <p14:tracePt t="34642" x="531813" y="6208713"/>
          <p14:tracePt t="34658" x="525463" y="6221413"/>
          <p14:tracePt t="34677" x="506413" y="6242050"/>
          <p14:tracePt t="34692" x="500063" y="6248400"/>
          <p14:tracePt t="34709" x="500063" y="6254750"/>
          <p14:tracePt t="34711" x="493713" y="6254750"/>
          <p14:tracePt t="34725" x="493713" y="6261100"/>
          <p14:tracePt t="34783" x="500063" y="6261100"/>
          <p14:tracePt t="34806" x="506413" y="6254750"/>
          <p14:tracePt t="34819" x="512763" y="6254750"/>
          <p14:tracePt t="34831" x="519113" y="6254750"/>
          <p14:tracePt t="34843" x="519113" y="6248400"/>
          <p14:tracePt t="34859" x="525463" y="6248400"/>
          <p14:tracePt t="34875" x="525463" y="6235700"/>
          <p14:tracePt t="34892" x="538163" y="6229350"/>
          <p14:tracePt t="34908" x="544513" y="6229350"/>
          <p14:tracePt t="34925" x="558800" y="6221413"/>
          <p14:tracePt t="34927" x="558800" y="6215063"/>
          <p14:tracePt t="34941" x="571500" y="6208713"/>
          <p14:tracePt t="34959" x="577850" y="6208713"/>
          <p14:tracePt t="34975" x="577850" y="6196013"/>
          <p14:tracePt t="34976" x="584200" y="6196013"/>
          <p14:tracePt t="34992" x="590550" y="6196013"/>
          <p14:tracePt t="35011" x="596900" y="6189663"/>
          <p14:tracePt t="35034" x="603250" y="6189663"/>
          <p14:tracePt t="35058" x="609600" y="6189663"/>
          <p14:tracePt t="35095" x="615950" y="6189663"/>
          <p14:tracePt t="35130" x="622300" y="6189663"/>
          <p14:tracePt t="35154" x="622300" y="6183313"/>
          <p14:tracePt t="35191" x="622300" y="6176963"/>
          <p14:tracePt t="35238" x="622300" y="6170613"/>
          <p14:tracePt t="35250" x="622300" y="6164263"/>
          <p14:tracePt t="35274" x="615950" y="6157913"/>
          <p14:tracePt t="35285" x="615950" y="6151563"/>
          <p14:tracePt t="35298" x="615950" y="6143625"/>
          <p14:tracePt t="35322" x="615950" y="6137275"/>
          <p14:tracePt t="35347" x="615950" y="6130925"/>
          <p14:tracePt t="35369" x="615950" y="6124575"/>
          <p14:tracePt t="35405" x="615950" y="6118225"/>
          <p14:tracePt t="35477" x="622300" y="6118225"/>
          <p14:tracePt t="35489" x="622300" y="6124575"/>
          <p14:tracePt t="35514" x="628650" y="6130925"/>
          <p14:tracePt t="35526" x="636588" y="6137275"/>
          <p14:tracePt t="35537" x="649288" y="6143625"/>
          <p14:tracePt t="35550" x="661988" y="6151563"/>
          <p14:tracePt t="35563" x="687388" y="6157913"/>
          <p14:tracePt t="35574" x="727075" y="6170613"/>
          <p14:tracePt t="35592" x="777875" y="6183313"/>
          <p14:tracePt t="35608" x="804863" y="6183313"/>
          <p14:tracePt t="35610" x="830263" y="6189663"/>
          <p14:tracePt t="35625" x="842963" y="6189663"/>
          <p14:tracePt t="35641" x="857250" y="6196013"/>
          <p14:tracePt t="35658" x="863600" y="6196013"/>
          <p14:tracePt t="35765" x="857250" y="6196013"/>
          <p14:tracePt t="36017" x="849313" y="6189663"/>
          <p14:tracePt t="36053" x="849313" y="6183313"/>
          <p14:tracePt t="36089" x="849313" y="6176963"/>
          <p14:tracePt t="36101" x="849313" y="6170613"/>
          <p14:tracePt t="36113" x="849313" y="6164263"/>
          <p14:tracePt t="36137" x="849313" y="6157913"/>
          <p14:tracePt t="36161" x="849313" y="6151563"/>
          <p14:tracePt t="36173" x="849313" y="6143625"/>
          <p14:tracePt t="36196" x="842963" y="6137275"/>
          <p14:tracePt t="36208" x="842963" y="6130925"/>
          <p14:tracePt t="36232" x="842963" y="6124575"/>
          <p14:tracePt t="36245" x="836613" y="6118225"/>
          <p14:tracePt t="36256" x="836613" y="6111875"/>
          <p14:tracePt t="36269" x="836613" y="6105525"/>
          <p14:tracePt t="36281" x="830263" y="6099175"/>
          <p14:tracePt t="36304" x="830263" y="6092825"/>
          <p14:tracePt t="36340" x="830263" y="6086475"/>
          <p14:tracePt t="36376" x="823913" y="6086475"/>
          <p14:tracePt t="36412" x="823913" y="6080125"/>
          <p14:tracePt t="36436" x="823913" y="6072188"/>
          <p14:tracePt t="36472" x="823913" y="6065838"/>
          <p14:tracePt t="36507" x="817563" y="6059488"/>
          <p14:tracePt t="36519" x="817563" y="6053138"/>
          <p14:tracePt t="36532" x="817563" y="6046788"/>
          <p14:tracePt t="36545" x="811213" y="6040438"/>
          <p14:tracePt t="36557" x="811213" y="6021388"/>
          <p14:tracePt t="36574" x="811213" y="6008688"/>
          <p14:tracePt t="36592" x="804863" y="5975350"/>
          <p14:tracePt t="36607" x="798513" y="5962650"/>
          <p14:tracePt t="36624" x="798513" y="5956300"/>
          <p14:tracePt t="36640" x="798513" y="5943600"/>
          <p14:tracePt t="36663" x="798513" y="5937250"/>
          <p14:tracePt t="36723" x="798513" y="5943600"/>
          <p14:tracePt t="36735" x="804863" y="5943600"/>
          <p14:tracePt t="36748" x="811213" y="5949950"/>
          <p14:tracePt t="36760" x="823913" y="5949950"/>
          <p14:tracePt t="36774" x="849313" y="5949950"/>
          <p14:tracePt t="36790" x="882650" y="5956300"/>
          <p14:tracePt t="36807" x="979488" y="5956300"/>
          <p14:tracePt t="36824" x="1025525" y="5956300"/>
          <p14:tracePt t="36840" x="1063625" y="5956300"/>
          <p14:tracePt t="36857" x="1116013" y="5956300"/>
          <p14:tracePt t="36873" x="1128713" y="5956300"/>
          <p14:tracePt t="36891" x="1147763" y="5956300"/>
          <p14:tracePt t="37550" x="1252538" y="5949950"/>
          <p14:tracePt t="37562" x="1362075" y="5937250"/>
          <p14:tracePt t="37574" x="1531938" y="5930900"/>
          <p14:tracePt t="37586" x="1687513" y="5930900"/>
          <p14:tracePt t="37597" x="1843088" y="5943600"/>
          <p14:tracePt t="37611" x="1979613" y="5949950"/>
          <p14:tracePt t="37623" x="2108200" y="5981700"/>
          <p14:tracePt t="37640" x="2219325" y="5994400"/>
          <p14:tracePt t="37656" x="2278063" y="6002338"/>
          <p14:tracePt t="37658" x="2322513" y="6015038"/>
          <p14:tracePt t="37673" x="2362200" y="6015038"/>
          <p14:tracePt t="37690" x="2393950" y="6015038"/>
          <p14:tracePt t="37706" x="2446338" y="6021388"/>
          <p14:tracePt t="37723" x="2465388" y="6021388"/>
          <p14:tracePt t="37741" x="2478088" y="6021388"/>
          <p14:tracePt t="37756" x="2492375" y="6021388"/>
          <p14:tracePt t="37778" x="2498725" y="6021388"/>
          <p14:tracePt t="37813" x="2505075" y="6021388"/>
          <p14:tracePt t="37827" x="2511425" y="6021388"/>
          <p14:tracePt t="37838" x="2530475" y="6015038"/>
          <p14:tracePt t="37850" x="2549525" y="6015038"/>
          <p14:tracePt t="37862" x="2595563" y="6002338"/>
          <p14:tracePt t="37873" x="2654300" y="6002338"/>
          <p14:tracePt t="37890" x="2738438" y="5994400"/>
          <p14:tracePt t="37906" x="2816225" y="5994400"/>
          <p14:tracePt t="37922" x="2978150" y="6008688"/>
          <p14:tracePt t="37939" x="3036888" y="6015038"/>
          <p14:tracePt t="37957" x="3121025" y="6034088"/>
          <p14:tracePt t="37959" x="3133725" y="6040438"/>
          <p14:tracePt t="37973" x="3179763" y="6046788"/>
          <p14:tracePt t="37989" x="3198813" y="6053138"/>
          <p14:tracePt t="38006" x="3224213" y="6053138"/>
          <p14:tracePt t="38029" x="3230563" y="6053138"/>
          <p14:tracePt t="38377" x="3289300" y="6053138"/>
          <p14:tracePt t="38389" x="3394075" y="6053138"/>
          <p14:tracePt t="38401" x="3536950" y="6059488"/>
          <p14:tracePt t="38413" x="3659188" y="6059488"/>
          <p14:tracePt t="38426" x="3749675" y="6059488"/>
          <p14:tracePt t="38439" x="3821113" y="6059488"/>
          <p14:tracePt t="38456" x="3860800" y="6059488"/>
          <p14:tracePt t="38473" x="3906838" y="6059488"/>
          <p14:tracePt t="38489" x="3913188" y="6059488"/>
          <p14:tracePt t="38506" x="3919538" y="6059488"/>
          <p14:tracePt t="38533" x="3913188" y="6059488"/>
          <p14:tracePt t="38545" x="3913188" y="6053138"/>
          <p14:tracePt t="38556" x="3906838" y="6053138"/>
          <p14:tracePt t="38572" x="3898900" y="6046788"/>
          <p14:tracePt t="38589" x="3886200" y="6046788"/>
          <p14:tracePt t="38605" x="3860800" y="6034088"/>
          <p14:tracePt t="38622" x="3848100" y="6034088"/>
          <p14:tracePt t="38639" x="3835400" y="6034088"/>
          <p14:tracePt t="38641" x="3814763" y="6034088"/>
          <p14:tracePt t="38655" x="3808413" y="6040438"/>
          <p14:tracePt t="38672" x="3795713" y="6040438"/>
          <p14:tracePt t="38689" x="3789363" y="6046788"/>
          <p14:tracePt t="38705" x="3789363" y="6053138"/>
          <p14:tracePt t="38725" x="3795713" y="6053138"/>
          <p14:tracePt t="38739" x="3814763" y="6059488"/>
          <p14:tracePt t="38755" x="3827463" y="6059488"/>
          <p14:tracePt t="38772" x="3886200" y="6059488"/>
          <p14:tracePt t="38789" x="3957638" y="6059488"/>
          <p14:tracePt t="38805" x="4048125" y="6046788"/>
          <p14:tracePt t="38822" x="4268788" y="6046788"/>
          <p14:tracePt t="38839" x="4346575" y="6053138"/>
          <p14:tracePt t="38856" x="4418013" y="6059488"/>
          <p14:tracePt t="38872" x="4425950" y="6059488"/>
          <p14:tracePt t="38889" x="4432300" y="6065838"/>
          <p14:tracePt t="38916" x="4425950" y="6072188"/>
          <p14:tracePt t="38929" x="4411663" y="6072188"/>
          <p14:tracePt t="38940" x="4405313" y="6072188"/>
          <p14:tracePt t="38955" x="4398963" y="6072188"/>
          <p14:tracePt t="38972" x="4392613" y="6072188"/>
          <p14:tracePt t="38989" x="4379913" y="6072188"/>
          <p14:tracePt t="39005" x="4373563" y="6072188"/>
          <p14:tracePt t="39022" x="4367213" y="6072188"/>
          <p14:tracePt t="39038" x="4354513" y="6080125"/>
          <p14:tracePt t="39055" x="4346575" y="6080125"/>
          <p14:tracePt t="39072" x="4333875" y="6080125"/>
          <p14:tracePt t="39089" x="4327525" y="6080125"/>
          <p14:tracePt t="39105" x="4321175" y="6080125"/>
          <p14:tracePt t="39121" x="4314825" y="6080125"/>
          <p14:tracePt t="39228" x="4321175" y="6080125"/>
          <p14:tracePt t="39252" x="4327525" y="6080125"/>
          <p14:tracePt t="39264" x="4333875" y="6080125"/>
          <p14:tracePt t="39277" x="4340225" y="6080125"/>
          <p14:tracePt t="39288" x="4354513" y="6072188"/>
          <p14:tracePt t="39305" x="4367213" y="6072188"/>
          <p14:tracePt t="39321" x="4379913" y="6072188"/>
          <p14:tracePt t="39338" x="4405313" y="6065838"/>
          <p14:tracePt t="39355" x="4432300" y="6059488"/>
          <p14:tracePt t="39372" x="4510088" y="6053138"/>
          <p14:tracePt t="39388" x="4560888" y="6040438"/>
          <p14:tracePt t="39406" x="4600575" y="6040438"/>
          <p14:tracePt t="39408" x="4625975" y="6040438"/>
          <p14:tracePt t="39422" x="4652963" y="6040438"/>
          <p14:tracePt t="39438" x="4672013" y="6034088"/>
          <p14:tracePt t="39455" x="4697413" y="6034088"/>
          <p14:tracePt t="39472" x="4703763" y="6034088"/>
          <p14:tracePt t="39488" x="4710113" y="6034088"/>
          <p14:tracePt t="39491" x="4716463" y="6034088"/>
          <p14:tracePt t="39526" x="4724400" y="6034088"/>
          <p14:tracePt t="39563" x="4730750" y="6034088"/>
          <p14:tracePt t="39598" x="4737100" y="6034088"/>
          <p14:tracePt t="39611" x="4743450" y="6034088"/>
          <p14:tracePt t="39622" x="4749800" y="6034088"/>
          <p14:tracePt t="39634" x="4756150" y="6034088"/>
          <p14:tracePt t="39660" x="4762500" y="6034088"/>
          <p14:tracePt t="39671" x="4768850" y="6034088"/>
          <p14:tracePt t="39682" x="4775200" y="6034088"/>
          <p14:tracePt t="39707" x="4781550" y="6034088"/>
          <p14:tracePt t="39742" x="4787900" y="6034088"/>
          <p14:tracePt t="39802" x="4795838" y="6034088"/>
          <p14:tracePt t="39838" x="4802188" y="6034088"/>
          <p14:tracePt t="39863" x="4814888" y="6034088"/>
          <p14:tracePt t="39876" x="4827588" y="6034088"/>
          <p14:tracePt t="39886" x="4852988" y="6034088"/>
          <p14:tracePt t="39899" x="4886325" y="6034088"/>
          <p14:tracePt t="39910" x="4930775" y="6034088"/>
          <p14:tracePt t="39922" x="4983163" y="6034088"/>
          <p14:tracePt t="39938" x="5022850" y="6034088"/>
          <p14:tracePt t="39955" x="5048250" y="6034088"/>
          <p14:tracePt t="39971" x="5100638" y="6034088"/>
          <p14:tracePt t="39988" x="5113338" y="6034088"/>
          <p14:tracePt t="40005" x="5126038" y="6034088"/>
          <p14:tracePt t="40007" x="5132388" y="6034088"/>
          <p14:tracePt t="40021" x="5145088" y="6034088"/>
          <p14:tracePt t="40042" x="5151438" y="6034088"/>
          <p14:tracePt t="40054" x="5157788" y="6034088"/>
          <p14:tracePt t="40077" x="5164138" y="6034088"/>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LEAKAGE</a:t>
            </a:r>
          </a:p>
        </p:txBody>
      </p:sp>
      <p:sp>
        <p:nvSpPr>
          <p:cNvPr id="4" name="TextBox 3"/>
          <p:cNvSpPr txBox="1"/>
          <p:nvPr/>
        </p:nvSpPr>
        <p:spPr>
          <a:xfrm>
            <a:off x="749808" y="749808"/>
            <a:ext cx="9789132"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Two rules, because a leak would flatter every number after it.</a:t>
            </a:r>
          </a:p>
        </p:txBody>
      </p:sp>
      <p:sp>
        <p:nvSpPr>
          <p:cNvPr id="5" name="TextBox 4"/>
          <p:cNvSpPr txBox="1"/>
          <p:nvPr/>
        </p:nvSpPr>
        <p:spPr>
          <a:xfrm>
            <a:off x="749808" y="2011680"/>
            <a:ext cx="9789132" cy="603504"/>
          </a:xfrm>
          <a:prstGeom prst="rect">
            <a:avLst/>
          </a:prstGeom>
          <a:noFill/>
        </p:spPr>
        <p:txBody>
          <a:bodyPr wrap="square" lIns="0" tIns="0" rIns="0" bIns="0" anchor="t">
            <a:noAutofit/>
          </a:bodyPr>
          <a:lstStyle/>
          <a:p>
            <a:pPr algn="l">
              <a:lnSpc>
                <a:spcPct val="148000"/>
              </a:lnSpc>
            </a:pPr>
            <a:r>
              <a:rPr sz="1300" b="0">
                <a:solidFill>
                  <a:srgbClr val="787066"/>
                </a:solidFill>
                <a:latin typeface="Franklin Gothic Book"/>
              </a:rPr>
              <a:t>A feature that quietly reads the year it is meant to predict will score beautifully and mean nothing. We did not trust ourselves to avoid that by being careful, so we tested for it twice.</a:t>
            </a:r>
          </a:p>
        </p:txBody>
      </p:sp>
      <p:sp>
        <p:nvSpPr>
          <p:cNvPr id="6" name="Rectangle 5"/>
          <p:cNvSpPr/>
          <p:nvPr/>
        </p:nvSpPr>
        <p:spPr>
          <a:xfrm>
            <a:off x="749808" y="2871216"/>
            <a:ext cx="4369803" cy="2560320"/>
          </a:xfrm>
          <a:prstGeom prst="rect">
            <a:avLst/>
          </a:prstGeom>
          <a:solidFill>
            <a:srgbClr val="F4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9808" y="2871216"/>
            <a:ext cx="34747" cy="2560320"/>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33856" y="3108960"/>
            <a:ext cx="3601707" cy="201168"/>
          </a:xfrm>
          <a:prstGeom prst="rect">
            <a:avLst/>
          </a:prstGeom>
          <a:noFill/>
        </p:spPr>
        <p:txBody>
          <a:bodyPr wrap="square" lIns="0" tIns="0" rIns="0" bIns="0" anchor="t">
            <a:noAutofit/>
          </a:bodyPr>
          <a:lstStyle/>
          <a:p>
            <a:pPr algn="l">
              <a:lnSpc>
                <a:spcPct val="100000"/>
              </a:lnSpc>
            </a:pPr>
            <a:r>
              <a:rPr sz="900" b="0" spc="140">
                <a:solidFill>
                  <a:srgbClr val="787066"/>
                </a:solidFill>
                <a:latin typeface="Franklin Gothic Medium"/>
              </a:rPr>
              <a:t>RULE ONE</a:t>
            </a:r>
          </a:p>
        </p:txBody>
      </p:sp>
      <p:sp>
        <p:nvSpPr>
          <p:cNvPr id="9" name="TextBox 8"/>
          <p:cNvSpPr txBox="1"/>
          <p:nvPr/>
        </p:nvSpPr>
        <p:spPr>
          <a:xfrm>
            <a:off x="1133856" y="3383280"/>
            <a:ext cx="3601707" cy="384048"/>
          </a:xfrm>
          <a:prstGeom prst="rect">
            <a:avLst/>
          </a:prstGeom>
          <a:noFill/>
        </p:spPr>
        <p:txBody>
          <a:bodyPr wrap="square" lIns="0" tIns="0" rIns="0" bIns="0" anchor="t">
            <a:noAutofit/>
          </a:bodyPr>
          <a:lstStyle/>
          <a:p>
            <a:pPr algn="l">
              <a:lnSpc>
                <a:spcPct val="100000"/>
              </a:lnSpc>
            </a:pPr>
            <a:r>
              <a:rPr sz="2000" b="0">
                <a:solidFill>
                  <a:srgbClr val="16130F"/>
                </a:solidFill>
                <a:latin typeface="Georgia"/>
              </a:rPr>
              <a:t>Recomputation</a:t>
            </a:r>
          </a:p>
        </p:txBody>
      </p:sp>
      <p:sp>
        <p:nvSpPr>
          <p:cNvPr id="10" name="TextBox 9"/>
          <p:cNvSpPr txBox="1"/>
          <p:nvPr/>
        </p:nvSpPr>
        <p:spPr>
          <a:xfrm>
            <a:off x="1133856" y="3858768"/>
            <a:ext cx="3601707" cy="1426464"/>
          </a:xfrm>
          <a:prstGeom prst="rect">
            <a:avLst/>
          </a:prstGeom>
          <a:noFill/>
        </p:spPr>
        <p:txBody>
          <a:bodyPr wrap="square" lIns="0" tIns="0" rIns="0" bIns="0" anchor="t">
            <a:noAutofit/>
          </a:bodyPr>
          <a:lstStyle/>
          <a:p>
            <a:pPr algn="l">
              <a:lnSpc>
                <a:spcPct val="146000"/>
              </a:lnSpc>
            </a:pPr>
            <a:r>
              <a:rPr sz="1100" b="0" dirty="0">
                <a:solidFill>
                  <a:srgbClr val="3A342E"/>
                </a:solidFill>
                <a:latin typeface="Franklin Gothic Book"/>
              </a:rPr>
              <a:t>Every fire-history feature is rebuilt from years strictly before the target year, in one function that both the training path and the forecast path call. A second implementation would have drifted, and the drift would have been silent — the forecast has no label to check itself against.</a:t>
            </a:r>
          </a:p>
        </p:txBody>
      </p:sp>
      <p:sp>
        <p:nvSpPr>
          <p:cNvPr id="11" name="Rectangle 10"/>
          <p:cNvSpPr/>
          <p:nvPr/>
        </p:nvSpPr>
        <p:spPr>
          <a:xfrm>
            <a:off x="6169136" y="2871216"/>
            <a:ext cx="4369803" cy="2560320"/>
          </a:xfrm>
          <a:prstGeom prst="rect">
            <a:avLst/>
          </a:prstGeom>
          <a:solidFill>
            <a:srgbClr val="F4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69136" y="2871216"/>
            <a:ext cx="34747" cy="2560320"/>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53184" y="3108960"/>
            <a:ext cx="3601707" cy="201168"/>
          </a:xfrm>
          <a:prstGeom prst="rect">
            <a:avLst/>
          </a:prstGeom>
          <a:noFill/>
        </p:spPr>
        <p:txBody>
          <a:bodyPr wrap="square" lIns="0" tIns="0" rIns="0" bIns="0" anchor="t">
            <a:noAutofit/>
          </a:bodyPr>
          <a:lstStyle/>
          <a:p>
            <a:pPr algn="l">
              <a:lnSpc>
                <a:spcPct val="100000"/>
              </a:lnSpc>
            </a:pPr>
            <a:r>
              <a:rPr sz="900" b="0" spc="140">
                <a:solidFill>
                  <a:srgbClr val="787066"/>
                </a:solidFill>
                <a:latin typeface="Franklin Gothic Medium"/>
              </a:rPr>
              <a:t>RULE TWO</a:t>
            </a:r>
          </a:p>
        </p:txBody>
      </p:sp>
      <p:sp>
        <p:nvSpPr>
          <p:cNvPr id="14" name="TextBox 13"/>
          <p:cNvSpPr txBox="1"/>
          <p:nvPr/>
        </p:nvSpPr>
        <p:spPr>
          <a:xfrm>
            <a:off x="6553184" y="3383280"/>
            <a:ext cx="3601707" cy="384048"/>
          </a:xfrm>
          <a:prstGeom prst="rect">
            <a:avLst/>
          </a:prstGeom>
          <a:noFill/>
        </p:spPr>
        <p:txBody>
          <a:bodyPr wrap="square" lIns="0" tIns="0" rIns="0" bIns="0" anchor="t">
            <a:noAutofit/>
          </a:bodyPr>
          <a:lstStyle/>
          <a:p>
            <a:pPr algn="l">
              <a:lnSpc>
                <a:spcPct val="100000"/>
              </a:lnSpc>
            </a:pPr>
            <a:r>
              <a:rPr sz="2000" b="0">
                <a:solidFill>
                  <a:srgbClr val="16130F"/>
                </a:solidFill>
                <a:latin typeface="Georgia"/>
              </a:rPr>
              <a:t>Scrambling</a:t>
            </a:r>
          </a:p>
        </p:txBody>
      </p:sp>
      <p:sp>
        <p:nvSpPr>
          <p:cNvPr id="15" name="TextBox 14"/>
          <p:cNvSpPr txBox="1"/>
          <p:nvPr/>
        </p:nvSpPr>
        <p:spPr>
          <a:xfrm>
            <a:off x="6553184" y="3858768"/>
            <a:ext cx="3601707" cy="1426464"/>
          </a:xfrm>
          <a:prstGeom prst="rect">
            <a:avLst/>
          </a:prstGeom>
          <a:noFill/>
        </p:spPr>
        <p:txBody>
          <a:bodyPr wrap="square" lIns="0" tIns="0" rIns="0" bIns="0" anchor="t">
            <a:noAutofit/>
          </a:bodyPr>
          <a:lstStyle/>
          <a:p>
            <a:pPr algn="l">
              <a:lnSpc>
                <a:spcPct val="146000"/>
              </a:lnSpc>
            </a:pPr>
            <a:r>
              <a:rPr sz="1100" b="0">
                <a:solidFill>
                  <a:srgbClr val="3A342E"/>
                </a:solidFill>
                <a:latin typeface="Franklin Gothic Book"/>
              </a:rPr>
              <a:t>We shuffled one year's labels and rebuilt the features. If anything were reading the answer, the scores would have collapsed or held suspiciously steady. They moved exactly as much as chance says they should.</a:t>
            </a:r>
          </a:p>
        </p:txBody>
      </p:sp>
      <p:cxnSp>
        <p:nvCxnSpPr>
          <p:cNvPr id="16" name="Connector 15"/>
          <p:cNvCxnSpPr/>
          <p:nvPr/>
        </p:nvCxnSpPr>
        <p:spPr>
          <a:xfrm>
            <a:off x="749808" y="5577840"/>
            <a:ext cx="7982689"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49808" y="5742432"/>
            <a:ext cx="7982689" cy="310896"/>
          </a:xfrm>
          <a:prstGeom prst="rect">
            <a:avLst/>
          </a:prstGeom>
          <a:noFill/>
        </p:spPr>
        <p:txBody>
          <a:bodyPr wrap="square" lIns="0" tIns="0" rIns="0" bIns="0" anchor="t">
            <a:noAutofit/>
          </a:bodyPr>
          <a:lstStyle/>
          <a:p>
            <a:pPr algn="l">
              <a:lnSpc>
                <a:spcPct val="120000"/>
              </a:lnSpc>
            </a:pPr>
            <a:r>
              <a:rPr sz="1300" b="0">
                <a:solidFill>
                  <a:srgbClr val="C8341B"/>
                </a:solidFill>
                <a:latin typeface="Georgia"/>
              </a:rPr>
              <a:t>Both checks are scripts in the repository, not claims in a slide.</a:t>
            </a:r>
          </a:p>
        </p:txBody>
      </p:sp>
      <p:cxnSp>
        <p:nvCxnSpPr>
          <p:cNvPr id="18" name="Connector 17"/>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49808" y="6345936"/>
            <a:ext cx="4009632"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9</a:t>
            </a:r>
          </a:p>
        </p:txBody>
      </p:sp>
      <p:sp>
        <p:nvSpPr>
          <p:cNvPr id="21" name="TextBox 20"/>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Saira Zafar</a:t>
            </a:r>
          </a:p>
        </p:txBody>
      </p:sp>
    </p:spTree>
    <p:extLst>
      <p:ext uri="{BB962C8B-B14F-4D97-AF65-F5344CB8AC3E}">
        <p14:creationId xmlns:p14="http://schemas.microsoft.com/office/powerpoint/2010/main" val="756467645"/>
      </p:ext>
    </p:extLst>
  </p:cSld>
  <p:clrMapOvr>
    <a:masterClrMapping/>
  </p:clrMapOvr>
  <mc:AlternateContent xmlns:mc="http://schemas.openxmlformats.org/markup-compatibility/2006" xmlns:p14="http://schemas.microsoft.com/office/powerpoint/2010/main">
    <mc:Choice Requires="p14">
      <p:transition spd="slow" p14:dur="2000" advTm="60568"/>
    </mc:Choice>
    <mc:Fallback xmlns="">
      <p:transition spd="slow" advTm="60568"/>
    </mc:Fallback>
  </mc:AlternateContent>
  <p:extLst>
    <p:ext uri="{3A86A75C-4F4B-4683-9AE1-C65F6400EC91}">
      <p14:laserTraceLst xmlns:p14="http://schemas.microsoft.com/office/powerpoint/2010/main">
        <p14:tracePtLst>
          <p14:tracePt t="4756" x="2355850" y="2297113"/>
          <p14:tracePt t="4768" x="2166938" y="2316163"/>
          <p14:tracePt t="4779" x="2030413" y="2341563"/>
          <p14:tracePt t="4793" x="1887538" y="2362200"/>
          <p14:tracePt t="4805" x="1790700" y="2368550"/>
          <p14:tracePt t="4822" x="1706563" y="2381250"/>
          <p14:tracePt t="4839" x="1660525" y="2387600"/>
          <p14:tracePt t="4840" x="1628775" y="2393950"/>
          <p14:tracePt t="4856" x="1595438" y="2413000"/>
          <p14:tracePt t="4872" x="1582738" y="2413000"/>
          <p14:tracePt t="4888" x="1570038" y="2419350"/>
          <p14:tracePt t="5008" x="1563688" y="2419350"/>
          <p14:tracePt t="5080" x="1557338" y="2419350"/>
          <p14:tracePt t="5115" x="1550988" y="2419350"/>
          <p14:tracePt t="5128" x="1544638" y="2419350"/>
          <p14:tracePt t="5139" x="1538288" y="2419350"/>
          <p14:tracePt t="5152" x="1538288" y="2427288"/>
          <p14:tracePt t="5164" x="1531938" y="2427288"/>
          <p14:tracePt t="5177" x="1525588" y="2427288"/>
          <p14:tracePt t="5188" x="1517650" y="2427288"/>
          <p14:tracePt t="5205" x="1511300" y="2427288"/>
          <p14:tracePt t="5221" x="1504950" y="2427288"/>
          <p14:tracePt t="5238" x="1498600" y="2427288"/>
          <p14:tracePt t="5283" x="1498600" y="2419350"/>
          <p14:tracePt t="5295" x="1504950" y="2413000"/>
          <p14:tracePt t="5308" x="1511300" y="2406650"/>
          <p14:tracePt t="5320" x="1517650" y="2406650"/>
          <p14:tracePt t="5331" x="1525588" y="2406650"/>
          <p14:tracePt t="5344" x="1531938" y="2400300"/>
          <p14:tracePt t="5355" x="1538288" y="2393950"/>
          <p14:tracePt t="5371" x="1544638" y="2393950"/>
          <p14:tracePt t="5388" x="1550988" y="2387600"/>
          <p14:tracePt t="5405" x="1582738" y="2381250"/>
          <p14:tracePt t="5421" x="1635125" y="2381250"/>
          <p14:tracePt t="5439" x="1803400" y="2381250"/>
          <p14:tracePt t="5455" x="1920875" y="2381250"/>
          <p14:tracePt t="5472" x="1985963" y="2381250"/>
          <p14:tracePt t="5488" x="2063750" y="2381250"/>
          <p14:tracePt t="5505" x="2082800" y="2381250"/>
          <p14:tracePt t="5522" x="2101850" y="2381250"/>
          <p14:tracePt t="5560" x="2108200" y="2381250"/>
          <p14:tracePt t="5978" x="2114550" y="2381250"/>
          <p14:tracePt t="6026" x="2122488" y="2381250"/>
          <p14:tracePt t="6062" x="2128838" y="2381250"/>
          <p14:tracePt t="6098" x="2135188" y="2374900"/>
          <p14:tracePt t="7272" x="2206625" y="2374900"/>
          <p14:tracePt t="7285" x="2446338" y="2374900"/>
          <p14:tracePt t="7297" x="2705100" y="2374900"/>
          <p14:tracePt t="7309" x="2932113" y="2374900"/>
          <p14:tracePt t="7321" x="3173413" y="2362200"/>
          <p14:tracePt t="7336" x="3341688" y="2362200"/>
          <p14:tracePt t="7353" x="3465513" y="2355850"/>
          <p14:tracePt t="7370" x="3575050" y="2355850"/>
          <p14:tracePt t="7387" x="3600450" y="2355850"/>
          <p14:tracePt t="7404" x="3627438" y="2355850"/>
          <p14:tracePt t="7420" x="3633788" y="2355850"/>
          <p14:tracePt t="7441" x="3640138" y="2355850"/>
          <p14:tracePt t="7512" x="3646488" y="2355850"/>
          <p14:tracePt t="7525" x="3659188" y="2355850"/>
          <p14:tracePt t="7536" x="3665538" y="2355850"/>
          <p14:tracePt t="7596" x="3665538" y="2362200"/>
          <p14:tracePt t="7632" x="3659188" y="2362200"/>
          <p14:tracePt t="7703" x="3665538" y="2362200"/>
          <p14:tracePt t="7727" x="3671888" y="2362200"/>
          <p14:tracePt t="7740" x="3678238" y="2355850"/>
          <p14:tracePt t="7751" x="3686175" y="2355850"/>
          <p14:tracePt t="7763" x="3692525" y="2355850"/>
          <p14:tracePt t="7775" x="3705225" y="2355850"/>
          <p14:tracePt t="7787" x="3717925" y="2349500"/>
          <p14:tracePt t="7803" x="3757613" y="2349500"/>
          <p14:tracePt t="7819" x="3814763" y="2335213"/>
          <p14:tracePt t="7836" x="3957638" y="2335213"/>
          <p14:tracePt t="7853" x="4016375" y="2335213"/>
          <p14:tracePt t="7869" x="4068763" y="2328863"/>
          <p14:tracePt t="7886" x="4133850" y="2328863"/>
          <p14:tracePt t="7903" x="4152900" y="2328863"/>
          <p14:tracePt t="7920" x="4171950" y="2328863"/>
          <p14:tracePt t="7936" x="4178300" y="2328863"/>
          <p14:tracePt t="7953" x="4184650" y="2328863"/>
          <p14:tracePt t="8062" x="4191000" y="2328863"/>
          <p14:tracePt t="8111" x="4197350" y="2328863"/>
          <p14:tracePt t="8135" x="4205288" y="2328863"/>
          <p14:tracePt t="8194" x="4211638" y="2328863"/>
          <p14:tracePt t="8231" x="4217988" y="2335213"/>
          <p14:tracePt t="8254" x="4224338" y="2335213"/>
          <p14:tracePt t="8279" x="4230688" y="2341563"/>
          <p14:tracePt t="8327" x="4237038" y="2349500"/>
          <p14:tracePt t="8362" x="4243388" y="2349500"/>
          <p14:tracePt t="8386" x="4243388" y="2355850"/>
          <p14:tracePt t="8399" x="4249738" y="2355850"/>
          <p14:tracePt t="8446" x="4256088" y="2355850"/>
          <p14:tracePt t="8483" x="4262438" y="2355850"/>
          <p14:tracePt t="8519" x="4268788" y="2355850"/>
          <p14:tracePt t="8578" x="4276725" y="2355850"/>
          <p14:tracePt t="8638" x="4283075" y="2355850"/>
          <p14:tracePt t="8650" x="4283075" y="2362200"/>
          <p14:tracePt t="8674" x="4289425" y="2362200"/>
          <p14:tracePt t="8711" x="4295775" y="2362200"/>
          <p14:tracePt t="8734" x="4295775" y="2368550"/>
          <p14:tracePt t="8746" x="4302125" y="2368550"/>
          <p14:tracePt t="8794" x="4308475" y="2368550"/>
          <p14:tracePt t="8854" x="4314825" y="2368550"/>
          <p14:tracePt t="8877" x="4314825" y="2374900"/>
          <p14:tracePt t="8890" x="4321175" y="2374900"/>
          <p14:tracePt t="8926" x="4327525" y="2374900"/>
          <p14:tracePt t="8998" x="4333875" y="2374900"/>
          <p14:tracePt t="9009" x="4333875" y="2381250"/>
          <p14:tracePt t="9261" x="4333875" y="2387600"/>
          <p14:tracePt t="9285" x="4327525" y="2387600"/>
          <p14:tracePt t="9297" x="4327525" y="2393950"/>
          <p14:tracePt t="9323" x="4327525" y="2400300"/>
          <p14:tracePt t="9358" x="4346575" y="2406650"/>
          <p14:tracePt t="9369" x="4392613" y="2413000"/>
          <p14:tracePt t="9382" x="4438650" y="2413000"/>
          <p14:tracePt t="9393" x="4522788" y="2427288"/>
          <p14:tracePt t="9406" x="4587875" y="2433638"/>
          <p14:tracePt t="9418" x="4684713" y="2446338"/>
          <p14:tracePt t="9435" x="4749800" y="2452688"/>
          <p14:tracePt t="9452" x="4808538" y="2452688"/>
          <p14:tracePt t="9455" x="4840288" y="2452688"/>
          <p14:tracePt t="9468" x="4873625" y="2459038"/>
          <p14:tracePt t="9485" x="4892675" y="2459038"/>
          <p14:tracePt t="9501" x="4911725" y="2465388"/>
          <p14:tracePt t="9518" x="4924425" y="2465388"/>
          <p14:tracePt t="9535" x="4930775" y="2465388"/>
          <p14:tracePt t="9538" x="4937125" y="2471738"/>
          <p14:tracePt t="9551" x="4951413" y="2471738"/>
          <p14:tracePt t="9568" x="4964113" y="2478088"/>
          <p14:tracePt t="9585" x="4983163" y="2484438"/>
          <p14:tracePt t="9602" x="5002213" y="2490788"/>
          <p14:tracePt t="9618" x="5014913" y="2505075"/>
          <p14:tracePt t="9635" x="5048250" y="2511425"/>
          <p14:tracePt t="9651" x="5060950" y="2511425"/>
          <p14:tracePt t="9668" x="5073650" y="2517775"/>
          <p14:tracePt t="9685" x="5080000" y="2517775"/>
          <p14:tracePt t="9706" x="5086350" y="2517775"/>
          <p14:tracePt t="9728" x="5094288" y="2517775"/>
          <p14:tracePt t="9992" x="5119688" y="2517775"/>
          <p14:tracePt t="10005" x="5157788" y="2517775"/>
          <p14:tracePt t="10016" x="5178425" y="2517775"/>
          <p14:tracePt t="10028" x="5197475" y="2517775"/>
          <p14:tracePt t="10041" x="5216525" y="2517775"/>
          <p14:tracePt t="10052" x="5235575" y="2517775"/>
          <p14:tracePt t="10068" x="5249863" y="2517775"/>
          <p14:tracePt t="10084" x="5262563" y="2517775"/>
          <p14:tracePt t="10101" x="5275263" y="2517775"/>
          <p14:tracePt t="10118" x="5287963" y="2517775"/>
          <p14:tracePt t="10135" x="5294313" y="2517775"/>
          <p14:tracePt t="10151" x="5300663" y="2517775"/>
          <p14:tracePt t="10184" x="5307013" y="2517775"/>
          <p14:tracePt t="10195" x="5313363" y="2517775"/>
          <p14:tracePt t="10220" x="5321300" y="2517775"/>
          <p14:tracePt t="10232" x="5327650" y="2517775"/>
          <p14:tracePt t="10244" x="5334000" y="2517775"/>
          <p14:tracePt t="10258" x="5346700" y="2517775"/>
          <p14:tracePt t="10268" x="5353050" y="2517775"/>
          <p14:tracePt t="10284" x="5365750" y="2517775"/>
          <p14:tracePt t="10305" x="5378450" y="2517775"/>
          <p14:tracePt t="10318" x="5384800" y="2517775"/>
          <p14:tracePt t="10334" x="5392738" y="2517775"/>
          <p14:tracePt t="10351" x="5405438" y="2517775"/>
          <p14:tracePt t="10367" x="5418138" y="2517775"/>
          <p14:tracePt t="10385" x="5424488" y="2517775"/>
          <p14:tracePt t="10401" x="5437188" y="2517775"/>
          <p14:tracePt t="10417" x="5443538" y="2517775"/>
          <p14:tracePt t="10434" x="5449888" y="2517775"/>
          <p14:tracePt t="10436" x="5456238" y="2517775"/>
          <p14:tracePt t="10451" x="5462588" y="2517775"/>
          <p14:tracePt t="10467" x="5470525" y="2517775"/>
          <p14:tracePt t="11814" x="5521325" y="2511425"/>
          <p14:tracePt t="11826" x="5722938" y="2471738"/>
          <p14:tracePt t="11839" x="5981700" y="2452688"/>
          <p14:tracePt t="11850" x="6300788" y="2427288"/>
          <p14:tracePt t="11867" x="6599238" y="2400300"/>
          <p14:tracePt t="11884" x="6891338" y="2387600"/>
          <p14:tracePt t="11886" x="7131050" y="2374900"/>
          <p14:tracePt t="11900" x="7345363" y="2362200"/>
          <p14:tracePt t="11916" x="7513638" y="2362200"/>
          <p14:tracePt t="11933" x="7688263" y="2362200"/>
          <p14:tracePt t="11950" x="7747000" y="2362200"/>
          <p14:tracePt t="11967" x="7786688" y="2362200"/>
          <p14:tracePt t="11983" x="7824788" y="2355850"/>
          <p14:tracePt t="12000" x="7845425" y="2355850"/>
          <p14:tracePt t="12017" x="7864475" y="2355850"/>
          <p14:tracePt t="12033" x="7870825" y="2355850"/>
          <p14:tracePt t="12221" x="7877175" y="2355850"/>
          <p14:tracePt t="12232" x="7883525" y="2355850"/>
          <p14:tracePt t="12244" x="7889875" y="2355850"/>
          <p14:tracePt t="12258" x="7896225" y="2355850"/>
          <p14:tracePt t="12365" x="7902575" y="2355850"/>
          <p14:tracePt t="12412" x="7908925" y="2355850"/>
          <p14:tracePt t="12424" x="7915275" y="2355850"/>
          <p14:tracePt t="12437" x="7929563" y="2355850"/>
          <p14:tracePt t="12449" x="7961313" y="2355850"/>
          <p14:tracePt t="12460" x="7986713" y="2355850"/>
          <p14:tracePt t="12472" x="8039100" y="2355850"/>
          <p14:tracePt t="12486" x="8064500" y="2349500"/>
          <p14:tracePt t="12499" x="8116888" y="2349500"/>
          <p14:tracePt t="12515" x="8143875" y="2349500"/>
          <p14:tracePt t="12533" x="8213725" y="2349500"/>
          <p14:tracePt t="12549" x="8234363" y="2349500"/>
          <p14:tracePt t="12566" x="8247063" y="2349500"/>
          <p14:tracePt t="12582" x="8278813" y="2349500"/>
          <p14:tracePt t="12600" x="8293100" y="2349500"/>
          <p14:tracePt t="12616" x="8305800" y="2349500"/>
          <p14:tracePt t="12632" x="8312150" y="2349500"/>
          <p14:tracePt t="12649" x="8318500" y="2349500"/>
          <p14:tracePt t="12666" x="8324850" y="2349500"/>
          <p14:tracePt t="12682" x="8331200" y="2349500"/>
          <p14:tracePt t="12700" x="8343900" y="2355850"/>
          <p14:tracePt t="12716" x="8356600" y="2355850"/>
          <p14:tracePt t="12733" x="8377238" y="2355850"/>
          <p14:tracePt t="12749" x="8434388" y="2355850"/>
          <p14:tracePt t="12765" x="8467725" y="2355850"/>
          <p14:tracePt t="12782" x="8505825" y="2362200"/>
          <p14:tracePt t="12784" x="8532813" y="2362200"/>
          <p14:tracePt t="12799" x="8551863" y="2362200"/>
          <p14:tracePt t="12815" x="8583613" y="2368550"/>
          <p14:tracePt t="12832" x="8616950" y="2368550"/>
          <p14:tracePt t="12849" x="8629650" y="2368550"/>
          <p14:tracePt t="12866" x="8642350" y="2374900"/>
          <p14:tracePt t="12867" x="8655050" y="2374900"/>
          <p14:tracePt t="12882" x="8669338" y="2374900"/>
          <p14:tracePt t="12899" x="8688388" y="2374900"/>
          <p14:tracePt t="12916" x="8713788" y="2374900"/>
          <p14:tracePt t="12932" x="8726488" y="2374900"/>
          <p14:tracePt t="12949" x="8740775" y="2381250"/>
          <p14:tracePt t="12965" x="8766175" y="2381250"/>
          <p14:tracePt t="12982" x="8778875" y="2381250"/>
          <p14:tracePt t="12999" x="8797925" y="2381250"/>
          <p14:tracePt t="13016" x="8804275" y="2381250"/>
          <p14:tracePt t="13032" x="8812213" y="2381250"/>
          <p14:tracePt t="13049" x="8824913" y="2381250"/>
          <p14:tracePt t="13071" x="8831263" y="2381250"/>
          <p14:tracePt t="13095" x="8837613" y="2381250"/>
          <p14:tracePt t="13131" x="8843963" y="2381250"/>
          <p14:tracePt t="13179" x="8850313" y="2381250"/>
          <p14:tracePt t="13216" x="8856663" y="2381250"/>
          <p14:tracePt t="13275" x="8863013" y="2387600"/>
          <p14:tracePt t="13287" x="8869363" y="2387600"/>
          <p14:tracePt t="13299" x="8882063" y="2387600"/>
          <p14:tracePt t="13311" x="8902700" y="2387600"/>
          <p14:tracePt t="13323" x="8940800" y="2387600"/>
          <p14:tracePt t="13336" x="8980488" y="2387600"/>
          <p14:tracePt t="13348" x="9031288" y="2387600"/>
          <p14:tracePt t="13365" x="9090025" y="2387600"/>
          <p14:tracePt t="13381" x="9155113" y="2387600"/>
          <p14:tracePt t="13399" x="9251950" y="2406650"/>
          <p14:tracePt t="13415" x="9291638" y="2406650"/>
          <p14:tracePt t="13431" x="9363075" y="2406650"/>
          <p14:tracePt t="13449" x="9401175" y="2406650"/>
          <p14:tracePt t="13465" x="9428163" y="2406650"/>
          <p14:tracePt t="13467" x="9447213" y="2413000"/>
          <p14:tracePt t="13482" x="9480550" y="2413000"/>
          <p14:tracePt t="13498" x="9493250" y="2413000"/>
          <p14:tracePt t="13515" x="9525000" y="2413000"/>
          <p14:tracePt t="13532" x="9531350" y="2413000"/>
          <p14:tracePt t="13548" x="9544050" y="2419350"/>
          <p14:tracePt t="13565" x="9550400" y="2419350"/>
          <p14:tracePt t="13588" x="9558338" y="2419350"/>
          <p14:tracePt t="13658" x="9558338" y="2427288"/>
          <p14:tracePt t="13755" x="9564688" y="2427288"/>
          <p14:tracePt t="13768" x="9571038" y="2427288"/>
          <p14:tracePt t="13779" x="9583738" y="2427288"/>
          <p14:tracePt t="13790" x="9596438" y="2433638"/>
          <p14:tracePt t="13803" x="9615488" y="2433638"/>
          <p14:tracePt t="13815" x="9629775" y="2433638"/>
          <p14:tracePt t="13831" x="9642475" y="2433638"/>
          <p14:tracePt t="13849" x="9655175" y="2433638"/>
          <p14:tracePt t="13850" x="9661525" y="2433638"/>
          <p14:tracePt t="13865" x="9667875" y="2433638"/>
          <p14:tracePt t="13881" x="9674225" y="2433638"/>
          <p14:tracePt t="13898" x="9680575" y="2433638"/>
          <p14:tracePt t="13922" x="9686925" y="2433638"/>
          <p14:tracePt t="14055" x="9680575" y="2433638"/>
          <p14:tracePt t="14102" x="9674225" y="2433638"/>
          <p14:tracePt t="14138" x="9667875" y="2433638"/>
          <p14:tracePt t="14174" x="9661525" y="2433638"/>
          <p14:tracePt t="14222" x="9655175" y="2433638"/>
          <p14:tracePt t="14270" x="9648825" y="2433638"/>
          <p14:tracePt t="14317" x="9642475" y="2433638"/>
          <p14:tracePt t="14354" x="9636125" y="2433638"/>
          <p14:tracePt t="14414" x="9636125" y="2439988"/>
          <p14:tracePt t="14426" x="9629775" y="2439988"/>
          <p14:tracePt t="14485" x="9621838" y="2439988"/>
          <p14:tracePt t="14498" x="9615488" y="2439988"/>
          <p14:tracePt t="14510" x="9602788" y="2439988"/>
          <p14:tracePt t="14521" x="9583738" y="2439988"/>
          <p14:tracePt t="14535" x="9525000" y="2439988"/>
          <p14:tracePt t="14548" x="9409113" y="2439988"/>
          <p14:tracePt t="14564" x="9182100" y="2427288"/>
          <p14:tracePt t="14581" x="8370888" y="2393950"/>
          <p14:tracePt t="14598" x="7773988" y="2381250"/>
          <p14:tracePt t="14614" x="7065963" y="2381250"/>
          <p14:tracePt t="14631" x="5664200" y="2393950"/>
          <p14:tracePt t="14648" x="5157788" y="2427288"/>
          <p14:tracePt t="14665" x="4237038" y="2517775"/>
          <p14:tracePt t="14681" x="3867150" y="2555875"/>
          <p14:tracePt t="14697" x="3543300" y="2595563"/>
          <p14:tracePt t="14714" x="3068638" y="2679700"/>
          <p14:tracePt t="14731" x="2868613" y="2717800"/>
          <p14:tracePt t="14748" x="2711450" y="2738438"/>
          <p14:tracePt t="14749" x="2570163" y="2763838"/>
          <p14:tracePt t="14764" x="2452688" y="2782888"/>
          <p14:tracePt t="14781" x="2362200" y="2789238"/>
          <p14:tracePt t="14797" x="2238375" y="2809875"/>
          <p14:tracePt t="14814" x="2193925" y="2809875"/>
          <p14:tracePt t="14831" x="2154238" y="2816225"/>
          <p14:tracePt t="14833" x="2128838" y="2816225"/>
          <p14:tracePt t="14835" x="2122488" y="2816225"/>
          <p14:tracePt t="14847" x="2095500" y="2816225"/>
          <p14:tracePt t="14864" x="2057400" y="2816225"/>
          <p14:tracePt t="14881" x="2030413" y="2816225"/>
          <p14:tracePt t="14897" x="2011363" y="2816225"/>
          <p14:tracePt t="14914" x="1998663" y="2809875"/>
          <p14:tracePt t="14931" x="1958975" y="2803525"/>
          <p14:tracePt t="14947" x="1933575" y="2803525"/>
          <p14:tracePt t="14964" x="1881188" y="2803525"/>
          <p14:tracePt t="14980" x="1855788" y="2803525"/>
          <p14:tracePt t="14997" x="1830388" y="2803525"/>
          <p14:tracePt t="15014" x="1765300" y="2803525"/>
          <p14:tracePt t="15030" x="1731963" y="2803525"/>
          <p14:tracePt t="15048" x="1693863" y="2797175"/>
          <p14:tracePt t="15049" x="1660525" y="2797175"/>
          <p14:tracePt t="15064" x="1622425" y="2797175"/>
          <p14:tracePt t="15080" x="1582738" y="2797175"/>
          <p14:tracePt t="15097" x="1525588" y="2797175"/>
          <p14:tracePt t="15113" x="1485900" y="2797175"/>
          <p14:tracePt t="15131" x="1466850" y="2797175"/>
          <p14:tracePt t="15132" x="1446213" y="2789238"/>
          <p14:tracePt t="15147" x="1433513" y="2789238"/>
          <p14:tracePt t="15164" x="1420813" y="2789238"/>
          <p14:tracePt t="15181" x="1408113" y="2782888"/>
          <p14:tracePt t="15197" x="1401763" y="2782888"/>
          <p14:tracePt t="15214" x="1395413" y="2782888"/>
          <p14:tracePt t="15240" x="1389063" y="2782888"/>
          <p14:tracePt t="15288" x="1382713" y="2782888"/>
          <p14:tracePt t="15312" x="1382713" y="2776538"/>
          <p14:tracePt t="15827" x="1389063" y="2776538"/>
          <p14:tracePt t="15840" x="1395413" y="2776538"/>
          <p14:tracePt t="15852" x="1395413" y="2770188"/>
          <p14:tracePt t="15864" x="1408113" y="2770188"/>
          <p14:tracePt t="15880" x="1427163" y="2763838"/>
          <p14:tracePt t="15897" x="1439863" y="2763838"/>
          <p14:tracePt t="15913" x="1492250" y="2744788"/>
          <p14:tracePt t="15930" x="1531938" y="2732088"/>
          <p14:tracePt t="15947" x="1603375" y="2711450"/>
          <p14:tracePt t="15948" x="1700213" y="2692400"/>
          <p14:tracePt t="15963" x="1809750" y="2679700"/>
          <p14:tracePt t="15980" x="1908175" y="2673350"/>
          <p14:tracePt t="15996" x="2024063" y="2673350"/>
          <p14:tracePt t="16013" x="2057400" y="2673350"/>
          <p14:tracePt t="16030" x="2076450" y="2673350"/>
          <p14:tracePt t="16032" x="2095500" y="2667000"/>
          <p14:tracePt t="16046" x="2108200" y="2667000"/>
          <p14:tracePt t="16063" x="2122488" y="2667000"/>
          <p14:tracePt t="16080" x="2147888" y="2667000"/>
          <p14:tracePt t="16096" x="2154238" y="2667000"/>
          <p14:tracePt t="16113" x="2160588" y="2667000"/>
          <p14:tracePt t="16152" x="2166938" y="2667000"/>
          <p14:tracePt t="16199" x="2166938" y="2673350"/>
          <p14:tracePt t="16247" x="2173288" y="2673350"/>
          <p14:tracePt t="16343" x="2179638" y="2673350"/>
          <p14:tracePt t="16390" x="2185988" y="2673350"/>
          <p14:tracePt t="16402" x="2193925" y="2673350"/>
          <p14:tracePt t="16414" x="2212975" y="2673350"/>
          <p14:tracePt t="16427" x="2225675" y="2673350"/>
          <p14:tracePt t="16439" x="2251075" y="2673350"/>
          <p14:tracePt t="16451" x="2284413" y="2673350"/>
          <p14:tracePt t="16463" x="2316163" y="2673350"/>
          <p14:tracePt t="16480" x="2343150" y="2673350"/>
          <p14:tracePt t="16496" x="2362200" y="2673350"/>
          <p14:tracePt t="16499" x="2368550" y="2673350"/>
          <p14:tracePt t="16501" x="2374900" y="2673350"/>
          <p14:tracePt t="16512" x="2387600" y="2673350"/>
          <p14:tracePt t="16529" x="2400300" y="2673350"/>
          <p14:tracePt t="16546" x="2413000" y="2673350"/>
          <p14:tracePt t="16562" x="2427288" y="2673350"/>
          <p14:tracePt t="16579" x="2433638" y="2673350"/>
          <p14:tracePt t="16596" x="2471738" y="2686050"/>
          <p14:tracePt t="16613" x="2505075" y="2711450"/>
          <p14:tracePt t="16629" x="2530475" y="2744788"/>
          <p14:tracePt t="16631" x="2555875" y="2782888"/>
          <p14:tracePt t="16645" x="2582863" y="2835275"/>
          <p14:tracePt t="16662" x="2595563" y="2894013"/>
          <p14:tracePt t="16679" x="2608263" y="2997200"/>
          <p14:tracePt t="16696" x="2608263" y="3049588"/>
          <p14:tracePt t="16713" x="2614613" y="3114675"/>
          <p14:tracePt t="16715" x="2614613" y="3165475"/>
          <p14:tracePt t="16729" x="2620963" y="3217863"/>
          <p14:tracePt t="16746" x="2627313" y="3263900"/>
          <p14:tracePt t="16762" x="2647950" y="3360738"/>
          <p14:tracePt t="16779" x="2654300" y="3413125"/>
          <p14:tracePt t="16796" x="2667000" y="3451225"/>
          <p14:tracePt t="16798" x="2673350" y="3484563"/>
          <p14:tracePt t="16812" x="2679700" y="3509963"/>
          <p14:tracePt t="16829" x="2679700" y="3535363"/>
          <p14:tracePt t="16846" x="2686050" y="3568700"/>
          <p14:tracePt t="16862" x="2686050" y="3575050"/>
          <p14:tracePt t="16879" x="2692400" y="3575050"/>
          <p14:tracePt t="16895" x="2698750" y="3575050"/>
          <p14:tracePt t="16929" x="2698750" y="3581400"/>
          <p14:tracePt t="16942" x="2692400" y="3581400"/>
          <p14:tracePt t="16954" x="2686050" y="3581400"/>
          <p14:tracePt t="16967" x="2673350" y="3581400"/>
          <p14:tracePt t="16979" x="2647950" y="3581400"/>
          <p14:tracePt t="16996" x="2595563" y="3581400"/>
          <p14:tracePt t="17012" x="2517775" y="3587750"/>
          <p14:tracePt t="17014" x="2387600" y="3613150"/>
          <p14:tracePt t="17029" x="2278063" y="3633788"/>
          <p14:tracePt t="17046" x="2173288" y="3671888"/>
          <p14:tracePt t="17062" x="2063750" y="3717925"/>
          <p14:tracePt t="17079" x="2030413" y="3730625"/>
          <p14:tracePt t="17096" x="2017713" y="3743325"/>
          <p14:tracePt t="17112" x="1992313" y="3770313"/>
          <p14:tracePt t="17129" x="1985963" y="3789363"/>
          <p14:tracePt t="17146" x="1973263" y="3808413"/>
          <p14:tracePt t="17162" x="1958975" y="3821113"/>
          <p14:tracePt t="17184" x="1952625" y="3821113"/>
          <p14:tracePt t="17196" x="1952625" y="3827463"/>
          <p14:tracePt t="17265" x="1952625" y="3821113"/>
          <p14:tracePt t="17290" x="1952625" y="3814763"/>
          <p14:tracePt t="17301" x="1952625" y="3808413"/>
          <p14:tracePt t="17314" x="1952625" y="3802063"/>
          <p14:tracePt t="17326" x="1952625" y="3795713"/>
          <p14:tracePt t="17337" x="1952625" y="3789363"/>
          <p14:tracePt t="17350" x="1965325" y="3783013"/>
          <p14:tracePt t="17362" x="1973263" y="3776663"/>
          <p14:tracePt t="17378" x="1979613" y="3770313"/>
          <p14:tracePt t="17396" x="1992313" y="3762375"/>
          <p14:tracePt t="17397" x="2011363" y="3756025"/>
          <p14:tracePt t="17412" x="2036763" y="3743325"/>
          <p14:tracePt t="17428" x="2070100" y="3724275"/>
          <p14:tracePt t="17445" x="2251075" y="3659188"/>
          <p14:tracePt t="17462" x="2465388" y="3587750"/>
          <p14:tracePt t="17479" x="2797175" y="3509963"/>
          <p14:tracePt t="17481" x="3251200" y="3394075"/>
          <p14:tracePt t="17495" x="3854450" y="3270250"/>
          <p14:tracePt t="17512" x="4489450" y="3146425"/>
          <p14:tracePt t="17529" x="5651500" y="3024188"/>
          <p14:tracePt t="17545" x="6021388" y="3024188"/>
          <p14:tracePt t="17562" x="6365875" y="3055938"/>
          <p14:tracePt t="17578" x="6916738" y="3192463"/>
          <p14:tracePt t="17595" x="7137400" y="3282950"/>
          <p14:tracePt t="17612" x="7507288" y="3471863"/>
          <p14:tracePt t="17628" x="7643813" y="3562350"/>
          <p14:tracePt t="17645" x="7766050" y="3640138"/>
          <p14:tracePt t="17662" x="7908925" y="3730625"/>
          <p14:tracePt t="17679" x="7948613" y="3756025"/>
          <p14:tracePt t="17695" x="7974013" y="3783013"/>
          <p14:tracePt t="17698" x="7986713" y="3789363"/>
          <p14:tracePt t="17712" x="7994650" y="3795713"/>
          <p14:tracePt t="17781" x="7994650" y="3789363"/>
          <p14:tracePt t="17792" x="7994650" y="3783013"/>
          <p14:tracePt t="17805" x="7986713" y="3776663"/>
          <p14:tracePt t="17817" x="7980363" y="3762375"/>
          <p14:tracePt t="17828" x="7974013" y="3756025"/>
          <p14:tracePt t="17845" x="7961313" y="3749675"/>
          <p14:tracePt t="17861" x="7948613" y="3743325"/>
          <p14:tracePt t="17878" x="7818438" y="3678238"/>
          <p14:tracePt t="17895" x="7624763" y="3594100"/>
          <p14:tracePt t="17912" x="6975475" y="3432175"/>
          <p14:tracePt t="17928" x="6450013" y="3367088"/>
          <p14:tracePt t="17945" x="5956300" y="3367088"/>
          <p14:tracePt t="17961" x="5067300" y="3451225"/>
          <p14:tracePt t="17978" x="4724400" y="3549650"/>
          <p14:tracePt t="17995" x="4470400" y="3633788"/>
          <p14:tracePt t="17996" x="4268788" y="3717925"/>
          <p14:tracePt t="18011" x="4119563" y="3795713"/>
          <p14:tracePt t="18028" x="3997325" y="3867150"/>
          <p14:tracePt t="18044" x="3841750" y="3957638"/>
          <p14:tracePt t="18062" x="3802063" y="3983038"/>
          <p14:tracePt t="18078" x="3770313" y="4003675"/>
          <p14:tracePt t="18095" x="3757613" y="4016375"/>
          <p14:tracePt t="18111" x="3757613" y="4022725"/>
          <p14:tracePt t="18164" x="3757613" y="4016375"/>
          <p14:tracePt t="18177" x="3757613" y="4010025"/>
          <p14:tracePt t="18188" x="3763963" y="3997325"/>
          <p14:tracePt t="18224" x="3763963" y="3990975"/>
          <p14:tracePt t="18259" x="3763963" y="3983038"/>
          <p14:tracePt t="18284" x="3763963" y="3976688"/>
          <p14:tracePt t="18296" x="3763963" y="3970338"/>
          <p14:tracePt t="18319" x="3749675" y="3963988"/>
          <p14:tracePt t="18333" x="3736975" y="3957638"/>
          <p14:tracePt t="18344" x="3698875" y="3938588"/>
          <p14:tracePt t="18356" x="3621088" y="3932238"/>
          <p14:tracePt t="18367" x="3419475" y="3919538"/>
          <p14:tracePt t="18379" x="3121025" y="3919538"/>
          <p14:tracePt t="18394" x="2738438" y="3938588"/>
          <p14:tracePt t="18411" x="2271713" y="4003675"/>
          <p14:tracePt t="18428" x="1666875" y="4125913"/>
          <p14:tracePt t="18444" x="1492250" y="4184650"/>
          <p14:tracePt t="18461" x="1343025" y="4230688"/>
          <p14:tracePt t="18464" x="1252538" y="4295775"/>
          <p14:tracePt t="18478" x="1181100" y="4333875"/>
          <p14:tracePt t="18494" x="1135063" y="4359275"/>
          <p14:tracePt t="18511" x="1103313" y="4379913"/>
          <p14:tracePt t="18528" x="1103313" y="4392613"/>
          <p14:tracePt t="18571" x="1103313" y="4386263"/>
          <p14:tracePt t="18583" x="1096963" y="4386263"/>
          <p14:tracePt t="18595" x="1096963" y="4379913"/>
          <p14:tracePt t="18607" x="1096963" y="4373563"/>
          <p14:tracePt t="18619" x="1096963" y="4367213"/>
          <p14:tracePt t="18632" x="1096963" y="4359275"/>
          <p14:tracePt t="18644" x="1096963" y="4352925"/>
          <p14:tracePt t="18661" x="1096963" y="4340225"/>
          <p14:tracePt t="18678" x="1103313" y="4327525"/>
          <p14:tracePt t="18680" x="1103313" y="4321175"/>
          <p14:tracePt t="18694" x="1109663" y="4308475"/>
          <p14:tracePt t="18711" x="1116013" y="4295775"/>
          <p14:tracePt t="18728" x="1122363" y="4237038"/>
          <p14:tracePt t="18744" x="1128713" y="4203700"/>
          <p14:tracePt t="18761" x="1128713" y="4159250"/>
          <p14:tracePt t="18777" x="1147763" y="4029075"/>
          <p14:tracePt t="18794" x="1162050" y="3944938"/>
          <p14:tracePt t="18811" x="1174750" y="3821113"/>
          <p14:tracePt t="18827" x="1187450" y="3762375"/>
          <p14:tracePt t="18844" x="1187450" y="3711575"/>
          <p14:tracePt t="18861" x="1187450" y="3652838"/>
          <p14:tracePt t="18877" x="1187450" y="3640138"/>
          <p14:tracePt t="18895" x="1187450" y="3613150"/>
          <p14:tracePt t="18911" x="1187450" y="3600450"/>
          <p14:tracePt t="18928" x="1181100" y="3594100"/>
          <p14:tracePt t="18944" x="1168400" y="3581400"/>
          <p14:tracePt t="18961" x="1162050" y="3575050"/>
          <p14:tracePt t="18977" x="1155700" y="3575050"/>
          <p14:tracePt t="18979" x="1147763" y="3568700"/>
          <p14:tracePt t="19003" x="1141413" y="3562350"/>
          <p14:tracePt t="19039" x="1141413" y="3556000"/>
          <p14:tracePt t="19122" x="1141413" y="3549650"/>
          <p14:tracePt t="19159" x="1147763" y="3543300"/>
          <p14:tracePt t="19171" x="1155700" y="3543300"/>
          <p14:tracePt t="19183" x="1162050" y="3543300"/>
          <p14:tracePt t="19194" x="1174750" y="3543300"/>
          <p14:tracePt t="19211" x="1212850" y="3529013"/>
          <p14:tracePt t="19227" x="1271588" y="3529013"/>
          <p14:tracePt t="19244" x="1446213" y="3497263"/>
          <p14:tracePt t="19261" x="1525588" y="3490913"/>
          <p14:tracePt t="19277" x="1609725" y="3484563"/>
          <p14:tracePt t="19279" x="1681163" y="3471863"/>
          <p14:tracePt t="19294" x="1719263" y="3463925"/>
          <p14:tracePt t="19310" x="1758950" y="3463925"/>
          <p14:tracePt t="19327" x="1803400" y="3457575"/>
          <p14:tracePt t="19344" x="1809750" y="3457575"/>
          <p14:tracePt t="19360" x="1816100" y="3457575"/>
          <p14:tracePt t="19377" x="1824038" y="3457575"/>
          <p14:tracePt t="19410" x="1816100" y="3457575"/>
          <p14:tracePt t="19422" x="1816100" y="3463925"/>
          <p14:tracePt t="19434" x="1803400" y="3471863"/>
          <p14:tracePt t="19447" x="1797050" y="3478213"/>
          <p14:tracePt t="19460" x="1790700" y="3478213"/>
          <p14:tracePt t="19477" x="1784350" y="3484563"/>
          <p14:tracePt t="19494" x="1778000" y="3490913"/>
          <p14:tracePt t="19518" x="1771650" y="3490913"/>
          <p14:tracePt t="19531" x="1765300" y="3497263"/>
          <p14:tracePt t="19554" x="1758950" y="3497263"/>
          <p14:tracePt t="19577" x="1752600" y="3503613"/>
          <p14:tracePt t="19589" x="1744663" y="3503613"/>
          <p14:tracePt t="19602" x="1738313" y="3509963"/>
          <p14:tracePt t="19615" x="1731963" y="3516313"/>
          <p14:tracePt t="19626" x="1712913" y="3522663"/>
          <p14:tracePt t="19643" x="1706563" y="3529013"/>
          <p14:tracePt t="19661" x="1660525" y="3543300"/>
          <p14:tracePt t="19677" x="1616075" y="3568700"/>
          <p14:tracePt t="19693" x="1589088" y="3581400"/>
          <p14:tracePt t="19710" x="1538288" y="3621088"/>
          <p14:tracePt t="19727" x="1525588" y="3633788"/>
          <p14:tracePt t="19744" x="1511300" y="3646488"/>
          <p14:tracePt t="19746" x="1485900" y="3659188"/>
          <p14:tracePt t="19760" x="1473200" y="3671888"/>
          <p14:tracePt t="19776" x="1460500" y="3684588"/>
          <p14:tracePt t="19794" x="1433513" y="3705225"/>
          <p14:tracePt t="19810" x="1420813" y="3717925"/>
          <p14:tracePt t="19826" x="1414463" y="3724275"/>
          <p14:tracePt t="19843" x="1401763" y="3736975"/>
          <p14:tracePt t="19860" x="1401763" y="3743325"/>
          <p14:tracePt t="19877" x="1401763" y="3749675"/>
          <p14:tracePt t="19902" x="1401763" y="3756025"/>
          <p14:tracePt t="19925" x="1408113" y="3756025"/>
          <p14:tracePt t="19950" x="1420813" y="3756025"/>
          <p14:tracePt t="19961" x="1433513" y="3756025"/>
          <p14:tracePt t="19974" x="1446213" y="3756025"/>
          <p14:tracePt t="19985" x="1466850" y="3749675"/>
          <p14:tracePt t="19998" x="1492250" y="3749675"/>
          <p14:tracePt t="20010" x="1517650" y="3743325"/>
          <p14:tracePt t="20026" x="1550988" y="3743325"/>
          <p14:tracePt t="20044" x="1595438" y="3743325"/>
          <p14:tracePt t="20046" x="1622425" y="3743325"/>
          <p14:tracePt t="20060" x="1647825" y="3743325"/>
          <p14:tracePt t="20076" x="1674813" y="3743325"/>
          <p14:tracePt t="20093" x="1706563" y="3743325"/>
          <p14:tracePt t="20110" x="1719263" y="3743325"/>
          <p14:tracePt t="20126" x="1731963" y="3736975"/>
          <p14:tracePt t="20143" x="1744663" y="3736975"/>
          <p14:tracePt t="20160" x="1758950" y="3736975"/>
          <p14:tracePt t="20177" x="1771650" y="3736975"/>
          <p14:tracePt t="20178" x="1784350" y="3736975"/>
          <p14:tracePt t="20193" x="1790700" y="3736975"/>
          <p14:tracePt t="20210" x="1803400" y="3736975"/>
          <p14:tracePt t="20226" x="1816100" y="3736975"/>
          <p14:tracePt t="20243" x="1824038" y="3736975"/>
          <p14:tracePt t="20260" x="1830388" y="3736975"/>
          <p14:tracePt t="20276" x="1836738" y="3736975"/>
          <p14:tracePt t="20321" x="1843088" y="3736975"/>
          <p14:tracePt t="20357" x="1849438" y="3736975"/>
          <p14:tracePt t="20392" x="1849438" y="3730625"/>
          <p14:tracePt t="20405" x="1855788" y="3730625"/>
          <p14:tracePt t="20441" x="1862138" y="3730625"/>
          <p14:tracePt t="20476" x="1868488" y="3730625"/>
          <p14:tracePt t="20500" x="1868488" y="3724275"/>
          <p14:tracePt t="20524" x="1874838" y="3724275"/>
          <p14:tracePt t="20573" x="1881188" y="3724275"/>
          <p14:tracePt t="20597" x="1887538" y="3724275"/>
          <p14:tracePt t="20608" x="1893888" y="3724275"/>
          <p14:tracePt t="20620" x="1914525" y="3724275"/>
          <p14:tracePt t="20632" x="1952625" y="3724275"/>
          <p14:tracePt t="20646" x="2011363" y="3724275"/>
          <p14:tracePt t="20659" x="2076450" y="3724275"/>
          <p14:tracePt t="20676" x="2160588" y="3724275"/>
          <p14:tracePt t="20693" x="2322513" y="3736975"/>
          <p14:tracePt t="20709" x="2381250" y="3743325"/>
          <p14:tracePt t="20726" x="2427288" y="3749675"/>
          <p14:tracePt t="20742" x="2492375" y="3762375"/>
          <p14:tracePt t="20759" x="2517775" y="3762375"/>
          <p14:tracePt t="20776" x="2549525" y="3762375"/>
          <p14:tracePt t="20792" x="2555875" y="3762375"/>
          <p14:tracePt t="20809" x="2570163" y="3762375"/>
          <p14:tracePt t="20826" x="2582863" y="3770313"/>
          <p14:tracePt t="20842" x="2589213" y="3770313"/>
          <p14:tracePt t="20860" x="2595563" y="3770313"/>
          <p14:tracePt t="20897" x="2601913" y="3770313"/>
          <p14:tracePt t="20907" x="2614613" y="3770313"/>
          <p14:tracePt t="20920" x="2620963" y="3770313"/>
          <p14:tracePt t="20932" x="2633663" y="3770313"/>
          <p14:tracePt t="20943" x="2647950" y="3770313"/>
          <p14:tracePt t="20959" x="2660650" y="3770313"/>
          <p14:tracePt t="20975" x="2667000" y="3770313"/>
          <p14:tracePt t="20992" x="2686050" y="3762375"/>
          <p14:tracePt t="21009" x="2692400" y="3762375"/>
          <p14:tracePt t="21025" x="2698750" y="3762375"/>
          <p14:tracePt t="21028" x="2698750" y="3756025"/>
          <p14:tracePt t="21088" x="2698750" y="3749675"/>
          <p14:tracePt t="21208" x="2692400" y="3749675"/>
          <p14:tracePt t="21255" x="2686050" y="3749675"/>
          <p14:tracePt t="21291" x="2679700" y="3749675"/>
          <p14:tracePt t="21615" x="2654300" y="3749675"/>
          <p14:tracePt t="21628" x="2530475" y="3749675"/>
          <p14:tracePt t="21639" x="2406650" y="3762375"/>
          <p14:tracePt t="21651" x="2257425" y="3795713"/>
          <p14:tracePt t="21665" x="2101850" y="3827463"/>
          <p14:tracePt t="21675" x="1958975" y="3873500"/>
          <p14:tracePt t="21692" x="1836738" y="3925888"/>
          <p14:tracePt t="21708" x="1765300" y="3963988"/>
          <p14:tracePt t="21711" x="1712913" y="3990975"/>
          <p14:tracePt t="21725" x="1674813" y="4016375"/>
          <p14:tracePt t="21742" x="1660525" y="4035425"/>
          <p14:tracePt t="21758" x="1635125" y="4054475"/>
          <p14:tracePt t="21775" x="1628775" y="4060825"/>
          <p14:tracePt t="21792" x="1622425" y="4060825"/>
          <p14:tracePt t="21795" x="1622425" y="4068763"/>
          <p14:tracePt t="21809" x="1622425" y="4075113"/>
          <p14:tracePt t="21866" x="1628775" y="4075113"/>
          <p14:tracePt t="21891" x="1635125" y="4075113"/>
          <p14:tracePt t="21914" x="1641475" y="4075113"/>
          <p14:tracePt t="21938" x="1647825" y="4075113"/>
          <p14:tracePt t="21985" x="1654175" y="4075113"/>
          <p14:tracePt t="22106" x="1647825" y="4081463"/>
          <p14:tracePt t="22131" x="1641475" y="4081463"/>
          <p14:tracePt t="22166" x="1635125" y="4081463"/>
          <p14:tracePt t="22179" x="1635125" y="4087813"/>
          <p14:tracePt t="22202" x="1628775" y="4087813"/>
          <p14:tracePt t="22464" x="1635125" y="4087813"/>
          <p14:tracePt t="22478" x="1647825" y="4087813"/>
          <p14:tracePt t="22489" x="1660525" y="4081463"/>
          <p14:tracePt t="22501" x="1681163" y="4081463"/>
          <p14:tracePt t="22513" x="1706563" y="4075113"/>
          <p14:tracePt t="22525" x="1744663" y="4075113"/>
          <p14:tracePt t="22541" x="1803400" y="4075113"/>
          <p14:tracePt t="22558" x="1862138" y="4075113"/>
          <p14:tracePt t="22574" x="1979613" y="4075113"/>
          <p14:tracePt t="22591" x="2017713" y="4075113"/>
          <p14:tracePt t="22608" x="2089150" y="4075113"/>
          <p14:tracePt t="22624" x="2114550" y="4075113"/>
          <p14:tracePt t="22641" x="2135188" y="4075113"/>
          <p14:tracePt t="22657" x="2179638" y="4075113"/>
          <p14:tracePt t="22674" x="2200275" y="4068763"/>
          <p14:tracePt t="22691" x="2212975" y="4068763"/>
          <p14:tracePt t="22692" x="2232025" y="4068763"/>
          <p14:tracePt t="22708" x="2244725" y="4068763"/>
          <p14:tracePt t="22725" x="2257425" y="4060825"/>
          <p14:tracePt t="22741" x="2278063" y="4060825"/>
          <p14:tracePt t="22758" x="2284413" y="4060825"/>
          <p14:tracePt t="22776" x="2297113" y="4060825"/>
          <p14:tracePt t="22779" x="2303463" y="4060825"/>
          <p14:tracePt t="22791" x="2316163" y="4060825"/>
          <p14:tracePt t="22807" x="2328863" y="4060825"/>
          <p14:tracePt t="22824" x="2362200" y="4060825"/>
          <p14:tracePt t="22841" x="2393950" y="4068763"/>
          <p14:tracePt t="22857" x="2413000" y="4068763"/>
          <p14:tracePt t="22874" x="2459038" y="4081463"/>
          <p14:tracePt t="22891" x="2471738" y="4081463"/>
          <p14:tracePt t="22908" x="2498725" y="4081463"/>
          <p14:tracePt t="22924" x="2505075" y="4081463"/>
          <p14:tracePt t="22941" x="2517775" y="4081463"/>
          <p14:tracePt t="22957" x="2530475" y="4081463"/>
          <p14:tracePt t="22993" x="2536825" y="4081463"/>
          <p14:tracePt t="23028" x="2543175" y="4081463"/>
          <p14:tracePt t="23064" x="2549525" y="4081463"/>
          <p14:tracePt t="23173" x="2555875" y="4081463"/>
          <p14:tracePt t="23209" x="2562225" y="4081463"/>
          <p14:tracePt t="23232" x="2570163" y="4081463"/>
          <p14:tracePt t="23245" x="2576513" y="4087813"/>
          <p14:tracePt t="23256" x="2589213" y="4087813"/>
          <p14:tracePt t="23267" x="2601913" y="4087813"/>
          <p14:tracePt t="23280" x="2627313" y="4087813"/>
          <p14:tracePt t="23291" x="2633663" y="4087813"/>
          <p14:tracePt t="23293" x="2647950" y="4087813"/>
          <p14:tracePt t="23307" x="2673350" y="4100513"/>
          <p14:tracePt t="23324" x="2705100" y="4100513"/>
          <p14:tracePt t="23340" x="2751138" y="4100513"/>
          <p14:tracePt t="23357" x="2790825" y="4100513"/>
          <p14:tracePt t="23374" x="2828925" y="4100513"/>
          <p14:tracePt t="23391" x="2919413" y="4106863"/>
          <p14:tracePt t="23407" x="2946400" y="4106863"/>
          <p14:tracePt t="23424" x="3003550" y="4106863"/>
          <p14:tracePt t="23440" x="3030538" y="4106863"/>
          <p14:tracePt t="23457" x="3049588" y="4106863"/>
          <p14:tracePt t="23474" x="3074988" y="4106863"/>
          <p14:tracePt t="23490" x="3089275" y="4106863"/>
          <p14:tracePt t="23507" x="3108325" y="4106863"/>
          <p14:tracePt t="23523" x="3114675" y="4106863"/>
          <p14:tracePt t="23540" x="3121025" y="4106863"/>
          <p14:tracePt t="23557" x="3133725" y="4106863"/>
          <p14:tracePt t="23573" x="3140075" y="4106863"/>
          <p14:tracePt t="23591" x="3146425" y="4106863"/>
          <p14:tracePt t="23607" x="3152775" y="4106863"/>
          <p14:tracePt t="23624" x="3160713" y="4106863"/>
          <p14:tracePt t="23640" x="3186113" y="4106863"/>
          <p14:tracePt t="23657" x="3205163" y="4106863"/>
          <p14:tracePt t="23674" x="3230563" y="4106863"/>
          <p14:tracePt t="23676" x="3257550" y="4113213"/>
          <p14:tracePt t="23690" x="3282950" y="4113213"/>
          <p14:tracePt t="23707" x="3302000" y="4113213"/>
          <p14:tracePt t="23723" x="3341688" y="4113213"/>
          <p14:tracePt t="23740" x="3348038" y="4113213"/>
          <p14:tracePt t="23757" x="3373438" y="4113213"/>
          <p14:tracePt t="23774" x="3400425" y="4113213"/>
          <p14:tracePt t="23790" x="3413125" y="4119563"/>
          <p14:tracePt t="23807" x="3425825" y="4119563"/>
          <p14:tracePt t="23823" x="3432175" y="4119563"/>
          <p14:tracePt t="23840" x="3438525" y="4119563"/>
          <p14:tracePt t="23857" x="3451225" y="4119563"/>
          <p14:tracePt t="23903" x="3459163" y="4119563"/>
          <p14:tracePt t="23928" x="3465513" y="4119563"/>
          <p14:tracePt t="23940" x="3471863" y="4119563"/>
          <p14:tracePt t="23963" x="3478213" y="4119563"/>
          <p14:tracePt t="23978" x="3490913" y="4119563"/>
          <p14:tracePt t="23986" x="3497263" y="4119563"/>
          <p14:tracePt t="23999" x="3509963" y="4119563"/>
          <p14:tracePt t="24012" x="3522663" y="4119563"/>
          <p14:tracePt t="24023" x="3529013" y="4119563"/>
          <p14:tracePt t="24040" x="3556000" y="4119563"/>
          <p14:tracePt t="24057" x="3581400" y="4119563"/>
          <p14:tracePt t="24059" x="3614738" y="4119563"/>
          <p14:tracePt t="24073" x="3652838" y="4119563"/>
          <p14:tracePt t="24090" x="3692525" y="4119563"/>
          <p14:tracePt t="24107" x="3749675" y="4119563"/>
          <p14:tracePt t="24123" x="3789363" y="4119563"/>
          <p14:tracePt t="24140" x="3808413" y="4119563"/>
          <p14:tracePt t="24143" x="3835400" y="4119563"/>
          <p14:tracePt t="24156" x="3854450" y="4119563"/>
          <p14:tracePt t="24173" x="3873500" y="4119563"/>
          <p14:tracePt t="24190" x="3913188" y="4119563"/>
          <p14:tracePt t="24206" x="3932238" y="4119563"/>
          <p14:tracePt t="24223" x="3944938" y="4119563"/>
          <p14:tracePt t="24239" x="3963988" y="4125913"/>
          <p14:tracePt t="24256" x="3970338" y="4125913"/>
          <p14:tracePt t="24273" x="3978275" y="4125913"/>
          <p14:tracePt t="24275" x="3990975" y="4125913"/>
          <p14:tracePt t="24290" x="3997325" y="4125913"/>
          <p14:tracePt t="24306" x="4003675" y="4125913"/>
          <p14:tracePt t="24323" x="4010025" y="4125913"/>
          <p14:tracePt t="24360" x="4016375" y="4125913"/>
          <p14:tracePt t="24382" x="4022725" y="4125913"/>
          <p14:tracePt t="24395" x="4029075" y="4125913"/>
          <p14:tracePt t="24419" x="4035425" y="4125913"/>
          <p14:tracePt t="24430" x="4048125" y="4125913"/>
          <p14:tracePt t="24443" x="4056063" y="4125913"/>
          <p14:tracePt t="24454" x="4062413" y="4125913"/>
          <p14:tracePt t="24466" x="4068763" y="4125913"/>
          <p14:tracePt t="24478" x="4075113" y="4125913"/>
          <p14:tracePt t="24502" x="4081463" y="4125913"/>
          <p14:tracePt t="24514" x="4087813" y="4125913"/>
          <p14:tracePt t="24528" x="4094163" y="4125913"/>
          <p14:tracePt t="24539" x="4100513" y="4125913"/>
          <p14:tracePt t="24556" x="4106863" y="4125913"/>
          <p14:tracePt t="24573" x="4113213" y="4125913"/>
          <p14:tracePt t="24590" x="4119563" y="4125913"/>
          <p14:tracePt t="24607" x="4127500" y="4125913"/>
          <p14:tracePt t="24622" x="4133850" y="4125913"/>
          <p14:tracePt t="24639" x="4140200" y="4125913"/>
          <p14:tracePt t="24657" x="4146550" y="4125913"/>
          <p14:tracePt t="24682" x="4152900" y="4125913"/>
          <p14:tracePt t="24706" x="4159250" y="4125913"/>
          <p14:tracePt t="24729" x="4165600" y="4125913"/>
          <p14:tracePt t="24742" x="4171950" y="4125913"/>
          <p14:tracePt t="24754" x="4171950" y="4132263"/>
          <p14:tracePt t="24765" x="4178300" y="4132263"/>
          <p14:tracePt t="24801" x="4178300" y="4140200"/>
          <p14:tracePt t="24825" x="4184650" y="4140200"/>
          <p14:tracePt t="24861" x="4191000" y="4140200"/>
          <p14:tracePt t="25281" x="4184650" y="4140200"/>
          <p14:tracePt t="25294" x="4127500" y="4140200"/>
          <p14:tracePt t="25306" x="4087813" y="4132263"/>
          <p14:tracePt t="25317" x="4048125" y="4132263"/>
          <p14:tracePt t="25330" x="4010025" y="4132263"/>
          <p14:tracePt t="25342" x="3997325" y="4132263"/>
          <p14:tracePt t="25355" x="3978275" y="4132263"/>
          <p14:tracePt t="25372" x="3963988" y="4132263"/>
          <p14:tracePt t="25389" x="3944938" y="4140200"/>
          <p14:tracePt t="25405" x="3932238" y="4140200"/>
          <p14:tracePt t="25422" x="3906838" y="4152900"/>
          <p14:tracePt t="25439" x="3854450" y="4165600"/>
          <p14:tracePt t="25456" x="3835400" y="4165600"/>
          <p14:tracePt t="25473" x="3814763" y="4171950"/>
          <p14:tracePt t="25488" x="3808413" y="4171950"/>
          <p14:tracePt t="25545" x="3814763" y="4165600"/>
          <p14:tracePt t="25569" x="3821113" y="4165600"/>
          <p14:tracePt t="25581" x="3827463" y="4159250"/>
          <p14:tracePt t="25594" x="3841750" y="4159250"/>
          <p14:tracePt t="25606" x="3848100" y="4159250"/>
          <p14:tracePt t="25622" x="3854450" y="4152900"/>
          <p14:tracePt t="25642" x="3860800" y="4152900"/>
          <p14:tracePt t="25656" x="3867150" y="4146550"/>
          <p14:tracePt t="25672" x="3873500" y="4146550"/>
          <p14:tracePt t="25689" x="3886200" y="4140200"/>
          <p14:tracePt t="25705" x="3892550" y="4140200"/>
          <p14:tracePt t="25722" x="3898900" y="4132263"/>
          <p14:tracePt t="25738" x="3913188" y="4132263"/>
          <p14:tracePt t="25755" x="3919538" y="4132263"/>
          <p14:tracePt t="25772" x="3932238" y="4125913"/>
          <p14:tracePt t="25789" x="3938588" y="4125913"/>
          <p14:tracePt t="25805" x="3944938" y="4125913"/>
          <p14:tracePt t="25822" x="3951288" y="4119563"/>
          <p14:tracePt t="25838" x="3957638" y="4119563"/>
          <p14:tracePt t="25855" x="3963988" y="4119563"/>
          <p14:tracePt t="25872" x="3970338" y="4113213"/>
          <p14:tracePt t="25893" x="3978275" y="4113213"/>
          <p14:tracePt t="25928" x="3984625" y="4106863"/>
          <p14:tracePt t="25988" x="3990975" y="4106863"/>
          <p14:tracePt t="26024" x="3997325" y="4106863"/>
          <p14:tracePt t="26072" x="4003675" y="4106863"/>
          <p14:tracePt t="26084" x="4003675" y="4100513"/>
          <p14:tracePt t="26108" x="4003675" y="4094163"/>
          <p14:tracePt t="26144" x="3978275" y="4087813"/>
          <p14:tracePt t="26155" x="3944938" y="4081463"/>
          <p14:tracePt t="26167" x="3873500" y="4068763"/>
          <p14:tracePt t="26180" x="3730625" y="4060825"/>
          <p14:tracePt t="26194" x="3478213" y="4060825"/>
          <p14:tracePt t="26205" x="3121025" y="4081463"/>
          <p14:tracePt t="26221" x="2570163" y="4146550"/>
          <p14:tracePt t="26238" x="2036763" y="4230688"/>
          <p14:tracePt t="26255" x="1284288" y="4398963"/>
          <p14:tracePt t="26272" x="1050925" y="4476750"/>
          <p14:tracePt t="26288" x="798513" y="4573588"/>
          <p14:tracePt t="26305" x="746125" y="4587875"/>
          <p14:tracePt t="26321" x="727075" y="4613275"/>
          <p14:tracePt t="26338" x="708025" y="4619625"/>
          <p14:tracePt t="26355" x="708025" y="4625975"/>
          <p14:tracePt t="26396" x="714375" y="4625975"/>
          <p14:tracePt t="26409" x="720725" y="4625975"/>
          <p14:tracePt t="26420" x="727075" y="4625975"/>
          <p14:tracePt t="26432" x="733425" y="4625975"/>
          <p14:tracePt t="26444" x="739775" y="4619625"/>
          <p14:tracePt t="26456" x="746125" y="4619625"/>
          <p14:tracePt t="26472" x="752475" y="4613275"/>
          <p14:tracePt t="26493" x="765175" y="4606925"/>
          <p14:tracePt t="26504" x="771525" y="4600575"/>
          <p14:tracePt t="26521" x="777875" y="4594225"/>
          <p14:tracePt t="26538" x="792163" y="4587875"/>
          <p14:tracePt t="26541" x="804863" y="4579938"/>
          <p14:tracePt t="26554" x="817563" y="4567238"/>
          <p14:tracePt t="26571" x="830263" y="4567238"/>
          <p14:tracePt t="26588" x="927100" y="4548188"/>
          <p14:tracePt t="26605" x="1019175" y="4541838"/>
          <p14:tracePt t="26621" x="1116013" y="4541838"/>
          <p14:tracePt t="26638" x="1296988" y="4522788"/>
          <p14:tracePt t="26655" x="1355725" y="4516438"/>
          <p14:tracePt t="26671" x="1401763" y="4495800"/>
          <p14:tracePt t="26687" x="1427163" y="4495800"/>
          <p14:tracePt t="26704" x="1439863" y="4495800"/>
          <p14:tracePt t="26721" x="1446213" y="4495800"/>
          <p14:tracePt t="26738" x="1454150" y="4495800"/>
          <p14:tracePt t="26827" x="1460500" y="4495800"/>
          <p14:tracePt t="26875" x="1466850" y="4495800"/>
          <p14:tracePt t="26899" x="1479550" y="4495800"/>
          <p14:tracePt t="26911" x="1492250" y="4495800"/>
          <p14:tracePt t="26924" x="1511300" y="4495800"/>
          <p14:tracePt t="26935" x="1550988" y="4495800"/>
          <p14:tracePt t="26947" x="1582738" y="4495800"/>
          <p14:tracePt t="26960" x="1641475" y="4495800"/>
          <p14:tracePt t="26971" x="1712913" y="4495800"/>
          <p14:tracePt t="26988" x="1784350" y="4495800"/>
          <p14:tracePt t="27005" x="1830388" y="4489450"/>
          <p14:tracePt t="27021" x="1881188" y="4483100"/>
          <p14:tracePt t="27037" x="1893888" y="4483100"/>
          <p14:tracePt t="27055" x="1908175" y="4476750"/>
          <p14:tracePt t="27079" x="1914525" y="4470400"/>
          <p14:tracePt t="27330" x="1914525" y="4464050"/>
          <p14:tracePt t="27343" x="1920875" y="4464050"/>
          <p14:tracePt t="27354" x="1939925" y="4464050"/>
          <p14:tracePt t="27366" x="1958975" y="4457700"/>
          <p14:tracePt t="27378" x="1992313" y="4445000"/>
          <p14:tracePt t="27392" x="2017713" y="4438650"/>
          <p14:tracePt t="27404" x="2051050" y="4438650"/>
          <p14:tracePt t="27420" x="2070100" y="4438650"/>
          <p14:tracePt t="27437" x="2101850" y="4430713"/>
          <p14:tracePt t="27454" x="2108200" y="4430713"/>
          <p14:tracePt t="27470" x="2122488" y="4430713"/>
          <p14:tracePt t="27487" x="2128838" y="4430713"/>
          <p14:tracePt t="27546" x="2128838" y="4424363"/>
          <p14:tracePt t="27665" x="2135188" y="4424363"/>
          <p14:tracePt t="27678" x="2154238" y="4424363"/>
          <p14:tracePt t="27691" x="2185988" y="4424363"/>
          <p14:tracePt t="27702" x="2232025" y="4424363"/>
          <p14:tracePt t="27714" x="2290763" y="4424363"/>
          <p14:tracePt t="27727" x="2328863" y="4424363"/>
          <p14:tracePt t="27737" x="2355850" y="4430713"/>
          <p14:tracePt t="27753" x="2368550" y="4430713"/>
          <p14:tracePt t="27774" x="2362200" y="4430713"/>
          <p14:tracePt t="27787" x="2343150" y="4430713"/>
          <p14:tracePt t="27804" x="2309813" y="4430713"/>
          <p14:tracePt t="27820" x="2271713" y="4430713"/>
          <p14:tracePt t="27823" x="2244725" y="4430713"/>
          <p14:tracePt t="27837" x="2225675" y="4430713"/>
          <p14:tracePt t="27854" x="2200275" y="4430713"/>
          <p14:tracePt t="27870" x="2185988" y="4430713"/>
          <p14:tracePt t="27907" x="2193925" y="4430713"/>
          <p14:tracePt t="27917" x="2206625" y="4430713"/>
          <p14:tracePt t="27929" x="2238375" y="4430713"/>
          <p14:tracePt t="27943" x="2278063" y="4438650"/>
          <p14:tracePt t="27954" x="2368550" y="4451350"/>
          <p14:tracePt t="27970" x="2498725" y="4457700"/>
          <p14:tracePt t="27987" x="2633663" y="4470400"/>
          <p14:tracePt t="28003" x="2913063" y="4470400"/>
          <p14:tracePt t="28020" x="3017838" y="4470400"/>
          <p14:tracePt t="28037" x="3108325" y="4470400"/>
          <p14:tracePt t="28053" x="3121025" y="4470400"/>
          <p14:tracePt t="28070" x="3133725" y="4470400"/>
          <p14:tracePt t="28087" x="3133725" y="4464050"/>
          <p14:tracePt t="28109" x="3121025" y="4464050"/>
          <p14:tracePt t="28121" x="3108325" y="4457700"/>
          <p14:tracePt t="28136" x="3089275" y="4457700"/>
          <p14:tracePt t="28153" x="3068638" y="4457700"/>
          <p14:tracePt t="28169" x="3043238" y="4457700"/>
          <p14:tracePt t="28187" x="3017838" y="4457700"/>
          <p14:tracePt t="28204" x="2997200" y="4457700"/>
          <p14:tracePt t="28206" x="2971800" y="4457700"/>
          <p14:tracePt t="28220" x="2946400" y="4457700"/>
          <p14:tracePt t="28236" x="2913063" y="4457700"/>
          <p14:tracePt t="28253" x="2854325" y="4457700"/>
          <p14:tracePt t="28270" x="2822575" y="4457700"/>
          <p14:tracePt t="28286" x="2809875" y="4457700"/>
          <p14:tracePt t="28303" x="2776538" y="4457700"/>
          <p14:tracePt t="28320" x="2763838" y="4451350"/>
          <p14:tracePt t="28337" x="2744788" y="4451350"/>
          <p14:tracePt t="28353" x="2738438" y="4445000"/>
          <p14:tracePt t="28370" x="2732088" y="4445000"/>
          <p14:tracePt t="28386" x="2725738" y="4438650"/>
          <p14:tracePt t="28422" x="2725738" y="4430713"/>
          <p14:tracePt t="28517" x="2725738" y="4424363"/>
          <p14:tracePt t="28576" x="2725738" y="4418013"/>
          <p14:tracePt t="28636" x="2725738" y="4411663"/>
          <p14:tracePt t="28660" x="2732088" y="4411663"/>
          <p14:tracePt t="28696" x="2738438" y="4411663"/>
          <p14:tracePt t="28732" x="2744788" y="4411663"/>
          <p14:tracePt t="28756" x="2751138" y="4411663"/>
          <p14:tracePt t="28768" x="2757488" y="4411663"/>
          <p14:tracePt t="28780" x="2763838" y="4411663"/>
          <p14:tracePt t="28792" x="2770188" y="4411663"/>
          <p14:tracePt t="28816" x="2776538" y="4411663"/>
          <p14:tracePt t="28828" x="2790825" y="4411663"/>
          <p14:tracePt t="28841" x="2797175" y="4411663"/>
          <p14:tracePt t="28853" x="2809875" y="4411663"/>
          <p14:tracePt t="28876" x="2822575" y="4411663"/>
          <p14:tracePt t="28889" x="2828925" y="4411663"/>
          <p14:tracePt t="28902" x="2835275" y="4411663"/>
          <p14:tracePt t="28920" x="2841625" y="4411663"/>
          <p14:tracePt t="28936" x="2847975" y="4411663"/>
          <p14:tracePt t="28952" x="2854325" y="4411663"/>
          <p14:tracePt t="28969" x="2860675" y="4411663"/>
          <p14:tracePt t="28986" x="2874963" y="4411663"/>
          <p14:tracePt t="29003" x="2881313" y="4411663"/>
          <p14:tracePt t="29019" x="2887663" y="4411663"/>
          <p14:tracePt t="29035" x="2894013" y="4411663"/>
          <p14:tracePt t="29053" x="2900363" y="4411663"/>
          <p14:tracePt t="29056" x="2906713" y="4411663"/>
          <p14:tracePt t="29069" x="2913063" y="4411663"/>
          <p14:tracePt t="29091" x="2919413" y="4411663"/>
          <p14:tracePt t="29103" x="2925763" y="4411663"/>
          <p14:tracePt t="29127" x="2932113" y="4411663"/>
          <p14:tracePt t="29151" x="2940050" y="4411663"/>
          <p14:tracePt t="29175" x="2946400" y="4411663"/>
          <p14:tracePt t="29199" x="2952750" y="4411663"/>
          <p14:tracePt t="29212" x="2965450" y="4411663"/>
          <p14:tracePt t="29224" x="2984500" y="4411663"/>
          <p14:tracePt t="29236" x="3003550" y="4411663"/>
          <p14:tracePt t="29252" x="3043238" y="4411663"/>
          <p14:tracePt t="29269" x="3095625" y="4411663"/>
          <p14:tracePt t="29286" x="3198813" y="4411663"/>
          <p14:tracePt t="29302" x="3270250" y="4411663"/>
          <p14:tracePt t="29320" x="3367088" y="4411663"/>
          <p14:tracePt t="29336" x="3413125" y="4411663"/>
          <p14:tracePt t="29352" x="3451225" y="4411663"/>
          <p14:tracePt t="29369" x="3509963" y="4411663"/>
          <p14:tracePt t="29385" x="3529013" y="4411663"/>
          <p14:tracePt t="29403" x="3556000" y="4411663"/>
          <p14:tracePt t="29419" x="3562350" y="4411663"/>
          <p14:tracePt t="29435" x="3568700" y="4411663"/>
          <p14:tracePt t="29462" x="3575050" y="4411663"/>
          <p14:tracePt t="29522" x="3568700" y="4411663"/>
          <p14:tracePt t="29547" x="3562350" y="4411663"/>
          <p14:tracePt t="29571" x="3556000" y="4411663"/>
          <p14:tracePt t="29594" x="3549650" y="4411663"/>
          <p14:tracePt t="29608" x="3543300" y="4411663"/>
          <p14:tracePt t="29619" x="3536950" y="4411663"/>
          <p14:tracePt t="29631" x="3529013" y="4411663"/>
          <p14:tracePt t="29643" x="3522663" y="4411663"/>
          <p14:tracePt t="29657" x="3509963" y="4411663"/>
          <p14:tracePt t="29669" x="3497263" y="4411663"/>
          <p14:tracePt t="29685" x="3490913" y="4411663"/>
          <p14:tracePt t="29702" x="3478213" y="4418013"/>
          <p14:tracePt t="29704" x="3471863" y="4418013"/>
          <p14:tracePt t="29718" x="3459163" y="4418013"/>
          <p14:tracePt t="29736" x="3432175" y="4424363"/>
          <p14:tracePt t="29752" x="3413125" y="4430713"/>
          <p14:tracePt t="29768" x="3400425" y="4430713"/>
          <p14:tracePt t="29785" x="3394075" y="4430713"/>
          <p14:tracePt t="29787" x="3387725" y="4438650"/>
          <p14:tracePt t="29802" x="3379788" y="4438650"/>
          <p14:tracePt t="29819" x="3373438" y="4438650"/>
          <p14:tracePt t="29835" x="3367088" y="4438650"/>
          <p14:tracePt t="29872" x="3373438" y="4438650"/>
          <p14:tracePt t="29882" x="3379788" y="4430713"/>
          <p14:tracePt t="29895" x="3394075" y="4430713"/>
          <p14:tracePt t="29907" x="3406775" y="4424363"/>
          <p14:tracePt t="29919" x="3432175" y="4424363"/>
          <p14:tracePt t="29935" x="3459163" y="4424363"/>
          <p14:tracePt t="29952" x="3497263" y="4424363"/>
          <p14:tracePt t="29968" x="3659188" y="4424363"/>
          <p14:tracePt t="29985" x="3808413" y="4424363"/>
          <p14:tracePt t="30002" x="4191000" y="4411663"/>
          <p14:tracePt t="30018" x="4360863" y="4411663"/>
          <p14:tracePt t="30035" x="4483100" y="4418013"/>
          <p14:tracePt t="30051" x="4632325" y="4424363"/>
          <p14:tracePt t="30068" x="4672013" y="4430713"/>
          <p14:tracePt t="30086" x="4730750" y="4445000"/>
          <p14:tracePt t="30101" x="4743450" y="4445000"/>
          <p14:tracePt t="30118" x="4756150" y="4445000"/>
          <p14:tracePt t="30135" x="4762500" y="4445000"/>
          <p14:tracePt t="30151" x="4768850" y="4445000"/>
          <p14:tracePt t="30254" x="4762500" y="4445000"/>
          <p14:tracePt t="30301" x="4756150" y="4445000"/>
          <p14:tracePt t="30350" x="4749800" y="4445000"/>
          <p14:tracePt t="30410" x="4743450" y="4445000"/>
          <p14:tracePt t="30446" x="4737100" y="4445000"/>
          <p14:tracePt t="30457" x="4730750" y="4445000"/>
          <p14:tracePt t="30482" x="4724400" y="4445000"/>
          <p14:tracePt t="30506" x="4716463" y="4445000"/>
          <p14:tracePt t="30529" x="4703763" y="4438650"/>
          <p14:tracePt t="30541" x="4697413" y="4438650"/>
          <p14:tracePt t="30554" x="4684713" y="4424363"/>
          <p14:tracePt t="30565" x="4652963" y="4418013"/>
          <p14:tracePt t="30578" x="4613275" y="4411663"/>
          <p14:tracePt t="30591" x="4541838" y="4405313"/>
          <p14:tracePt t="30601" x="4432300" y="4379913"/>
          <p14:tracePt t="30618" x="4262438" y="4359275"/>
          <p14:tracePt t="30634" x="4041775" y="4321175"/>
          <p14:tracePt t="30651" x="3503613" y="4314825"/>
          <p14:tracePt t="30668" x="3211513" y="4314825"/>
          <p14:tracePt t="30685" x="2667000" y="4367213"/>
          <p14:tracePt t="30701" x="2452688" y="4418013"/>
          <p14:tracePt t="30718" x="2232025" y="4464050"/>
          <p14:tracePt t="30735" x="1887538" y="4541838"/>
          <p14:tracePt t="30751" x="1744663" y="4579938"/>
          <p14:tracePt t="30768" x="1628775" y="4606925"/>
          <p14:tracePt t="30770" x="1550988" y="4619625"/>
          <p14:tracePt t="30784" x="1460500" y="4645025"/>
          <p14:tracePt t="30801" x="1414463" y="4665663"/>
          <p14:tracePt t="30818" x="1343025" y="4697413"/>
          <p14:tracePt t="30834" x="1317625" y="4710113"/>
          <p14:tracePt t="30851" x="1290638" y="4722813"/>
          <p14:tracePt t="30868" x="1258888" y="4737100"/>
          <p14:tracePt t="30884" x="1225550" y="4756150"/>
          <p14:tracePt t="30901" x="1193800" y="4768850"/>
          <p14:tracePt t="30917" x="1187450" y="4768850"/>
          <p14:tracePt t="30935" x="1181100" y="4768850"/>
          <p14:tracePt t="30951" x="1174750" y="4768850"/>
          <p14:tracePt t="31034" x="1181100" y="4768850"/>
          <p14:tracePt t="31045" x="1187450" y="4768850"/>
          <p14:tracePt t="31057" x="1193800" y="4768850"/>
          <p14:tracePt t="31069" x="1200150" y="4768850"/>
          <p14:tracePt t="31084" x="1206500" y="4768850"/>
          <p14:tracePt t="31101" x="1212850" y="4768850"/>
          <p14:tracePt t="31118" x="1219200" y="4756150"/>
          <p14:tracePt t="31134" x="1225550" y="4756150"/>
          <p14:tracePt t="31151" x="1239838" y="4749800"/>
          <p14:tracePt t="31167" x="1252538" y="4743450"/>
          <p14:tracePt t="31184" x="1265238" y="4737100"/>
          <p14:tracePt t="31201" x="1290638" y="4729163"/>
          <p14:tracePt t="31217" x="1304925" y="4722813"/>
          <p14:tracePt t="31234" x="1317625" y="4716463"/>
          <p14:tracePt t="31250" x="1382713" y="4716463"/>
          <p14:tracePt t="31267" x="1439863" y="4716463"/>
          <p14:tracePt t="31284" x="1576388" y="4716463"/>
          <p14:tracePt t="31301" x="1635125" y="4716463"/>
          <p14:tracePt t="31317" x="1706563" y="4703763"/>
          <p14:tracePt t="31334" x="1790700" y="4703763"/>
          <p14:tracePt t="31351" x="1809750" y="4703763"/>
          <p14:tracePt t="31368" x="1849438" y="4703763"/>
          <p14:tracePt t="31384" x="1855788" y="4703763"/>
          <p14:tracePt t="31401" x="1862138" y="4697413"/>
          <p14:tracePt t="31418" x="1868488" y="4697413"/>
          <p14:tracePt t="31434" x="1874838" y="4697413"/>
          <p14:tracePt t="31451" x="1881188" y="4697413"/>
          <p14:tracePt t="31453" x="1887538" y="4697413"/>
          <p14:tracePt t="31467" x="1893888" y="4697413"/>
          <p14:tracePt t="31484" x="1901825" y="4697413"/>
          <p14:tracePt t="31501" x="1920875" y="4697413"/>
          <p14:tracePt t="31517" x="1927225" y="4697413"/>
          <p14:tracePt t="31534" x="1933575" y="4697413"/>
          <p14:tracePt t="31536" x="1939925" y="4697413"/>
          <p14:tracePt t="31550" x="1946275" y="4697413"/>
          <p14:tracePt t="31567" x="1952625" y="4697413"/>
          <p14:tracePt t="31584" x="1965325" y="4697413"/>
          <p14:tracePt t="31643" x="1965325" y="4691063"/>
          <p14:tracePt t="31847" x="1985963" y="4691063"/>
          <p14:tracePt t="31859" x="2030413" y="4691063"/>
          <p14:tracePt t="31873" x="2082800" y="4691063"/>
          <p14:tracePt t="31884" x="2141538" y="4684713"/>
          <p14:tracePt t="31900" x="2200275" y="4684713"/>
          <p14:tracePt t="31917" x="2238375" y="4684713"/>
          <p14:tracePt t="31934" x="2303463" y="4684713"/>
          <p14:tracePt t="31950" x="2335213" y="4684713"/>
          <p14:tracePt t="31967" x="2362200" y="4684713"/>
          <p14:tracePt t="31984" x="2374900" y="4684713"/>
          <p14:tracePt t="32004" x="2381250" y="4684713"/>
          <p14:tracePt t="32017" x="2387600" y="4684713"/>
          <p14:tracePt t="32033" x="2387600" y="4678363"/>
          <p14:tracePt t="32063" x="2393950" y="4678363"/>
          <p14:tracePt t="32100" x="2393950" y="4672013"/>
          <p14:tracePt t="32183" x="2393950" y="4665663"/>
          <p14:tracePt t="32219" x="2393950" y="4657725"/>
          <p14:tracePt t="32267" x="2387600" y="4657725"/>
          <p14:tracePt t="32363" x="2381250" y="4657725"/>
          <p14:tracePt t="32938" x="2393950" y="4657725"/>
          <p14:tracePt t="32949" x="2433638" y="4657725"/>
          <p14:tracePt t="32962" x="2471738" y="4657725"/>
          <p14:tracePt t="32974" x="2498725" y="4657725"/>
          <p14:tracePt t="32987" x="2511425" y="4657725"/>
          <p14:tracePt t="33000" x="2524125" y="4657725"/>
          <p14:tracePt t="33016" x="2530475" y="4657725"/>
          <p14:tracePt t="33033" x="2536825" y="4657725"/>
          <p14:tracePt t="33034" x="2543175" y="4657725"/>
          <p14:tracePt t="33141" x="2536825" y="4657725"/>
          <p14:tracePt t="33249" x="2543175" y="4665663"/>
          <p14:tracePt t="33261" x="2549525" y="4665663"/>
          <p14:tracePt t="33274" x="2570163" y="4672013"/>
          <p14:tracePt t="33287" x="2589213" y="4678363"/>
          <p14:tracePt t="33299" x="2614613" y="4678363"/>
          <p14:tracePt t="33316" x="2654300" y="4684713"/>
          <p14:tracePt t="33333" x="2719388" y="4684713"/>
          <p14:tracePt t="33349" x="2738438" y="4691063"/>
          <p14:tracePt t="33365" x="2757488" y="4691063"/>
          <p14:tracePt t="33382" x="2790825" y="4691063"/>
          <p14:tracePt t="33399" x="2803525" y="4691063"/>
          <p14:tracePt t="33415" x="2809875" y="4691063"/>
          <p14:tracePt t="33417" x="2822575" y="4691063"/>
          <p14:tracePt t="33432" x="2835275" y="4691063"/>
          <p14:tracePt t="33449" x="2847975" y="4697413"/>
          <p14:tracePt t="33465" x="2906713" y="4697413"/>
          <p14:tracePt t="33482" x="2946400" y="4697413"/>
          <p14:tracePt t="33499" x="2990850" y="4697413"/>
          <p14:tracePt t="33516" x="3081338" y="4697413"/>
          <p14:tracePt t="33532" x="3108325" y="4697413"/>
          <p14:tracePt t="33549" x="3167063" y="4697413"/>
          <p14:tracePt t="33565" x="3186113" y="4697413"/>
          <p14:tracePt t="33582" x="3211513" y="4703763"/>
          <p14:tracePt t="33599" x="3238500" y="4703763"/>
          <p14:tracePt t="33615" x="3251200" y="4703763"/>
          <p14:tracePt t="33633" x="3263900" y="4703763"/>
          <p14:tracePt t="33649" x="3270250" y="4703763"/>
          <p14:tracePt t="33670" x="3276600" y="4703763"/>
          <p14:tracePt t="33682" x="3282950" y="4710113"/>
          <p14:tracePt t="33699" x="3289300" y="4710113"/>
          <p14:tracePt t="33715" x="3295650" y="4710113"/>
          <p14:tracePt t="33717" x="3302000" y="4710113"/>
          <p14:tracePt t="33732" x="3309938" y="4710113"/>
          <p14:tracePt t="33754" x="3322638" y="4710113"/>
          <p14:tracePt t="33765" x="3328988" y="4710113"/>
          <p14:tracePt t="33782" x="3341688" y="4710113"/>
          <p14:tracePt t="33799" x="3348038" y="4710113"/>
          <p14:tracePt t="33800" x="3367088" y="4710113"/>
          <p14:tracePt t="33815" x="3387725" y="4710113"/>
          <p14:tracePt t="33832" x="3406775" y="4710113"/>
          <p14:tracePt t="33849" x="3471863" y="4710113"/>
          <p14:tracePt t="33865" x="3503613" y="4703763"/>
          <p14:tracePt t="33882" x="3529013" y="4703763"/>
          <p14:tracePt t="33898" x="3581400" y="4703763"/>
          <p14:tracePt t="33916" x="3600450" y="4703763"/>
          <p14:tracePt t="33932" x="3627438" y="4697413"/>
          <p14:tracePt t="33948" x="3640138" y="4697413"/>
          <p14:tracePt t="33969" x="3646488" y="4697413"/>
          <p14:tracePt t="33982" x="3652838" y="4697413"/>
          <p14:tracePt t="33999" x="3659188" y="4697413"/>
          <p14:tracePt t="34364" x="3652838" y="4697413"/>
          <p14:tracePt t="34388" x="3646488" y="4691063"/>
          <p14:tracePt t="34399" x="3633788" y="4691063"/>
          <p14:tracePt t="34412" x="3627438" y="4691063"/>
          <p14:tracePt t="34424" x="3621088" y="4691063"/>
          <p14:tracePt t="34436" x="3614738" y="4691063"/>
          <p14:tracePt t="34448" x="3600450" y="4691063"/>
          <p14:tracePt t="34465" x="3587750" y="4691063"/>
          <p14:tracePt t="34482" x="3581400" y="4691063"/>
          <p14:tracePt t="34484" x="3562350" y="4691063"/>
          <p14:tracePt t="34498" x="3536950" y="4691063"/>
          <p14:tracePt t="34515" x="3484563" y="4684713"/>
          <p14:tracePt t="34531" x="3316288" y="4684713"/>
          <p14:tracePt t="34548" x="3173413" y="4684713"/>
          <p14:tracePt t="34565" x="3017838" y="4691063"/>
          <p14:tracePt t="34581" x="2667000" y="4722813"/>
          <p14:tracePt t="34598" x="2498725" y="4737100"/>
          <p14:tracePt t="34615" x="2154238" y="4781550"/>
          <p14:tracePt t="34631" x="1985963" y="4800600"/>
          <p14:tracePt t="34649" x="1843088" y="4821238"/>
          <p14:tracePt t="34665" x="1647825" y="4852988"/>
          <p14:tracePt t="34681" x="1589088" y="4865688"/>
          <p14:tracePt t="34699" x="1485900" y="4878388"/>
          <p14:tracePt t="34715" x="1460500" y="4892675"/>
          <p14:tracePt t="34731" x="1439863" y="4892675"/>
          <p14:tracePt t="34748" x="1395413" y="4905375"/>
          <p14:tracePt t="34765" x="1382713" y="4911725"/>
          <p14:tracePt t="34782" x="1362075" y="4911725"/>
          <p14:tracePt t="34785" x="1349375" y="4918075"/>
          <p14:tracePt t="34798" x="1330325" y="4918075"/>
          <p14:tracePt t="34814" x="1311275" y="4924425"/>
          <p14:tracePt t="34831" x="1271588" y="4930775"/>
          <p14:tracePt t="34848" x="1246188" y="4930775"/>
          <p14:tracePt t="34866" x="1233488" y="4930775"/>
          <p14:tracePt t="34868" x="1212850" y="4930775"/>
          <p14:tracePt t="34881" x="1206500" y="4930775"/>
          <p14:tracePt t="34898" x="1193800" y="4930775"/>
          <p14:tracePt t="34915" x="1174750" y="4930775"/>
          <p14:tracePt t="34931" x="1168400" y="4930775"/>
          <p14:tracePt t="34948" x="1162050" y="4930775"/>
          <p14:tracePt t="34964" x="1155700" y="4930775"/>
          <p14:tracePt t="35023" x="1147763" y="4930775"/>
          <p14:tracePt t="35071" x="1141413" y="4930775"/>
          <p14:tracePt t="35095" x="1135063" y="4930775"/>
          <p14:tracePt t="35107" x="1128713" y="4930775"/>
          <p14:tracePt t="35121" x="1122363" y="4930775"/>
          <p14:tracePt t="35131" x="1116013" y="4930775"/>
          <p14:tracePt t="35148" x="1109663" y="4930775"/>
          <p14:tracePt t="35165" x="1096963" y="4930775"/>
          <p14:tracePt t="35167" x="1090613" y="4930775"/>
          <p14:tracePt t="35182" x="1076325" y="4930775"/>
          <p14:tracePt t="35197" x="1069975" y="4930775"/>
          <p14:tracePt t="35214" x="1063625" y="4930775"/>
          <p14:tracePt t="35231" x="1057275" y="4930775"/>
          <p14:tracePt t="35251" x="1050925" y="4930775"/>
          <p14:tracePt t="35370" x="1050925" y="4924425"/>
          <p14:tracePt t="35442" x="1057275" y="4924425"/>
          <p14:tracePt t="35454" x="1063625" y="4924425"/>
          <p14:tracePt t="35478" x="1069975" y="4924425"/>
          <p14:tracePt t="35490" x="1076325" y="4918075"/>
          <p14:tracePt t="35502" x="1084263" y="4918075"/>
          <p14:tracePt t="35514" x="1096963" y="4918075"/>
          <p14:tracePt t="35531" x="1103313" y="4918075"/>
          <p14:tracePt t="35547" x="1109663" y="4918075"/>
          <p14:tracePt t="35564" x="1135063" y="4911725"/>
          <p14:tracePt t="35581" x="1147763" y="4911725"/>
          <p14:tracePt t="35598" x="1193800" y="4905375"/>
          <p14:tracePt t="35614" x="1212850" y="4899025"/>
          <p14:tracePt t="35631" x="1239838" y="4899025"/>
          <p14:tracePt t="35647" x="1355725" y="4892675"/>
          <p14:tracePt t="35664" x="1433513" y="4878388"/>
          <p14:tracePt t="35681" x="1517650" y="4872038"/>
          <p14:tracePt t="35683" x="1628775" y="4872038"/>
          <p14:tracePt t="35697" x="1706563" y="4872038"/>
          <p14:tracePt t="35714" x="1784350" y="4872038"/>
          <p14:tracePt t="35730" x="1893888" y="4872038"/>
          <p14:tracePt t="35747" x="1939925" y="4872038"/>
          <p14:tracePt t="35764" x="1992313" y="4872038"/>
          <p14:tracePt t="35780" x="2095500" y="4872038"/>
          <p14:tracePt t="35797" x="2147888" y="4872038"/>
          <p14:tracePt t="35814" x="2225675" y="4878388"/>
          <p14:tracePt t="35830" x="2251075" y="4892675"/>
          <p14:tracePt t="35848" x="2284413" y="4892675"/>
          <p14:tracePt t="35864" x="2322513" y="4905375"/>
          <p14:tracePt t="35880" x="2335213" y="4905375"/>
          <p14:tracePt t="35897" x="2349500" y="4905375"/>
          <p14:tracePt t="35913" x="2362200" y="4911725"/>
          <p14:tracePt t="35930" x="2368550" y="4911725"/>
          <p14:tracePt t="35947" x="2381250" y="4911725"/>
          <p14:tracePt t="35970" x="2387600" y="4911725"/>
          <p14:tracePt t="35981" x="2393950" y="4911725"/>
          <p14:tracePt t="36017" x="2400300" y="4911725"/>
          <p14:tracePt t="36041" x="2406650" y="4911725"/>
          <p14:tracePt t="36064" x="2413000" y="4911725"/>
          <p14:tracePt t="36077" x="2420938" y="4911725"/>
          <p14:tracePt t="36089" x="2427288" y="4918075"/>
          <p14:tracePt t="36102" x="2433638" y="4918075"/>
          <p14:tracePt t="36113" x="2439988" y="4918075"/>
          <p14:tracePt t="36130" x="2446338" y="4918075"/>
          <p14:tracePt t="36150" x="2452688" y="4918075"/>
          <p14:tracePt t="36163" x="2459038" y="4918075"/>
          <p14:tracePt t="36180" x="2465388" y="4918075"/>
          <p14:tracePt t="36197" x="2471738" y="4918075"/>
          <p14:tracePt t="36220" x="2478088" y="4918075"/>
          <p14:tracePt t="36256" x="2484438" y="4918075"/>
          <p14:tracePt t="36316" x="2492375" y="4918075"/>
          <p14:tracePt t="36555" x="2498725" y="4918075"/>
          <p14:tracePt t="36568" x="2505075" y="4918075"/>
          <p14:tracePt t="36580" x="2524125" y="4918075"/>
          <p14:tracePt t="36592" x="2543175" y="4918075"/>
          <p14:tracePt t="36604" x="2576513" y="4918075"/>
          <p14:tracePt t="36617" x="2595563" y="4918075"/>
          <p14:tracePt t="36630" x="2614613" y="4918075"/>
          <p14:tracePt t="36647" x="2641600" y="4918075"/>
          <p14:tracePt t="36664" x="2686050" y="4918075"/>
          <p14:tracePt t="36680" x="2705100" y="4918075"/>
          <p14:tracePt t="36696" x="2725738" y="4918075"/>
          <p14:tracePt t="36713" x="2751138" y="4918075"/>
          <p14:tracePt t="36730" x="2763838" y="4918075"/>
          <p14:tracePt t="36746" x="2776538" y="4918075"/>
          <p14:tracePt t="36747" x="2782888" y="4918075"/>
          <p14:tracePt t="36763" x="2790825" y="4918075"/>
          <p14:tracePt t="36780" x="2797175" y="4918075"/>
          <p14:tracePt t="36796" x="2803525" y="4918075"/>
          <p14:tracePt t="36813" x="2809875" y="4918075"/>
          <p14:tracePt t="36832" x="2816225" y="4918075"/>
          <p14:tracePt t="36855" x="2822575" y="4918075"/>
          <p14:tracePt t="36915" x="2828925" y="4918075"/>
          <p14:tracePt t="36927" x="2835275" y="4918075"/>
          <p14:tracePt t="36939" x="2841625" y="4918075"/>
          <p14:tracePt t="36952" x="2847975" y="4918075"/>
          <p14:tracePt t="36963" x="2854325" y="4918075"/>
          <p14:tracePt t="36979" x="2868613" y="4918075"/>
          <p14:tracePt t="36996" x="2874963" y="4911725"/>
          <p14:tracePt t="37013" x="2894013" y="4911725"/>
          <p14:tracePt t="37035" x="2900363" y="4911725"/>
          <p14:tracePt t="37046" x="2906713" y="4911725"/>
          <p14:tracePt t="37063" x="2913063" y="4911725"/>
          <p14:tracePt t="37080" x="2919413" y="4911725"/>
          <p14:tracePt t="37096" x="2925763" y="4911725"/>
          <p14:tracePt t="37119" x="2932113" y="4911725"/>
          <p14:tracePt t="37143" x="2940050" y="4911725"/>
          <p14:tracePt t="37178" x="2946400" y="4911725"/>
          <p14:tracePt t="37657" x="2940050" y="4911725"/>
          <p14:tracePt t="37681" x="2932113" y="4918075"/>
          <p14:tracePt t="37706" x="2925763" y="4918075"/>
          <p14:tracePt t="37729" x="2913063" y="4918075"/>
          <p14:tracePt t="37742" x="2900363" y="4918075"/>
          <p14:tracePt t="37754" x="2887663" y="4924425"/>
          <p14:tracePt t="37767" x="2868613" y="4924425"/>
          <p14:tracePt t="37779" x="2828925" y="4930775"/>
          <p14:tracePt t="37795" x="2782888" y="4937125"/>
          <p14:tracePt t="37812" x="2686050" y="4949825"/>
          <p14:tracePt t="37814" x="2576513" y="4970463"/>
          <p14:tracePt t="37829" x="2400300" y="4989513"/>
          <p14:tracePt t="37846" x="2212975" y="5041900"/>
          <p14:tracePt t="37862" x="1843088" y="5119688"/>
          <p14:tracePt t="37879" x="1693863" y="5151438"/>
          <p14:tracePt t="37896" x="1609725" y="5170488"/>
          <p14:tracePt t="37912" x="1498600" y="5210175"/>
          <p14:tracePt t="37929" x="1460500" y="5222875"/>
          <p14:tracePt t="37946" x="1401763" y="5235575"/>
          <p14:tracePt t="37962" x="1382713" y="5241925"/>
          <p14:tracePt t="37979" x="1362075" y="5241925"/>
          <p14:tracePt t="37995" x="1349375" y="5241925"/>
          <p14:tracePt t="38012" x="1343025" y="5241925"/>
          <p14:tracePt t="38029" x="1336675" y="5241925"/>
          <p14:tracePt t="38077" x="1330325" y="5241925"/>
          <p14:tracePt t="38089" x="1330325" y="5235575"/>
          <p14:tracePt t="38125" x="1323975" y="5235575"/>
          <p14:tracePt t="38137" x="1323975" y="5229225"/>
          <p14:tracePt t="38197" x="1323975" y="5222875"/>
          <p14:tracePt t="38245" x="1330325" y="5222875"/>
          <p14:tracePt t="38256" x="1330325" y="5216525"/>
          <p14:tracePt t="38281" x="1336675" y="5216525"/>
          <p14:tracePt t="38328" x="1343025" y="5210175"/>
          <p14:tracePt t="38341" x="1349375" y="5210175"/>
          <p14:tracePt t="38366" x="1355725" y="5210175"/>
          <p14:tracePt t="38377" x="1362075" y="5203825"/>
          <p14:tracePt t="38388" x="1368425" y="5203825"/>
          <p14:tracePt t="38401" x="1376363" y="5203825"/>
          <p14:tracePt t="38412" x="1382713" y="5203825"/>
          <p14:tracePt t="38428" x="1395413" y="5203825"/>
          <p14:tracePt t="38445" x="1408113" y="5203825"/>
          <p14:tracePt t="38462" x="1446213" y="5197475"/>
          <p14:tracePt t="38478" x="1485900" y="5197475"/>
          <p14:tracePt t="38495" x="1525588" y="5191125"/>
          <p14:tracePt t="38497" x="1589088" y="5191125"/>
          <p14:tracePt t="38512" x="1647825" y="5184775"/>
          <p14:tracePt t="38528" x="1731963" y="5184775"/>
          <p14:tracePt t="38545" x="1908175" y="5170488"/>
          <p14:tracePt t="38561" x="1985963" y="5170488"/>
          <p14:tracePt t="38578" x="2057400" y="5170488"/>
          <p14:tracePt t="38595" x="2141538" y="5164138"/>
          <p14:tracePt t="38611" x="2173288" y="5164138"/>
          <p14:tracePt t="38628" x="2206625" y="5164138"/>
          <p14:tracePt t="38645" x="2219325" y="5164138"/>
          <p14:tracePt t="38661" x="2225675" y="5164138"/>
          <p14:tracePt t="38678" x="2232025" y="5164138"/>
          <p14:tracePt t="39396" x="2297113" y="5157788"/>
          <p14:tracePt t="39408" x="2433638" y="5157788"/>
          <p14:tracePt t="39419" x="2601913" y="5145088"/>
          <p14:tracePt t="39432" x="2757488" y="5151438"/>
          <p14:tracePt t="39444" x="2913063" y="5164138"/>
          <p14:tracePt t="39461" x="3024188" y="5184775"/>
          <p14:tracePt t="39477" x="3133725" y="5184775"/>
          <p14:tracePt t="39480" x="3211513" y="5191125"/>
          <p14:tracePt t="39494" x="3270250" y="5191125"/>
          <p14:tracePt t="39511" x="3309938" y="5191125"/>
          <p14:tracePt t="39528" x="3367088" y="5197475"/>
          <p14:tracePt t="39544" x="3394075" y="5197475"/>
          <p14:tracePt t="39560" x="3406775" y="5197475"/>
          <p14:tracePt t="39577" x="3419475" y="5197475"/>
          <p14:tracePt t="39600" x="3425825" y="5197475"/>
          <p14:tracePt t="39624" x="3432175" y="5197475"/>
          <p14:tracePt t="41073" x="3432175" y="5191125"/>
          <p14:tracePt t="41109" x="3432175" y="5184775"/>
          <p14:tracePt t="41133" x="3432175" y="5176838"/>
          <p14:tracePt t="41146" x="3451225" y="5170488"/>
          <p14:tracePt t="41157" x="3497263" y="5145088"/>
          <p14:tracePt t="41169" x="3614738" y="5080000"/>
          <p14:tracePt t="41182" x="3789363" y="4983163"/>
          <p14:tracePt t="41193" x="4029075" y="4899025"/>
          <p14:tracePt t="41209" x="4321175" y="4794250"/>
          <p14:tracePt t="41226" x="4600575" y="4716463"/>
          <p14:tracePt t="41243" x="5138738" y="4567238"/>
          <p14:tracePt t="41259" x="5418138" y="4508500"/>
          <p14:tracePt t="41276" x="5865813" y="4411663"/>
          <p14:tracePt t="41293" x="6040438" y="4359275"/>
          <p14:tracePt t="41309" x="6196013" y="4340225"/>
          <p14:tracePt t="41326" x="6429375" y="4268788"/>
          <p14:tracePt t="41343" x="6527800" y="4237038"/>
          <p14:tracePt t="41359" x="6605588" y="4197350"/>
          <p14:tracePt t="41361" x="6664325" y="4165600"/>
          <p14:tracePt t="41376" x="6729413" y="4119563"/>
          <p14:tracePt t="41393" x="6780213" y="4075113"/>
          <p14:tracePt t="41409" x="6884988" y="4010025"/>
          <p14:tracePt t="41426" x="6916738" y="3963988"/>
          <p14:tracePt t="41442" x="6948488" y="3938588"/>
          <p14:tracePt t="41459" x="6988175" y="3879850"/>
          <p14:tracePt t="41476" x="6994525" y="3860800"/>
          <p14:tracePt t="41492" x="6994525" y="3795713"/>
          <p14:tracePt t="41509" x="6975475" y="3756025"/>
          <p14:tracePt t="41526" x="6948488" y="3724275"/>
          <p14:tracePt t="41542" x="6845300" y="3606800"/>
          <p14:tracePt t="41559" x="6792913" y="3556000"/>
          <p14:tracePt t="41576" x="6696075" y="3457575"/>
          <p14:tracePt t="41592" x="6664325" y="3425825"/>
          <p14:tracePt t="41609" x="6624638" y="3413125"/>
          <p14:tracePt t="41625" x="6565900" y="3386138"/>
          <p14:tracePt t="41642" x="6553200" y="3379788"/>
          <p14:tracePt t="41660" x="6521450" y="3379788"/>
          <p14:tracePt t="41684" x="6515100" y="3379788"/>
          <p14:tracePt t="41697" x="6515100" y="3386138"/>
          <p14:tracePt t="41709" x="6521450" y="3386138"/>
          <p14:tracePt t="41726" x="6534150" y="3386138"/>
          <p14:tracePt t="41743" x="6559550" y="3386138"/>
          <p14:tracePt t="41744" x="6592888" y="3386138"/>
          <p14:tracePt t="41759" x="6664325" y="3386138"/>
          <p14:tracePt t="41775" x="6799263" y="3373438"/>
          <p14:tracePt t="41792" x="7183438" y="3360738"/>
          <p14:tracePt t="41809" x="7318375" y="3360738"/>
          <p14:tracePt t="41826" x="7396163" y="3360738"/>
          <p14:tracePt t="41842" x="7494588" y="3360738"/>
          <p14:tracePt t="41859" x="7513638" y="3360738"/>
          <p14:tracePt t="41876" x="7526338" y="3360738"/>
          <p14:tracePt t="41948" x="7519988" y="3360738"/>
          <p14:tracePt t="41960" x="7513638" y="3360738"/>
          <p14:tracePt t="41972" x="7507288" y="3367088"/>
          <p14:tracePt t="41984" x="7494588" y="3373438"/>
          <p14:tracePt t="41997" x="7481888" y="3373438"/>
          <p14:tracePt t="42008" x="7467600" y="3379788"/>
          <p14:tracePt t="42025" x="7448550" y="3379788"/>
          <p14:tracePt t="42042" x="7423150" y="3379788"/>
          <p14:tracePt t="42044" x="7389813" y="3379788"/>
          <p14:tracePt t="42058" x="7345363" y="3394075"/>
          <p14:tracePt t="42076" x="7286625" y="3406775"/>
          <p14:tracePt t="42092" x="7027863" y="3497263"/>
          <p14:tracePt t="42108" x="6864350" y="3549650"/>
          <p14:tracePt t="42126" x="6735763" y="3621088"/>
          <p14:tracePt t="42128" x="6630988" y="3659188"/>
          <p14:tracePt t="42142" x="6553200" y="3711575"/>
          <p14:tracePt t="42158" x="6500813" y="3743325"/>
          <p14:tracePt t="42176" x="6429375" y="3789363"/>
          <p14:tracePt t="42192" x="6416675" y="3802063"/>
          <p14:tracePt t="42209" x="6403975" y="3808413"/>
          <p14:tracePt t="42226" x="6403975" y="3814763"/>
          <p14:tracePt t="42248" x="6416675" y="3808413"/>
          <p14:tracePt t="42272" x="6429375" y="3808413"/>
          <p14:tracePt t="42283" x="6437313" y="3808413"/>
          <p14:tracePt t="42296" x="6450013" y="3808413"/>
          <p14:tracePt t="42308" x="6456363" y="3802063"/>
          <p14:tracePt t="42325" x="6469063" y="3802063"/>
          <p14:tracePt t="42342" x="6475413" y="3802063"/>
          <p14:tracePt t="42343" x="6488113" y="3802063"/>
          <p14:tracePt t="42358" x="6500813" y="3802063"/>
          <p14:tracePt t="42376" x="6515100" y="3808413"/>
          <p14:tracePt t="42391" x="6572250" y="3827463"/>
          <p14:tracePt t="42408" x="6624638" y="3833813"/>
          <p14:tracePt t="42425" x="6683375" y="3854450"/>
          <p14:tracePt t="42442" x="6845300" y="3867150"/>
          <p14:tracePt t="42458" x="6910388" y="3867150"/>
          <p14:tracePt t="42475" x="7046913" y="3867150"/>
          <p14:tracePt t="42492" x="7097713" y="3867150"/>
          <p14:tracePt t="42508" x="7156450" y="3867150"/>
          <p14:tracePt t="42526" x="7254875" y="3841750"/>
          <p14:tracePt t="42542" x="7292975" y="3833813"/>
          <p14:tracePt t="42558" x="7377113" y="3821113"/>
          <p14:tracePt t="42575" x="7404100" y="3808413"/>
          <p14:tracePt t="42592" x="7442200" y="3808413"/>
          <p14:tracePt t="42608" x="7481888" y="3808413"/>
          <p14:tracePt t="42625" x="7494588" y="3808413"/>
          <p14:tracePt t="42642" x="7500938" y="3808413"/>
          <p14:tracePt t="42658" x="7507288" y="3808413"/>
          <p14:tracePt t="43206" x="7494588" y="3808413"/>
          <p14:tracePt t="43218" x="7435850" y="3821113"/>
          <p14:tracePt t="43230" x="7364413" y="3841750"/>
          <p14:tracePt t="43242" x="7267575" y="3867150"/>
          <p14:tracePt t="43257" x="7189788" y="3898900"/>
          <p14:tracePt t="43275" x="7118350" y="3932238"/>
          <p14:tracePt t="43291" x="6994525" y="3997325"/>
          <p14:tracePt t="43308" x="6956425" y="4016375"/>
          <p14:tracePt t="43325" x="6923088" y="4041775"/>
          <p14:tracePt t="43327" x="6891338" y="4068763"/>
          <p14:tracePt t="43341" x="6864350" y="4087813"/>
          <p14:tracePt t="43357" x="6851650" y="4100513"/>
          <p14:tracePt t="43374" x="6826250" y="4125913"/>
          <p14:tracePt t="43391" x="6819900" y="4132263"/>
          <p14:tracePt t="43408" x="6807200" y="4146550"/>
          <p14:tracePt t="43410" x="6799263" y="4152900"/>
          <p14:tracePt t="43424" x="6799263" y="4159250"/>
          <p14:tracePt t="43446" x="6792913" y="4165600"/>
          <p14:tracePt t="43470" x="6792913" y="4171950"/>
          <p14:tracePt t="43541" x="6792913" y="4178300"/>
          <p14:tracePt t="43577" x="6792913" y="4184650"/>
          <p14:tracePt t="43589" x="6786563" y="4191000"/>
          <p14:tracePt t="43614" x="6780213" y="4191000"/>
          <p14:tracePt t="43626" x="6780213" y="4197350"/>
          <p14:tracePt t="43674" x="6786563" y="4197350"/>
          <p14:tracePt t="43685" x="6792913" y="4197350"/>
          <p14:tracePt t="43697" x="6799263" y="4197350"/>
          <p14:tracePt t="43711" x="6813550" y="4197350"/>
          <p14:tracePt t="43724" x="6813550" y="4191000"/>
          <p14:tracePt t="43741" x="6819900" y="4191000"/>
          <p14:tracePt t="43758" x="6838950" y="4184650"/>
          <p14:tracePt t="43774" x="6845300" y="4184650"/>
          <p14:tracePt t="43791" x="6851650" y="4178300"/>
          <p14:tracePt t="43807" x="6870700" y="4178300"/>
          <p14:tracePt t="43824" x="6878638" y="4171950"/>
          <p14:tracePt t="43841" x="6897688" y="4171950"/>
          <p14:tracePt t="43857" x="6904038" y="4171950"/>
          <p14:tracePt t="43874" x="6910388" y="4165600"/>
          <p14:tracePt t="43890" x="6916738" y="4165600"/>
          <p14:tracePt t="43907" x="6923088" y="4165600"/>
          <p14:tracePt t="43924" x="6929438" y="4159250"/>
          <p14:tracePt t="43926" x="6935788" y="4159250"/>
          <p14:tracePt t="43941" x="6942138" y="4159250"/>
          <p14:tracePt t="43957" x="6948488" y="4159250"/>
          <p14:tracePt t="43974" x="6975475" y="4159250"/>
          <p14:tracePt t="43990" x="6994525" y="4152900"/>
          <p14:tracePt t="44007" x="7027863" y="4152900"/>
          <p14:tracePt t="44009" x="7072313" y="4152900"/>
          <p14:tracePt t="44024" x="7124700" y="4146550"/>
          <p14:tracePt t="44040" x="7183438" y="4146550"/>
          <p14:tracePt t="44057" x="7305675" y="4140200"/>
          <p14:tracePt t="44074" x="7364413" y="4140200"/>
          <p14:tracePt t="44091" x="7416800" y="4140200"/>
          <p14:tracePt t="44093" x="7442200" y="4132263"/>
          <p14:tracePt t="44107" x="7475538" y="4132263"/>
          <p14:tracePt t="44124" x="7494588" y="4132263"/>
          <p14:tracePt t="44141" x="7532688" y="4125913"/>
          <p14:tracePt t="44157" x="7546975" y="4125913"/>
          <p14:tracePt t="44174" x="7559675" y="4125913"/>
          <p14:tracePt t="44190" x="7572375" y="4125913"/>
          <p14:tracePt t="44207" x="7578725" y="4125913"/>
          <p14:tracePt t="44297" x="7585075" y="4125913"/>
          <p14:tracePt t="44320" x="7597775" y="4125913"/>
          <p14:tracePt t="44333" x="7610475" y="4125913"/>
          <p14:tracePt t="44345" x="7637463" y="4125913"/>
          <p14:tracePt t="44357" x="7669213" y="4125913"/>
          <p14:tracePt t="44373" x="7727950" y="4125913"/>
          <p14:tracePt t="44390" x="7799388" y="4125913"/>
          <p14:tracePt t="44393" x="7889875" y="4125913"/>
          <p14:tracePt t="44407" x="7980363" y="4125913"/>
          <p14:tracePt t="44423" x="8078788" y="4125913"/>
          <p14:tracePt t="44440" x="8201025" y="4125913"/>
          <p14:tracePt t="44457" x="8240713" y="4125913"/>
          <p14:tracePt t="44474" x="8278813" y="4125913"/>
          <p14:tracePt t="44490" x="8324850" y="4132263"/>
          <p14:tracePt t="44506" x="8343900" y="4132263"/>
          <p14:tracePt t="44524" x="8356600" y="4132263"/>
          <p14:tracePt t="44540" x="8364538" y="4132263"/>
          <p14:tracePt t="44556" x="8370888" y="4132263"/>
          <p14:tracePt t="45243" x="8383588" y="4132263"/>
          <p14:tracePt t="45256" x="8434388" y="4132263"/>
          <p14:tracePt t="45267" x="8493125" y="4125913"/>
          <p14:tracePt t="45279" x="8539163" y="4113213"/>
          <p14:tracePt t="45293" x="8591550" y="4113213"/>
          <p14:tracePt t="45306" x="8629650" y="4113213"/>
          <p14:tracePt t="45323" x="8669338" y="4106863"/>
          <p14:tracePt t="45340" x="8713788" y="4106863"/>
          <p14:tracePt t="45356" x="8740775" y="4106863"/>
          <p14:tracePt t="45373" x="8759825" y="4106863"/>
          <p14:tracePt t="45390" x="8785225" y="4100513"/>
          <p14:tracePt t="45406" x="8797925" y="4100513"/>
          <p14:tracePt t="45423" x="8818563" y="4100513"/>
          <p14:tracePt t="45439" x="8831263" y="4100513"/>
          <p14:tracePt t="45456" x="8843963" y="4100513"/>
          <p14:tracePt t="45473" x="8863013" y="4100513"/>
          <p14:tracePt t="45489" x="8875713" y="4100513"/>
          <p14:tracePt t="45507" x="8896350" y="4100513"/>
          <p14:tracePt t="45523" x="8902700" y="4100513"/>
          <p14:tracePt t="45539" x="8915400" y="4100513"/>
          <p14:tracePt t="45556" x="8921750" y="4100513"/>
          <p14:tracePt t="45590" x="8928100" y="4100513"/>
          <p14:tracePt t="45603" x="8934450" y="4100513"/>
          <p14:tracePt t="45615" x="8940800" y="4100513"/>
          <p14:tracePt t="45627" x="8947150" y="4100513"/>
          <p14:tracePt t="45639" x="8961438" y="4100513"/>
          <p14:tracePt t="45656" x="8980488" y="4100513"/>
          <p14:tracePt t="45673" x="8999538" y="4106863"/>
          <p14:tracePt t="45689" x="9077325" y="4106863"/>
          <p14:tracePt t="45705" x="9123363" y="4106863"/>
          <p14:tracePt t="45723" x="9188450" y="4113213"/>
          <p14:tracePt t="45739" x="9220200" y="4113213"/>
          <p14:tracePt t="45755" x="9239250" y="4113213"/>
          <p14:tracePt t="45773" x="9278938" y="4113213"/>
          <p14:tracePt t="45789" x="9285288" y="4113213"/>
          <p14:tracePt t="45806" x="9297988" y="4113213"/>
          <p14:tracePt t="45902" x="9304338" y="4113213"/>
          <p14:tracePt t="45914" x="9310688" y="4113213"/>
          <p14:tracePt t="45927" x="9323388" y="4113213"/>
          <p14:tracePt t="45938" x="9331325" y="4113213"/>
          <p14:tracePt t="45939" x="9337675" y="4113213"/>
          <p14:tracePt t="45950" x="9350375" y="4119563"/>
          <p14:tracePt t="45962" x="9363075" y="4119563"/>
          <p14:tracePt t="45977" x="9382125" y="4125913"/>
          <p14:tracePt t="45989" x="9394825" y="4125913"/>
          <p14:tracePt t="46005" x="9415463" y="4125913"/>
          <p14:tracePt t="46022" x="9434513" y="4132263"/>
          <p14:tracePt t="46039" x="9440863" y="4132263"/>
          <p14:tracePt t="46056" x="9447213" y="4132263"/>
          <p14:tracePt t="46059" x="9453563" y="4132263"/>
          <p14:tracePt t="46514" x="9466263" y="4132263"/>
          <p14:tracePt t="46527" x="9480550" y="4132263"/>
          <p14:tracePt t="46537" x="9493250" y="4132263"/>
          <p14:tracePt t="46550" x="9505950" y="4132263"/>
          <p14:tracePt t="46561" x="9518650" y="4132263"/>
          <p14:tracePt t="46574" x="9525000" y="4132263"/>
          <p14:tracePt t="46589" x="9531350" y="4132263"/>
          <p14:tracePt t="46605" x="9537700" y="4132263"/>
          <p14:tracePt t="46622" x="9550400" y="4132263"/>
          <p14:tracePt t="46669" x="9558338" y="4132263"/>
          <p14:tracePt t="46921" x="9550400" y="4132263"/>
          <p14:tracePt t="46957" x="9544050" y="4132263"/>
          <p14:tracePt t="47017" x="9537700" y="4132263"/>
          <p14:tracePt t="47101" x="9531350" y="4132263"/>
          <p14:tracePt t="47161" x="9525000" y="4132263"/>
          <p14:tracePt t="47174" x="9525000" y="4140200"/>
          <p14:tracePt t="47197" x="9518650" y="4140200"/>
          <p14:tracePt t="47317" x="9512300" y="4140200"/>
          <p14:tracePt t="47388" x="9505950" y="4140200"/>
          <p14:tracePt t="47472" x="9499600" y="4140200"/>
          <p14:tracePt t="47532" x="9493250" y="4140200"/>
          <p14:tracePt t="47544" x="9493250" y="4146550"/>
          <p14:tracePt t="47676" x="9486900" y="4146550"/>
          <p14:tracePt t="47772" x="9480550" y="4146550"/>
          <p14:tracePt t="47832" x="9472613" y="4146550"/>
          <p14:tracePt t="47892" x="9466263" y="4146550"/>
          <p14:tracePt t="47940" x="9466263" y="4140200"/>
          <p14:tracePt t="47975" x="9459913" y="4140200"/>
          <p14:tracePt t="47999" x="9453563" y="4140200"/>
          <p14:tracePt t="48024" x="9440863" y="4132263"/>
          <p14:tracePt t="48036" x="9421813" y="4132263"/>
          <p14:tracePt t="48047" x="9388475" y="4125913"/>
          <p14:tracePt t="48060" x="9331325" y="4125913"/>
          <p14:tracePt t="48071" x="9251950" y="4125913"/>
          <p14:tracePt t="48087" x="9117013" y="4125913"/>
          <p14:tracePt t="48104" x="8947150" y="4125913"/>
          <p14:tracePt t="48120" x="8532813" y="4146550"/>
          <p14:tracePt t="48137" x="8305800" y="4165600"/>
          <p14:tracePt t="48154" x="8116888" y="4191000"/>
          <p14:tracePt t="48156" x="7961313" y="4210050"/>
          <p14:tracePt t="48170" x="7831138" y="4243388"/>
          <p14:tracePt t="48187" x="7753350" y="4256088"/>
          <p14:tracePt t="48204" x="7610475" y="4289425"/>
          <p14:tracePt t="48220" x="7559675" y="4302125"/>
          <p14:tracePt t="48237" x="7519988" y="4302125"/>
          <p14:tracePt t="48254" x="7461250" y="4314825"/>
          <p14:tracePt t="48271" x="7442200" y="4321175"/>
          <p14:tracePt t="48287" x="7370763" y="4340225"/>
          <p14:tracePt t="48304" x="7339013" y="4340225"/>
          <p14:tracePt t="48320" x="7299325" y="4340225"/>
          <p14:tracePt t="48323" x="7273925" y="4340225"/>
          <p14:tracePt t="48337" x="7234238" y="4340225"/>
          <p14:tracePt t="48354" x="7202488" y="4340225"/>
          <p14:tracePt t="48370" x="7137400" y="4346575"/>
          <p14:tracePt t="48387" x="7105650" y="4352925"/>
          <p14:tracePt t="48404" x="7085013" y="4352925"/>
          <p14:tracePt t="48420" x="7059613" y="4359275"/>
          <p14:tracePt t="48437" x="7046913" y="4359275"/>
          <p14:tracePt t="48454" x="7040563" y="4367213"/>
          <p14:tracePt t="48457" x="7034213" y="4367213"/>
          <p14:tracePt t="49342" x="7046913" y="4367213"/>
          <p14:tracePt t="49354" x="7118350" y="4367213"/>
          <p14:tracePt t="49366" x="7196138" y="4373563"/>
          <p14:tracePt t="49377" x="7292975" y="4392613"/>
          <p14:tracePt t="49391" x="7377113" y="4392613"/>
          <p14:tracePt t="49403" x="7467600" y="4392613"/>
          <p14:tracePt t="49419" x="7553325" y="4392613"/>
          <p14:tracePt t="49437" x="7643813" y="4392613"/>
          <p14:tracePt t="49439" x="7669213" y="4392613"/>
          <p14:tracePt t="49453" x="7708900" y="4392613"/>
          <p14:tracePt t="49470" x="7734300" y="4392613"/>
          <p14:tracePt t="49486" x="7759700" y="4386263"/>
          <p14:tracePt t="49503" x="7773988" y="4386263"/>
          <p14:tracePt t="49520" x="7786688" y="4379913"/>
          <p14:tracePt t="49522" x="7799388" y="4379913"/>
          <p14:tracePt t="49536" x="7812088" y="4379913"/>
          <p14:tracePt t="49552" x="7824788" y="4379913"/>
          <p14:tracePt t="49569" x="7864475" y="4373563"/>
          <p14:tracePt t="49586" x="7889875" y="4373563"/>
          <p14:tracePt t="49603" x="7908925" y="4367213"/>
          <p14:tracePt t="49606" x="7923213" y="4367213"/>
          <p14:tracePt t="49607" x="7935913" y="4367213"/>
          <p14:tracePt t="49619" x="7967663" y="4367213"/>
          <p14:tracePt t="49636" x="7994650" y="4367213"/>
          <p14:tracePt t="49653" x="8058150" y="4373563"/>
          <p14:tracePt t="49670" x="8085138" y="4373563"/>
          <p14:tracePt t="49686" x="8116888" y="4379913"/>
          <p14:tracePt t="49703" x="8181975" y="4392613"/>
          <p14:tracePt t="49719" x="8201025" y="4398963"/>
          <p14:tracePt t="49736" x="8228013" y="4398963"/>
          <p14:tracePt t="49737" x="8247063" y="4405313"/>
          <p14:tracePt t="49752" x="8259763" y="4418013"/>
          <p14:tracePt t="49769" x="8278813" y="4418013"/>
          <p14:tracePt t="49786" x="8305800" y="4424363"/>
          <p14:tracePt t="49802" x="8318500" y="4424363"/>
          <p14:tracePt t="49819" x="8324850" y="4424363"/>
          <p14:tracePt t="49822" x="8337550" y="4424363"/>
          <p14:tracePt t="49836" x="8343900" y="4424363"/>
          <p14:tracePt t="49854" x="8356600" y="4424363"/>
          <p14:tracePt t="49869" x="8377238" y="4424363"/>
          <p14:tracePt t="49885" x="8389938" y="4424363"/>
          <p14:tracePt t="49906" x="8396288" y="4424363"/>
          <p14:tracePt t="49919" x="8402638" y="4424363"/>
          <p14:tracePt t="49936" x="8408988" y="4424363"/>
          <p14:tracePt t="49953" x="8415338" y="4424363"/>
          <p14:tracePt t="49969" x="8421688" y="4424363"/>
          <p14:tracePt t="50588" x="8428038" y="4424363"/>
          <p14:tracePt t="50600" x="8434388" y="4424363"/>
          <p14:tracePt t="50612" x="8455025" y="4424363"/>
          <p14:tracePt t="50624" x="8461375" y="4424363"/>
          <p14:tracePt t="50635" x="8480425" y="4430713"/>
          <p14:tracePt t="50652" x="8486775" y="4430713"/>
          <p14:tracePt t="50669" x="8493125" y="4430713"/>
          <p14:tracePt t="50685" x="8520113" y="4430713"/>
          <p14:tracePt t="50702" x="8532813" y="4430713"/>
          <p14:tracePt t="50719" x="8564563" y="4430713"/>
          <p14:tracePt t="50735" x="8583613" y="4430713"/>
          <p14:tracePt t="50752" x="8591550" y="4430713"/>
          <p14:tracePt t="50768" x="8623300" y="4438650"/>
          <p14:tracePt t="50785" x="8642350" y="4438650"/>
          <p14:tracePt t="50802" x="8655050" y="4438650"/>
          <p14:tracePt t="50818" x="8675688" y="4438650"/>
          <p14:tracePt t="50835" x="8682038" y="4438650"/>
          <p14:tracePt t="50852" x="8694738" y="4445000"/>
          <p14:tracePt t="50868" x="8707438" y="4445000"/>
          <p14:tracePt t="50885" x="8713788" y="4445000"/>
          <p14:tracePt t="50901" x="8726488" y="4445000"/>
          <p14:tracePt t="50918" x="8732838" y="4445000"/>
          <p14:tracePt t="50935" x="8740775" y="4445000"/>
          <p14:tracePt t="50951" x="8747125" y="4445000"/>
          <p14:tracePt t="50972" x="8753475" y="4445000"/>
          <p14:tracePt t="51007" x="8759825" y="4445000"/>
          <p14:tracePt t="51067" x="8753475" y="4445000"/>
          <p14:tracePt t="51080" x="8747125" y="4445000"/>
          <p14:tracePt t="51091" x="8720138" y="4445000"/>
          <p14:tracePt t="51105" x="8694738" y="4445000"/>
          <p14:tracePt t="51118" x="8636000" y="4445000"/>
          <p14:tracePt t="51135" x="8532813" y="4445000"/>
          <p14:tracePt t="51151" x="8150225" y="4457700"/>
          <p14:tracePt t="51168" x="7877175" y="4457700"/>
          <p14:tracePt t="51185" x="7624763" y="4470400"/>
          <p14:tracePt t="51201" x="7131050" y="4541838"/>
          <p14:tracePt t="51218" x="6942138" y="4600575"/>
          <p14:tracePt t="51235" x="6637338" y="4678363"/>
          <p14:tracePt t="51251" x="6565900" y="4703763"/>
          <p14:tracePt t="51268" x="6515100" y="4722813"/>
          <p14:tracePt t="51285" x="6456363" y="4749800"/>
          <p14:tracePt t="51301" x="6450013" y="4749800"/>
          <p14:tracePt t="51318" x="6450013" y="4756150"/>
          <p14:tracePt t="51343" x="6462713" y="4756150"/>
          <p14:tracePt t="51356" x="6469063" y="4756150"/>
          <p14:tracePt t="51368" x="6475413" y="4756150"/>
          <p14:tracePt t="51385" x="6481763" y="4762500"/>
          <p14:tracePt t="51401" x="6488113" y="4762500"/>
          <p14:tracePt t="51418" x="6500813" y="4762500"/>
          <p14:tracePt t="51434" x="6508750" y="4762500"/>
          <p14:tracePt t="51451" x="6521450" y="4762500"/>
          <p14:tracePt t="51468" x="6534150" y="4762500"/>
          <p14:tracePt t="51484" x="6546850" y="4762500"/>
          <p14:tracePt t="51501" x="6565900" y="4756150"/>
          <p14:tracePt t="51518" x="6572250" y="4756150"/>
          <p14:tracePt t="51535" x="6599238" y="4749800"/>
          <p14:tracePt t="51551" x="6611938" y="4749800"/>
          <p14:tracePt t="51567" x="6618288" y="4749800"/>
          <p14:tracePt t="51585" x="6643688" y="4749800"/>
          <p14:tracePt t="51601" x="6664325" y="4743450"/>
          <p14:tracePt t="51618" x="6721475" y="4737100"/>
          <p14:tracePt t="51634" x="6748463" y="4729163"/>
          <p14:tracePt t="51651" x="6780213" y="4729163"/>
          <p14:tracePt t="51668" x="6832600" y="4722813"/>
          <p14:tracePt t="51685" x="6851650" y="4722813"/>
          <p14:tracePt t="51701" x="6870700" y="4722813"/>
          <p14:tracePt t="51705" x="6897688" y="4716463"/>
          <p14:tracePt t="51717" x="6910388" y="4716463"/>
          <p14:tracePt t="51734" x="6929438" y="4716463"/>
          <p14:tracePt t="51751" x="6969125" y="4716463"/>
          <p14:tracePt t="51767" x="6975475" y="4716463"/>
          <p14:tracePt t="51785" x="6988175" y="4716463"/>
          <p14:tracePt t="51787" x="7000875" y="4716463"/>
          <p14:tracePt t="51801" x="7013575" y="4716463"/>
          <p14:tracePt t="51817" x="7019925" y="4716463"/>
          <p14:tracePt t="51834" x="7040563" y="4716463"/>
          <p14:tracePt t="51851" x="7046913" y="4716463"/>
          <p14:tracePt t="51867" x="7053263" y="4716463"/>
          <p14:tracePt t="51884" x="7059613" y="4716463"/>
          <p14:tracePt t="51901" x="7065963" y="4716463"/>
          <p14:tracePt t="51918" x="7072313" y="4716463"/>
          <p14:tracePt t="52410" x="7065963" y="4716463"/>
          <p14:tracePt t="52710" x="7234238" y="4716463"/>
          <p14:tracePt t="52723" x="7416800" y="4716463"/>
          <p14:tracePt t="52733" x="7631113" y="4716463"/>
          <p14:tracePt t="52745" x="7812088" y="4729163"/>
          <p14:tracePt t="52757" x="7980363" y="4762500"/>
          <p14:tracePt t="52770" x="8110538" y="4781550"/>
          <p14:tracePt t="52783" x="8221663" y="4794250"/>
          <p14:tracePt t="52800" x="8278813" y="4800600"/>
          <p14:tracePt t="52817" x="8364538" y="4827588"/>
          <p14:tracePt t="52834" x="8389938" y="4827588"/>
          <p14:tracePt t="52850" x="8408988" y="4833938"/>
          <p14:tracePt t="52866" x="8434388" y="4833938"/>
          <p14:tracePt t="52884" x="8448675" y="4833938"/>
          <p14:tracePt t="52900" x="8467725" y="4840288"/>
          <p14:tracePt t="52924" x="8474075" y="4846638"/>
          <p14:tracePt t="53092" x="8474075" y="4840288"/>
          <p14:tracePt t="53176" x="8474075" y="4833938"/>
          <p14:tracePt t="53236" x="8467725" y="4833938"/>
          <p14:tracePt t="53272" x="8461375" y="4833938"/>
          <p14:tracePt t="53331" x="8455025" y="4833938"/>
          <p14:tracePt t="53380" x="8448675" y="4833938"/>
          <p14:tracePt t="53428" x="8442325" y="4833938"/>
          <p14:tracePt t="53487" x="8434388" y="4833938"/>
          <p14:tracePt t="53524" x="8428038" y="4833938"/>
          <p14:tracePt t="53547" x="8421688" y="4833938"/>
          <p14:tracePt t="53572" x="8415338" y="4833938"/>
          <p14:tracePt t="53584" x="8408988" y="4840288"/>
          <p14:tracePt t="53596" x="8402638" y="4840288"/>
          <p14:tracePt t="53608" x="8389938" y="4840288"/>
          <p14:tracePt t="53621" x="8377238" y="4846638"/>
          <p14:tracePt t="53633" x="8356600" y="4846638"/>
          <p14:tracePt t="53649" x="8331200" y="4852988"/>
          <p14:tracePt t="53666" x="8285163" y="4852988"/>
          <p14:tracePt t="53668" x="8213725" y="4872038"/>
          <p14:tracePt t="53683" x="8104188" y="4878388"/>
          <p14:tracePt t="53699" x="7948613" y="4905375"/>
          <p14:tracePt t="53716" x="7559675" y="4964113"/>
          <p14:tracePt t="53733" x="7389813" y="4983163"/>
          <p14:tracePt t="53749" x="7234238" y="5008563"/>
          <p14:tracePt t="53766" x="7040563" y="5027613"/>
          <p14:tracePt t="53784" x="6975475" y="5041900"/>
          <p14:tracePt t="53800" x="6910388" y="5054600"/>
          <p14:tracePt t="53816" x="6878638" y="5060950"/>
          <p14:tracePt t="53832" x="6858000" y="5060950"/>
          <p14:tracePt t="53849" x="6832600" y="5060950"/>
          <p14:tracePt t="53866" x="6826250" y="5060950"/>
          <p14:tracePt t="53883" x="6819900" y="5060950"/>
          <p14:tracePt t="54062" x="6826250" y="5060950"/>
          <p14:tracePt t="54088" x="6826250" y="5054600"/>
          <p14:tracePt t="54111" x="6832600" y="5054600"/>
          <p14:tracePt t="54171" x="6838950" y="5054600"/>
          <p14:tracePt t="54314" x="6832600" y="5054600"/>
          <p14:tracePt t="54338" x="6826250" y="5054600"/>
          <p14:tracePt t="54352" x="6813550" y="5054600"/>
          <p14:tracePt t="54363" x="6792913" y="5054600"/>
          <p14:tracePt t="54375" x="6773863" y="5054600"/>
          <p14:tracePt t="54388" x="6761163" y="5054600"/>
          <p14:tracePt t="54399" x="6748463" y="5054600"/>
          <p14:tracePt t="54415" x="6735763" y="5054600"/>
          <p14:tracePt t="54432" x="6729413" y="5054600"/>
          <p14:tracePt t="54448" x="6721475" y="5054600"/>
          <p14:tracePt t="54466" x="6715125" y="5054600"/>
          <p14:tracePt t="54483" x="6708775" y="5054600"/>
          <p14:tracePt t="54520" x="6715125" y="5054600"/>
          <p14:tracePt t="54543" x="6729413" y="5054600"/>
          <p14:tracePt t="54554" x="6735763" y="5054600"/>
          <p14:tracePt t="54566" x="6742113" y="5048250"/>
          <p14:tracePt t="54579" x="6748463" y="5041900"/>
          <p14:tracePt t="54590" x="6761163" y="5041900"/>
          <p14:tracePt t="54603" x="6767513" y="5035550"/>
          <p14:tracePt t="54615" x="6780213" y="5035550"/>
          <p14:tracePt t="54632" x="6786563" y="5027613"/>
          <p14:tracePt t="54648" x="6792913" y="5027613"/>
          <p14:tracePt t="54651" x="6807200" y="5027613"/>
          <p14:tracePt t="54665" x="6813550" y="5021263"/>
          <p14:tracePt t="54682" x="6826250" y="5021263"/>
          <p14:tracePt t="54698" x="6832600" y="5014913"/>
          <p14:tracePt t="54715" x="6838950" y="5014913"/>
          <p14:tracePt t="54732" x="6845300" y="5014913"/>
          <p14:tracePt t="54749" x="6858000" y="5008563"/>
          <p14:tracePt t="54771" x="6864350" y="5008563"/>
          <p14:tracePt t="54782" x="6870700" y="5008563"/>
          <p14:tracePt t="54819" x="6878638" y="5008563"/>
          <p14:tracePt t="54830" x="6884988" y="5008563"/>
          <p14:tracePt t="54854" x="6891338" y="5008563"/>
          <p14:tracePt t="54878" x="6897688" y="5008563"/>
          <p14:tracePt t="54890" x="6904038" y="5008563"/>
          <p14:tracePt t="54903" x="6916738" y="5008563"/>
          <p14:tracePt t="54915" x="6935788" y="5002213"/>
          <p14:tracePt t="54925" x="6956425" y="5002213"/>
          <p14:tracePt t="54938" x="6994525" y="4995863"/>
          <p14:tracePt t="54949" x="7040563" y="4983163"/>
          <p14:tracePt t="54965" x="7091363" y="4983163"/>
          <p14:tracePt t="54981" x="7150100" y="4983163"/>
          <p14:tracePt t="54998" x="7234238" y="4976813"/>
          <p14:tracePt t="55015" x="7267575" y="4976813"/>
          <p14:tracePt t="55032" x="7286625" y="4976813"/>
          <p14:tracePt t="55049" x="7318375" y="4976813"/>
          <p14:tracePt t="55065" x="7332663" y="4976813"/>
          <p14:tracePt t="55082" x="7345363" y="4976813"/>
          <p14:tracePt t="55098" x="7351713" y="4976813"/>
          <p14:tracePt t="55116" x="7358063" y="4976813"/>
          <p14:tracePt t="55132" x="7370763" y="4976813"/>
          <p14:tracePt t="55148" x="7383463" y="4976813"/>
          <p14:tracePt t="55165" x="7404100" y="4976813"/>
          <p14:tracePt t="55182" x="7410450" y="4983163"/>
          <p14:tracePt t="55198" x="7416800" y="4983163"/>
          <p14:tracePt t="55215" x="7435850" y="4983163"/>
          <p14:tracePt t="55231" x="7442200" y="4983163"/>
          <p14:tracePt t="55248" x="7448550" y="4983163"/>
          <p14:tracePt t="55249" x="7461250" y="4989513"/>
          <p14:tracePt t="55265" x="7475538" y="4989513"/>
          <p14:tracePt t="55286" x="7481888" y="4989513"/>
          <p14:tracePt t="55298" x="7488238" y="4989513"/>
          <p14:tracePt t="55315" x="7494588" y="4989513"/>
          <p14:tracePt t="55332" x="7500938" y="4989513"/>
          <p14:tracePt t="55357" x="7507288" y="4989513"/>
          <p14:tracePt t="55416" x="7513638" y="4989513"/>
          <p14:tracePt t="55453" x="7519988" y="4989513"/>
          <p14:tracePt t="55477" x="7526338" y="4989513"/>
          <p14:tracePt t="55489" x="7532688" y="4989513"/>
          <p14:tracePt t="55502" x="7553325" y="4989513"/>
          <p14:tracePt t="55513" x="7578725" y="4989513"/>
          <p14:tracePt t="55525" x="7610475" y="4989513"/>
          <p14:tracePt t="55537" x="7650163" y="4989513"/>
          <p14:tracePt t="55549" x="7675563" y="4989513"/>
          <p14:tracePt t="55564" x="7708900" y="4989513"/>
          <p14:tracePt t="55582" x="7734300" y="4995863"/>
          <p14:tracePt t="55598" x="7793038" y="4995863"/>
          <p14:tracePt t="55614" x="7818438" y="5002213"/>
          <p14:tracePt t="55631" x="7837488" y="5002213"/>
          <p14:tracePt t="55647" x="7870825" y="5002213"/>
          <p14:tracePt t="55665" x="7883525" y="5002213"/>
          <p14:tracePt t="55681" x="7902575" y="5002213"/>
          <p14:tracePt t="55698" x="7915275" y="5008563"/>
          <p14:tracePt t="55715" x="7923213" y="5008563"/>
          <p14:tracePt t="55731" x="7942263" y="5008563"/>
          <p14:tracePt t="55747" x="7948613" y="5008563"/>
          <p14:tracePt t="55765" x="7961313" y="5008563"/>
          <p14:tracePt t="55781" x="7967663" y="5008563"/>
          <p14:tracePt t="55798" x="7974013" y="5008563"/>
          <p14:tracePt t="55814" x="7986713" y="5008563"/>
          <p14:tracePt t="55837" x="7994650" y="5008563"/>
          <p14:tracePt t="55860" x="8001000" y="5008563"/>
          <p14:tracePt t="55885" x="8007350" y="5008563"/>
          <p14:tracePt t="55920" x="8013700" y="5008563"/>
          <p14:tracePt t="56507" x="8013700" y="5014913"/>
          <p14:tracePt t="56519" x="8013700" y="5021263"/>
          <p14:tracePt t="56580" x="8007350" y="5027613"/>
          <p14:tracePt t="56615" x="8001000" y="5035550"/>
          <p14:tracePt t="56627" x="7994650" y="5035550"/>
          <p14:tracePt t="56639" x="7986713" y="5041900"/>
          <p14:tracePt t="56653" x="7974013" y="5041900"/>
          <p14:tracePt t="56664" x="7961313" y="5048250"/>
          <p14:tracePt t="56680" x="7942263" y="5048250"/>
          <p14:tracePt t="56697" x="7908925" y="5048250"/>
          <p14:tracePt t="56714" x="7786688" y="4983163"/>
          <p14:tracePt t="56730" x="7650163" y="4930775"/>
          <p14:tracePt t="56747" x="7326313" y="4787900"/>
          <p14:tracePt t="56763" x="7162800" y="4710113"/>
          <p14:tracePt t="56781" x="7027863" y="4645025"/>
          <p14:tracePt t="56797" x="6832600" y="4529138"/>
          <p14:tracePt t="56813" x="6754813" y="4483100"/>
          <p14:tracePt t="56830" x="6664325" y="4418013"/>
          <p14:tracePt t="56832" x="6553200" y="4333875"/>
          <p14:tracePt t="56847" x="6359525" y="4249738"/>
          <p14:tracePt t="56864" x="6124575" y="4159250"/>
          <p14:tracePt t="56880" x="5541963" y="3997325"/>
          <p14:tracePt t="56897" x="5203825" y="3957638"/>
          <p14:tracePt t="56914" x="4892675" y="3957638"/>
          <p14:tracePt t="56915" x="4587875" y="3963988"/>
          <p14:tracePt t="56930" x="4327525" y="3997325"/>
          <p14:tracePt t="56947" x="4094163" y="4060825"/>
          <p14:tracePt t="56964" x="3763963" y="4165600"/>
          <p14:tracePt t="56980" x="3659188" y="4217988"/>
          <p14:tracePt t="56997" x="3587750" y="4243388"/>
          <p14:tracePt t="57013" x="3490913" y="4295775"/>
          <p14:tracePt t="57030" x="3459163" y="4308475"/>
          <p14:tracePt t="57048" x="3419475" y="4321175"/>
          <p14:tracePt t="57063" x="3413125" y="4327525"/>
          <p14:tracePt t="57080" x="3406775" y="4327525"/>
          <p14:tracePt t="57096" x="3400425" y="4327525"/>
          <p14:tracePt t="57120" x="3400425" y="4321175"/>
          <p14:tracePt t="57131" x="3400425" y="4314825"/>
          <p14:tracePt t="57147" x="3400425" y="4302125"/>
          <p14:tracePt t="57163" x="3400425" y="4295775"/>
          <p14:tracePt t="57180" x="3413125" y="4281488"/>
          <p14:tracePt t="57197" x="3413125" y="4275138"/>
          <p14:tracePt t="57213" x="3425825" y="4268788"/>
          <p14:tracePt t="57230" x="3465513" y="4256088"/>
          <p14:tracePt t="57246" x="3484563" y="4256088"/>
          <p14:tracePt t="57263" x="3575050" y="4243388"/>
          <p14:tracePt t="57280" x="3659188" y="4217988"/>
          <p14:tracePt t="57296" x="3860800" y="4165600"/>
          <p14:tracePt t="57300" x="4152900" y="4094163"/>
          <p14:tracePt t="57313" x="4554538" y="4016375"/>
          <p14:tracePt t="57330" x="5014913" y="3970338"/>
          <p14:tracePt t="57346" x="5775325" y="3944938"/>
          <p14:tracePt t="57363" x="6092825" y="3951288"/>
          <p14:tracePt t="57380" x="6365875" y="3976688"/>
          <p14:tracePt t="57396" x="6813550" y="4048125"/>
          <p14:tracePt t="57413" x="6956425" y="4081463"/>
          <p14:tracePt t="57430" x="7131050" y="4140200"/>
          <p14:tracePt t="57446" x="7183438" y="4159250"/>
          <p14:tracePt t="57463" x="7208838" y="4178300"/>
          <p14:tracePt t="57479" x="7246938" y="4184650"/>
          <p14:tracePt t="57496" x="7254875" y="4184650"/>
          <p14:tracePt t="57514" x="7261225" y="4184650"/>
          <p14:tracePt t="57562" x="7261225" y="4178300"/>
          <p14:tracePt t="57586" x="7246938" y="4178300"/>
          <p14:tracePt t="57597" x="7215188" y="4165600"/>
          <p14:tracePt t="57611" x="7143750" y="4159250"/>
          <p14:tracePt t="57623" x="6969125" y="4125913"/>
          <p14:tracePt t="57635" x="6580188" y="4081463"/>
          <p14:tracePt t="57646" x="4386263" y="4249738"/>
          <p14:tracePt t="57663" x="3438525" y="4333875"/>
          <p14:tracePt t="57680" x="3186113" y="4346575"/>
          <p14:tracePt t="57696" x="2705100" y="4470400"/>
          <p14:tracePt t="57713" x="2543175" y="4529138"/>
          <p14:tracePt t="57730" x="2355850" y="4606925"/>
          <p14:tracePt t="57746" x="2322513" y="4632325"/>
          <p14:tracePt t="57763" x="2297113" y="4645025"/>
          <p14:tracePt t="57779" x="2284413" y="4665663"/>
          <p14:tracePt t="57802" x="2290763" y="4665663"/>
          <p14:tracePt t="57815" x="2297113" y="4665663"/>
          <p14:tracePt t="57829" x="2303463" y="4657725"/>
          <p14:tracePt t="57846" x="2309813" y="4651375"/>
          <p14:tracePt t="57863" x="2322513" y="4632325"/>
          <p14:tracePt t="57879" x="2328863" y="4625975"/>
          <p14:tracePt t="57896" x="2328863" y="4613275"/>
          <p14:tracePt t="57913" x="2335213" y="4600575"/>
          <p14:tracePt t="57930" x="2335213" y="4594225"/>
          <p14:tracePt t="57946" x="2343150" y="4579938"/>
          <p14:tracePt t="57962" x="2349500" y="4579938"/>
          <p14:tracePt t="57979" x="2355850" y="4573588"/>
          <p14:tracePt t="57996" x="2362200" y="4560888"/>
          <p14:tracePt t="58012" x="2368550" y="4560888"/>
          <p14:tracePt t="58030" x="2393950" y="4554538"/>
          <p14:tracePt t="58045" x="2400300" y="4554538"/>
          <p14:tracePt t="58062" x="2439988" y="4554538"/>
          <p14:tracePt t="58079" x="2614613" y="4554538"/>
          <p14:tracePt t="58095" x="2797175" y="4554538"/>
          <p14:tracePt t="58113" x="3282950" y="4567238"/>
          <p14:tracePt t="58129" x="3522663" y="4567238"/>
          <p14:tracePt t="58145" x="3763963" y="4579938"/>
          <p14:tracePt t="58162" x="4159250" y="4594225"/>
          <p14:tracePt t="58179" x="4314825" y="4594225"/>
          <p14:tracePt t="58196" x="4470400" y="4606925"/>
          <p14:tracePt t="58197" x="4606925" y="4606925"/>
          <p14:tracePt t="58212" x="4716463" y="4606925"/>
          <p14:tracePt t="58229" x="4821238" y="4606925"/>
          <p14:tracePt t="58246" x="4957763" y="4600575"/>
          <p14:tracePt t="58262" x="4995863" y="4600575"/>
          <p14:tracePt t="58279" x="5022850" y="4594225"/>
          <p14:tracePt t="58295" x="5067300" y="4587875"/>
          <p14:tracePt t="58313" x="5080000" y="4579938"/>
          <p14:tracePt t="58329" x="5100638" y="4579938"/>
          <p14:tracePt t="58345" x="5113338" y="4573588"/>
          <p14:tracePt t="58362" x="5113338" y="4567238"/>
          <p14:tracePt t="58379" x="5113338" y="4560888"/>
          <p14:tracePt t="58845" x="5113338" y="4554538"/>
          <p14:tracePt t="58869" x="5106988" y="4554538"/>
          <p14:tracePt t="58952" x="5100638" y="4554538"/>
          <p14:tracePt t="58988" x="5094288" y="4554538"/>
          <p14:tracePt t="59048" x="5086350" y="4554538"/>
          <p14:tracePt t="59085" x="5080000" y="4554538"/>
          <p14:tracePt t="59120" x="5073650" y="4554538"/>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VALIDATION</a:t>
            </a:r>
          </a:p>
        </p:txBody>
      </p:sp>
      <p:sp>
        <p:nvSpPr>
          <p:cNvPr id="4" name="TextBox 3"/>
          <p:cNvSpPr txBox="1"/>
          <p:nvPr/>
        </p:nvSpPr>
        <p:spPr>
          <a:xfrm>
            <a:off x="749808" y="749808"/>
            <a:ext cx="8885910"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Split by time, never at random.</a:t>
            </a:r>
          </a:p>
        </p:txBody>
      </p:sp>
      <p:sp>
        <p:nvSpPr>
          <p:cNvPr id="5" name="TextBox 4"/>
          <p:cNvSpPr txBox="1"/>
          <p:nvPr/>
        </p:nvSpPr>
        <p:spPr>
          <a:xfrm>
            <a:off x="749808" y="2011680"/>
            <a:ext cx="9789132" cy="676656"/>
          </a:xfrm>
          <a:prstGeom prst="rect">
            <a:avLst/>
          </a:prstGeom>
          <a:noFill/>
        </p:spPr>
        <p:txBody>
          <a:bodyPr wrap="square" lIns="0" tIns="0" rIns="0" bIns="0" anchor="t">
            <a:noAutofit/>
          </a:bodyPr>
          <a:lstStyle/>
          <a:p>
            <a:pPr algn="l">
              <a:lnSpc>
                <a:spcPct val="148000"/>
              </a:lnSpc>
            </a:pPr>
            <a:r>
              <a:rPr sz="1300" b="0">
                <a:solidFill>
                  <a:srgbClr val="787066"/>
                </a:solidFill>
                <a:latin typeface="Franklin Gothic Book"/>
              </a:rPr>
              <a:t>Fire years are not independent draws. A random shuffle would put 2024 in training and 2023 in test, and the model would be reading its own future. So the record is cut in chronological order and the last three years are never touched until the end.</a:t>
            </a:r>
          </a:p>
        </p:txBody>
      </p:sp>
      <p:sp>
        <p:nvSpPr>
          <p:cNvPr id="6" name="Rectangle 5"/>
          <p:cNvSpPr/>
          <p:nvPr/>
        </p:nvSpPr>
        <p:spPr>
          <a:xfrm>
            <a:off x="749808" y="3108960"/>
            <a:ext cx="7564243" cy="53035"/>
          </a:xfrm>
          <a:prstGeom prst="rect">
            <a:avLst/>
          </a:prstGeom>
          <a:solidFill>
            <a:srgbClr val="2E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3291840"/>
            <a:ext cx="7564243" cy="329184"/>
          </a:xfrm>
          <a:prstGeom prst="rect">
            <a:avLst/>
          </a:prstGeom>
          <a:noFill/>
        </p:spPr>
        <p:txBody>
          <a:bodyPr wrap="square" lIns="0" tIns="0" rIns="0" bIns="0" anchor="t">
            <a:noAutofit/>
          </a:bodyPr>
          <a:lstStyle/>
          <a:p>
            <a:pPr algn="l">
              <a:lnSpc>
                <a:spcPct val="100000"/>
              </a:lnSpc>
            </a:pPr>
            <a:r>
              <a:rPr sz="1900" b="0">
                <a:solidFill>
                  <a:srgbClr val="16130F"/>
                </a:solidFill>
                <a:latin typeface="Georgia"/>
              </a:rPr>
              <a:t>Train</a:t>
            </a:r>
          </a:p>
        </p:txBody>
      </p:sp>
      <p:sp>
        <p:nvSpPr>
          <p:cNvPr id="8" name="TextBox 7"/>
          <p:cNvSpPr txBox="1"/>
          <p:nvPr/>
        </p:nvSpPr>
        <p:spPr>
          <a:xfrm>
            <a:off x="749808" y="3639312"/>
            <a:ext cx="7564243" cy="256032"/>
          </a:xfrm>
          <a:prstGeom prst="rect">
            <a:avLst/>
          </a:prstGeom>
          <a:noFill/>
        </p:spPr>
        <p:txBody>
          <a:bodyPr wrap="square" lIns="0" tIns="0" rIns="0" bIns="0" anchor="t">
            <a:noAutofit/>
          </a:bodyPr>
          <a:lstStyle/>
          <a:p>
            <a:pPr algn="l">
              <a:lnSpc>
                <a:spcPct val="100000"/>
              </a:lnSpc>
            </a:pPr>
            <a:r>
              <a:rPr sz="1250" b="0">
                <a:solidFill>
                  <a:srgbClr val="2E6E96"/>
                </a:solidFill>
                <a:latin typeface="Georgia"/>
              </a:rPr>
              <a:t>2005 – 2019</a:t>
            </a:r>
          </a:p>
        </p:txBody>
      </p:sp>
      <p:sp>
        <p:nvSpPr>
          <p:cNvPr id="9" name="TextBox 8"/>
          <p:cNvSpPr txBox="1"/>
          <p:nvPr/>
        </p:nvSpPr>
        <p:spPr>
          <a:xfrm>
            <a:off x="749808" y="3931920"/>
            <a:ext cx="7564243" cy="237744"/>
          </a:xfrm>
          <a:prstGeom prst="rect">
            <a:avLst/>
          </a:prstGeom>
          <a:noFill/>
        </p:spPr>
        <p:txBody>
          <a:bodyPr wrap="square" lIns="0" tIns="0" rIns="0" bIns="0" anchor="t">
            <a:noAutofit/>
          </a:bodyPr>
          <a:lstStyle/>
          <a:p>
            <a:pPr algn="l">
              <a:lnSpc>
                <a:spcPct val="100000"/>
              </a:lnSpc>
            </a:pPr>
            <a:r>
              <a:rPr sz="1050" b="0">
                <a:solidFill>
                  <a:srgbClr val="787066"/>
                </a:solidFill>
                <a:latin typeface="Franklin Gothic Book"/>
              </a:rPr>
              <a:t>fifteen years</a:t>
            </a:r>
          </a:p>
        </p:txBody>
      </p:sp>
      <p:sp>
        <p:nvSpPr>
          <p:cNvPr id="10" name="Rectangle 9"/>
          <p:cNvSpPr/>
          <p:nvPr/>
        </p:nvSpPr>
        <p:spPr>
          <a:xfrm>
            <a:off x="8387203" y="3108960"/>
            <a:ext cx="1454327" cy="53035"/>
          </a:xfrm>
          <a:prstGeom prst="rect">
            <a:avLst/>
          </a:prstGeom>
          <a:solidFill>
            <a:srgbClr val="6E7C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87203" y="3291840"/>
            <a:ext cx="1454327" cy="329184"/>
          </a:xfrm>
          <a:prstGeom prst="rect">
            <a:avLst/>
          </a:prstGeom>
          <a:noFill/>
        </p:spPr>
        <p:txBody>
          <a:bodyPr wrap="square" lIns="0" tIns="0" rIns="0" bIns="0" anchor="t">
            <a:noAutofit/>
          </a:bodyPr>
          <a:lstStyle/>
          <a:p>
            <a:pPr algn="l">
              <a:lnSpc>
                <a:spcPct val="100000"/>
              </a:lnSpc>
            </a:pPr>
            <a:r>
              <a:rPr sz="1900" b="0">
                <a:solidFill>
                  <a:srgbClr val="16130F"/>
                </a:solidFill>
                <a:latin typeface="Georgia"/>
              </a:rPr>
              <a:t>Tune</a:t>
            </a:r>
          </a:p>
        </p:txBody>
      </p:sp>
      <p:sp>
        <p:nvSpPr>
          <p:cNvPr id="12" name="TextBox 11"/>
          <p:cNvSpPr txBox="1"/>
          <p:nvPr/>
        </p:nvSpPr>
        <p:spPr>
          <a:xfrm>
            <a:off x="8387203" y="3639312"/>
            <a:ext cx="1454327" cy="256032"/>
          </a:xfrm>
          <a:prstGeom prst="rect">
            <a:avLst/>
          </a:prstGeom>
          <a:noFill/>
        </p:spPr>
        <p:txBody>
          <a:bodyPr wrap="square" lIns="0" tIns="0" rIns="0" bIns="0" anchor="t">
            <a:noAutofit/>
          </a:bodyPr>
          <a:lstStyle/>
          <a:p>
            <a:pPr algn="l">
              <a:lnSpc>
                <a:spcPct val="100000"/>
              </a:lnSpc>
            </a:pPr>
            <a:r>
              <a:rPr sz="1250" b="0">
                <a:solidFill>
                  <a:srgbClr val="6E7C84"/>
                </a:solidFill>
                <a:latin typeface="Georgia"/>
              </a:rPr>
              <a:t>2020 – 2022</a:t>
            </a:r>
          </a:p>
        </p:txBody>
      </p:sp>
      <p:sp>
        <p:nvSpPr>
          <p:cNvPr id="13" name="TextBox 12"/>
          <p:cNvSpPr txBox="1"/>
          <p:nvPr/>
        </p:nvSpPr>
        <p:spPr>
          <a:xfrm>
            <a:off x="8387203" y="3931920"/>
            <a:ext cx="1454327" cy="237744"/>
          </a:xfrm>
          <a:prstGeom prst="rect">
            <a:avLst/>
          </a:prstGeom>
          <a:noFill/>
        </p:spPr>
        <p:txBody>
          <a:bodyPr wrap="square" lIns="0" tIns="0" rIns="0" bIns="0" anchor="t">
            <a:noAutofit/>
          </a:bodyPr>
          <a:lstStyle/>
          <a:p>
            <a:pPr algn="l">
              <a:lnSpc>
                <a:spcPct val="100000"/>
              </a:lnSpc>
            </a:pPr>
            <a:r>
              <a:rPr sz="1050" b="0">
                <a:solidFill>
                  <a:srgbClr val="787066"/>
                </a:solidFill>
                <a:latin typeface="Franklin Gothic Book"/>
              </a:rPr>
              <a:t>three years</a:t>
            </a:r>
          </a:p>
        </p:txBody>
      </p:sp>
      <p:sp>
        <p:nvSpPr>
          <p:cNvPr id="14" name="Rectangle 13"/>
          <p:cNvSpPr/>
          <p:nvPr/>
        </p:nvSpPr>
        <p:spPr>
          <a:xfrm>
            <a:off x="9914682" y="3108960"/>
            <a:ext cx="1454327" cy="53035"/>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914682" y="3291840"/>
            <a:ext cx="1454327" cy="329184"/>
          </a:xfrm>
          <a:prstGeom prst="rect">
            <a:avLst/>
          </a:prstGeom>
          <a:noFill/>
        </p:spPr>
        <p:txBody>
          <a:bodyPr wrap="square" lIns="0" tIns="0" rIns="0" bIns="0" anchor="t">
            <a:noAutofit/>
          </a:bodyPr>
          <a:lstStyle/>
          <a:p>
            <a:pPr algn="l">
              <a:lnSpc>
                <a:spcPct val="100000"/>
              </a:lnSpc>
            </a:pPr>
            <a:r>
              <a:rPr sz="1900" b="0">
                <a:solidFill>
                  <a:srgbClr val="16130F"/>
                </a:solidFill>
                <a:latin typeface="Georgia"/>
              </a:rPr>
              <a:t>Test</a:t>
            </a:r>
          </a:p>
        </p:txBody>
      </p:sp>
      <p:sp>
        <p:nvSpPr>
          <p:cNvPr id="16" name="TextBox 15"/>
          <p:cNvSpPr txBox="1"/>
          <p:nvPr/>
        </p:nvSpPr>
        <p:spPr>
          <a:xfrm>
            <a:off x="9914682" y="3639312"/>
            <a:ext cx="1454327" cy="256032"/>
          </a:xfrm>
          <a:prstGeom prst="rect">
            <a:avLst/>
          </a:prstGeom>
          <a:noFill/>
        </p:spPr>
        <p:txBody>
          <a:bodyPr wrap="square" lIns="0" tIns="0" rIns="0" bIns="0" anchor="t">
            <a:noAutofit/>
          </a:bodyPr>
          <a:lstStyle/>
          <a:p>
            <a:pPr algn="l">
              <a:lnSpc>
                <a:spcPct val="100000"/>
              </a:lnSpc>
            </a:pPr>
            <a:r>
              <a:rPr sz="1250" b="0">
                <a:solidFill>
                  <a:srgbClr val="C8341B"/>
                </a:solidFill>
                <a:latin typeface="Georgia"/>
              </a:rPr>
              <a:t>2023 – 2025</a:t>
            </a:r>
          </a:p>
        </p:txBody>
      </p:sp>
      <p:sp>
        <p:nvSpPr>
          <p:cNvPr id="17" name="TextBox 16"/>
          <p:cNvSpPr txBox="1"/>
          <p:nvPr/>
        </p:nvSpPr>
        <p:spPr>
          <a:xfrm>
            <a:off x="9914682" y="3931920"/>
            <a:ext cx="1454327" cy="237744"/>
          </a:xfrm>
          <a:prstGeom prst="rect">
            <a:avLst/>
          </a:prstGeom>
          <a:noFill/>
        </p:spPr>
        <p:txBody>
          <a:bodyPr wrap="square" lIns="0" tIns="0" rIns="0" bIns="0" anchor="t">
            <a:noAutofit/>
          </a:bodyPr>
          <a:lstStyle/>
          <a:p>
            <a:pPr algn="l">
              <a:lnSpc>
                <a:spcPct val="100000"/>
              </a:lnSpc>
            </a:pPr>
            <a:r>
              <a:rPr sz="1050" b="0">
                <a:solidFill>
                  <a:srgbClr val="787066"/>
                </a:solidFill>
                <a:latin typeface="Franklin Gothic Book"/>
              </a:rPr>
              <a:t>three years, seen once</a:t>
            </a:r>
          </a:p>
        </p:txBody>
      </p:sp>
      <p:cxnSp>
        <p:nvCxnSpPr>
          <p:cNvPr id="18" name="Connector 17"/>
          <p:cNvCxnSpPr/>
          <p:nvPr/>
        </p:nvCxnSpPr>
        <p:spPr>
          <a:xfrm>
            <a:off x="749808" y="433425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49808" y="4462272"/>
            <a:ext cx="1828800" cy="201168"/>
          </a:xfrm>
          <a:prstGeom prst="rect">
            <a:avLst/>
          </a:prstGeom>
          <a:noFill/>
        </p:spPr>
        <p:txBody>
          <a:bodyPr wrap="square" lIns="0" tIns="0" rIns="0" bIns="0" anchor="t">
            <a:noAutofit/>
          </a:bodyPr>
          <a:lstStyle/>
          <a:p>
            <a:pPr algn="l">
              <a:lnSpc>
                <a:spcPct val="100000"/>
              </a:lnSpc>
            </a:pPr>
            <a:r>
              <a:rPr sz="950" b="0">
                <a:solidFill>
                  <a:srgbClr val="A79D91"/>
                </a:solidFill>
                <a:latin typeface="Franklin Gothic Book"/>
              </a:rPr>
              <a:t>2005</a:t>
            </a:r>
          </a:p>
        </p:txBody>
      </p:sp>
      <p:sp>
        <p:nvSpPr>
          <p:cNvPr id="20" name="TextBox 19"/>
          <p:cNvSpPr txBox="1"/>
          <p:nvPr/>
        </p:nvSpPr>
        <p:spPr>
          <a:xfrm>
            <a:off x="9613361" y="4462272"/>
            <a:ext cx="1828800" cy="201168"/>
          </a:xfrm>
          <a:prstGeom prst="rect">
            <a:avLst/>
          </a:prstGeom>
          <a:noFill/>
        </p:spPr>
        <p:txBody>
          <a:bodyPr wrap="square" lIns="0" tIns="0" rIns="0" bIns="0" anchor="t">
            <a:noAutofit/>
          </a:bodyPr>
          <a:lstStyle/>
          <a:p>
            <a:pPr algn="r">
              <a:lnSpc>
                <a:spcPct val="100000"/>
              </a:lnSpc>
            </a:pPr>
            <a:r>
              <a:rPr sz="950" b="0">
                <a:solidFill>
                  <a:srgbClr val="A79D91"/>
                </a:solidFill>
                <a:latin typeface="Franklin Gothic Book"/>
              </a:rPr>
              <a:t>2025</a:t>
            </a:r>
          </a:p>
        </p:txBody>
      </p:sp>
      <p:sp>
        <p:nvSpPr>
          <p:cNvPr id="21" name="Rectangle 20"/>
          <p:cNvSpPr/>
          <p:nvPr/>
        </p:nvSpPr>
        <p:spPr>
          <a:xfrm>
            <a:off x="749808" y="4901184"/>
            <a:ext cx="7982689" cy="1078992"/>
          </a:xfrm>
          <a:prstGeom prst="rect">
            <a:avLst/>
          </a:prstGeom>
          <a:solidFill>
            <a:srgbClr val="F4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49808" y="4901184"/>
            <a:ext cx="34747" cy="1078992"/>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52144" y="5102352"/>
            <a:ext cx="7178017" cy="694944"/>
          </a:xfrm>
          <a:prstGeom prst="rect">
            <a:avLst/>
          </a:prstGeom>
          <a:noFill/>
        </p:spPr>
        <p:txBody>
          <a:bodyPr wrap="square" lIns="0" tIns="0" rIns="0" bIns="0" anchor="t">
            <a:noAutofit/>
          </a:bodyPr>
          <a:lstStyle/>
          <a:p>
            <a:pPr algn="l">
              <a:lnSpc>
                <a:spcPct val="146000"/>
              </a:lnSpc>
            </a:pPr>
            <a:r>
              <a:rPr sz="1180" b="0">
                <a:solidFill>
                  <a:srgbClr val="3A342E"/>
                </a:solidFill>
                <a:latin typeface="Franklin Gothic Book"/>
              </a:rPr>
              <a:t>And once was once. The test years were scored a single time, at the end, after every decision about features and models had already been made. Tuning against them would have turned the held-out years into another training set.</a:t>
            </a:r>
          </a:p>
        </p:txBody>
      </p:sp>
      <p:cxnSp>
        <p:nvCxnSpPr>
          <p:cNvPr id="24" name="Connector 23"/>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9808" y="6345936"/>
            <a:ext cx="4455147"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10</a:t>
            </a:r>
          </a:p>
        </p:txBody>
      </p:sp>
      <p:sp>
        <p:nvSpPr>
          <p:cNvPr id="27" name="TextBox 26"/>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Saira Zafar</a:t>
            </a:r>
          </a:p>
        </p:txBody>
      </p:sp>
    </p:spTree>
    <p:extLst>
      <p:ext uri="{BB962C8B-B14F-4D97-AF65-F5344CB8AC3E}">
        <p14:creationId xmlns:p14="http://schemas.microsoft.com/office/powerpoint/2010/main" val="2679344493"/>
      </p:ext>
    </p:extLst>
  </p:cSld>
  <p:clrMapOvr>
    <a:masterClrMapping/>
  </p:clrMapOvr>
  <mc:AlternateContent xmlns:mc="http://schemas.openxmlformats.org/markup-compatibility/2006" xmlns:p14="http://schemas.microsoft.com/office/powerpoint/2010/main">
    <mc:Choice Requires="p14">
      <p:transition spd="slow" p14:dur="2000" advTm="40045"/>
    </mc:Choice>
    <mc:Fallback xmlns="">
      <p:transition spd="slow" advTm="40045"/>
    </mc:Fallback>
  </mc:AlternateContent>
  <p:extLst>
    <p:ext uri="{3A86A75C-4F4B-4683-9AE1-C65F6400EC91}">
      <p14:laserTraceLst xmlns:p14="http://schemas.microsoft.com/office/powerpoint/2010/main">
        <p14:tracePtLst>
          <p14:tracePt t="170" x="1090613" y="3892550"/>
          <p14:tracePt t="174" x="1084263" y="3808413"/>
          <p14:tracePt t="197" x="960438" y="3314700"/>
          <p14:tracePt t="223" x="849313" y="2881313"/>
          <p14:tracePt t="236" x="817563" y="2738438"/>
          <p14:tracePt t="253" x="785813" y="2620963"/>
          <p14:tracePt t="270" x="758825" y="2536825"/>
          <p14:tracePt t="286" x="758825" y="2524125"/>
          <p14:tracePt t="328" x="752475" y="2517775"/>
          <p14:tracePt t="341" x="746125" y="2517775"/>
          <p14:tracePt t="353" x="739775" y="2505075"/>
          <p14:tracePt t="377" x="727075" y="2498725"/>
          <p14:tracePt t="389" x="720725" y="2490788"/>
          <p14:tracePt t="400" x="708025" y="2478088"/>
          <p14:tracePt t="412" x="700088" y="2452688"/>
          <p14:tracePt t="425" x="687388" y="2427288"/>
          <p14:tracePt t="437" x="668338" y="2393950"/>
          <p14:tracePt t="453" x="661988" y="2362200"/>
          <p14:tracePt t="469" x="655638" y="2322513"/>
          <p14:tracePt t="471" x="649288" y="2270125"/>
          <p14:tracePt t="486" x="649288" y="2192338"/>
          <p14:tracePt t="503" x="649288" y="2114550"/>
          <p14:tracePt t="519" x="649288" y="2043113"/>
          <p14:tracePt t="522" x="649288" y="1998663"/>
          <p14:tracePt t="536" x="649288" y="1946275"/>
          <p14:tracePt t="553" x="649288" y="1908175"/>
          <p14:tracePt t="569" x="655638" y="1843088"/>
          <p14:tracePt t="586" x="668338" y="1809750"/>
          <p14:tracePt t="603" x="681038" y="1758950"/>
          <p14:tracePt t="619" x="687388" y="1744663"/>
          <p14:tracePt t="636" x="687388" y="1731963"/>
          <p14:tracePt t="652" x="714375" y="1712913"/>
          <p14:tracePt t="669" x="727075" y="1700213"/>
          <p14:tracePt t="686" x="765175" y="1687513"/>
          <p14:tracePt t="702" x="1050925" y="1609725"/>
          <p14:tracePt t="719" x="1317625" y="1531938"/>
          <p14:tracePt t="736" x="1824038" y="1408113"/>
          <p14:tracePt t="752" x="1973263" y="1362075"/>
          <p14:tracePt t="769" x="2036763" y="1343025"/>
          <p14:tracePt t="787" x="2082800" y="1336675"/>
          <p14:tracePt t="803" x="2089150" y="1336675"/>
          <p14:tracePt t="819" x="2095500" y="1336675"/>
          <p14:tracePt t="844" x="2089150" y="1343025"/>
          <p14:tracePt t="856" x="2082800" y="1349375"/>
          <p14:tracePt t="869" x="2076450" y="1355725"/>
          <p14:tracePt t="886" x="2070100" y="1368425"/>
          <p14:tracePt t="903" x="2051050" y="1389063"/>
          <p14:tracePt t="906" x="2043113" y="1395413"/>
          <p14:tracePt t="919" x="2036763" y="1408113"/>
          <p14:tracePt t="936" x="2017713" y="1420813"/>
          <p14:tracePt t="952" x="2005013" y="1439863"/>
          <p14:tracePt t="953" x="1985963" y="1460500"/>
          <p14:tracePt t="969" x="1973263" y="1466850"/>
          <p14:tracePt t="986" x="1958975" y="1479550"/>
          <p14:tracePt t="988" x="1952625" y="1479550"/>
          <p14:tracePt t="1003" x="1946275" y="1485900"/>
          <p14:tracePt t="1019" x="1939925" y="1485900"/>
          <p14:tracePt t="1036" x="1933575" y="1492250"/>
          <p14:tracePt t="1108" x="1927225" y="1492250"/>
          <p14:tracePt t="1179" x="1920875" y="1492250"/>
          <p14:tracePt t="1203" x="1914525" y="1492250"/>
          <p14:tracePt t="1215" x="1908175" y="1492250"/>
          <p14:tracePt t="1242" x="1901825" y="1492250"/>
          <p14:tracePt t="1275" x="1893888" y="1492250"/>
          <p14:tracePt t="1289" x="1887538" y="1492250"/>
          <p14:tracePt t="1311" x="1881188" y="1492250"/>
          <p14:tracePt t="1324" x="1881188" y="1498600"/>
          <p14:tracePt t="1335" x="1881188" y="1504950"/>
          <p14:tracePt t="1347" x="1874838" y="1504950"/>
          <p14:tracePt t="1419" x="1881188" y="1504950"/>
          <p14:tracePt t="2497" x="1952625" y="1498600"/>
          <p14:tracePt t="2508" x="2212975" y="1460500"/>
          <p14:tracePt t="2523" x="2633663" y="1420813"/>
          <p14:tracePt t="2534" x="3114675" y="1389063"/>
          <p14:tracePt t="2551" x="3490913" y="1389063"/>
          <p14:tracePt t="2568" x="3867150" y="1374775"/>
          <p14:tracePt t="2570" x="3957638" y="1374775"/>
          <p14:tracePt t="2585" x="4048125" y="1374775"/>
          <p14:tracePt t="2601" x="4100513" y="1374775"/>
          <p14:tracePt t="2617" x="4146550" y="1368425"/>
          <p14:tracePt t="2640" x="4152900" y="1368425"/>
          <p14:tracePt t="2737" x="4152900" y="1374775"/>
          <p14:tracePt t="2820" x="4152900" y="1382713"/>
          <p14:tracePt t="2904" x="4152900" y="1389063"/>
          <p14:tracePt t="2928" x="4152900" y="1395413"/>
          <p14:tracePt t="3672" x="4165600" y="1433513"/>
          <p14:tracePt t="3684" x="4184650" y="1517650"/>
          <p14:tracePt t="3696" x="4197350" y="1576388"/>
          <p14:tracePt t="3708" x="4211638" y="1635125"/>
          <p14:tracePt t="3721" x="4211638" y="1673225"/>
          <p14:tracePt t="3733" x="4211638" y="1725613"/>
          <p14:tracePt t="3750" x="4205288" y="1752600"/>
          <p14:tracePt t="3767" x="4191000" y="1790700"/>
          <p14:tracePt t="3784" x="4191000" y="1803400"/>
          <p14:tracePt t="3800" x="4191000" y="1809750"/>
          <p14:tracePt t="3817" x="4191000" y="1816100"/>
          <p14:tracePt t="3839" x="4191000" y="1822450"/>
          <p14:tracePt t="3850" x="4191000" y="1830388"/>
          <p14:tracePt t="3866" x="4191000" y="1836738"/>
          <p14:tracePt t="3883" x="4191000" y="1843088"/>
          <p14:tracePt t="3900" x="4191000" y="1887538"/>
          <p14:tracePt t="3916" x="4197350" y="1920875"/>
          <p14:tracePt t="3933" x="4205288" y="1946275"/>
          <p14:tracePt t="3935" x="4224338" y="1979613"/>
          <p14:tracePt t="3950" x="4237038" y="1998663"/>
          <p14:tracePt t="3966" x="4249738" y="2024063"/>
          <p14:tracePt t="3983" x="4276725" y="2051050"/>
          <p14:tracePt t="4000" x="4289425" y="2063750"/>
          <p14:tracePt t="4017" x="4308475" y="2076450"/>
          <p14:tracePt t="4021" x="4321175" y="2082800"/>
          <p14:tracePt t="4033" x="4340225" y="2089150"/>
          <p14:tracePt t="4050" x="4373563" y="2089150"/>
          <p14:tracePt t="4067" x="4425950" y="2089150"/>
          <p14:tracePt t="4083" x="4464050" y="2089150"/>
          <p14:tracePt t="4100" x="4503738" y="2082800"/>
          <p14:tracePt t="4117" x="4613275" y="2051050"/>
          <p14:tracePt t="4133" x="4684713" y="2043113"/>
          <p14:tracePt t="4150" x="4833938" y="2030413"/>
          <p14:tracePt t="4166" x="4905375" y="2024063"/>
          <p14:tracePt t="4183" x="4964113" y="2024063"/>
          <p14:tracePt t="4200" x="5067300" y="2024063"/>
          <p14:tracePt t="4216" x="5100638" y="2024063"/>
          <p14:tracePt t="4233" x="5126038" y="2024063"/>
          <p14:tracePt t="4235" x="5157788" y="2036763"/>
          <p14:tracePt t="4250" x="5172075" y="2043113"/>
          <p14:tracePt t="4266" x="5184775" y="2057400"/>
          <p14:tracePt t="4282" x="5197475" y="2063750"/>
          <p14:tracePt t="4299" x="5197475" y="2070100"/>
          <p14:tracePt t="4318" x="5197475" y="2076450"/>
          <p14:tracePt t="4342" x="5197475" y="2089150"/>
          <p14:tracePt t="4378" x="5197475" y="2095500"/>
          <p14:tracePt t="4390" x="5197475" y="2101850"/>
          <p14:tracePt t="4403" x="5197475" y="2108200"/>
          <p14:tracePt t="4414" x="5197475" y="2114550"/>
          <p14:tracePt t="4427" x="5210175" y="2128838"/>
          <p14:tracePt t="4439" x="5229225" y="2154238"/>
          <p14:tracePt t="4450" x="5243513" y="2160588"/>
          <p14:tracePt t="4466" x="5262563" y="2173288"/>
          <p14:tracePt t="4483" x="5281613" y="2179638"/>
          <p14:tracePt t="4500" x="5321300" y="2192338"/>
          <p14:tracePt t="4516" x="5334000" y="2200275"/>
          <p14:tracePt t="4533" x="5346700" y="2200275"/>
          <p14:tracePt t="4550" x="5353050" y="2200275"/>
          <p14:tracePt t="4566" x="5353050" y="2206625"/>
          <p14:tracePt t="4630" x="5353050" y="2212975"/>
          <p14:tracePt t="4666" x="5353050" y="2219325"/>
          <p14:tracePt t="4702" x="5346700" y="2219325"/>
          <p14:tracePt t="4713" x="5346700" y="2225675"/>
          <p14:tracePt t="4750" x="5346700" y="2232025"/>
          <p14:tracePt t="4773" x="5346700" y="2238375"/>
          <p14:tracePt t="4810" x="5346700" y="2244725"/>
          <p14:tracePt t="4881" x="5359400" y="2244725"/>
          <p14:tracePt t="4894" x="5384800" y="2244725"/>
          <p14:tracePt t="4906" x="5424488" y="2225675"/>
          <p14:tracePt t="4919" x="5502275" y="2219325"/>
          <p14:tracePt t="4933" x="5586413" y="2219325"/>
          <p14:tracePt t="4949" x="5664200" y="2219325"/>
          <p14:tracePt t="4966" x="5775325" y="2219325"/>
          <p14:tracePt t="4982" x="5800725" y="2219325"/>
          <p14:tracePt t="4999" x="5813425" y="2219325"/>
          <p14:tracePt t="5002" x="5819775" y="2219325"/>
          <p14:tracePt t="5025" x="5819775" y="2225675"/>
          <p14:tracePt t="5049" x="5807075" y="2232025"/>
          <p14:tracePt t="5061" x="5794375" y="2232025"/>
          <p14:tracePt t="5073" x="5781675" y="2232025"/>
          <p14:tracePt t="5086" x="5762625" y="2232025"/>
          <p14:tracePt t="5099" x="5748338" y="2232025"/>
          <p14:tracePt t="5115" x="5735638" y="2232025"/>
          <p14:tracePt t="5133" x="5716588" y="2232025"/>
          <p14:tracePt t="5149" x="5710238" y="2232025"/>
          <p14:tracePt t="5165" x="5703888" y="2232025"/>
          <p14:tracePt t="5182" x="5697538" y="2232025"/>
          <p14:tracePt t="5199" x="5691188" y="2232025"/>
          <p14:tracePt t="5216" x="5683250" y="2232025"/>
          <p14:tracePt t="5232" x="5683250" y="2225675"/>
          <p14:tracePt t="5249" x="5676900" y="2219325"/>
          <p14:tracePt t="5266" x="5676900" y="2206625"/>
          <p14:tracePt t="5282" x="5676900" y="2185988"/>
          <p14:tracePt t="5300" x="5683250" y="2166938"/>
          <p14:tracePt t="5315" x="5716588" y="2063750"/>
          <p14:tracePt t="5332" x="5741988" y="1992313"/>
          <p14:tracePt t="5349" x="5800725" y="1901825"/>
          <p14:tracePt t="5365" x="5826125" y="1881188"/>
          <p14:tracePt t="5382" x="5859463" y="1862138"/>
          <p14:tracePt t="5399" x="5884863" y="1855788"/>
          <p14:tracePt t="5415" x="5897563" y="1855788"/>
          <p14:tracePt t="5433" x="5918200" y="1855788"/>
          <p14:tracePt t="5449" x="5924550" y="1862138"/>
          <p14:tracePt t="5466" x="5937250" y="1874838"/>
          <p14:tracePt t="5482" x="5975350" y="1908175"/>
          <p14:tracePt t="5499" x="6008688" y="1946275"/>
          <p14:tracePt t="5515" x="6073775" y="2017713"/>
          <p14:tracePt t="5532" x="6105525" y="2063750"/>
          <p14:tracePt t="5549" x="6138863" y="2082800"/>
          <p14:tracePt t="5565" x="6170613" y="2128838"/>
          <p14:tracePt t="5582" x="6183313" y="2141538"/>
          <p14:tracePt t="5599" x="6189663" y="2160588"/>
          <p14:tracePt t="5615" x="6196013" y="2166938"/>
          <p14:tracePt t="5632" x="6196013" y="2173288"/>
          <p14:tracePt t="5648" x="6196013" y="2179638"/>
          <p14:tracePt t="5671" x="6196013" y="2185988"/>
          <p14:tracePt t="5707" x="6196013" y="2192338"/>
          <p14:tracePt t="5720" x="6196013" y="2200275"/>
          <p14:tracePt t="5732" x="6196013" y="2206625"/>
          <p14:tracePt t="5744" x="6196013" y="2219325"/>
          <p14:tracePt t="5756" x="6202363" y="2232025"/>
          <p14:tracePt t="5769" x="6210300" y="2244725"/>
          <p14:tracePt t="5782" x="6210300" y="2257425"/>
          <p14:tracePt t="5799" x="6216650" y="2263775"/>
          <p14:tracePt t="5816" x="6223000" y="2284413"/>
          <p14:tracePt t="5840" x="6229350" y="2290763"/>
          <p14:tracePt t="5864" x="6229350" y="2297113"/>
          <p14:tracePt t="5876" x="6229350" y="2303463"/>
          <p14:tracePt t="5901" x="6229350" y="2309813"/>
          <p14:tracePt t="5935" x="6229350" y="2316163"/>
          <p14:tracePt t="6283" x="6235700" y="2316163"/>
          <p14:tracePt t="6308" x="6235700" y="2309813"/>
          <p14:tracePt t="6414" x="6235700" y="2303463"/>
          <p14:tracePt t="6727" x="6248400" y="2278063"/>
          <p14:tracePt t="6739" x="6391275" y="2160588"/>
          <p14:tracePt t="6752" x="6565900" y="2057400"/>
          <p14:tracePt t="6763" x="6761163" y="1958975"/>
          <p14:tracePt t="6774" x="6935788" y="1901825"/>
          <p14:tracePt t="6787" x="7078663" y="1868488"/>
          <p14:tracePt t="6798" x="7189788" y="1868488"/>
          <p14:tracePt t="6814" x="7299325" y="1868488"/>
          <p14:tracePt t="6831" x="7364413" y="1881188"/>
          <p14:tracePt t="6847" x="7435850" y="1908175"/>
          <p14:tracePt t="6864" x="7448550" y="1920875"/>
          <p14:tracePt t="6882" x="7448550" y="1946275"/>
          <p14:tracePt t="6897" x="7448550" y="1958975"/>
          <p14:tracePt t="6914" x="7448550" y="1979613"/>
          <p14:tracePt t="6931" x="7429500" y="2005013"/>
          <p14:tracePt t="6948" x="7416800" y="2011363"/>
          <p14:tracePt t="6964" x="7410450" y="2024063"/>
          <p14:tracePt t="6980" x="7389813" y="2030413"/>
          <p14:tracePt t="6998" x="7377113" y="2036763"/>
          <p14:tracePt t="7014" x="7358063" y="2051050"/>
          <p14:tracePt t="7030" x="7351713" y="2051050"/>
          <p14:tracePt t="7048" x="7339013" y="2057400"/>
          <p14:tracePt t="7064" x="7318375" y="2057400"/>
          <p14:tracePt t="7081" x="7305675" y="2063750"/>
          <p14:tracePt t="7098" x="7273925" y="2076450"/>
          <p14:tracePt t="7114" x="7254875" y="2089150"/>
          <p14:tracePt t="7131" x="7240588" y="2089150"/>
          <p14:tracePt t="7147" x="7202488" y="2095500"/>
          <p14:tracePt t="7164" x="7183438" y="2101850"/>
          <p14:tracePt t="7181" x="7169150" y="2101850"/>
          <p14:tracePt t="7197" x="7162800" y="2101850"/>
          <p14:tracePt t="7214" x="7156450" y="2101850"/>
          <p14:tracePt t="7230" x="7150100" y="2101850"/>
          <p14:tracePt t="7247" x="7150100" y="2095500"/>
          <p14:tracePt t="7264" x="7143750" y="2095500"/>
          <p14:tracePt t="7280" x="7143750" y="2089150"/>
          <p14:tracePt t="7297" x="7143750" y="2082800"/>
          <p14:tracePt t="7314" x="7143750" y="2076450"/>
          <p14:tracePt t="7330" x="7143750" y="2070100"/>
          <p14:tracePt t="7351" x="7150100" y="2063750"/>
          <p14:tracePt t="7363" x="7156450" y="2051050"/>
          <p14:tracePt t="7380" x="7162800" y="2043113"/>
          <p14:tracePt t="7398" x="7183438" y="2024063"/>
          <p14:tracePt t="7414" x="7196138" y="2017713"/>
          <p14:tracePt t="7431" x="7208838" y="2011363"/>
          <p14:tracePt t="7447" x="7227888" y="2005013"/>
          <p14:tracePt t="7464" x="7240588" y="2005013"/>
          <p14:tracePt t="7481" x="7267575" y="2005013"/>
          <p14:tracePt t="7497" x="7280275" y="2005013"/>
          <p14:tracePt t="7514" x="7292975" y="2005013"/>
          <p14:tracePt t="7530" x="7351713" y="2017713"/>
          <p14:tracePt t="7547" x="7389813" y="2036763"/>
          <p14:tracePt t="7564" x="7423150" y="2043113"/>
          <p14:tracePt t="7565" x="7442200" y="2057400"/>
          <p14:tracePt t="7580" x="7454900" y="2063750"/>
          <p14:tracePt t="7598" x="7467600" y="2070100"/>
          <p14:tracePt t="7613" x="7467600" y="2089150"/>
          <p14:tracePt t="7630" x="7467600" y="2095500"/>
          <p14:tracePt t="7647" x="7467600" y="2101850"/>
          <p14:tracePt t="7664" x="7467600" y="2108200"/>
          <p14:tracePt t="7686" x="7467600" y="2114550"/>
          <p14:tracePt t="7697" x="7461250" y="2114550"/>
          <p14:tracePt t="7721" x="7461250" y="2120900"/>
          <p14:tracePt t="7744" x="7461250" y="2128838"/>
          <p14:tracePt t="7769" x="7461250" y="2141538"/>
          <p14:tracePt t="7780" x="7467600" y="2147888"/>
          <p14:tracePt t="7792" x="7467600" y="2160588"/>
          <p14:tracePt t="7804" x="7467600" y="2166938"/>
          <p14:tracePt t="7819" x="7467600" y="2179638"/>
          <p14:tracePt t="7840" x="7475538" y="2185988"/>
          <p14:tracePt t="7854" x="7475538" y="2192338"/>
          <p14:tracePt t="7864" x="7475538" y="2200275"/>
          <p14:tracePt t="7888" x="7475538" y="2206625"/>
          <p14:tracePt t="7901" x="7475538" y="2212975"/>
          <p14:tracePt t="7924" x="7475538" y="2219325"/>
          <p14:tracePt t="7960" x="7475538" y="2225675"/>
          <p14:tracePt t="7996" x="7475538" y="2232025"/>
          <p14:tracePt t="8008" x="7481888" y="2232025"/>
          <p14:tracePt t="8033" x="7481888" y="2238375"/>
          <p14:tracePt t="8044" x="7488238" y="2238375"/>
          <p14:tracePt t="9255" x="7488238" y="2232025"/>
          <p14:tracePt t="9290" x="7488238" y="2225675"/>
          <p14:tracePt t="9459" x="7481888" y="2225675"/>
          <p14:tracePt t="9518" x="7475538" y="2225675"/>
          <p14:tracePt t="9578" x="7467600" y="2225675"/>
          <p14:tracePt t="9614" x="7461250" y="2225675"/>
          <p14:tracePt t="9734" x="7467600" y="2225675"/>
          <p14:tracePt t="9759" x="7475538" y="2225675"/>
          <p14:tracePt t="9770" x="7481888" y="2225675"/>
          <p14:tracePt t="9783" x="7488238" y="2225675"/>
          <p14:tracePt t="9795" x="7494588" y="2219325"/>
          <p14:tracePt t="9817" x="7500938" y="2219325"/>
          <p14:tracePt t="9854" x="7475538" y="2212975"/>
          <p14:tracePt t="9867" x="7377113" y="2179638"/>
          <p14:tracePt t="9878" x="7105650" y="2160588"/>
          <p14:tracePt t="9891" x="5853113" y="2135188"/>
          <p14:tracePt t="9901" x="4775200" y="2135188"/>
          <p14:tracePt t="9916" x="4010025" y="2135188"/>
          <p14:tracePt t="9928" x="3348038" y="2147888"/>
          <p14:tracePt t="9945" x="2711450" y="2200275"/>
          <p14:tracePt t="9962" x="1816100" y="2368550"/>
          <p14:tracePt t="9978" x="1511300" y="2459038"/>
          <p14:tracePt t="9995" x="1258888" y="2543175"/>
          <p14:tracePt t="10011" x="914400" y="2725738"/>
          <p14:tracePt t="10028" x="811213" y="2776538"/>
          <p14:tracePt t="10045" x="714375" y="2828925"/>
          <p14:tracePt t="10062" x="668338" y="2854325"/>
          <p14:tracePt t="10078" x="655638" y="2860675"/>
          <p14:tracePt t="10095" x="622300" y="2860675"/>
          <p14:tracePt t="10112" x="603250" y="2867025"/>
          <p14:tracePt t="10129" x="590550" y="2874963"/>
          <p14:tracePt t="10131" x="571500" y="2881313"/>
          <p14:tracePt t="10145" x="550863" y="2887663"/>
          <p14:tracePt t="10161" x="519113" y="2887663"/>
          <p14:tracePt t="10178" x="493713" y="2887663"/>
          <p14:tracePt t="10195" x="479425" y="2887663"/>
          <p14:tracePt t="10215" x="473075" y="2887663"/>
          <p14:tracePt t="10261" x="473075" y="2894013"/>
          <p14:tracePt t="10274" x="473075" y="2900363"/>
          <p14:tracePt t="10309" x="473075" y="2894013"/>
          <p14:tracePt t="10321" x="479425" y="2894013"/>
          <p14:tracePt t="10334" x="487363" y="2881313"/>
          <p14:tracePt t="10345" x="500063" y="2874963"/>
          <p14:tracePt t="10362" x="506413" y="2867025"/>
          <p14:tracePt t="10378" x="519113" y="2854325"/>
          <p14:tracePt t="10394" x="538163" y="2835275"/>
          <p14:tracePt t="10411" x="544513" y="2828925"/>
          <p14:tracePt t="10428" x="550863" y="2828925"/>
          <p14:tracePt t="10431" x="558800" y="2822575"/>
          <p14:tracePt t="10445" x="571500" y="2816225"/>
          <p14:tracePt t="10462" x="577850" y="2809875"/>
          <p14:tracePt t="10478" x="596900" y="2797175"/>
          <p14:tracePt t="10495" x="609600" y="2789238"/>
          <p14:tracePt t="10511" x="642938" y="2782888"/>
          <p14:tracePt t="10514" x="668338" y="2770188"/>
          <p14:tracePt t="10528" x="708025" y="2763838"/>
          <p14:tracePt t="10544" x="746125" y="2757488"/>
          <p14:tracePt t="10561" x="798513" y="2744788"/>
          <p14:tracePt t="10578" x="811213" y="2744788"/>
          <p14:tracePt t="10595" x="823913" y="2738438"/>
          <p14:tracePt t="10611" x="842963" y="2732088"/>
          <p14:tracePt t="10628" x="849313" y="2732088"/>
          <p14:tracePt t="10645" x="857250" y="2725738"/>
          <p14:tracePt t="10669" x="863600" y="2725738"/>
          <p14:tracePt t="11556" x="869950" y="2725738"/>
          <p14:tracePt t="12143" x="876300" y="2725738"/>
          <p14:tracePt t="12166" x="876300" y="2732088"/>
          <p14:tracePt t="12181" x="889000" y="2732088"/>
          <p14:tracePt t="12190" x="908050" y="2732088"/>
          <p14:tracePt t="12203" x="941388" y="2732088"/>
          <p14:tracePt t="12216" x="979488" y="2732088"/>
          <p14:tracePt t="12227" x="1025525" y="2732088"/>
          <p14:tracePt t="12243" x="1076325" y="2725738"/>
          <p14:tracePt t="12260" x="1135063" y="2717800"/>
          <p14:tracePt t="12276" x="1239838" y="2711450"/>
          <p14:tracePt t="12293" x="1277938" y="2705100"/>
          <p14:tracePt t="12310" x="1330325" y="2686050"/>
          <p14:tracePt t="12327" x="1349375" y="2686050"/>
          <p14:tracePt t="12343" x="1362075" y="2686050"/>
          <p14:tracePt t="12360" x="1376363" y="2686050"/>
          <p14:tracePt t="12377" x="1382713" y="2686050"/>
          <p14:tracePt t="12394" x="1389063" y="2686050"/>
          <p14:tracePt t="12419" x="1395413" y="2686050"/>
          <p14:tracePt t="12454" x="1401763" y="2686050"/>
          <p14:tracePt t="12465" x="1408113" y="2686050"/>
          <p14:tracePt t="12479" x="1433513" y="2686050"/>
          <p14:tracePt t="12490" x="1454150" y="2686050"/>
          <p14:tracePt t="12501" x="1473200" y="2692400"/>
          <p14:tracePt t="12515" x="1498600" y="2692400"/>
          <p14:tracePt t="12526" x="1511300" y="2692400"/>
          <p14:tracePt t="12544" x="1531938" y="2692400"/>
          <p14:tracePt t="12560" x="1544638" y="2692400"/>
          <p14:tracePt t="12563" x="1570038" y="2705100"/>
          <p14:tracePt t="12576" x="1576388" y="2705100"/>
          <p14:tracePt t="12593" x="1589088" y="2705100"/>
          <p14:tracePt t="12610" x="1595438" y="2705100"/>
          <p14:tracePt t="12626" x="1603375" y="2705100"/>
          <p14:tracePt t="12643" x="1609725" y="2705100"/>
          <p14:tracePt t="12659" x="1616075" y="2705100"/>
          <p14:tracePt t="12676" x="1622425" y="2705100"/>
          <p14:tracePt t="12694" x="1641475" y="2711450"/>
          <p14:tracePt t="12709" x="1647825" y="2711450"/>
          <p14:tracePt t="12726" x="1660525" y="2711450"/>
          <p14:tracePt t="12742" x="1712913" y="2725738"/>
          <p14:tracePt t="12759" x="1744663" y="2725738"/>
          <p14:tracePt t="12777" x="1778000" y="2725738"/>
          <p14:tracePt t="12778" x="1830388" y="2738438"/>
          <p14:tracePt t="12793" x="1901825" y="2738438"/>
          <p14:tracePt t="12810" x="1979613" y="2751138"/>
          <p14:tracePt t="12826" x="2173288" y="2770188"/>
          <p14:tracePt t="12843" x="2263775" y="2770188"/>
          <p14:tracePt t="12859" x="2335213" y="2770188"/>
          <p14:tracePt t="12876" x="2413000" y="2776538"/>
          <p14:tracePt t="12893" x="2433638" y="2776538"/>
          <p14:tracePt t="12909" x="2459038" y="2776538"/>
          <p14:tracePt t="12927" x="2465388" y="2776538"/>
          <p14:tracePt t="12942" x="2471738" y="2776538"/>
          <p14:tracePt t="12959" x="2478088" y="2776538"/>
          <p14:tracePt t="13629" x="2492375" y="2776538"/>
          <p14:tracePt t="13640" x="2511425" y="2776538"/>
          <p14:tracePt t="13652" x="2543175" y="2770188"/>
          <p14:tracePt t="13665" x="2570163" y="2770188"/>
          <p14:tracePt t="13676" x="2601913" y="2770188"/>
          <p14:tracePt t="13692" x="2627313" y="2770188"/>
          <p14:tracePt t="13709" x="2647950" y="2770188"/>
          <p14:tracePt t="13725" x="2679700" y="2770188"/>
          <p14:tracePt t="13742" x="2692400" y="2770188"/>
          <p14:tracePt t="13759" x="2698750" y="2770188"/>
          <p14:tracePt t="13762" x="2711450" y="2770188"/>
          <p14:tracePt t="13775" x="2719388" y="2770188"/>
          <p14:tracePt t="13792" x="2732088" y="2770188"/>
          <p14:tracePt t="13809" x="2738438" y="2770188"/>
          <p14:tracePt t="13825" x="2751138" y="2770188"/>
          <p14:tracePt t="13842" x="2757488" y="2770188"/>
          <p14:tracePt t="13859" x="2763838" y="2770188"/>
          <p14:tracePt t="13881" x="2770188" y="2770188"/>
          <p14:tracePt t="13904" x="2776538" y="2770188"/>
          <p14:tracePt t="13930" x="2790825" y="2770188"/>
          <p14:tracePt t="13941" x="2797175" y="2770188"/>
          <p14:tracePt t="13952" x="2828925" y="2770188"/>
          <p14:tracePt t="13965" x="2868613" y="2770188"/>
          <p14:tracePt t="13975" x="2925763" y="2770188"/>
          <p14:tracePt t="13992" x="2984500" y="2770188"/>
          <p14:tracePt t="14008" x="3068638" y="2763838"/>
          <p14:tracePt t="14025" x="3167063" y="2751138"/>
          <p14:tracePt t="14042" x="3192463" y="2751138"/>
          <p14:tracePt t="14059" x="3224213" y="2751138"/>
          <p14:tracePt t="14060" x="3244850" y="2744788"/>
          <p14:tracePt t="14075" x="3257550" y="2744788"/>
          <p14:tracePt t="14092" x="3263900" y="2744788"/>
          <p14:tracePt t="14108" x="3270250" y="2744788"/>
          <p14:tracePt t="14157" x="3257550" y="2744788"/>
          <p14:tracePt t="14168" x="3238500" y="2744788"/>
          <p14:tracePt t="14181" x="3217863" y="2744788"/>
          <p14:tracePt t="14192" x="3179763" y="2757488"/>
          <p14:tracePt t="14208" x="3146425" y="2763838"/>
          <p14:tracePt t="14225" x="3121025" y="2763838"/>
          <p14:tracePt t="14241" x="3081338" y="2763838"/>
          <p14:tracePt t="14259" x="3068638" y="2763838"/>
          <p14:tracePt t="14275" x="3062288" y="2763838"/>
          <p14:tracePt t="14291" x="3068638" y="2763838"/>
          <p14:tracePt t="14308" x="3081338" y="2763838"/>
          <p14:tracePt t="14324" x="3173413" y="2770188"/>
          <p14:tracePt t="14341" x="3322638" y="2789238"/>
          <p14:tracePt t="14358" x="3549650" y="2828925"/>
          <p14:tracePt t="14360" x="3821113" y="2854325"/>
          <p14:tracePt t="14375" x="4094163" y="2881313"/>
          <p14:tracePt t="14392" x="4314825" y="2913063"/>
          <p14:tracePt t="14408" x="4548188" y="2946400"/>
          <p14:tracePt t="14425" x="4575175" y="2946400"/>
          <p14:tracePt t="14442" x="4594225" y="2946400"/>
          <p14:tracePt t="14459" x="4600575" y="2946400"/>
          <p14:tracePt t="14503" x="4594225" y="2946400"/>
          <p14:tracePt t="14527" x="4587875" y="2946400"/>
          <p14:tracePt t="14563" x="4581525" y="2946400"/>
          <p14:tracePt t="14599" x="4575175" y="2946400"/>
          <p14:tracePt t="14659" x="4575175" y="2938463"/>
          <p14:tracePt t="14683" x="4567238" y="2938463"/>
          <p14:tracePt t="14696" x="4560888" y="2938463"/>
          <p14:tracePt t="14719" x="4554538" y="2938463"/>
          <p14:tracePt t="14743" x="4548188" y="2938463"/>
          <p14:tracePt t="14755" x="4541838" y="2938463"/>
          <p14:tracePt t="14767" x="4535488" y="2938463"/>
          <p14:tracePt t="14791" x="4522788" y="2938463"/>
          <p14:tracePt t="14804" x="4516438" y="2938463"/>
          <p14:tracePt t="14815" x="4503738" y="2938463"/>
          <p14:tracePt t="14828" x="4470400" y="2938463"/>
          <p14:tracePt t="14841" x="4425950" y="2938463"/>
          <p14:tracePt t="14858" x="4314825" y="2959100"/>
          <p14:tracePt t="14875" x="3575050" y="3165475"/>
          <p14:tracePt t="14891" x="2790825" y="3471863"/>
          <p14:tracePt t="14908" x="1958975" y="3867150"/>
          <p14:tracePt t="14924" x="577850" y="4613275"/>
          <p14:tracePt t="14941" x="123825" y="4878388"/>
          <p14:tracePt t="15258" x="142875" y="4029075"/>
          <p14:tracePt t="15271" x="220663" y="3957638"/>
          <p14:tracePt t="15283" x="298450" y="3925888"/>
          <p14:tracePt t="15295" x="350838" y="3898900"/>
          <p14:tracePt t="15307" x="428625" y="3879850"/>
          <p14:tracePt t="15324" x="538163" y="3867150"/>
          <p14:tracePt t="15341" x="661988" y="3867150"/>
          <p14:tracePt t="15343" x="804863" y="3860800"/>
          <p14:tracePt t="15357" x="914400" y="3848100"/>
          <p14:tracePt t="15374" x="979488" y="3848100"/>
          <p14:tracePt t="15391" x="1025525" y="3827463"/>
          <p14:tracePt t="15407" x="1025525" y="3821113"/>
          <p14:tracePt t="15424" x="1025525" y="3814763"/>
          <p14:tracePt t="15428" x="998538" y="3802063"/>
          <p14:tracePt t="15441" x="973138" y="3795713"/>
          <p14:tracePt t="15458" x="935038" y="3783013"/>
          <p14:tracePt t="15474" x="830263" y="3756025"/>
          <p14:tracePt t="15490" x="771525" y="3730625"/>
          <p14:tracePt t="15508" x="700088" y="3724275"/>
          <p14:tracePt t="15510" x="655638" y="3705225"/>
          <p14:tracePt t="15524" x="615950" y="3698875"/>
          <p14:tracePt t="15541" x="584200" y="3698875"/>
          <p14:tracePt t="15558" x="544513" y="3698875"/>
          <p14:tracePt t="15574" x="531813" y="3698875"/>
          <p14:tracePt t="15591" x="525463" y="3698875"/>
          <p14:tracePt t="15607" x="512763" y="3698875"/>
          <p14:tracePt t="15630" x="512763" y="3692525"/>
          <p14:tracePt t="15641" x="519113" y="3692525"/>
          <p14:tracePt t="15657" x="525463" y="3684588"/>
          <p14:tracePt t="15674" x="531813" y="3678238"/>
          <p14:tracePt t="15691" x="558800" y="3665538"/>
          <p14:tracePt t="15707" x="577850" y="3659188"/>
          <p14:tracePt t="15725" x="622300" y="3652838"/>
          <p14:tracePt t="15740" x="655638" y="3652838"/>
          <p14:tracePt t="15757" x="700088" y="3652838"/>
          <p14:tracePt t="15774" x="920750" y="3659188"/>
          <p14:tracePt t="15790" x="1057275" y="3665538"/>
          <p14:tracePt t="15807" x="1155700" y="3665538"/>
          <p14:tracePt t="15811" x="1233488" y="3665538"/>
          <p14:tracePt t="15824" x="1271588" y="3665538"/>
          <p14:tracePt t="15840" x="1290638" y="3665538"/>
          <p14:tracePt t="15857" x="1330325" y="3665538"/>
          <p14:tracePt t="15873" x="1343025" y="3659188"/>
          <p14:tracePt t="15890" x="1343025" y="3652838"/>
          <p14:tracePt t="15907" x="1349375" y="3646488"/>
          <p14:tracePt t="15930" x="1349375" y="3640138"/>
          <p14:tracePt t="15954" x="1349375" y="3633788"/>
          <p14:tracePt t="15965" x="1349375" y="3627438"/>
          <p14:tracePt t="15979" x="1343025" y="3627438"/>
          <p14:tracePt t="16001" x="1336675" y="3627438"/>
          <p14:tracePt t="16026" x="1330325" y="3627438"/>
          <p14:tracePt t="16036" x="1323975" y="3627438"/>
          <p14:tracePt t="16073" x="1317625" y="3627438"/>
          <p14:tracePt t="16097" x="1311275" y="3627438"/>
          <p14:tracePt t="16111" x="1304925" y="3627438"/>
          <p14:tracePt t="16121" x="1296988" y="3627438"/>
          <p14:tracePt t="16133" x="1290638" y="3627438"/>
          <p14:tracePt t="16146" x="1284288" y="3627438"/>
          <p14:tracePt t="16180" x="1277938" y="3627438"/>
          <p14:tracePt t="16194" x="1271588" y="3633788"/>
          <p14:tracePt t="16205" x="1265238" y="3633788"/>
          <p14:tracePt t="16217" x="1252538" y="3640138"/>
          <p14:tracePt t="16229" x="1246188" y="3646488"/>
          <p14:tracePt t="16240" x="1219200" y="3659188"/>
          <p14:tracePt t="16257" x="1200150" y="3684588"/>
          <p14:tracePt t="16273" x="1168400" y="3698875"/>
          <p14:tracePt t="16290" x="1135063" y="3730625"/>
          <p14:tracePt t="16307" x="1109663" y="3756025"/>
          <p14:tracePt t="16324" x="1076325" y="3783013"/>
          <p14:tracePt t="16340" x="1057275" y="3795713"/>
          <p14:tracePt t="16356" x="1044575" y="3821113"/>
          <p14:tracePt t="16373" x="998538" y="3860800"/>
          <p14:tracePt t="16390" x="985838" y="3867150"/>
          <p14:tracePt t="16406" x="979488" y="3879850"/>
          <p14:tracePt t="16423" x="960438" y="3892550"/>
          <p14:tracePt t="16440" x="954088" y="3898900"/>
          <p14:tracePt t="16457" x="954088" y="3905250"/>
          <p14:tracePt t="16493" x="954088" y="3911600"/>
          <p14:tracePt t="16612" x="960438" y="3911600"/>
          <p14:tracePt t="16624" x="966788" y="3911600"/>
          <p14:tracePt t="16647" x="973138" y="3911600"/>
          <p14:tracePt t="16661" x="979488" y="3911600"/>
          <p14:tracePt t="16684" x="992188" y="3905250"/>
          <p14:tracePt t="16696" x="1012825" y="3905250"/>
          <p14:tracePt t="16709" x="1025525" y="3905250"/>
          <p14:tracePt t="16719" x="1044575" y="3911600"/>
          <p14:tracePt t="16733" x="1069975" y="3911600"/>
          <p14:tracePt t="16745" x="1084263" y="3919538"/>
          <p14:tracePt t="16756" x="1103313" y="3925888"/>
          <p14:tracePt t="16773" x="1122363" y="3925888"/>
          <p14:tracePt t="16790" x="1135063" y="3925888"/>
          <p14:tracePt t="16806" x="1155700" y="3932238"/>
          <p14:tracePt t="16823" x="1162050" y="3938588"/>
          <p14:tracePt t="16840" x="1168400" y="3938588"/>
          <p14:tracePt t="16878" x="1168400" y="3944938"/>
          <p14:tracePt t="16948" x="1162050" y="3951288"/>
          <p14:tracePt t="16983" x="1155700" y="3951288"/>
          <p14:tracePt t="17007" x="1147763" y="3951288"/>
          <p14:tracePt t="17043" x="1141413" y="3951288"/>
          <p14:tracePt t="17091" x="1135063" y="3951288"/>
          <p14:tracePt t="17127" x="1128713" y="3951288"/>
          <p14:tracePt t="17211" x="1122363" y="3951288"/>
          <p14:tracePt t="17510" x="1128713" y="3951288"/>
          <p14:tracePt t="17522" x="1135063" y="3951288"/>
          <p14:tracePt t="17535" x="1141413" y="3951288"/>
          <p14:tracePt t="17547" x="1147763" y="3944938"/>
          <p14:tracePt t="17560" x="1155700" y="3944938"/>
          <p14:tracePt t="17572" x="1162050" y="3944938"/>
          <p14:tracePt t="17589" x="1168400" y="3938588"/>
          <p14:tracePt t="17606" x="1193800" y="3938588"/>
          <p14:tracePt t="17622" x="1200150" y="3932238"/>
          <p14:tracePt t="17639" x="1212850" y="3932238"/>
          <p14:tracePt t="17656" x="1219200" y="3932238"/>
          <p14:tracePt t="17672" x="1225550" y="3932238"/>
          <p14:tracePt t="17692" x="1233488" y="3932238"/>
          <p14:tracePt t="17714" x="1239838" y="3932238"/>
          <p14:tracePt t="17727" x="1246188" y="3932238"/>
          <p14:tracePt t="17739" x="1258888" y="3932238"/>
          <p14:tracePt t="17755" x="1265238" y="3932238"/>
          <p14:tracePt t="17772" x="1284288" y="3932238"/>
          <p14:tracePt t="17789" x="1330325" y="3919538"/>
          <p14:tracePt t="17805" x="1362075" y="3919538"/>
          <p14:tracePt t="17822" x="1408113" y="3919538"/>
          <p14:tracePt t="17839" x="1427163" y="3919538"/>
          <p14:tracePt t="17856" x="1439863" y="3919538"/>
          <p14:tracePt t="17859" x="1446213" y="3919538"/>
          <p14:tracePt t="17861" x="1454150" y="3919538"/>
          <p14:tracePt t="17872" x="1466850" y="3919538"/>
          <p14:tracePt t="17889" x="1473200" y="3919538"/>
          <p14:tracePt t="17905" x="1485900" y="3919538"/>
          <p14:tracePt t="17930" x="1492250" y="3919538"/>
          <p14:tracePt t="18014" x="1498600" y="3919538"/>
          <p14:tracePt t="18050" x="1504950" y="3919538"/>
          <p14:tracePt t="18098" x="1511300" y="3919538"/>
          <p14:tracePt t="18111" x="1517650" y="3919538"/>
          <p14:tracePt t="18122" x="1525588" y="3919538"/>
          <p14:tracePt t="18134" x="1538288" y="3919538"/>
          <p14:tracePt t="18146" x="1544638" y="3919538"/>
          <p14:tracePt t="18159" x="1550988" y="3911600"/>
          <p14:tracePt t="18172" x="1557338" y="3911600"/>
          <p14:tracePt t="18189" x="1563688" y="3911600"/>
          <p14:tracePt t="18205" x="1576388" y="3911600"/>
          <p14:tracePt t="18230" x="1582738" y="3911600"/>
          <p14:tracePt t="18253" x="1589088" y="3911600"/>
          <p14:tracePt t="18277" x="1595438" y="3911600"/>
          <p14:tracePt t="18697" x="1589088" y="3911600"/>
          <p14:tracePt t="19104" x="1635125" y="3886200"/>
          <p14:tracePt t="19116" x="1849438" y="3762375"/>
          <p14:tracePt t="19129" x="2160588" y="3613150"/>
          <p14:tracePt t="19141" x="2705100" y="3386138"/>
          <p14:tracePt t="19154" x="3484563" y="3146425"/>
          <p14:tracePt t="19171" x="5878513" y="2711450"/>
          <p14:tracePt t="19188" x="7240588" y="2478088"/>
          <p14:tracePt t="19204" x="8999538" y="2555875"/>
          <p14:tracePt t="19221" x="9817100" y="2614613"/>
          <p14:tracePt t="19237" x="10336213" y="2654300"/>
          <p14:tracePt t="19254" x="10563225" y="2679700"/>
          <p14:tracePt t="19271" x="10880725" y="2757488"/>
          <p14:tracePt t="19287" x="10985500" y="2809875"/>
          <p14:tracePt t="19304" x="11075988" y="2860675"/>
          <p14:tracePt t="19321" x="11193463" y="2919413"/>
          <p14:tracePt t="19337" x="11231563" y="2946400"/>
          <p14:tracePt t="19354" x="11244263" y="2959100"/>
          <p14:tracePt t="19356" x="11256963" y="2965450"/>
          <p14:tracePt t="19370" x="11256963" y="2978150"/>
          <p14:tracePt t="19388" x="11256963" y="2984500"/>
          <p14:tracePt t="19404" x="11256963" y="2997200"/>
          <p14:tracePt t="19421" x="11250613" y="3003550"/>
          <p14:tracePt t="19438" x="11237913" y="3016250"/>
          <p14:tracePt t="19441" x="11231563" y="3030538"/>
          <p14:tracePt t="19454" x="11225213" y="3049588"/>
          <p14:tracePt t="19471" x="11199813" y="3081338"/>
          <p14:tracePt t="19488" x="11141075" y="3192463"/>
          <p14:tracePt t="19504" x="11095038" y="3236913"/>
          <p14:tracePt t="19521" x="11023600" y="3276600"/>
          <p14:tracePt t="19538" x="10823575" y="3348038"/>
          <p14:tracePt t="19554" x="10634663" y="3379788"/>
          <p14:tracePt t="19571" x="10258425" y="3438525"/>
          <p14:tracePt t="19587" x="10090150" y="3451225"/>
          <p14:tracePt t="19604" x="9920288" y="3463925"/>
          <p14:tracePt t="19620" x="9642475" y="3497263"/>
          <p14:tracePt t="19637" x="9531350" y="3503613"/>
          <p14:tracePt t="19655" x="9434513" y="3522663"/>
          <p14:tracePt t="19656" x="9409113" y="3529013"/>
          <p14:tracePt t="19670" x="9369425" y="3535363"/>
          <p14:tracePt t="19687" x="9331325" y="3556000"/>
          <p14:tracePt t="19704" x="9251950" y="3581400"/>
          <p14:tracePt t="19720" x="9201150" y="3587750"/>
          <p14:tracePt t="19738" x="9161463" y="3594100"/>
          <p14:tracePt t="19741" x="9123363" y="3606800"/>
          <p14:tracePt t="19754" x="9083675" y="3627438"/>
          <p14:tracePt t="19771" x="9051925" y="3633788"/>
          <p14:tracePt t="19787" x="8980488" y="3671888"/>
          <p14:tracePt t="19804" x="8940800" y="3692525"/>
          <p14:tracePt t="19820" x="8896350" y="3698875"/>
          <p14:tracePt t="19837" x="8843963" y="3736975"/>
          <p14:tracePt t="19854" x="8804275" y="3756025"/>
          <p14:tracePt t="19871" x="8694738" y="3821113"/>
          <p14:tracePt t="19887" x="8610600" y="3867150"/>
          <p14:tracePt t="19904" x="8520113" y="3898900"/>
          <p14:tracePt t="19920" x="8350250" y="3944938"/>
          <p14:tracePt t="19937" x="8278813" y="3957638"/>
          <p14:tracePt t="19954" x="8228013" y="3970338"/>
          <p14:tracePt t="19955" x="8188325" y="3976688"/>
          <p14:tracePt t="19970" x="8150225" y="3990975"/>
          <p14:tracePt t="19987" x="8135938" y="3997325"/>
          <p14:tracePt t="20003" x="8123238" y="4003675"/>
          <p14:tracePt t="20063" x="8129588" y="3997325"/>
          <p14:tracePt t="20076" x="8135938" y="3990975"/>
          <p14:tracePt t="20087" x="8143875" y="3983038"/>
          <p14:tracePt t="20099" x="8150225" y="3976688"/>
          <p14:tracePt t="20111" x="8156575" y="3970338"/>
          <p14:tracePt t="20126" x="8169275" y="3963988"/>
          <p14:tracePt t="20137" x="8175625" y="3963988"/>
          <p14:tracePt t="20153" x="8175625" y="3957638"/>
          <p14:tracePt t="20170" x="8194675" y="3951288"/>
          <p14:tracePt t="20187" x="8207375" y="3938588"/>
          <p14:tracePt t="20204" x="8213725" y="3938588"/>
          <p14:tracePt t="20220" x="8247063" y="3932238"/>
          <p14:tracePt t="20237" x="8266113" y="3925888"/>
          <p14:tracePt t="20254" x="8285163" y="3925888"/>
          <p14:tracePt t="20255" x="8318500" y="3925888"/>
          <p14:tracePt t="20270" x="8364538" y="3911600"/>
          <p14:tracePt t="20287" x="8421688" y="3911600"/>
          <p14:tracePt t="20303" x="8520113" y="3905250"/>
          <p14:tracePt t="20320" x="8551863" y="3905250"/>
          <p14:tracePt t="20337" x="8570913" y="3905250"/>
          <p14:tracePt t="20353" x="8591550" y="3905250"/>
          <p14:tracePt t="20370" x="8597900" y="3905250"/>
          <p14:tracePt t="20387" x="8604250" y="3905250"/>
          <p14:tracePt t="20638" x="8610600" y="3905250"/>
          <p14:tracePt t="20662" x="8616950" y="3905250"/>
          <p14:tracePt t="20709" x="8623300" y="3905250"/>
          <p14:tracePt t="20723" x="8623300" y="3898900"/>
          <p14:tracePt t="20841" x="8629650" y="3898900"/>
          <p14:tracePt t="20878" x="8636000" y="3898900"/>
          <p14:tracePt t="20891" x="8642350" y="3892550"/>
          <p14:tracePt t="20901" x="8648700" y="3892550"/>
          <p14:tracePt t="20913" x="8682038" y="3892550"/>
          <p14:tracePt t="20925" x="8713788" y="3886200"/>
          <p14:tracePt t="20938" x="8772525" y="3886200"/>
          <p14:tracePt t="20953" x="8824913" y="3879850"/>
          <p14:tracePt t="20969" x="8869363" y="3867150"/>
          <p14:tracePt t="20986" x="8928100" y="3867150"/>
          <p14:tracePt t="21003" x="8940800" y="3867150"/>
          <p14:tracePt t="21019" x="8953500" y="3867150"/>
          <p14:tracePt t="21036" x="8967788" y="3867150"/>
          <p14:tracePt t="21053" x="8974138" y="3867150"/>
          <p14:tracePt t="21082" x="8980488" y="3867150"/>
          <p14:tracePt t="21177" x="8974138" y="3867150"/>
          <p14:tracePt t="21214" x="8967788" y="3867150"/>
          <p14:tracePt t="21225" x="8967788" y="3873500"/>
          <p14:tracePt t="21309" x="8967788" y="3879850"/>
          <p14:tracePt t="21345" x="8967788" y="3886200"/>
          <p14:tracePt t="21680" x="8980488" y="3886200"/>
          <p14:tracePt t="21692" x="8993188" y="3886200"/>
          <p14:tracePt t="21707" x="9005888" y="3886200"/>
          <p14:tracePt t="21716" x="9018588" y="3886200"/>
          <p14:tracePt t="21728" x="9031288" y="3886200"/>
          <p14:tracePt t="21741" x="9039225" y="3886200"/>
          <p14:tracePt t="21764" x="9045575" y="3886200"/>
          <p14:tracePt t="21776" x="9051925" y="3886200"/>
          <p14:tracePt t="21790" x="9058275" y="3886200"/>
          <p14:tracePt t="22268" x="9064625" y="3886200"/>
          <p14:tracePt t="22291" x="9070975" y="3886200"/>
          <p14:tracePt t="22305" x="9077325" y="3886200"/>
          <p14:tracePt t="22315" x="9090025" y="3886200"/>
          <p14:tracePt t="22328" x="9096375" y="3886200"/>
          <p14:tracePt t="22341" x="9102725" y="3886200"/>
          <p14:tracePt t="22352" x="9117013" y="3886200"/>
          <p14:tracePt t="22369" x="9123363" y="3886200"/>
          <p14:tracePt t="22385" x="9129713" y="3886200"/>
          <p14:tracePt t="22402" x="9136063" y="3886200"/>
          <p14:tracePt t="22419" x="9142413" y="3886200"/>
          <p14:tracePt t="22436" x="9155113" y="3886200"/>
          <p14:tracePt t="22460" x="9161463" y="3886200"/>
          <p14:tracePt t="22484" x="9167813" y="3886200"/>
          <p14:tracePt t="22496" x="9174163" y="3886200"/>
          <p14:tracePt t="22520" x="9182100" y="3886200"/>
          <p14:tracePt t="22544" x="9188450" y="3886200"/>
          <p14:tracePt t="22556" x="9188450" y="3892550"/>
          <p14:tracePt t="22568" x="9194800" y="3892550"/>
          <p14:tracePt t="22592" x="9201150" y="3892550"/>
          <p14:tracePt t="22628" x="9207500" y="3892550"/>
          <p14:tracePt t="22999" x="9220200" y="3892550"/>
          <p14:tracePt t="23011" x="9266238" y="3886200"/>
          <p14:tracePt t="23025" x="9323388" y="3867150"/>
          <p14:tracePt t="23035" x="9382125" y="3860800"/>
          <p14:tracePt t="23051" x="9440863" y="3854450"/>
          <p14:tracePt t="23068" x="9480550" y="3841750"/>
          <p14:tracePt t="23084" x="9558338" y="3833813"/>
          <p14:tracePt t="23101" x="9590088" y="3833813"/>
          <p14:tracePt t="23118" x="9636125" y="3833813"/>
          <p14:tracePt t="23134" x="9655175" y="3833813"/>
          <p14:tracePt t="23151" x="9680575" y="3833813"/>
          <p14:tracePt t="23168" x="9707563" y="3841750"/>
          <p14:tracePt t="23190" x="9713913" y="3841750"/>
          <p14:tracePt t="23203" x="9726613" y="3841750"/>
          <p14:tracePt t="23218" x="9732963" y="3848100"/>
          <p14:tracePt t="23235" x="9745663" y="3848100"/>
          <p14:tracePt t="23251" x="9779000" y="3854450"/>
          <p14:tracePt t="23268" x="9791700" y="3854450"/>
          <p14:tracePt t="23284" x="9804400" y="3860800"/>
          <p14:tracePt t="23301" x="9823450" y="3867150"/>
          <p14:tracePt t="23318" x="9836150" y="3867150"/>
          <p14:tracePt t="23335" x="9863138" y="3873500"/>
          <p14:tracePt t="23351" x="9875838" y="3873500"/>
          <p14:tracePt t="23367" x="9894888" y="3879850"/>
          <p14:tracePt t="23384" x="9913938" y="3886200"/>
          <p14:tracePt t="23401" x="9928225" y="3892550"/>
          <p14:tracePt t="23418" x="9947275" y="3905250"/>
          <p14:tracePt t="23434" x="9953625" y="3905250"/>
          <p14:tracePt t="23451" x="9966325" y="3911600"/>
          <p14:tracePt t="23468" x="9985375" y="3919538"/>
          <p14:tracePt t="23484" x="9991725" y="3925888"/>
          <p14:tracePt t="23501" x="10006013" y="3925888"/>
          <p14:tracePt t="23517" x="10018713" y="3932238"/>
          <p14:tracePt t="23534" x="10025063" y="3932238"/>
          <p14:tracePt t="23550" x="10031413" y="3932238"/>
          <p14:tracePt t="23574" x="10037763" y="3932238"/>
          <p14:tracePt t="23610" x="10044113" y="3932238"/>
          <p14:tracePt t="23670" x="10050463" y="3932238"/>
          <p14:tracePt t="23705" x="10056813" y="3932238"/>
          <p14:tracePt t="23838" x="10050463" y="3932238"/>
          <p14:tracePt t="23897" x="10044113" y="3932238"/>
          <p14:tracePt t="24281" x="10044113" y="3938588"/>
          <p14:tracePt t="24305" x="10037763" y="3938588"/>
          <p14:tracePt t="24341" x="10031413" y="3938588"/>
          <p14:tracePt t="24354" x="10031413" y="3944938"/>
          <p14:tracePt t="24377" x="10025063" y="3944938"/>
          <p14:tracePt t="24390" x="10025063" y="3951288"/>
          <p14:tracePt t="24449" x="10018713" y="3951288"/>
          <p14:tracePt t="24485" x="10012363" y="3951288"/>
          <p14:tracePt t="24497" x="10006013" y="3951288"/>
          <p14:tracePt t="24508" x="9998075" y="3951288"/>
          <p14:tracePt t="24521" x="9991725" y="3944938"/>
          <p14:tracePt t="24533" x="9985375" y="3938588"/>
          <p14:tracePt t="24550" x="9972675" y="3932238"/>
          <p14:tracePt t="24567" x="9959975" y="3925888"/>
          <p14:tracePt t="24583" x="9953625" y="3911600"/>
          <p14:tracePt t="24600" x="9947275" y="3911600"/>
          <p14:tracePt t="24617" x="9934575" y="3905250"/>
          <p14:tracePt t="24633" x="9928225" y="3905250"/>
          <p14:tracePt t="24650" x="9928225" y="3898900"/>
          <p14:tracePt t="24677" x="9920288" y="3898900"/>
          <p14:tracePt t="24772" x="9920288" y="3892550"/>
          <p14:tracePt t="24785" x="9928225" y="3892550"/>
          <p14:tracePt t="24796" x="9934575" y="3892550"/>
          <p14:tracePt t="24821" x="9940925" y="3892550"/>
          <p14:tracePt t="24833" x="9947275" y="3892550"/>
          <p14:tracePt t="24881" x="9953625" y="3892550"/>
          <p14:tracePt t="24906" x="9959975" y="3892550"/>
          <p14:tracePt t="24940" x="9966325" y="3892550"/>
          <p14:tracePt t="24965" x="9972675" y="3892550"/>
          <p14:tracePt t="24976" x="9979025" y="3892550"/>
          <p14:tracePt t="25000" x="9985375" y="3892550"/>
          <p14:tracePt t="25012" x="9991725" y="3892550"/>
          <p14:tracePt t="25024" x="9998075" y="3892550"/>
          <p14:tracePt t="25048" x="10006013" y="3892550"/>
          <p14:tracePt t="25072" x="10012363" y="3892550"/>
          <p14:tracePt t="25084" x="10018713" y="3892550"/>
          <p14:tracePt t="25119" x="10025063" y="3892550"/>
          <p14:tracePt t="25133" x="10031413" y="3892550"/>
          <p14:tracePt t="25144" x="10037763" y="3892550"/>
          <p14:tracePt t="25156" x="10050463" y="3892550"/>
          <p14:tracePt t="25169" x="10056813" y="3892550"/>
          <p14:tracePt t="25183" x="10077450" y="3892550"/>
          <p14:tracePt t="25199" x="10090150" y="3898900"/>
          <p14:tracePt t="25216" x="10128250" y="3898900"/>
          <p14:tracePt t="25233" x="10140950" y="3898900"/>
          <p14:tracePt t="25249" x="10155238" y="3898900"/>
          <p14:tracePt t="25266" x="10174288" y="3898900"/>
          <p14:tracePt t="25283" x="10180638" y="3898900"/>
          <p14:tracePt t="25300" x="10186988" y="3898900"/>
          <p14:tracePt t="25316" x="10193338" y="3898900"/>
          <p14:tracePt t="25706" x="10199688" y="3898900"/>
          <p14:tracePt t="25731" x="10206038" y="3898900"/>
          <p14:tracePt t="25743" x="10212388" y="3898900"/>
          <p14:tracePt t="25755" x="10226675" y="3898900"/>
          <p14:tracePt t="25767" x="10252075" y="3898900"/>
          <p14:tracePt t="25782" x="10283825" y="3898900"/>
          <p14:tracePt t="25799" x="10317163" y="3898900"/>
          <p14:tracePt t="25815" x="10355263" y="3898900"/>
          <p14:tracePt t="25832" x="10367963" y="3898900"/>
          <p14:tracePt t="25849" x="10382250" y="3898900"/>
          <p14:tracePt t="25852" x="10388600" y="3898900"/>
          <p14:tracePt t="25866" x="10401300" y="3898900"/>
          <p14:tracePt t="25887" x="10407650" y="3898900"/>
          <p14:tracePt t="25910" x="10414000" y="3898900"/>
          <p14:tracePt t="25982" x="10420350" y="3898900"/>
          <p14:tracePt t="26224" x="10426700" y="3898900"/>
          <p14:tracePt t="26236" x="10439400" y="3898900"/>
          <p14:tracePt t="26246" x="10447338" y="3898900"/>
          <p14:tracePt t="26258" x="10460038" y="3898900"/>
          <p14:tracePt t="26271" x="10466388" y="3898900"/>
          <p14:tracePt t="26282" x="10479088" y="3898900"/>
          <p14:tracePt t="26299" x="10485438" y="3898900"/>
          <p14:tracePt t="26315" x="10491788" y="3898900"/>
          <p14:tracePt t="26332" x="10504488" y="3898900"/>
          <p14:tracePt t="26349" x="10510838" y="3898900"/>
          <p14:tracePt t="26366" x="10517188" y="3898900"/>
          <p14:tracePt t="26382" x="10525125" y="3898900"/>
          <p14:tracePt t="26399" x="10531475" y="3898900"/>
          <p14:tracePt t="26415" x="10537825" y="3898900"/>
          <p14:tracePt t="26438" x="10544175" y="3898900"/>
          <p14:tracePt t="26474" x="10550525" y="3898900"/>
          <p14:tracePt t="26988" x="10563225" y="3892550"/>
          <p14:tracePt t="27002" x="10596563" y="3892550"/>
          <p14:tracePt t="27013" x="10615613" y="3886200"/>
          <p14:tracePt t="27025" x="10628313" y="3886200"/>
          <p14:tracePt t="27037" x="10647363" y="3886200"/>
          <p14:tracePt t="27049" x="10660063" y="3886200"/>
          <p14:tracePt t="27064" x="10666413" y="3886200"/>
          <p14:tracePt t="27086" x="10674350" y="3886200"/>
          <p14:tracePt t="27098" x="10680700" y="3886200"/>
          <p14:tracePt t="27121" x="10687050" y="3886200"/>
          <p14:tracePt t="27277" x="10680700" y="3886200"/>
          <p14:tracePt t="27337" x="10674350" y="3886200"/>
          <p14:tracePt t="27732" x="10666413" y="3886200"/>
          <p14:tracePt t="28415" x="10660063" y="3886200"/>
          <p14:tracePt t="28451" x="10653713" y="3886200"/>
          <p14:tracePt t="28464" x="10641013" y="3886200"/>
          <p14:tracePt t="28476" x="10621963" y="3879850"/>
          <p14:tracePt t="28487" x="10575925" y="3873500"/>
          <p14:tracePt t="28501" x="10479088" y="3860800"/>
          <p14:tracePt t="28513" x="10218738" y="3848100"/>
          <p14:tracePt t="28530" x="8778875" y="3944938"/>
          <p14:tracePt t="28547" x="6481763" y="4191000"/>
          <p14:tracePt t="28563" x="4930775" y="4548188"/>
          <p14:tracePt t="28580" x="3892550" y="4806950"/>
          <p14:tracePt t="28596" x="2860675" y="5126038"/>
          <p14:tracePt t="28613" x="2536825" y="5294313"/>
          <p14:tracePt t="28631" x="2089150" y="5580063"/>
          <p14:tracePt t="28647" x="1939925" y="5683250"/>
          <p14:tracePt t="28663" x="1816100" y="5761038"/>
          <p14:tracePt t="28680" x="1712913" y="5832475"/>
          <p14:tracePt t="28697" x="1687513" y="5845175"/>
          <p14:tracePt t="28714" x="1674813" y="5853113"/>
          <p14:tracePt t="28715" x="1660525" y="5859463"/>
          <p14:tracePt t="28730" x="1654175" y="5859463"/>
          <p14:tracePt t="28774" x="1647825" y="5859463"/>
          <p14:tracePt t="28787" x="1647825" y="5853113"/>
          <p14:tracePt t="28846" x="1647825" y="5845175"/>
          <p14:tracePt t="28859" x="1647825" y="5838825"/>
          <p14:tracePt t="28884" x="1647825" y="5832475"/>
          <p14:tracePt t="28895" x="1647825" y="5826125"/>
          <p14:tracePt t="28907" x="1647825" y="5819775"/>
          <p14:tracePt t="28931" x="1647825" y="5813425"/>
          <p14:tracePt t="28943" x="1641475" y="5807075"/>
          <p14:tracePt t="28955" x="1635125" y="5800725"/>
          <p14:tracePt t="28968" x="1622425" y="5794375"/>
          <p14:tracePt t="28980" x="1609725" y="5781675"/>
          <p14:tracePt t="28996" x="1582738" y="5761038"/>
          <p14:tracePt t="29013" x="1557338" y="5735638"/>
          <p14:tracePt t="29030" x="1504950" y="5683250"/>
          <p14:tracePt t="29046" x="1473200" y="5651500"/>
          <p14:tracePt t="29063" x="1414463" y="5586413"/>
          <p14:tracePt t="29080" x="1395413" y="5554663"/>
          <p14:tracePt t="29096" x="1382713" y="5534025"/>
          <p14:tracePt t="29113" x="1349375" y="5495925"/>
          <p14:tracePt t="29130" x="1336675" y="5483225"/>
          <p14:tracePt t="29147" x="1323975" y="5462588"/>
          <p14:tracePt t="29163" x="1317625" y="5456238"/>
          <p14:tracePt t="29180" x="1317625" y="5449888"/>
          <p14:tracePt t="29197" x="1317625" y="5443538"/>
          <p14:tracePt t="29219" x="1323975" y="5443538"/>
          <p14:tracePt t="29242" x="1330325" y="5443538"/>
          <p14:tracePt t="29254" x="1330325" y="5437188"/>
          <p14:tracePt t="29268" x="1336675" y="5437188"/>
          <p14:tracePt t="29279" x="1343025" y="5430838"/>
          <p14:tracePt t="29296" x="1349375" y="5424488"/>
          <p14:tracePt t="29313" x="1368425" y="5418138"/>
          <p14:tracePt t="29329" x="1395413" y="5411788"/>
          <p14:tracePt t="29346" x="1433513" y="5391150"/>
          <p14:tracePt t="29363" x="1550988" y="5359400"/>
          <p14:tracePt t="29380" x="1622425" y="5340350"/>
          <p14:tracePt t="29396" x="1674813" y="5334000"/>
          <p14:tracePt t="29398" x="1719263" y="5334000"/>
          <p14:tracePt t="29413" x="1744663" y="5326063"/>
          <p14:tracePt t="29429" x="1771650" y="5326063"/>
          <p14:tracePt t="29446" x="1797050" y="5326063"/>
          <p14:tracePt t="29463" x="1803400" y="5326063"/>
          <p14:tracePt t="29479" x="1809750" y="5326063"/>
          <p14:tracePt t="29589" x="1809750" y="5334000"/>
          <p14:tracePt t="29649" x="1809750" y="5340350"/>
          <p14:tracePt t="29661" x="1809750" y="5346700"/>
          <p14:tracePt t="29709" x="1816100" y="5346700"/>
          <p14:tracePt t="29721" x="1824038" y="5353050"/>
          <p14:tracePt t="29734" x="1836738" y="5353050"/>
          <p14:tracePt t="29746" x="1868488" y="5359400"/>
          <p14:tracePt t="29762" x="1914525" y="5365750"/>
          <p14:tracePt t="29779" x="1965325" y="5372100"/>
          <p14:tracePt t="29781" x="2036763" y="5391150"/>
          <p14:tracePt t="29796" x="2082800" y="5405438"/>
          <p14:tracePt t="29812" x="2135188" y="5411788"/>
          <p14:tracePt t="29829" x="2193925" y="5418138"/>
          <p14:tracePt t="29846" x="2206625" y="5418138"/>
          <p14:tracePt t="29863" x="2219325" y="5418138"/>
          <p14:tracePt t="29879" x="2232025" y="5418138"/>
          <p14:tracePt t="29896" x="2238375" y="5418138"/>
          <p14:tracePt t="29913" x="2244725" y="5418138"/>
          <p14:tracePt t="30537" x="2251075" y="5418138"/>
          <p14:tracePt t="30549" x="2263775" y="5418138"/>
          <p14:tracePt t="30561" x="2309813" y="5418138"/>
          <p14:tracePt t="30572" x="2400300" y="5418138"/>
          <p14:tracePt t="30585" x="2601913" y="5378450"/>
          <p14:tracePt t="30596" x="2906713" y="5326063"/>
          <p14:tracePt t="30612" x="3465513" y="5229225"/>
          <p14:tracePt t="30629" x="4217988" y="5099050"/>
          <p14:tracePt t="30645" x="6073775" y="4806950"/>
          <p14:tracePt t="30662" x="6910388" y="4672013"/>
          <p14:tracePt t="30679" x="7864475" y="4560888"/>
          <p14:tracePt t="30695" x="8123238" y="4535488"/>
          <p14:tracePt t="30712" x="8305800" y="4535488"/>
          <p14:tracePt t="30729" x="8493125" y="4535488"/>
          <p14:tracePt t="30745" x="8532813" y="4535488"/>
          <p14:tracePt t="30761" x="8551863" y="4535488"/>
          <p14:tracePt t="30778" x="8570913" y="4535488"/>
          <p14:tracePt t="30795" x="8577263" y="4535488"/>
          <p14:tracePt t="30860" x="8577263" y="4529138"/>
          <p14:tracePt t="30871" x="8583613" y="4522788"/>
          <p14:tracePt t="30884" x="8591550" y="4516438"/>
          <p14:tracePt t="30896" x="8610600" y="4502150"/>
          <p14:tracePt t="30912" x="8629650" y="4489450"/>
          <p14:tracePt t="30928" x="8682038" y="4464050"/>
          <p14:tracePt t="30945" x="8818563" y="4379913"/>
          <p14:tracePt t="30961" x="8882063" y="4333875"/>
          <p14:tracePt t="30979" x="8953500" y="4249738"/>
          <p14:tracePt t="30995" x="8974138" y="4224338"/>
          <p14:tracePt t="31011" x="8986838" y="4191000"/>
          <p14:tracePt t="31028" x="8986838" y="4140200"/>
          <p14:tracePt t="31045" x="8986838" y="4113213"/>
          <p14:tracePt t="31062" x="8980488" y="4075113"/>
          <p14:tracePt t="31063" x="8974138" y="4068763"/>
          <p14:tracePt t="31078" x="8961438" y="4041775"/>
          <p14:tracePt t="31095" x="8940800" y="4029075"/>
          <p14:tracePt t="31111" x="8902700" y="4003675"/>
          <p14:tracePt t="31128" x="8869363" y="3983038"/>
          <p14:tracePt t="31145" x="8831263" y="3970338"/>
          <p14:tracePt t="31148" x="8766175" y="3951288"/>
          <p14:tracePt t="31161" x="8707438" y="3925888"/>
          <p14:tracePt t="31179" x="8636000" y="3886200"/>
          <p14:tracePt t="31195" x="8499475" y="3808413"/>
          <p14:tracePt t="31211" x="8434388" y="3756025"/>
          <p14:tracePt t="31228" x="8370888" y="3705225"/>
          <p14:tracePt t="31245" x="8285163" y="3581400"/>
          <p14:tracePt t="31262" x="8272463" y="3529013"/>
          <p14:tracePt t="31278" x="8266113" y="3419475"/>
          <p14:tracePt t="31294" x="8272463" y="3379788"/>
          <p14:tracePt t="31311" x="8293100" y="3328988"/>
          <p14:tracePt t="31327" x="8337550" y="3263900"/>
          <p14:tracePt t="31344" x="8364538" y="3244850"/>
          <p14:tracePt t="31361" x="8408988" y="3217863"/>
          <p14:tracePt t="31378" x="8486775" y="3192463"/>
          <p14:tracePt t="31395" x="8526463" y="3192463"/>
          <p14:tracePt t="31412" x="8591550" y="3192463"/>
          <p14:tracePt t="31427" x="8648700" y="3192463"/>
          <p14:tracePt t="31445" x="8732838" y="3205163"/>
          <p14:tracePt t="31461" x="8928100" y="3276600"/>
          <p14:tracePt t="31477" x="9031288" y="3328988"/>
          <p14:tracePt t="31494" x="9155113" y="3406775"/>
          <p14:tracePt t="31512" x="9188450" y="3438525"/>
          <p14:tracePt t="31528" x="9220200" y="3471863"/>
          <p14:tracePt t="31531" x="9239250" y="3529013"/>
          <p14:tracePt t="31544" x="9245600" y="3621088"/>
          <p14:tracePt t="31561" x="9259888" y="3730625"/>
          <p14:tracePt t="31581" x="9245600" y="3892550"/>
          <p14:tracePt t="31595" x="9239250" y="3944938"/>
          <p14:tracePt t="31611" x="9220200" y="3983038"/>
          <p14:tracePt t="31627" x="9161463" y="4048125"/>
          <p14:tracePt t="31644" x="9136063" y="4075113"/>
          <p14:tracePt t="31662" x="8999538" y="4125913"/>
          <p14:tracePt t="31677" x="8902700" y="4132263"/>
          <p14:tracePt t="31694" x="8804275" y="4132263"/>
          <p14:tracePt t="31711" x="8604250" y="4060825"/>
          <p14:tracePt t="31727" x="8486775" y="4003675"/>
          <p14:tracePt t="31744" x="8364538" y="3938588"/>
          <p14:tracePt t="31760" x="8194675" y="3808413"/>
          <p14:tracePt t="31777" x="8150225" y="3743325"/>
          <p14:tracePt t="31794" x="8097838" y="3621088"/>
          <p14:tracePt t="31811" x="8097838" y="3549650"/>
          <p14:tracePt t="31828" x="8097838" y="3484563"/>
          <p14:tracePt t="31830" x="8123238" y="3413125"/>
          <p14:tracePt t="31844" x="8169275" y="3348038"/>
          <p14:tracePt t="31861" x="8213725" y="3295650"/>
          <p14:tracePt t="31878" x="8312150" y="3251200"/>
          <p14:tracePt t="31894" x="8364538" y="3244850"/>
          <p14:tracePt t="31911" x="8408988" y="3244850"/>
          <p14:tracePt t="31927" x="8539163" y="3263900"/>
          <p14:tracePt t="31944" x="8655050" y="3295650"/>
          <p14:tracePt t="31961" x="8934450" y="3379788"/>
          <p14:tracePt t="31978" x="9045575" y="3413125"/>
          <p14:tracePt t="31994" x="9110663" y="3451225"/>
          <p14:tracePt t="32010" x="9161463" y="3471863"/>
          <p14:tracePt t="32027" x="9161463" y="3478213"/>
          <p14:tracePt t="32044" x="9161463" y="3490913"/>
          <p14:tracePt t="32046" x="9155113" y="3503613"/>
          <p14:tracePt t="32061" x="9142413" y="3516313"/>
          <p14:tracePt t="32078" x="9123363" y="3529013"/>
          <p14:tracePt t="32094" x="9083675" y="3549650"/>
          <p14:tracePt t="32111" x="9070975" y="3556000"/>
          <p14:tracePt t="32127" x="9064625" y="3556000"/>
          <p14:tracePt t="32144" x="9045575" y="3562350"/>
          <p14:tracePt t="32160" x="9039225" y="3562350"/>
          <p14:tracePt t="32177" x="9031288" y="3562350"/>
          <p14:tracePt t="32201" x="9031288" y="3568700"/>
          <p14:tracePt t="32297" x="9031288" y="3562350"/>
          <p14:tracePt t="32380" x="9039225" y="3562350"/>
          <p14:tracePt t="32405" x="9045575" y="3562350"/>
          <p14:tracePt t="32429" x="9051925" y="3562350"/>
          <p14:tracePt t="32453" x="9058275" y="3562350"/>
          <p14:tracePt t="32477" x="9064625" y="3562350"/>
          <p14:tracePt t="32597" x="9058275" y="3562350"/>
          <p14:tracePt t="32908" x="9051925" y="3562350"/>
          <p14:tracePt t="32992" x="9051925" y="3568700"/>
          <p14:tracePt t="33111" x="9051925" y="3575050"/>
          <p14:tracePt t="33159" x="9051925" y="3581400"/>
          <p14:tracePt t="33267" x="9051925" y="3587750"/>
          <p14:tracePt t="33280" x="9045575" y="3587750"/>
          <p14:tracePt t="33303" x="9045575" y="3594100"/>
          <p14:tracePt t="33340" x="9039225" y="3600450"/>
          <p14:tracePt t="33364" x="9039225" y="3613150"/>
          <p14:tracePt t="33376" x="9031288" y="3627438"/>
          <p14:tracePt t="33387" x="9024938" y="3640138"/>
          <p14:tracePt t="33400" x="9024938" y="3665538"/>
          <p14:tracePt t="33412" x="9018588" y="3678238"/>
          <p14:tracePt t="33426" x="9012238" y="3684588"/>
          <p14:tracePt t="33443" x="9012238" y="3692525"/>
          <p14:tracePt t="33460" x="9005888" y="3705225"/>
          <p14:tracePt t="33483" x="8999538" y="3711575"/>
          <p14:tracePt t="33531" x="8999538" y="3717925"/>
          <p14:tracePt t="33556" x="8993188" y="3717925"/>
          <p14:tracePt t="33567" x="8993188" y="3724275"/>
          <p14:tracePt t="33603" x="8993188" y="3730625"/>
          <p14:tracePt t="33615" x="8986838" y="3730625"/>
          <p14:tracePt t="33638" x="8986838" y="3736975"/>
          <p14:tracePt t="33664" x="8980488" y="3736975"/>
          <p14:tracePt t="33676" x="8980488" y="3743325"/>
          <p14:tracePt t="33699" x="8974138" y="3743325"/>
          <p14:tracePt t="33735" x="8974138" y="3749675"/>
          <p14:tracePt t="33748" x="8967788" y="3749675"/>
          <p14:tracePt t="33759" x="8961438" y="3749675"/>
          <p14:tracePt t="33771" x="8953500" y="3749675"/>
          <p14:tracePt t="33782" x="8947150" y="3756025"/>
          <p14:tracePt t="33795" x="8921750" y="3770313"/>
          <p14:tracePt t="33809" x="8856663" y="3795713"/>
          <p14:tracePt t="33825" x="8732838" y="3860800"/>
          <p14:tracePt t="33843" x="8293100" y="4068763"/>
          <p14:tracePt t="33859" x="8001000" y="4224338"/>
          <p14:tracePt t="33876" x="7721600" y="4411663"/>
          <p14:tracePt t="33892" x="7254875" y="4716463"/>
          <p14:tracePt t="33909" x="7085013" y="4872038"/>
          <p14:tracePt t="33926" x="6878638" y="5132388"/>
          <p14:tracePt t="33942" x="6792913" y="5241925"/>
          <p14:tracePt t="33959" x="6729413" y="5365750"/>
          <p14:tracePt t="33976" x="6624638" y="5534025"/>
          <p14:tracePt t="33993" x="6586538" y="5580063"/>
          <p14:tracePt t="34009" x="6540500" y="5624513"/>
          <p14:tracePt t="34010" x="6508750" y="5657850"/>
          <p14:tracePt t="34026" x="6469063" y="5689600"/>
          <p14:tracePt t="34044" x="6437313" y="5703888"/>
          <p14:tracePt t="34059" x="6384925" y="5741988"/>
          <p14:tracePt t="34075" x="6345238" y="5761038"/>
          <p14:tracePt t="34092" x="6326188" y="5767388"/>
          <p14:tracePt t="34109" x="6254750" y="5788025"/>
          <p14:tracePt t="34126" x="6223000" y="5788025"/>
          <p14:tracePt t="34142" x="6183313" y="5788025"/>
          <p14:tracePt t="34159" x="6164263" y="5788025"/>
          <p14:tracePt t="34175" x="6151563" y="5788025"/>
          <p14:tracePt t="34192" x="6138863" y="5788025"/>
          <p14:tracePt t="34209" x="6130925" y="5788025"/>
          <p14:tracePt t="34226" x="6130925" y="5781675"/>
          <p14:tracePt t="34242" x="6138863" y="5781675"/>
          <p14:tracePt t="34259" x="6145213" y="5773738"/>
          <p14:tracePt t="34276" x="6157913" y="5761038"/>
          <p14:tracePt t="34292" x="6164263" y="5754688"/>
          <p14:tracePt t="34309" x="6164263" y="5748338"/>
          <p14:tracePt t="34310" x="6164263" y="5741988"/>
          <p14:tracePt t="34334" x="6164263" y="5735638"/>
          <p14:tracePt t="34347" x="6164263" y="5729288"/>
          <p14:tracePt t="34359" x="6157913" y="5722938"/>
          <p14:tracePt t="34376" x="6151563" y="5716588"/>
          <p14:tracePt t="34392" x="6130925" y="5710238"/>
          <p14:tracePt t="34409" x="6067425" y="5670550"/>
          <p14:tracePt t="34425" x="6015038" y="5657850"/>
          <p14:tracePt t="34442" x="5937250" y="5624513"/>
          <p14:tracePt t="34459" x="5903913" y="5618163"/>
          <p14:tracePt t="34475" x="5884863" y="5611813"/>
          <p14:tracePt t="34492" x="5846763" y="5605463"/>
          <p14:tracePt t="34509" x="5832475" y="5605463"/>
          <p14:tracePt t="34526" x="5800725" y="5599113"/>
          <p14:tracePt t="34542" x="5788025" y="5592763"/>
          <p14:tracePt t="34559" x="5768975" y="5592763"/>
          <p14:tracePt t="34575" x="5754688" y="5592763"/>
          <p14:tracePt t="34592" x="5748338" y="5592763"/>
          <p14:tracePt t="34609" x="5741988" y="5586413"/>
          <p14:tracePt t="34634" x="5735638" y="5586413"/>
          <p14:tracePt t="34647" x="5735638" y="5580063"/>
          <p14:tracePt t="34659" x="5729288" y="5573713"/>
          <p14:tracePt t="34706" x="5729288" y="5567363"/>
          <p14:tracePt t="34742" x="5729288" y="5561013"/>
          <p14:tracePt t="34753" x="5729288" y="5554663"/>
          <p14:tracePt t="34780" x="5729288" y="5546725"/>
          <p14:tracePt t="34789" x="5729288" y="5540375"/>
          <p14:tracePt t="34801" x="5729288" y="5534025"/>
          <p14:tracePt t="34814" x="5716588" y="5521325"/>
          <p14:tracePt t="34825" x="5703888" y="5508625"/>
          <p14:tracePt t="34842" x="5691188" y="5495925"/>
          <p14:tracePt t="34859" x="5691188" y="5483225"/>
          <p14:tracePt t="34875" x="5683250" y="5468938"/>
          <p14:tracePt t="34892" x="5683250" y="5462588"/>
          <p14:tracePt t="34909" x="5691188" y="5456238"/>
          <p14:tracePt t="34925" x="5697538" y="5449888"/>
          <p14:tracePt t="34941" x="5710238" y="5449888"/>
          <p14:tracePt t="34958" x="5722938" y="5449888"/>
          <p14:tracePt t="34975" x="5735638" y="5449888"/>
          <p14:tracePt t="34992" x="5748338" y="5449888"/>
          <p14:tracePt t="35008" x="5754688" y="5449888"/>
          <p14:tracePt t="35024" x="5768975" y="5449888"/>
          <p14:tracePt t="35041" x="5800725" y="5449888"/>
          <p14:tracePt t="35058" x="5826125" y="5449888"/>
          <p14:tracePt t="35075" x="5865813" y="5449888"/>
          <p14:tracePt t="35077" x="5911850" y="5449888"/>
          <p14:tracePt t="35092" x="5969000" y="5449888"/>
          <p14:tracePt t="35108" x="6027738" y="5456238"/>
          <p14:tracePt t="35125" x="6124575" y="5456238"/>
          <p14:tracePt t="35141" x="6164263" y="5456238"/>
          <p14:tracePt t="35158" x="6196013" y="5456238"/>
          <p14:tracePt t="35175" x="6235700" y="5456238"/>
          <p14:tracePt t="35191" x="6242050" y="5456238"/>
          <p14:tracePt t="35208" x="6254750" y="5456238"/>
          <p14:tracePt t="35257" x="6254750" y="5449888"/>
          <p14:tracePt t="35293" x="6248400" y="5449888"/>
          <p14:tracePt t="35316" x="6242050" y="5449888"/>
          <p14:tracePt t="35329" x="6242050" y="5443538"/>
          <p14:tracePt t="35400" x="6248400" y="5443538"/>
          <p14:tracePt t="35413" x="6267450" y="5443538"/>
          <p14:tracePt t="35424" x="6307138" y="5443538"/>
          <p14:tracePt t="35436" x="6372225" y="5443538"/>
          <p14:tracePt t="35448" x="6494463" y="5449888"/>
          <p14:tracePt t="35460" x="6618288" y="5449888"/>
          <p14:tracePt t="35474" x="6754813" y="5449888"/>
          <p14:tracePt t="35491" x="6838950" y="5449888"/>
          <p14:tracePt t="35508" x="6916738" y="5449888"/>
          <p14:tracePt t="35524" x="6942138" y="5449888"/>
          <p14:tracePt t="35542" x="6956425" y="5449888"/>
          <p14:tracePt t="35545" x="6969125" y="5449888"/>
          <p14:tracePt t="35558" x="6975475" y="5449888"/>
          <p14:tracePt t="35574" x="6981825" y="5449888"/>
          <p14:tracePt t="35591" x="6988175" y="5449888"/>
          <p14:tracePt t="35607" x="6994525" y="5449888"/>
          <p14:tracePt t="35747" x="6988175" y="5449888"/>
          <p14:tracePt t="35808" x="6981825" y="5449888"/>
          <p14:tracePt t="35843" x="6975475" y="5449888"/>
          <p14:tracePt t="35878" x="6969125" y="5449888"/>
          <p14:tracePt t="35928" x="6962775" y="5449888"/>
          <p14:tracePt t="35987" x="6956425" y="5449888"/>
          <p14:tracePt t="36071" x="6948488" y="5449888"/>
          <p14:tracePt t="36142" x="6942138" y="5449888"/>
          <p14:tracePt t="36179" x="6935788" y="5449888"/>
          <p14:tracePt t="36334" x="6929438" y="5449888"/>
          <p14:tracePt t="36802" x="6553200" y="5405438"/>
          <p14:tracePt t="36813" x="5132388" y="5443538"/>
          <p14:tracePt t="36828" x="4133850" y="5527675"/>
          <p14:tracePt t="36837" x="3614738" y="5580063"/>
          <p14:tracePt t="36849" x="3205163" y="5638800"/>
          <p14:tracePt t="36863" x="2841625" y="5722938"/>
          <p14:tracePt t="36874" x="2576513" y="5819775"/>
          <p14:tracePt t="36890" x="2322513" y="5949950"/>
          <p14:tracePt t="36907" x="2147888" y="6053138"/>
          <p14:tracePt t="36923" x="1901825" y="6221413"/>
          <p14:tracePt t="36940" x="1836738" y="6280150"/>
          <p14:tracePt t="36957" x="1771650" y="6326188"/>
          <p14:tracePt t="36973" x="1758950" y="6338888"/>
          <p14:tracePt t="36990" x="1752600" y="6345238"/>
          <p14:tracePt t="37006" x="1738313" y="6351588"/>
          <p14:tracePt t="37023" x="1731963" y="6357938"/>
          <p14:tracePt t="37040" x="1725613" y="6357938"/>
          <p14:tracePt t="37057" x="1719263" y="6357938"/>
          <p14:tracePt t="37102" x="1719263" y="6351588"/>
          <p14:tracePt t="37114" x="1719263" y="6345238"/>
          <p14:tracePt t="37127" x="1719263" y="6332538"/>
          <p14:tracePt t="37138" x="1719263" y="6313488"/>
          <p14:tracePt t="37150" x="1719263" y="6300788"/>
          <p14:tracePt t="37162" x="1712913" y="6267450"/>
          <p14:tracePt t="37173" x="1700213" y="6229350"/>
          <p14:tracePt t="37190" x="1674813" y="6176963"/>
          <p14:tracePt t="37206" x="1647825" y="6118225"/>
          <p14:tracePt t="37223" x="1576388" y="6002338"/>
          <p14:tracePt t="37240" x="1557338" y="5975350"/>
          <p14:tracePt t="37257" x="1517650" y="5930900"/>
          <p14:tracePt t="37258" x="1504950" y="5916613"/>
          <p14:tracePt t="37273" x="1492250" y="5897563"/>
          <p14:tracePt t="37290" x="1479550" y="5884863"/>
          <p14:tracePt t="37306" x="1466850" y="5859463"/>
          <p14:tracePt t="37323" x="1466850" y="5845175"/>
          <p14:tracePt t="37340" x="1466850" y="5838825"/>
          <p14:tracePt t="37356" x="1466850" y="5832475"/>
          <p14:tracePt t="37373" x="1466850" y="5826125"/>
          <p14:tracePt t="37497" x="1473200" y="5826125"/>
          <p14:tracePt t="37569" x="1479550" y="5826125"/>
          <p14:tracePt t="37605" x="1485900" y="5826125"/>
          <p14:tracePt t="37628" x="1492250" y="5826125"/>
          <p14:tracePt t="37677" x="1498600" y="5826125"/>
          <p14:tracePt t="37737" x="1504950" y="5826125"/>
          <p14:tracePt t="37761" x="1511300" y="5826125"/>
          <p14:tracePt t="38060" x="1681163" y="5813425"/>
          <p14:tracePt t="38072" x="1893888" y="5800725"/>
          <p14:tracePt t="38085" x="2063750" y="5773738"/>
          <p14:tracePt t="38095" x="2185988" y="5767388"/>
          <p14:tracePt t="38107" x="2271713" y="5754688"/>
          <p14:tracePt t="38123" x="2328863" y="5748338"/>
          <p14:tracePt t="38139" x="2374900" y="5748338"/>
          <p14:tracePt t="38156" x="2433638" y="5748338"/>
          <p14:tracePt t="38172" x="2452688" y="5748338"/>
          <p14:tracePt t="38189" x="2465388" y="5748338"/>
          <p14:tracePt t="38205" x="2484438" y="5748338"/>
          <p14:tracePt t="38222" x="2492375" y="5748338"/>
          <p14:tracePt t="38324" x="2498725" y="5754688"/>
          <p14:tracePt t="38395" x="2498725" y="5761038"/>
          <p14:tracePt t="38442" x="2498725" y="5767388"/>
          <p14:tracePt t="38491" x="2498725" y="5773738"/>
          <p14:tracePt t="38515" x="2498725" y="5781675"/>
          <p14:tracePt t="39042" x="2517775" y="5754688"/>
          <p14:tracePt t="39054" x="2589213" y="5632450"/>
          <p14:tracePt t="39067" x="2667000" y="5527675"/>
          <p14:tracePt t="39078" x="2751138" y="5418138"/>
          <p14:tracePt t="39092" x="2841625" y="5307013"/>
          <p14:tracePt t="39105" x="2940050" y="5222875"/>
          <p14:tracePt t="39122" x="2997200" y="5176838"/>
          <p14:tracePt t="39139" x="3089275" y="5126038"/>
          <p14:tracePt t="39155" x="3133725" y="5113338"/>
          <p14:tracePt t="39171" x="3160713" y="5105400"/>
          <p14:tracePt t="39188" x="3192463" y="5099050"/>
          <p14:tracePt t="39204" x="3205163" y="5099050"/>
          <p14:tracePt t="39222" x="3224213" y="5092700"/>
          <p14:tracePt t="39246" x="3230563" y="5092700"/>
          <p14:tracePt t="39270" x="3238500" y="5086350"/>
          <p14:tracePt t="39294" x="3244850" y="5080000"/>
          <p14:tracePt t="39305" x="3244850" y="5073650"/>
          <p14:tracePt t="39318" x="3251200" y="5067300"/>
          <p14:tracePt t="39342" x="3251200" y="5060950"/>
          <p14:tracePt t="39354" x="3257550" y="5060950"/>
          <p14:tracePt t="39366" x="3257550" y="5054600"/>
          <p14:tracePt t="39377" x="3263900" y="5054600"/>
          <p14:tracePt t="39389" x="3263900" y="5048250"/>
        </p14:tracePtLst>
      </p14:laserTraceLst>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THE MODELS</a:t>
            </a:r>
          </a:p>
        </p:txBody>
      </p:sp>
      <p:sp>
        <p:nvSpPr>
          <p:cNvPr id="4" name="TextBox 3"/>
          <p:cNvSpPr txBox="1"/>
          <p:nvPr/>
        </p:nvSpPr>
        <p:spPr>
          <a:xfrm>
            <a:off x="749808" y="749808"/>
            <a:ext cx="9789132"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Six models, two baselines, and one correction for imbalance.</a:t>
            </a:r>
          </a:p>
        </p:txBody>
      </p:sp>
      <p:sp>
        <p:nvSpPr>
          <p:cNvPr id="5" name="Rectangle 4"/>
          <p:cNvSpPr/>
          <p:nvPr/>
        </p:nvSpPr>
        <p:spPr>
          <a:xfrm>
            <a:off x="749808" y="2066544"/>
            <a:ext cx="45720" cy="256032"/>
          </a:xfrm>
          <a:prstGeom prst="rect">
            <a:avLst/>
          </a:prstGeom>
          <a:solidFill>
            <a:srgbClr val="2E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42415" y="2011680"/>
            <a:ext cx="2743200" cy="310896"/>
          </a:xfrm>
          <a:prstGeom prst="rect">
            <a:avLst/>
          </a:prstGeom>
          <a:noFill/>
        </p:spPr>
        <p:txBody>
          <a:bodyPr wrap="square" lIns="0" tIns="0" rIns="0" bIns="0" anchor="t">
            <a:noAutofit/>
          </a:bodyPr>
          <a:lstStyle/>
          <a:p>
            <a:pPr algn="l">
              <a:lnSpc>
                <a:spcPct val="100000"/>
              </a:lnSpc>
            </a:pPr>
            <a:r>
              <a:rPr sz="1450" b="0">
                <a:solidFill>
                  <a:srgbClr val="3A342E"/>
                </a:solidFill>
                <a:latin typeface="Franklin Gothic Book"/>
              </a:rPr>
              <a:t>Decision tree</a:t>
            </a:r>
          </a:p>
        </p:txBody>
      </p:sp>
      <p:sp>
        <p:nvSpPr>
          <p:cNvPr id="7" name="TextBox 6"/>
          <p:cNvSpPr txBox="1"/>
          <p:nvPr/>
        </p:nvSpPr>
        <p:spPr>
          <a:xfrm>
            <a:off x="3675888" y="2048256"/>
            <a:ext cx="2651760" cy="256032"/>
          </a:xfrm>
          <a:prstGeom prst="rect">
            <a:avLst/>
          </a:prstGeom>
          <a:noFill/>
        </p:spPr>
        <p:txBody>
          <a:bodyPr wrap="square" lIns="0" tIns="0" rIns="0" bIns="0" anchor="t">
            <a:noAutofit/>
          </a:bodyPr>
          <a:lstStyle/>
          <a:p>
            <a:pPr algn="l">
              <a:lnSpc>
                <a:spcPct val="100000"/>
              </a:lnSpc>
            </a:pPr>
            <a:r>
              <a:rPr sz="1150" b="0">
                <a:solidFill>
                  <a:srgbClr val="787066"/>
                </a:solidFill>
                <a:latin typeface="Franklin Gothic Book"/>
              </a:rPr>
              <a:t>the readable one</a:t>
            </a:r>
          </a:p>
        </p:txBody>
      </p:sp>
      <p:sp>
        <p:nvSpPr>
          <p:cNvPr id="8" name="Rectangle 7"/>
          <p:cNvSpPr/>
          <p:nvPr/>
        </p:nvSpPr>
        <p:spPr>
          <a:xfrm>
            <a:off x="749808" y="2560320"/>
            <a:ext cx="45720" cy="256032"/>
          </a:xfrm>
          <a:prstGeom prst="rect">
            <a:avLst/>
          </a:prstGeom>
          <a:solidFill>
            <a:srgbClr val="2E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42415" y="2505456"/>
            <a:ext cx="2743200" cy="310896"/>
          </a:xfrm>
          <a:prstGeom prst="rect">
            <a:avLst/>
          </a:prstGeom>
          <a:noFill/>
        </p:spPr>
        <p:txBody>
          <a:bodyPr wrap="square" lIns="0" tIns="0" rIns="0" bIns="0" anchor="t">
            <a:noAutofit/>
          </a:bodyPr>
          <a:lstStyle/>
          <a:p>
            <a:pPr algn="l">
              <a:lnSpc>
                <a:spcPct val="100000"/>
              </a:lnSpc>
            </a:pPr>
            <a:r>
              <a:rPr sz="1450" b="0">
                <a:solidFill>
                  <a:srgbClr val="3A342E"/>
                </a:solidFill>
                <a:latin typeface="Franklin Gothic Book"/>
              </a:rPr>
              <a:t>Random forest</a:t>
            </a:r>
          </a:p>
        </p:txBody>
      </p:sp>
      <p:sp>
        <p:nvSpPr>
          <p:cNvPr id="10" name="TextBox 9"/>
          <p:cNvSpPr txBox="1"/>
          <p:nvPr/>
        </p:nvSpPr>
        <p:spPr>
          <a:xfrm>
            <a:off x="3675888" y="2542032"/>
            <a:ext cx="2651760" cy="256032"/>
          </a:xfrm>
          <a:prstGeom prst="rect">
            <a:avLst/>
          </a:prstGeom>
          <a:noFill/>
        </p:spPr>
        <p:txBody>
          <a:bodyPr wrap="square" lIns="0" tIns="0" rIns="0" bIns="0" anchor="t">
            <a:noAutofit/>
          </a:bodyPr>
          <a:lstStyle/>
          <a:p>
            <a:pPr algn="l">
              <a:lnSpc>
                <a:spcPct val="100000"/>
              </a:lnSpc>
            </a:pPr>
            <a:r>
              <a:rPr sz="1150" b="0">
                <a:solidFill>
                  <a:srgbClr val="787066"/>
                </a:solidFill>
                <a:latin typeface="Franklin Gothic Book"/>
              </a:rPr>
              <a:t>many trees, voting</a:t>
            </a:r>
          </a:p>
        </p:txBody>
      </p:sp>
      <p:sp>
        <p:nvSpPr>
          <p:cNvPr id="11" name="Rectangle 10"/>
          <p:cNvSpPr/>
          <p:nvPr/>
        </p:nvSpPr>
        <p:spPr>
          <a:xfrm>
            <a:off x="749808" y="3054096"/>
            <a:ext cx="45720" cy="256032"/>
          </a:xfrm>
          <a:prstGeom prst="rect">
            <a:avLst/>
          </a:prstGeom>
          <a:solidFill>
            <a:srgbClr val="2E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42415" y="2999232"/>
            <a:ext cx="2743200" cy="310896"/>
          </a:xfrm>
          <a:prstGeom prst="rect">
            <a:avLst/>
          </a:prstGeom>
          <a:noFill/>
        </p:spPr>
        <p:txBody>
          <a:bodyPr wrap="square" lIns="0" tIns="0" rIns="0" bIns="0" anchor="t">
            <a:noAutofit/>
          </a:bodyPr>
          <a:lstStyle/>
          <a:p>
            <a:pPr algn="l">
              <a:lnSpc>
                <a:spcPct val="100000"/>
              </a:lnSpc>
            </a:pPr>
            <a:r>
              <a:rPr sz="1450" b="0">
                <a:solidFill>
                  <a:srgbClr val="3A342E"/>
                </a:solidFill>
                <a:latin typeface="Franklin Gothic Book"/>
              </a:rPr>
              <a:t>Naive Bayes</a:t>
            </a:r>
          </a:p>
        </p:txBody>
      </p:sp>
      <p:sp>
        <p:nvSpPr>
          <p:cNvPr id="13" name="TextBox 12"/>
          <p:cNvSpPr txBox="1"/>
          <p:nvPr/>
        </p:nvSpPr>
        <p:spPr>
          <a:xfrm>
            <a:off x="3675888" y="3035808"/>
            <a:ext cx="2651760" cy="256032"/>
          </a:xfrm>
          <a:prstGeom prst="rect">
            <a:avLst/>
          </a:prstGeom>
          <a:noFill/>
        </p:spPr>
        <p:txBody>
          <a:bodyPr wrap="square" lIns="0" tIns="0" rIns="0" bIns="0" anchor="t">
            <a:noAutofit/>
          </a:bodyPr>
          <a:lstStyle/>
          <a:p>
            <a:pPr algn="l">
              <a:lnSpc>
                <a:spcPct val="100000"/>
              </a:lnSpc>
            </a:pPr>
            <a:r>
              <a:rPr sz="1150" b="0">
                <a:solidFill>
                  <a:srgbClr val="787066"/>
                </a:solidFill>
                <a:latin typeface="Franklin Gothic Book"/>
              </a:rPr>
              <a:t>the probabilistic floor</a:t>
            </a:r>
          </a:p>
        </p:txBody>
      </p:sp>
      <p:sp>
        <p:nvSpPr>
          <p:cNvPr id="14" name="Rectangle 13"/>
          <p:cNvSpPr/>
          <p:nvPr/>
        </p:nvSpPr>
        <p:spPr>
          <a:xfrm>
            <a:off x="749808" y="3547872"/>
            <a:ext cx="45720" cy="256032"/>
          </a:xfrm>
          <a:prstGeom prst="rect">
            <a:avLst/>
          </a:prstGeom>
          <a:solidFill>
            <a:srgbClr val="2E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42415" y="3493008"/>
            <a:ext cx="2743200" cy="310896"/>
          </a:xfrm>
          <a:prstGeom prst="rect">
            <a:avLst/>
          </a:prstGeom>
          <a:noFill/>
        </p:spPr>
        <p:txBody>
          <a:bodyPr wrap="square" lIns="0" tIns="0" rIns="0" bIns="0" anchor="t">
            <a:noAutofit/>
          </a:bodyPr>
          <a:lstStyle/>
          <a:p>
            <a:pPr algn="l">
              <a:lnSpc>
                <a:spcPct val="100000"/>
              </a:lnSpc>
            </a:pPr>
            <a:r>
              <a:rPr sz="1450" b="0">
                <a:solidFill>
                  <a:srgbClr val="3A342E"/>
                </a:solidFill>
                <a:latin typeface="Franklin Gothic Book"/>
              </a:rPr>
              <a:t>Multilayer ANN</a:t>
            </a:r>
          </a:p>
        </p:txBody>
      </p:sp>
      <p:sp>
        <p:nvSpPr>
          <p:cNvPr id="16" name="TextBox 15"/>
          <p:cNvSpPr txBox="1"/>
          <p:nvPr/>
        </p:nvSpPr>
        <p:spPr>
          <a:xfrm>
            <a:off x="3675888" y="3529584"/>
            <a:ext cx="2651760" cy="256032"/>
          </a:xfrm>
          <a:prstGeom prst="rect">
            <a:avLst/>
          </a:prstGeom>
          <a:noFill/>
        </p:spPr>
        <p:txBody>
          <a:bodyPr wrap="square" lIns="0" tIns="0" rIns="0" bIns="0" anchor="t">
            <a:noAutofit/>
          </a:bodyPr>
          <a:lstStyle/>
          <a:p>
            <a:pPr algn="l">
              <a:lnSpc>
                <a:spcPct val="100000"/>
              </a:lnSpc>
            </a:pPr>
            <a:r>
              <a:rPr sz="1150" b="0">
                <a:solidFill>
                  <a:srgbClr val="787066"/>
                </a:solidFill>
                <a:latin typeface="Franklin Gothic Book"/>
              </a:rPr>
              <a:t>a dense network</a:t>
            </a:r>
          </a:p>
        </p:txBody>
      </p:sp>
      <p:sp>
        <p:nvSpPr>
          <p:cNvPr id="17" name="Rectangle 16"/>
          <p:cNvSpPr/>
          <p:nvPr/>
        </p:nvSpPr>
        <p:spPr>
          <a:xfrm>
            <a:off x="749808" y="4041648"/>
            <a:ext cx="45720" cy="256032"/>
          </a:xfrm>
          <a:prstGeom prst="rect">
            <a:avLst/>
          </a:prstGeom>
          <a:solidFill>
            <a:srgbClr val="2E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5" y="3986784"/>
            <a:ext cx="2743200" cy="310896"/>
          </a:xfrm>
          <a:prstGeom prst="rect">
            <a:avLst/>
          </a:prstGeom>
          <a:noFill/>
        </p:spPr>
        <p:txBody>
          <a:bodyPr wrap="square" lIns="0" tIns="0" rIns="0" bIns="0" anchor="t">
            <a:noAutofit/>
          </a:bodyPr>
          <a:lstStyle/>
          <a:p>
            <a:pPr algn="l">
              <a:lnSpc>
                <a:spcPct val="100000"/>
              </a:lnSpc>
            </a:pPr>
            <a:r>
              <a:rPr sz="1450" b="0">
                <a:solidFill>
                  <a:srgbClr val="3A342E"/>
                </a:solidFill>
                <a:latin typeface="Franklin Gothic Book"/>
              </a:rPr>
              <a:t>LSTM</a:t>
            </a:r>
          </a:p>
        </p:txBody>
      </p:sp>
      <p:sp>
        <p:nvSpPr>
          <p:cNvPr id="19" name="TextBox 18"/>
          <p:cNvSpPr txBox="1"/>
          <p:nvPr/>
        </p:nvSpPr>
        <p:spPr>
          <a:xfrm>
            <a:off x="3675888" y="4023360"/>
            <a:ext cx="2651760" cy="256032"/>
          </a:xfrm>
          <a:prstGeom prst="rect">
            <a:avLst/>
          </a:prstGeom>
          <a:noFill/>
        </p:spPr>
        <p:txBody>
          <a:bodyPr wrap="square" lIns="0" tIns="0" rIns="0" bIns="0" anchor="t">
            <a:noAutofit/>
          </a:bodyPr>
          <a:lstStyle/>
          <a:p>
            <a:pPr algn="l">
              <a:lnSpc>
                <a:spcPct val="100000"/>
              </a:lnSpc>
            </a:pPr>
            <a:r>
              <a:rPr sz="1150" b="0">
                <a:solidFill>
                  <a:srgbClr val="787066"/>
                </a:solidFill>
                <a:latin typeface="Franklin Gothic Book"/>
              </a:rPr>
              <a:t>reads the 26-year sequence</a:t>
            </a:r>
          </a:p>
        </p:txBody>
      </p:sp>
      <p:sp>
        <p:nvSpPr>
          <p:cNvPr id="20" name="Rectangle 19"/>
          <p:cNvSpPr/>
          <p:nvPr/>
        </p:nvSpPr>
        <p:spPr>
          <a:xfrm>
            <a:off x="749808" y="4535424"/>
            <a:ext cx="45720" cy="256032"/>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42415" y="4480560"/>
            <a:ext cx="2743200" cy="310896"/>
          </a:xfrm>
          <a:prstGeom prst="rect">
            <a:avLst/>
          </a:prstGeom>
          <a:noFill/>
        </p:spPr>
        <p:txBody>
          <a:bodyPr wrap="square" lIns="0" tIns="0" rIns="0" bIns="0" anchor="t">
            <a:noAutofit/>
          </a:bodyPr>
          <a:lstStyle/>
          <a:p>
            <a:pPr algn="l">
              <a:lnSpc>
                <a:spcPct val="100000"/>
              </a:lnSpc>
            </a:pPr>
            <a:r>
              <a:rPr sz="1450" b="0">
                <a:solidFill>
                  <a:srgbClr val="16130F"/>
                </a:solidFill>
                <a:latin typeface="Georgia"/>
              </a:rPr>
              <a:t>Gradient boosting</a:t>
            </a:r>
          </a:p>
        </p:txBody>
      </p:sp>
      <p:sp>
        <p:nvSpPr>
          <p:cNvPr id="22" name="TextBox 21"/>
          <p:cNvSpPr txBox="1"/>
          <p:nvPr/>
        </p:nvSpPr>
        <p:spPr>
          <a:xfrm>
            <a:off x="3675888" y="4517136"/>
            <a:ext cx="2651760" cy="256032"/>
          </a:xfrm>
          <a:prstGeom prst="rect">
            <a:avLst/>
          </a:prstGeom>
          <a:noFill/>
        </p:spPr>
        <p:txBody>
          <a:bodyPr wrap="square" lIns="0" tIns="0" rIns="0" bIns="0" anchor="t">
            <a:noAutofit/>
          </a:bodyPr>
          <a:lstStyle/>
          <a:p>
            <a:pPr algn="l">
              <a:lnSpc>
                <a:spcPct val="100000"/>
              </a:lnSpc>
            </a:pPr>
            <a:r>
              <a:rPr sz="1150" b="0">
                <a:solidFill>
                  <a:srgbClr val="787066"/>
                </a:solidFill>
                <a:latin typeface="Franklin Gothic Book"/>
              </a:rPr>
              <a:t>trees that correct each other</a:t>
            </a:r>
          </a:p>
        </p:txBody>
      </p:sp>
      <p:cxnSp>
        <p:nvCxnSpPr>
          <p:cNvPr id="23" name="Connector 22"/>
          <p:cNvCxnSpPr/>
          <p:nvPr/>
        </p:nvCxnSpPr>
        <p:spPr>
          <a:xfrm>
            <a:off x="749808" y="5120640"/>
            <a:ext cx="5273024"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9808" y="5303520"/>
            <a:ext cx="5163296" cy="768096"/>
          </a:xfrm>
          <a:prstGeom prst="rect">
            <a:avLst/>
          </a:prstGeom>
          <a:noFill/>
        </p:spPr>
        <p:txBody>
          <a:bodyPr wrap="square" lIns="0" tIns="0" rIns="0" bIns="0" anchor="t">
            <a:noAutofit/>
          </a:bodyPr>
          <a:lstStyle/>
          <a:p>
            <a:pPr algn="l">
              <a:lnSpc>
                <a:spcPct val="146000"/>
              </a:lnSpc>
            </a:pPr>
            <a:r>
              <a:rPr sz="1150" b="0">
                <a:solidFill>
                  <a:srgbClr val="787066"/>
                </a:solidFill>
                <a:latin typeface="Franklin Gothic Book"/>
              </a:rPr>
              <a:t>Against two baselines: “whatever happened last year” and “always say unburnt”. A model that cannot beat those has learned nothing worth having.</a:t>
            </a:r>
          </a:p>
        </p:txBody>
      </p:sp>
      <p:sp>
        <p:nvSpPr>
          <p:cNvPr id="25" name="Rectangle 24"/>
          <p:cNvSpPr/>
          <p:nvPr/>
        </p:nvSpPr>
        <p:spPr>
          <a:xfrm>
            <a:off x="7072358" y="1975104"/>
            <a:ext cx="4369803" cy="3291840"/>
          </a:xfrm>
          <a:prstGeom prst="rect">
            <a:avLst/>
          </a:prstGeom>
          <a:solidFill>
            <a:srgbClr val="F4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072358" y="1975104"/>
            <a:ext cx="34747" cy="3291840"/>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74694" y="2231136"/>
            <a:ext cx="3565131" cy="365760"/>
          </a:xfrm>
          <a:prstGeom prst="rect">
            <a:avLst/>
          </a:prstGeom>
          <a:noFill/>
        </p:spPr>
        <p:txBody>
          <a:bodyPr wrap="square" lIns="0" tIns="0" rIns="0" bIns="0" anchor="t">
            <a:noAutofit/>
          </a:bodyPr>
          <a:lstStyle/>
          <a:p>
            <a:pPr algn="l">
              <a:lnSpc>
                <a:spcPct val="100000"/>
              </a:lnSpc>
            </a:pPr>
            <a:r>
              <a:rPr sz="1900" b="0">
                <a:solidFill>
                  <a:srgbClr val="16130F"/>
                </a:solidFill>
                <a:latin typeface="Georgia"/>
              </a:rPr>
              <a:t>Why class weighting</a:t>
            </a:r>
          </a:p>
        </p:txBody>
      </p:sp>
      <p:sp>
        <p:nvSpPr>
          <p:cNvPr id="28" name="TextBox 27"/>
          <p:cNvSpPr txBox="1"/>
          <p:nvPr/>
        </p:nvSpPr>
        <p:spPr>
          <a:xfrm>
            <a:off x="7474694" y="2706624"/>
            <a:ext cx="3565131" cy="1280160"/>
          </a:xfrm>
          <a:prstGeom prst="rect">
            <a:avLst/>
          </a:prstGeom>
          <a:noFill/>
        </p:spPr>
        <p:txBody>
          <a:bodyPr wrap="square" lIns="0" tIns="0" rIns="0" bIns="0" anchor="t">
            <a:noAutofit/>
          </a:bodyPr>
          <a:lstStyle/>
          <a:p>
            <a:pPr algn="l">
              <a:lnSpc>
                <a:spcPct val="148000"/>
              </a:lnSpc>
            </a:pPr>
            <a:r>
              <a:rPr sz="1150" b="0">
                <a:solidFill>
                  <a:srgbClr val="3A342E"/>
                </a:solidFill>
                <a:latin typeface="Franklin Gothic Book"/>
              </a:rPr>
              <a:t>Late fires are the ones that matter and the rarest thing on the map. Left unweighted, every model quietly stopped predicting them — it is cheaper to be right about the common answer. Weighting the classes makes that trade expensive.</a:t>
            </a:r>
          </a:p>
        </p:txBody>
      </p:sp>
      <p:cxnSp>
        <p:nvCxnSpPr>
          <p:cNvPr id="29" name="Connector 28"/>
          <p:cNvCxnSpPr/>
          <p:nvPr/>
        </p:nvCxnSpPr>
        <p:spPr>
          <a:xfrm>
            <a:off x="7474694" y="4114800"/>
            <a:ext cx="3565131"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474694" y="4242816"/>
            <a:ext cx="3565131" cy="219456"/>
          </a:xfrm>
          <a:prstGeom prst="rect">
            <a:avLst/>
          </a:prstGeom>
          <a:noFill/>
        </p:spPr>
        <p:txBody>
          <a:bodyPr wrap="square" lIns="0" tIns="0" rIns="0" bIns="0" anchor="t">
            <a:noAutofit/>
          </a:bodyPr>
          <a:lstStyle/>
          <a:p>
            <a:pPr algn="l">
              <a:lnSpc>
                <a:spcPct val="100000"/>
              </a:lnSpc>
            </a:pPr>
            <a:r>
              <a:rPr sz="900" b="0" spc="90">
                <a:solidFill>
                  <a:srgbClr val="787066"/>
                </a:solidFill>
                <a:latin typeface="Franklin Gothic Medium"/>
              </a:rPr>
              <a:t>GRADIENT BOOSTING, F1 ON LATE FIRES</a:t>
            </a:r>
          </a:p>
        </p:txBody>
      </p:sp>
      <p:sp>
        <p:nvSpPr>
          <p:cNvPr id="31" name="TextBox 30"/>
          <p:cNvSpPr txBox="1"/>
          <p:nvPr/>
        </p:nvSpPr>
        <p:spPr>
          <a:xfrm>
            <a:off x="7474694" y="4517136"/>
            <a:ext cx="1737360" cy="512064"/>
          </a:xfrm>
          <a:prstGeom prst="rect">
            <a:avLst/>
          </a:prstGeom>
          <a:noFill/>
        </p:spPr>
        <p:txBody>
          <a:bodyPr wrap="square" lIns="0" tIns="0" rIns="0" bIns="0" anchor="t">
            <a:noAutofit/>
          </a:bodyPr>
          <a:lstStyle/>
          <a:p>
            <a:pPr algn="l">
              <a:lnSpc>
                <a:spcPct val="100000"/>
              </a:lnSpc>
            </a:pPr>
            <a:r>
              <a:rPr sz="2800" b="0">
                <a:solidFill>
                  <a:srgbClr val="A79D91"/>
                </a:solidFill>
                <a:latin typeface="Georgia"/>
              </a:rPr>
              <a:t>0.420</a:t>
            </a:r>
          </a:p>
        </p:txBody>
      </p:sp>
      <p:sp>
        <p:nvSpPr>
          <p:cNvPr id="32" name="TextBox 31"/>
          <p:cNvSpPr txBox="1"/>
          <p:nvPr/>
        </p:nvSpPr>
        <p:spPr>
          <a:xfrm>
            <a:off x="7474694" y="4937760"/>
            <a:ext cx="1737360" cy="219456"/>
          </a:xfrm>
          <a:prstGeom prst="rect">
            <a:avLst/>
          </a:prstGeom>
          <a:noFill/>
        </p:spPr>
        <p:txBody>
          <a:bodyPr wrap="square" lIns="0" tIns="0" rIns="0" bIns="0" anchor="t">
            <a:noAutofit/>
          </a:bodyPr>
          <a:lstStyle/>
          <a:p>
            <a:pPr algn="l">
              <a:lnSpc>
                <a:spcPct val="100000"/>
              </a:lnSpc>
            </a:pPr>
            <a:r>
              <a:rPr sz="950" b="0">
                <a:solidFill>
                  <a:srgbClr val="787066"/>
                </a:solidFill>
                <a:latin typeface="Franklin Gothic Medium"/>
              </a:rPr>
              <a:t>unweighted</a:t>
            </a:r>
          </a:p>
        </p:txBody>
      </p:sp>
      <p:sp>
        <p:nvSpPr>
          <p:cNvPr id="33" name="TextBox 32"/>
          <p:cNvSpPr txBox="1"/>
          <p:nvPr/>
        </p:nvSpPr>
        <p:spPr>
          <a:xfrm>
            <a:off x="9285206" y="4517136"/>
            <a:ext cx="1737360" cy="512064"/>
          </a:xfrm>
          <a:prstGeom prst="rect">
            <a:avLst/>
          </a:prstGeom>
          <a:noFill/>
        </p:spPr>
        <p:txBody>
          <a:bodyPr wrap="square" lIns="0" tIns="0" rIns="0" bIns="0" anchor="t">
            <a:noAutofit/>
          </a:bodyPr>
          <a:lstStyle/>
          <a:p>
            <a:pPr algn="l">
              <a:lnSpc>
                <a:spcPct val="100000"/>
              </a:lnSpc>
            </a:pPr>
            <a:r>
              <a:rPr sz="2800" b="0">
                <a:solidFill>
                  <a:srgbClr val="C8341B"/>
                </a:solidFill>
                <a:latin typeface="Georgia"/>
              </a:rPr>
              <a:t>0.553</a:t>
            </a:r>
          </a:p>
        </p:txBody>
      </p:sp>
      <p:sp>
        <p:nvSpPr>
          <p:cNvPr id="34" name="TextBox 33"/>
          <p:cNvSpPr txBox="1"/>
          <p:nvPr/>
        </p:nvSpPr>
        <p:spPr>
          <a:xfrm>
            <a:off x="9285206" y="4937760"/>
            <a:ext cx="1737360" cy="219456"/>
          </a:xfrm>
          <a:prstGeom prst="rect">
            <a:avLst/>
          </a:prstGeom>
          <a:noFill/>
        </p:spPr>
        <p:txBody>
          <a:bodyPr wrap="square" lIns="0" tIns="0" rIns="0" bIns="0" anchor="t">
            <a:noAutofit/>
          </a:bodyPr>
          <a:lstStyle/>
          <a:p>
            <a:pPr algn="l">
              <a:lnSpc>
                <a:spcPct val="100000"/>
              </a:lnSpc>
            </a:pPr>
            <a:r>
              <a:rPr sz="950" b="0">
                <a:solidFill>
                  <a:srgbClr val="787066"/>
                </a:solidFill>
                <a:latin typeface="Franklin Gothic Medium"/>
              </a:rPr>
              <a:t>weighted</a:t>
            </a:r>
          </a:p>
        </p:txBody>
      </p:sp>
      <p:cxnSp>
        <p:nvCxnSpPr>
          <p:cNvPr id="35" name="Connector 34"/>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49808" y="6345936"/>
            <a:ext cx="4900662"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11</a:t>
            </a:r>
          </a:p>
        </p:txBody>
      </p:sp>
      <p:sp>
        <p:nvSpPr>
          <p:cNvPr id="38" name="TextBox 37"/>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Saira Zafar</a:t>
            </a:r>
          </a:p>
        </p:txBody>
      </p:sp>
    </p:spTree>
    <p:extLst>
      <p:ext uri="{BB962C8B-B14F-4D97-AF65-F5344CB8AC3E}">
        <p14:creationId xmlns:p14="http://schemas.microsoft.com/office/powerpoint/2010/main" val="4168116036"/>
      </p:ext>
    </p:extLst>
  </p:cSld>
  <p:clrMapOvr>
    <a:masterClrMapping/>
  </p:clrMapOvr>
  <mc:AlternateContent xmlns:mc="http://schemas.openxmlformats.org/markup-compatibility/2006" xmlns:p14="http://schemas.microsoft.com/office/powerpoint/2010/main">
    <mc:Choice Requires="p14">
      <p:transition spd="slow" p14:dur="2000" advTm="66522"/>
    </mc:Choice>
    <mc:Fallback xmlns="">
      <p:transition spd="slow" advTm="66522"/>
    </mc:Fallback>
  </mc:AlternateContent>
  <p:extLst>
    <p:ext uri="{3A86A75C-4F4B-4683-9AE1-C65F6400EC91}">
      <p14:laserTraceLst xmlns:p14="http://schemas.microsoft.com/office/powerpoint/2010/main">
        <p14:tracePtLst>
          <p14:tracePt t="132" x="1439863" y="1693863"/>
          <p14:tracePt t="154" x="1439863" y="1687513"/>
          <p14:tracePt t="183" x="1433513" y="1681163"/>
          <p14:tracePt t="199" x="1427163" y="1673225"/>
          <p14:tracePt t="216" x="1408113" y="1666875"/>
          <p14:tracePt t="233" x="1401763" y="1654175"/>
          <p14:tracePt t="250" x="1376363" y="1647825"/>
          <p14:tracePt t="266" x="1368425" y="1647825"/>
          <p14:tracePt t="287" x="1362075" y="1647825"/>
          <p14:tracePt t="300" x="1355725" y="1647825"/>
          <p14:tracePt t="316" x="1349375" y="1647825"/>
          <p14:tracePt t="333" x="1336675" y="1647825"/>
          <p14:tracePt t="334" x="1296988" y="1647825"/>
          <p14:tracePt t="349" x="1258888" y="1647825"/>
          <p14:tracePt t="366" x="1206500" y="1647825"/>
          <p14:tracePt t="383" x="1109663" y="1647825"/>
          <p14:tracePt t="399" x="1069975" y="1647825"/>
          <p14:tracePt t="416" x="1050925" y="1647825"/>
          <p14:tracePt t="418" x="1038225" y="1641475"/>
          <p14:tracePt t="433" x="1025525" y="1635125"/>
          <p14:tracePt t="449" x="1019175" y="1635125"/>
          <p14:tracePt t="466" x="1019175" y="1622425"/>
          <p14:tracePt t="482" x="1031875" y="1616075"/>
          <p14:tracePt t="499" x="1038225" y="1609725"/>
          <p14:tracePt t="516" x="1057275" y="1601788"/>
          <p14:tracePt t="532" x="1069975" y="1595438"/>
          <p14:tracePt t="550" x="1122363" y="1595438"/>
          <p14:tracePt t="566" x="1168400" y="1595438"/>
          <p14:tracePt t="582" x="1239838" y="1589088"/>
          <p14:tracePt t="599" x="1439863" y="1589088"/>
          <p14:tracePt t="615" x="1550988" y="1589088"/>
          <p14:tracePt t="632" x="1609725" y="1582738"/>
          <p14:tracePt t="649" x="1687513" y="1582738"/>
          <p14:tracePt t="666" x="1693863" y="1582738"/>
          <p14:tracePt t="682" x="1706563" y="1582738"/>
          <p14:tracePt t="699" x="1712913" y="1582738"/>
          <p14:tracePt t="754" x="1712913" y="1589088"/>
          <p14:tracePt t="766" x="1719263" y="1589088"/>
          <p14:tracePt t="778" x="1738313" y="1589088"/>
          <p14:tracePt t="790" x="1784350" y="1589088"/>
          <p14:tracePt t="803" x="1868488" y="1582738"/>
          <p14:tracePt t="815" x="1998663" y="1570038"/>
          <p14:tracePt t="832" x="2200275" y="1570038"/>
          <p14:tracePt t="849" x="2667000" y="1538288"/>
          <p14:tracePt t="865" x="2854325" y="1524000"/>
          <p14:tracePt t="882" x="2978150" y="1511300"/>
          <p14:tracePt t="899" x="3114675" y="1511300"/>
          <p14:tracePt t="916" x="3167063" y="1511300"/>
          <p14:tracePt t="933" x="3224213" y="1511300"/>
          <p14:tracePt t="949" x="3244850" y="1511300"/>
          <p14:tracePt t="966" x="3263900" y="1511300"/>
          <p14:tracePt t="982" x="3276600" y="1511300"/>
          <p14:tracePt t="999" x="3282950" y="1511300"/>
          <p14:tracePt t="1016" x="3289300" y="1511300"/>
          <p14:tracePt t="1032" x="3295650" y="1504950"/>
          <p14:tracePt t="1054" x="3302000" y="1504950"/>
          <p14:tracePt t="1078" x="3309938" y="1504950"/>
          <p14:tracePt t="1089" x="3316288" y="1504950"/>
          <p14:tracePt t="1160" x="3322638" y="1504950"/>
          <p14:tracePt t="1305" x="3316288" y="1504950"/>
          <p14:tracePt t="1352" x="3309938" y="1504950"/>
          <p14:tracePt t="1388" x="3302000" y="1504950"/>
          <p14:tracePt t="1664" x="3289300" y="1504950"/>
          <p14:tracePt t="1677" x="3230563" y="1511300"/>
          <p14:tracePt t="1688" x="3133725" y="1531938"/>
          <p14:tracePt t="1699" x="2978150" y="1563688"/>
          <p14:tracePt t="1715" x="2757488" y="1647825"/>
          <p14:tracePt t="1732" x="2536825" y="1738313"/>
          <p14:tracePt t="1748" x="2128838" y="1868488"/>
          <p14:tracePt t="1765" x="1992313" y="1914525"/>
          <p14:tracePt t="1782" x="1920875" y="1946275"/>
          <p14:tracePt t="1784" x="1868488" y="1965325"/>
          <p14:tracePt t="1798" x="1816100" y="1992313"/>
          <p14:tracePt t="1815" x="1778000" y="2005013"/>
          <p14:tracePt t="1832" x="1719263" y="2030413"/>
          <p14:tracePt t="1848" x="1687513" y="2051050"/>
          <p14:tracePt t="1865" x="1674813" y="2057400"/>
          <p14:tracePt t="1882" x="1641475" y="2076450"/>
          <p14:tracePt t="1898" x="1628775" y="2082800"/>
          <p14:tracePt t="1915" x="1609725" y="2101850"/>
          <p14:tracePt t="1932" x="1603375" y="2108200"/>
          <p14:tracePt t="1948" x="1595438" y="2114550"/>
          <p14:tracePt t="1965" x="1582738" y="2128838"/>
          <p14:tracePt t="1981" x="1576388" y="2141538"/>
          <p14:tracePt t="1998" x="1570038" y="2147888"/>
          <p14:tracePt t="2000" x="1563688" y="2154238"/>
          <p14:tracePt t="2014" x="1563688" y="2160588"/>
          <p14:tracePt t="2059" x="1570038" y="2160588"/>
          <p14:tracePt t="2071" x="1576388" y="2160588"/>
          <p14:tracePt t="2084" x="1582738" y="2154238"/>
          <p14:tracePt t="2094" x="1589088" y="2147888"/>
          <p14:tracePt t="2107" x="1603375" y="2135188"/>
          <p14:tracePt t="2120" x="1609725" y="2135188"/>
          <p14:tracePt t="2131" x="1622425" y="2128838"/>
          <p14:tracePt t="2148" x="1628775" y="2128838"/>
          <p14:tracePt t="2165" x="1641475" y="2120900"/>
          <p14:tracePt t="2181" x="1674813" y="2120900"/>
          <p14:tracePt t="2198" x="1693863" y="2120900"/>
          <p14:tracePt t="2215" x="1765300" y="2128838"/>
          <p14:tracePt t="2231" x="1790700" y="2135188"/>
          <p14:tracePt t="2248" x="1824038" y="2135188"/>
          <p14:tracePt t="2264" x="1849438" y="2154238"/>
          <p14:tracePt t="2281" x="1855788" y="2160588"/>
          <p14:tracePt t="2299" x="1855788" y="2185988"/>
          <p14:tracePt t="2315" x="1855788" y="2206625"/>
          <p14:tracePt t="2331" x="1849438" y="2219325"/>
          <p14:tracePt t="2347" x="1830388" y="2257425"/>
          <p14:tracePt t="2364" x="1797050" y="2284413"/>
          <p14:tracePt t="2381" x="1752600" y="2316163"/>
          <p14:tracePt t="2383" x="1693863" y="2341563"/>
          <p14:tracePt t="2398" x="1609725" y="2381250"/>
          <p14:tracePt t="2414" x="1531938" y="2406650"/>
          <p14:tracePt t="2431" x="1362075" y="2452688"/>
          <p14:tracePt t="2448" x="1296988" y="2452688"/>
          <p14:tracePt t="2464" x="1246188" y="2452688"/>
          <p14:tracePt t="2481" x="1162050" y="2452688"/>
          <p14:tracePt t="2498" x="1128713" y="2439988"/>
          <p14:tracePt t="2514" x="1084263" y="2406650"/>
          <p14:tracePt t="2531" x="1063625" y="2387600"/>
          <p14:tracePt t="2548" x="1044575" y="2368550"/>
          <p14:tracePt t="2564" x="1019175" y="2335213"/>
          <p14:tracePt t="2581" x="1012825" y="2322513"/>
          <p14:tracePt t="2598" x="1006475" y="2290763"/>
          <p14:tracePt t="2614" x="1006475" y="2278063"/>
          <p14:tracePt t="2631" x="998538" y="2251075"/>
          <p14:tracePt t="2647" x="985838" y="2206625"/>
          <p14:tracePt t="2664" x="985838" y="2192338"/>
          <p14:tracePt t="2681" x="979488" y="2173288"/>
          <p14:tracePt t="2698" x="966788" y="2128838"/>
          <p14:tracePt t="2714" x="960438" y="2114550"/>
          <p14:tracePt t="2731" x="954088" y="2089150"/>
          <p14:tracePt t="2747" x="954088" y="2076450"/>
          <p14:tracePt t="2765" x="954088" y="2063750"/>
          <p14:tracePt t="2768" x="954088" y="2051050"/>
          <p14:tracePt t="2781" x="954088" y="2043113"/>
          <p14:tracePt t="2797" x="954088" y="2024063"/>
          <p14:tracePt t="2814" x="960438" y="2011363"/>
          <p14:tracePt t="2831" x="960438" y="2005013"/>
          <p14:tracePt t="2847" x="960438" y="1998663"/>
          <p14:tracePt t="2864" x="960438" y="1992313"/>
          <p14:tracePt t="2946" x="960438" y="1998663"/>
          <p14:tracePt t="2957" x="960438" y="2005013"/>
          <p14:tracePt t="2970" x="954088" y="2005013"/>
          <p14:tracePt t="2982" x="954088" y="2011363"/>
          <p14:tracePt t="2997" x="954088" y="2017713"/>
          <p14:tracePt t="3014" x="954088" y="2036763"/>
          <p14:tracePt t="3030" x="954088" y="2114550"/>
          <p14:tracePt t="3047" x="960438" y="2179638"/>
          <p14:tracePt t="3064" x="966788" y="2257425"/>
          <p14:tracePt t="3080" x="992188" y="2439988"/>
          <p14:tracePt t="3097" x="1006475" y="2536825"/>
          <p14:tracePt t="3114" x="1031875" y="2686050"/>
          <p14:tracePt t="3130" x="1044575" y="2782888"/>
          <p14:tracePt t="3147" x="1050925" y="2854325"/>
          <p14:tracePt t="3164" x="1050925" y="3024188"/>
          <p14:tracePt t="3181" x="1057275" y="3108325"/>
          <p14:tracePt t="3197" x="1057275" y="3244850"/>
          <p14:tracePt t="3214" x="1057275" y="3302000"/>
          <p14:tracePt t="3230" x="1057275" y="3367088"/>
          <p14:tracePt t="3247" x="1057275" y="3484563"/>
          <p14:tracePt t="3264" x="1057275" y="3543300"/>
          <p14:tracePt t="3281" x="1057275" y="3671888"/>
          <p14:tracePt t="3297" x="1069975" y="3730625"/>
          <p14:tracePt t="3313" x="1076325" y="3789363"/>
          <p14:tracePt t="3330" x="1096963" y="3925888"/>
          <p14:tracePt t="3347" x="1096963" y="3983038"/>
          <p14:tracePt t="3364" x="1103313" y="4035425"/>
          <p14:tracePt t="3366" x="1109663" y="4081463"/>
          <p14:tracePt t="3380" x="1109663" y="4119563"/>
          <p14:tracePt t="3397" x="1109663" y="4159250"/>
          <p14:tracePt t="3414" x="1116013" y="4197350"/>
          <p14:tracePt t="3430" x="1116013" y="4217988"/>
          <p14:tracePt t="3447" x="1116013" y="4230688"/>
          <p14:tracePt t="3450" x="1116013" y="4243388"/>
          <p14:tracePt t="3463" x="1122363" y="4262438"/>
          <p14:tracePt t="3480" x="1122363" y="4275138"/>
          <p14:tracePt t="3497" x="1128713" y="4295775"/>
          <p14:tracePt t="3514" x="1128713" y="4308475"/>
          <p14:tracePt t="3530" x="1128713" y="4314825"/>
          <p14:tracePt t="3546" x="1128713" y="4321175"/>
          <p14:tracePt t="3940" x="1128713" y="4314825"/>
          <p14:tracePt t="3976" x="1128713" y="4308475"/>
          <p14:tracePt t="4002" x="1128713" y="4302125"/>
          <p14:tracePt t="4012" x="1128713" y="4295775"/>
          <p14:tracePt t="4024" x="1128713" y="4275138"/>
          <p14:tracePt t="4037" x="1128713" y="4249738"/>
          <p14:tracePt t="4048" x="1128713" y="4217988"/>
          <p14:tracePt t="4063" x="1128713" y="4132263"/>
          <p14:tracePt t="4080" x="1128713" y="4003675"/>
          <p14:tracePt t="4096" x="1155700" y="3587750"/>
          <p14:tracePt t="4113" x="1168400" y="3394075"/>
          <p14:tracePt t="4130" x="1181100" y="3192463"/>
          <p14:tracePt t="4146" x="1187450" y="2900363"/>
          <p14:tracePt t="4163" x="1200150" y="2776538"/>
          <p14:tracePt t="4180" x="1239838" y="2614613"/>
          <p14:tracePt t="4196" x="1252538" y="2555875"/>
          <p14:tracePt t="4213" x="1265238" y="2543175"/>
          <p14:tracePt t="4229" x="1284288" y="2478088"/>
          <p14:tracePt t="4246" x="1290638" y="2459038"/>
          <p14:tracePt t="4263" x="1296988" y="2427288"/>
          <p14:tracePt t="4280" x="1304925" y="2413000"/>
          <p14:tracePt t="4296" x="1311275" y="2400300"/>
          <p14:tracePt t="4312" x="1323975" y="2381250"/>
          <p14:tracePt t="4329" x="1336675" y="2362200"/>
          <p14:tracePt t="4346" x="1355725" y="2322513"/>
          <p14:tracePt t="4348" x="1368425" y="2270125"/>
          <p14:tracePt t="4363" x="1382713" y="2225675"/>
          <p14:tracePt t="4380" x="1395413" y="2192338"/>
          <p14:tracePt t="4396" x="1408113" y="2147888"/>
          <p14:tracePt t="4413" x="1408113" y="2135188"/>
          <p14:tracePt t="4432" x="1414463" y="2135188"/>
          <p14:tracePt t="4467" x="1414463" y="2141538"/>
          <p14:tracePt t="4479" x="1414463" y="2147888"/>
          <p14:tracePt t="4503" x="1414463" y="2154238"/>
          <p14:tracePt t="4517" x="1414463" y="2160588"/>
          <p14:tracePt t="4527" x="1420813" y="2160588"/>
          <p14:tracePt t="4539" x="1420813" y="2166938"/>
          <p14:tracePt t="4552" x="1427163" y="2166938"/>
          <p14:tracePt t="4575" x="1433513" y="2166938"/>
          <p14:tracePt t="4587" x="1439863" y="2166938"/>
          <p14:tracePt t="4601" x="1439863" y="2173288"/>
          <p14:tracePt t="4612" x="1446213" y="2173288"/>
          <p14:tracePt t="4629" x="1460500" y="2173288"/>
          <p14:tracePt t="4646" x="1473200" y="2179638"/>
          <p14:tracePt t="4647" x="1498600" y="2179638"/>
          <p14:tracePt t="4663" x="1538288" y="2192338"/>
          <p14:tracePt t="4680" x="1609725" y="2200275"/>
          <p14:tracePt t="4696" x="1758950" y="2219325"/>
          <p14:tracePt t="4712" x="1816100" y="2225675"/>
          <p14:tracePt t="4729" x="1855788" y="2232025"/>
          <p14:tracePt t="4746" x="1908175" y="2232025"/>
          <p14:tracePt t="4763" x="1920875" y="2232025"/>
          <p14:tracePt t="4779" x="1939925" y="2232025"/>
          <p14:tracePt t="4795" x="1946275" y="2232025"/>
          <p14:tracePt t="4816" x="1952625" y="2232025"/>
          <p14:tracePt t="4911" x="1952625" y="2238375"/>
          <p14:tracePt t="4923" x="1946275" y="2238375"/>
          <p14:tracePt t="4935" x="1939925" y="2238375"/>
          <p14:tracePt t="4947" x="1933575" y="2244725"/>
          <p14:tracePt t="4962" x="1927225" y="2251075"/>
          <p14:tracePt t="4979" x="1914525" y="2257425"/>
          <p14:tracePt t="4995" x="1868488" y="2303463"/>
          <p14:tracePt t="5012" x="1824038" y="2335213"/>
          <p14:tracePt t="5029" x="1765300" y="2374900"/>
          <p14:tracePt t="5045" x="1582738" y="2459038"/>
          <p14:tracePt t="5062" x="1466850" y="2517775"/>
          <p14:tracePt t="5079" x="1258888" y="2620963"/>
          <p14:tracePt t="5095" x="1181100" y="2667000"/>
          <p14:tracePt t="5113" x="1116013" y="2692400"/>
          <p14:tracePt t="5116" x="1076325" y="2725738"/>
          <p14:tracePt t="5129" x="1044575" y="2751138"/>
          <p14:tracePt t="5145" x="1025525" y="2763838"/>
          <p14:tracePt t="5162" x="992188" y="2789238"/>
          <p14:tracePt t="5179" x="979488" y="2797175"/>
          <p14:tracePt t="5196" x="979488" y="2803525"/>
          <p14:tracePt t="5199" x="979488" y="2809875"/>
          <p14:tracePt t="5270" x="985838" y="2809875"/>
          <p14:tracePt t="5283" x="992188" y="2809875"/>
          <p14:tracePt t="5294" x="998538" y="2803525"/>
          <p14:tracePt t="5306" x="1006475" y="2803525"/>
          <p14:tracePt t="5318" x="1012825" y="2803525"/>
          <p14:tracePt t="5330" x="1012825" y="2797175"/>
          <p14:tracePt t="5345" x="1019175" y="2797175"/>
          <p14:tracePt t="5362" x="1025525" y="2789238"/>
          <p14:tracePt t="5378" x="1038225" y="2782888"/>
          <p14:tracePt t="5395" x="1050925" y="2782888"/>
          <p14:tracePt t="5412" x="1057275" y="2776538"/>
          <p14:tracePt t="5416" x="1076325" y="2776538"/>
          <p14:tracePt t="5429" x="1096963" y="2776538"/>
          <p14:tracePt t="5445" x="1122363" y="2776538"/>
          <p14:tracePt t="5462" x="1200150" y="2776538"/>
          <p14:tracePt t="5479" x="1258888" y="2776538"/>
          <p14:tracePt t="5495" x="1317625" y="2776538"/>
          <p14:tracePt t="5512" x="1446213" y="2776538"/>
          <p14:tracePt t="5528" x="1511300" y="2776538"/>
          <p14:tracePt t="5546" x="1647825" y="2776538"/>
          <p14:tracePt t="5562" x="1706563" y="2776538"/>
          <p14:tracePt t="5579" x="1765300" y="2776538"/>
          <p14:tracePt t="5595" x="1862138" y="2776538"/>
          <p14:tracePt t="5612" x="1893888" y="2776538"/>
          <p14:tracePt t="5630" x="1939925" y="2776538"/>
          <p14:tracePt t="5645" x="1946275" y="2776538"/>
          <p14:tracePt t="5662" x="1952625" y="2776538"/>
          <p14:tracePt t="5678" x="1958975" y="2776538"/>
          <p14:tracePt t="5695" x="1958975" y="2782888"/>
          <p14:tracePt t="5712" x="1965325" y="2782888"/>
          <p14:tracePt t="5797" x="1965325" y="2789238"/>
          <p14:tracePt t="5809" x="1958975" y="2789238"/>
          <p14:tracePt t="5833" x="1952625" y="2797175"/>
          <p14:tracePt t="5858" x="1946275" y="2797175"/>
          <p14:tracePt t="5870" x="1939925" y="2803525"/>
          <p14:tracePt t="5882" x="1933575" y="2803525"/>
          <p14:tracePt t="5895" x="1920875" y="2809875"/>
          <p14:tracePt t="5911" x="1914525" y="2816225"/>
          <p14:tracePt t="5929" x="1881188" y="2828925"/>
          <p14:tracePt t="5945" x="1862138" y="2841625"/>
          <p14:tracePt t="5961" x="1816100" y="2860675"/>
          <p14:tracePt t="5978" x="1693863" y="2913063"/>
          <p14:tracePt t="5995" x="1622425" y="2938463"/>
          <p14:tracePt t="6012" x="1531938" y="2984500"/>
          <p14:tracePt t="6013" x="1439863" y="3049588"/>
          <p14:tracePt t="6028" x="1376363" y="3114675"/>
          <p14:tracePt t="6045" x="1290638" y="3179763"/>
          <p14:tracePt t="6062" x="1187450" y="3276600"/>
          <p14:tracePt t="6078" x="1141413" y="3314700"/>
          <p14:tracePt t="6095" x="1109663" y="3335338"/>
          <p14:tracePt t="6111" x="1084263" y="3360738"/>
          <p14:tracePt t="6128" x="1069975" y="3367088"/>
          <p14:tracePt t="6145" x="1069975" y="3373438"/>
          <p14:tracePt t="6229" x="1069975" y="3367088"/>
          <p14:tracePt t="6252" x="1076325" y="3360738"/>
          <p14:tracePt t="6277" x="1084263" y="3360738"/>
          <p14:tracePt t="6313" x="1090613" y="3354388"/>
          <p14:tracePt t="6349" x="1090613" y="3348038"/>
          <p14:tracePt t="6372" x="1096963" y="3348038"/>
          <p14:tracePt t="6396" x="1096963" y="3341688"/>
          <p14:tracePt t="6444" x="1103313" y="3341688"/>
          <p14:tracePt t="6469" x="1109663" y="3341688"/>
          <p14:tracePt t="6481" x="1116013" y="3341688"/>
          <p14:tracePt t="6492" x="1116013" y="3335338"/>
          <p14:tracePt t="6504" x="1122363" y="3335338"/>
          <p14:tracePt t="6517" x="1128713" y="3335338"/>
          <p14:tracePt t="6541" x="1135063" y="3328988"/>
          <p14:tracePt t="6552" x="1141413" y="3328988"/>
          <p14:tracePt t="6565" x="1147763" y="3328988"/>
          <p14:tracePt t="6578" x="1155700" y="3328988"/>
          <p14:tracePt t="6594" x="1162050" y="3322638"/>
          <p14:tracePt t="6611" x="1181100" y="3322638"/>
          <p14:tracePt t="6628" x="1200150" y="3314700"/>
          <p14:tracePt t="6644" x="1233488" y="3308350"/>
          <p14:tracePt t="6661" x="1317625" y="3308350"/>
          <p14:tracePt t="6678" x="1376363" y="3308350"/>
          <p14:tracePt t="6695" x="1460500" y="3308350"/>
          <p14:tracePt t="6697" x="1538288" y="3308350"/>
          <p14:tracePt t="6711" x="1616075" y="3308350"/>
          <p14:tracePt t="6728" x="1687513" y="3314700"/>
          <p14:tracePt t="6745" x="1797050" y="3328988"/>
          <p14:tracePt t="6761" x="1843088" y="3328988"/>
          <p14:tracePt t="6777" x="1874838" y="3328988"/>
          <p14:tracePt t="6794" x="1908175" y="3335338"/>
          <p14:tracePt t="6811" x="1914525" y="3335338"/>
          <p14:tracePt t="6828" x="1920875" y="3335338"/>
          <p14:tracePt t="7068" x="1908175" y="3341688"/>
          <p14:tracePt t="7080" x="1874838" y="3348038"/>
          <p14:tracePt t="7091" x="1836738" y="3373438"/>
          <p14:tracePt t="7102" x="1731963" y="3406775"/>
          <p14:tracePt t="7116" x="1628775" y="3457575"/>
          <p14:tracePt t="7127" x="1511300" y="3509963"/>
          <p14:tracePt t="7144" x="1395413" y="3575050"/>
          <p14:tracePt t="7160" x="1296988" y="3633788"/>
          <p14:tracePt t="7177" x="1181100" y="3736975"/>
          <p14:tracePt t="7194" x="1135063" y="3783013"/>
          <p14:tracePt t="7211" x="1084263" y="3854450"/>
          <p14:tracePt t="7228" x="1069975" y="3867150"/>
          <p14:tracePt t="7244" x="1057275" y="3879850"/>
          <p14:tracePt t="7260" x="1050925" y="3892550"/>
          <p14:tracePt t="7277" x="1050925" y="3898900"/>
          <p14:tracePt t="7331" x="1057275" y="3898900"/>
          <p14:tracePt t="7367" x="1063625" y="3892550"/>
          <p14:tracePt t="7380" x="1069975" y="3892550"/>
          <p14:tracePt t="7391" x="1076325" y="3892550"/>
          <p14:tracePt t="7403" x="1090613" y="3879850"/>
          <p14:tracePt t="7416" x="1096963" y="3879850"/>
          <p14:tracePt t="7427" x="1103313" y="3873500"/>
          <p14:tracePt t="7443" x="1116013" y="3873500"/>
          <p14:tracePt t="7460" x="1122363" y="3867150"/>
          <p14:tracePt t="7477" x="1147763" y="3860800"/>
          <p14:tracePt t="7494" x="1168400" y="3860800"/>
          <p14:tracePt t="7510" x="1252538" y="3854450"/>
          <p14:tracePt t="7527" x="1317625" y="3854450"/>
          <p14:tracePt t="7543" x="1401763" y="3841750"/>
          <p14:tracePt t="7560" x="1576388" y="3814763"/>
          <p14:tracePt t="7577" x="1647825" y="3814763"/>
          <p14:tracePt t="7594" x="1738313" y="3814763"/>
          <p14:tracePt t="7610" x="1778000" y="3814763"/>
          <p14:tracePt t="7627" x="1803400" y="3814763"/>
          <p14:tracePt t="7644" x="1843088" y="3814763"/>
          <p14:tracePt t="7660" x="1855788" y="3821113"/>
          <p14:tracePt t="7677" x="1862138" y="3821113"/>
          <p14:tracePt t="7678" x="1874838" y="3821113"/>
          <p14:tracePt t="7693" x="1881188" y="3821113"/>
          <p14:tracePt t="7710" x="1887538" y="3827463"/>
          <p14:tracePt t="7726" x="1893888" y="3827463"/>
          <p14:tracePt t="7743" x="1901825" y="3827463"/>
          <p14:tracePt t="7834" x="1901825" y="3833813"/>
          <p14:tracePt t="7847" x="1908175" y="3833813"/>
          <p14:tracePt t="7929" x="1914525" y="3833813"/>
          <p14:tracePt t="7965" x="1920875" y="3833813"/>
          <p14:tracePt t="8014" x="1927225" y="3833813"/>
          <p14:tracePt t="8037" x="1933575" y="3833813"/>
          <p14:tracePt t="8061" x="1933575" y="3841750"/>
          <p14:tracePt t="8086" x="1933575" y="3848100"/>
          <p14:tracePt t="8099" x="1914525" y="3860800"/>
          <p14:tracePt t="8110" x="1901825" y="3879850"/>
          <p14:tracePt t="8122" x="1855788" y="3911600"/>
          <p14:tracePt t="8133" x="1765300" y="3983038"/>
          <p14:tracePt t="8146" x="1622425" y="4075113"/>
          <p14:tracePt t="8160" x="1473200" y="4159250"/>
          <p14:tracePt t="8176" x="1323975" y="4237038"/>
          <p14:tracePt t="8193" x="1174750" y="4314825"/>
          <p14:tracePt t="8209" x="1141413" y="4340225"/>
          <p14:tracePt t="8226" x="1122363" y="4352925"/>
          <p14:tracePt t="8243" x="1096963" y="4373563"/>
          <p14:tracePt t="8260" x="1090613" y="4379913"/>
          <p14:tracePt t="8277" x="1090613" y="4386263"/>
          <p14:tracePt t="8337" x="1096963" y="4386263"/>
          <p14:tracePt t="8360" x="1103313" y="4386263"/>
          <p14:tracePt t="8385" x="1109663" y="4386263"/>
          <p14:tracePt t="8409" x="1116013" y="4386263"/>
          <p14:tracePt t="8421" x="1116013" y="4379913"/>
          <p14:tracePt t="8457" x="1122363" y="4379913"/>
          <p14:tracePt t="8469" x="1122363" y="4373563"/>
          <p14:tracePt t="8481" x="1128713" y="4373563"/>
          <p14:tracePt t="8493" x="1128713" y="4367213"/>
          <p14:tracePt t="8517" x="1128713" y="4359275"/>
          <p14:tracePt t="8540" x="1135063" y="4359275"/>
          <p14:tracePt t="8552" x="1135063" y="4352925"/>
          <p14:tracePt t="8576" x="1141413" y="4352925"/>
          <p14:tracePt t="8589" x="1141413" y="4346575"/>
          <p14:tracePt t="8614" x="1147763" y="4346575"/>
          <p14:tracePt t="8624" x="1147763" y="4340225"/>
          <p14:tracePt t="8661" x="1155700" y="4340225"/>
          <p14:tracePt t="8696" x="1162050" y="4340225"/>
          <p14:tracePt t="9044" x="1258888" y="4333875"/>
          <p14:tracePt t="9057" x="1376363" y="4308475"/>
          <p14:tracePt t="9068" x="1473200" y="4302125"/>
          <p14:tracePt t="9081" x="1517650" y="4281488"/>
          <p14:tracePt t="9092" x="1550988" y="4275138"/>
          <p14:tracePt t="9109" x="1570038" y="4275138"/>
          <p14:tracePt t="9126" x="1582738" y="4275138"/>
          <p14:tracePt t="9128" x="1589088" y="4275138"/>
          <p14:tracePt t="9176" x="1589088" y="4268788"/>
          <p14:tracePt t="9188" x="1589088" y="4262438"/>
          <p14:tracePt t="9284" x="1589088" y="4256088"/>
          <p14:tracePt t="9308" x="1589088" y="4249738"/>
          <p14:tracePt t="9451" x="1595438" y="4249738"/>
          <p14:tracePt t="9464" x="1622425" y="4249738"/>
          <p14:tracePt t="9475" x="1706563" y="4243388"/>
          <p14:tracePt t="9488" x="1862138" y="4217988"/>
          <p14:tracePt t="9499" x="2108200" y="4197350"/>
          <p14:tracePt t="9513" x="2362200" y="4184650"/>
          <p14:tracePt t="9525" x="2620963" y="4171950"/>
          <p14:tracePt t="9542" x="2816225" y="4171950"/>
          <p14:tracePt t="9559" x="3108325" y="4178300"/>
          <p14:tracePt t="9575" x="3224213" y="4197350"/>
          <p14:tracePt t="9592" x="3295650" y="4210050"/>
          <p14:tracePt t="9609" x="3425825" y="4249738"/>
          <p14:tracePt t="9625" x="3471863" y="4262438"/>
          <p14:tracePt t="9643" x="3556000" y="4289425"/>
          <p14:tracePt t="9658" x="3581400" y="4295775"/>
          <p14:tracePt t="9675" x="3594100" y="4302125"/>
          <p14:tracePt t="9692" x="3640138" y="4314825"/>
          <p14:tracePt t="9708" x="3665538" y="4314825"/>
          <p14:tracePt t="9725" x="3686175" y="4321175"/>
          <p14:tracePt t="9742" x="3711575" y="4327525"/>
          <p14:tracePt t="9759" x="3717925" y="4333875"/>
          <p14:tracePt t="9775" x="3724275" y="4333875"/>
          <p14:tracePt t="9834" x="3730625" y="4333875"/>
          <p14:tracePt t="9847" x="3736975" y="4333875"/>
          <p14:tracePt t="9858" x="3757613" y="4327525"/>
          <p14:tracePt t="9871" x="3795713" y="4321175"/>
          <p14:tracePt t="9883" x="3854450" y="4321175"/>
          <p14:tracePt t="9898" x="3925888" y="4321175"/>
          <p14:tracePt t="9908" x="3997325" y="4314825"/>
          <p14:tracePt t="9925" x="4041775" y="4314825"/>
          <p14:tracePt t="9942" x="4178300" y="4314825"/>
          <p14:tracePt t="9958" x="4230688" y="4327525"/>
          <p14:tracePt t="9975" x="4289425" y="4327525"/>
          <p14:tracePt t="9992" x="4373563" y="4340225"/>
          <p14:tracePt t="10008" x="4411663" y="4346575"/>
          <p14:tracePt t="10025" x="4438650" y="4346575"/>
          <p14:tracePt t="10028" x="4457700" y="4352925"/>
          <p14:tracePt t="10041" x="4476750" y="4352925"/>
          <p14:tracePt t="10058" x="4489450" y="4352925"/>
          <p14:tracePt t="10074" x="4510088" y="4359275"/>
          <p14:tracePt t="10092" x="4529138" y="4359275"/>
          <p14:tracePt t="10109" x="4541838" y="4359275"/>
          <p14:tracePt t="10111" x="4554538" y="4359275"/>
          <p14:tracePt t="10124" x="4567238" y="4359275"/>
          <p14:tracePt t="10141" x="4581525" y="4359275"/>
          <p14:tracePt t="10158" x="4638675" y="4373563"/>
          <p14:tracePt t="10175" x="4678363" y="4373563"/>
          <p14:tracePt t="10192" x="4716463" y="4373563"/>
          <p14:tracePt t="10195" x="4749800" y="4373563"/>
          <p14:tracePt t="10208" x="4775200" y="4373563"/>
          <p14:tracePt t="10225" x="4814888" y="4367213"/>
          <p14:tracePt t="10242" x="4865688" y="4367213"/>
          <p14:tracePt t="10258" x="4886325" y="4367213"/>
          <p14:tracePt t="10275" x="4899025" y="4367213"/>
          <p14:tracePt t="10291" x="4918075" y="4367213"/>
          <p14:tracePt t="10308" x="4924425" y="4367213"/>
          <p14:tracePt t="10325" x="4930775" y="4367213"/>
          <p14:tracePt t="10349" x="4937125" y="4367213"/>
          <p14:tracePt t="10422" x="4937125" y="4373563"/>
          <p14:tracePt t="10937" x="4951413" y="4367213"/>
          <p14:tracePt t="10949" x="4970463" y="4367213"/>
          <p14:tracePt t="10962" x="5002213" y="4367213"/>
          <p14:tracePt t="10973" x="5048250" y="4367213"/>
          <p14:tracePt t="10985" x="5100638" y="4373563"/>
          <p14:tracePt t="10997" x="5138738" y="4373563"/>
          <p14:tracePt t="11009" x="5184775" y="4373563"/>
          <p14:tracePt t="11024" x="5216525" y="4373563"/>
          <p14:tracePt t="11041" x="5229225" y="4373563"/>
          <p14:tracePt t="11057" x="5249863" y="4373563"/>
          <p14:tracePt t="11080" x="5256213" y="4373563"/>
          <p14:tracePt t="11380" x="5249863" y="4373563"/>
          <p14:tracePt t="11423" x="5256213" y="4373563"/>
          <p14:tracePt t="11668" x="5002213" y="4321175"/>
          <p14:tracePt t="11679" x="4535488" y="4275138"/>
          <p14:tracePt t="11691" x="3970338" y="4256088"/>
          <p14:tracePt t="11703" x="3406775" y="4268788"/>
          <p14:tracePt t="11716" x="2913063" y="4333875"/>
          <p14:tracePt t="11728" x="2498725" y="4405313"/>
          <p14:tracePt t="11740" x="2206625" y="4483100"/>
          <p14:tracePt t="11757" x="1958975" y="4554538"/>
          <p14:tracePt t="11773" x="1758950" y="4619625"/>
          <p14:tracePt t="11790" x="1460500" y="4756150"/>
          <p14:tracePt t="11807" x="1355725" y="4794250"/>
          <p14:tracePt t="11824" x="1193800" y="4859338"/>
          <p14:tracePt t="11840" x="1135063" y="4899025"/>
          <p14:tracePt t="11857" x="1103313" y="4911725"/>
          <p14:tracePt t="11873" x="1031875" y="4937125"/>
          <p14:tracePt t="11890" x="998538" y="4943475"/>
          <p14:tracePt t="11907" x="973138" y="4949825"/>
          <p14:tracePt t="11924" x="966788" y="4949825"/>
          <p14:tracePt t="11940" x="954088" y="4949825"/>
          <p14:tracePt t="11956" x="920750" y="4949825"/>
          <p14:tracePt t="11973" x="901700" y="4949825"/>
          <p14:tracePt t="11990" x="876300" y="4949825"/>
          <p14:tracePt t="11992" x="857250" y="4949825"/>
          <p14:tracePt t="12007" x="836613" y="4949825"/>
          <p14:tracePt t="12023" x="823913" y="4949825"/>
          <p14:tracePt t="12040" x="785813" y="4949825"/>
          <p14:tracePt t="12056" x="765175" y="4949825"/>
          <p14:tracePt t="12073" x="752475" y="4949825"/>
          <p14:tracePt t="12077" x="727075" y="4949825"/>
          <p14:tracePt t="12090" x="714375" y="4949825"/>
          <p14:tracePt t="12107" x="693738" y="4949825"/>
          <p14:tracePt t="12123" x="681038" y="4949825"/>
          <p14:tracePt t="12140" x="681038" y="4943475"/>
          <p14:tracePt t="12183" x="687388" y="4943475"/>
          <p14:tracePt t="12207" x="687388" y="4937125"/>
          <p14:tracePt t="12219" x="693738" y="4930775"/>
          <p14:tracePt t="12231" x="693738" y="4924425"/>
          <p14:tracePt t="12244" x="693738" y="4918075"/>
          <p14:tracePt t="12256" x="693738" y="4911725"/>
          <p14:tracePt t="12273" x="693738" y="4905375"/>
          <p14:tracePt t="12290" x="693738" y="4899025"/>
          <p14:tracePt t="12292" x="693738" y="4892675"/>
          <p14:tracePt t="12306" x="693738" y="4886325"/>
          <p14:tracePt t="12323" x="693738" y="4878388"/>
          <p14:tracePt t="12339" x="674688" y="4872038"/>
          <p14:tracePt t="12356" x="668338" y="4865688"/>
          <p14:tracePt t="12373" x="655638" y="4859338"/>
          <p14:tracePt t="12389" x="636588" y="4852988"/>
          <p14:tracePt t="12406" x="628650" y="4852988"/>
          <p14:tracePt t="12423" x="615950" y="4852988"/>
          <p14:tracePt t="12439" x="609600" y="4852988"/>
          <p14:tracePt t="12456" x="603250" y="4852988"/>
          <p14:tracePt t="12473" x="596900" y="4852988"/>
          <p14:tracePt t="12496" x="590550" y="4852988"/>
          <p14:tracePt t="12507" x="584200" y="4852988"/>
          <p14:tracePt t="12554" x="577850" y="4852988"/>
          <p14:tracePt t="12615" x="571500" y="4852988"/>
          <p14:tracePt t="12734" x="577850" y="4852988"/>
          <p14:tracePt t="12758" x="584200" y="4846638"/>
          <p14:tracePt t="12770" x="590550" y="4846638"/>
          <p14:tracePt t="12782" x="596900" y="4846638"/>
          <p14:tracePt t="12795" x="603250" y="4840288"/>
          <p14:tracePt t="12806" x="609600" y="4840288"/>
          <p14:tracePt t="12830" x="615950" y="4840288"/>
          <p14:tracePt t="12843" x="622300" y="4833938"/>
          <p14:tracePt t="12856" x="628650" y="4833938"/>
          <p14:tracePt t="12872" x="636588" y="4827588"/>
          <p14:tracePt t="12890" x="649288" y="4821238"/>
          <p14:tracePt t="12914" x="655638" y="4821238"/>
          <p14:tracePt t="12927" x="661988" y="4821238"/>
          <p14:tracePt t="12939" x="668338" y="4814888"/>
          <p14:tracePt t="12956" x="674688" y="4814888"/>
          <p14:tracePt t="12974" x="681038" y="4806950"/>
          <p14:tracePt t="12989" x="687388" y="4800600"/>
          <p14:tracePt t="13006" x="693738" y="4800600"/>
          <p14:tracePt t="13023" x="700088" y="4800600"/>
          <p14:tracePt t="13039" x="708025" y="4800600"/>
          <p14:tracePt t="13059" x="714375" y="4800600"/>
          <p14:tracePt t="13118" x="720725" y="4800600"/>
          <p14:tracePt t="13165" x="727075" y="4800600"/>
          <p14:tracePt t="13225" x="733425" y="4800600"/>
          <p14:tracePt t="13237" x="739775" y="4800600"/>
          <p14:tracePt t="13249" x="752475" y="4806950"/>
          <p14:tracePt t="13262" x="785813" y="4821238"/>
          <p14:tracePt t="13273" x="842963" y="4833938"/>
          <p14:tracePt t="13289" x="941388" y="4852988"/>
          <p14:tracePt t="13306" x="1038225" y="4872038"/>
          <p14:tracePt t="13322" x="1246188" y="4905375"/>
          <p14:tracePt t="13339" x="1317625" y="4905375"/>
          <p14:tracePt t="13356" x="1401763" y="4905375"/>
          <p14:tracePt t="13372" x="1420813" y="4905375"/>
          <p14:tracePt t="13389" x="1454150" y="4905375"/>
          <p14:tracePt t="13405" x="1473200" y="4905375"/>
          <p14:tracePt t="13422" x="1479550" y="4899025"/>
          <p14:tracePt t="13439" x="1485900" y="4899025"/>
          <p14:tracePt t="13442" x="1492250" y="4899025"/>
          <p14:tracePt t="13455" x="1492250" y="4892675"/>
          <p14:tracePt t="13478" x="1492250" y="4886325"/>
          <p14:tracePt t="13512" x="1485900" y="4878388"/>
          <p14:tracePt t="13526" x="1479550" y="4878388"/>
          <p14:tracePt t="13536" x="1466850" y="4872038"/>
          <p14:tracePt t="13548" x="1454150" y="4872038"/>
          <p14:tracePt t="13562" x="1433513" y="4865688"/>
          <p14:tracePt t="13573" x="1420813" y="4865688"/>
          <p14:tracePt t="13588" x="1408113" y="4859338"/>
          <p14:tracePt t="13606" x="1395413" y="4859338"/>
          <p14:tracePt t="13622" x="1349375" y="4859338"/>
          <p14:tracePt t="13639" x="1323975" y="4859338"/>
          <p14:tracePt t="13655" x="1290638" y="4859338"/>
          <p14:tracePt t="13658" x="1252538" y="4859338"/>
          <p14:tracePt t="13672" x="1225550" y="4859338"/>
          <p14:tracePt t="13688" x="1206500" y="4859338"/>
          <p14:tracePt t="13705" x="1181100" y="4859338"/>
          <p14:tracePt t="13722" x="1174750" y="4859338"/>
          <p14:tracePt t="13739" x="1168400" y="4859338"/>
          <p14:tracePt t="13764" x="1174750" y="4859338"/>
          <p14:tracePt t="13777" x="1181100" y="4859338"/>
          <p14:tracePt t="13788" x="1187450" y="4859338"/>
          <p14:tracePt t="13805" x="1200150" y="4859338"/>
          <p14:tracePt t="13822" x="1212850" y="4852988"/>
          <p14:tracePt t="13824" x="1225550" y="4852988"/>
          <p14:tracePt t="13838" x="1252538" y="4846638"/>
          <p14:tracePt t="13855" x="1290638" y="4846638"/>
          <p14:tracePt t="13872" x="1420813" y="4827588"/>
          <p14:tracePt t="13888" x="1531938" y="4827588"/>
          <p14:tracePt t="13906" x="1666875" y="4827588"/>
          <p14:tracePt t="13922" x="1933575" y="4794250"/>
          <p14:tracePt t="13938" x="2005013" y="4794250"/>
          <p14:tracePt t="13955" x="2089150" y="4781550"/>
          <p14:tracePt t="13972" x="2122488" y="4781550"/>
          <p14:tracePt t="13988" x="2135188" y="4775200"/>
          <p14:tracePt t="14005" x="2147888" y="4775200"/>
          <p14:tracePt t="14111" x="2141538" y="4775200"/>
          <p14:tracePt t="14194" x="2141538" y="4781550"/>
          <p14:tracePt t="14243" x="2154238" y="4787900"/>
          <p14:tracePt t="14255" x="2173288" y="4787900"/>
          <p14:tracePt t="14267" x="2225675" y="4787900"/>
          <p14:tracePt t="14279" x="2284413" y="4794250"/>
          <p14:tracePt t="14292" x="2362200" y="4794250"/>
          <p14:tracePt t="14305" x="2427288" y="4800600"/>
          <p14:tracePt t="14321" x="2498725" y="4800600"/>
          <p14:tracePt t="14339" x="2576513" y="4800600"/>
          <p14:tracePt t="14354" x="2595563" y="4806950"/>
          <p14:tracePt t="14371" x="2608263" y="4806950"/>
          <p14:tracePt t="14388" x="2620963" y="4806950"/>
          <p14:tracePt t="14404" x="2627313" y="4806950"/>
          <p14:tracePt t="14532" x="2620963" y="4806950"/>
          <p14:tracePt t="14567" x="2614613" y="4806950"/>
          <p14:tracePt t="14603" x="2608263" y="4806950"/>
          <p14:tracePt t="14639" x="2601913" y="4806950"/>
          <p14:tracePt t="14687" x="2595563" y="4800600"/>
          <p14:tracePt t="14747" x="2589213" y="4800600"/>
          <p14:tracePt t="14783" x="2582863" y="4800600"/>
          <p14:tracePt t="14819" x="2576513" y="4800600"/>
          <p14:tracePt t="14867" x="2570163" y="4800600"/>
          <p14:tracePt t="14902" x="2562225" y="4800600"/>
          <p14:tracePt t="15237" x="2549525" y="4800600"/>
          <p14:tracePt t="15249" x="2492375" y="4800600"/>
          <p14:tracePt t="15261" x="2420938" y="4800600"/>
          <p14:tracePt t="15275" x="2343150" y="4800600"/>
          <p14:tracePt t="15287" x="2278063" y="4800600"/>
          <p14:tracePt t="15304" x="2206625" y="4814888"/>
          <p14:tracePt t="15321" x="2095500" y="4840288"/>
          <p14:tracePt t="15337" x="2057400" y="4846638"/>
          <p14:tracePt t="15354" x="2036763" y="4852988"/>
          <p14:tracePt t="15371" x="2011363" y="4865688"/>
          <p14:tracePt t="15387" x="2005013" y="4865688"/>
          <p14:tracePt t="15404" x="1998663" y="4865688"/>
          <p14:tracePt t="15421" x="1998663" y="4859338"/>
          <p14:tracePt t="15465" x="1992313" y="4859338"/>
          <p14:tracePt t="15477" x="1992313" y="4852988"/>
          <p14:tracePt t="15549" x="1985963" y="4852988"/>
          <p14:tracePt t="15573" x="1985963" y="4846638"/>
          <p14:tracePt t="15585" x="1979613" y="4846638"/>
          <p14:tracePt t="15609" x="1973263" y="4846638"/>
          <p14:tracePt t="15621" x="1965325" y="4840288"/>
          <p14:tracePt t="15632" x="1952625" y="4833938"/>
          <p14:tracePt t="15644" x="1914525" y="4833938"/>
          <p14:tracePt t="15658" x="1881188" y="4827588"/>
          <p14:tracePt t="15670" x="1855788" y="4814888"/>
          <p14:tracePt t="15687" x="1824038" y="4814888"/>
          <p14:tracePt t="15704" x="1784350" y="4814888"/>
          <p14:tracePt t="15720" x="1771650" y="4814888"/>
          <p14:tracePt t="15737" x="1765300" y="4814888"/>
          <p14:tracePt t="15753" x="1752600" y="4814888"/>
          <p14:tracePt t="15885" x="1744663" y="4814888"/>
          <p14:tracePt t="15896" x="1738313" y="4814888"/>
          <p14:tracePt t="15909" x="1725613" y="4814888"/>
          <p14:tracePt t="15921" x="1693863" y="4814888"/>
          <p14:tracePt t="15937" x="1666875" y="4800600"/>
          <p14:tracePt t="15953" x="1622425" y="4768850"/>
          <p14:tracePt t="15970" x="1550988" y="4645025"/>
          <p14:tracePt t="15987" x="1525588" y="4535488"/>
          <p14:tracePt t="16004" x="1492250" y="4314825"/>
          <p14:tracePt t="16006" x="1479550" y="4224338"/>
          <p14:tracePt t="16020" x="1479550" y="4010025"/>
          <p14:tracePt t="16037" x="1479550" y="3770313"/>
          <p14:tracePt t="16053" x="1498600" y="3341688"/>
          <p14:tracePt t="16070" x="1504950" y="3146425"/>
          <p14:tracePt t="16088" x="1517650" y="2971800"/>
          <p14:tracePt t="16090" x="1517650" y="2809875"/>
          <p14:tracePt t="16104" x="1517650" y="2698750"/>
          <p14:tracePt t="16120" x="1517650" y="2608263"/>
          <p14:tracePt t="16137" x="1517650" y="2433638"/>
          <p14:tracePt t="16153" x="1538288" y="2349500"/>
          <p14:tracePt t="16170" x="1557338" y="2251075"/>
          <p14:tracePt t="16173" x="1576388" y="2166938"/>
          <p14:tracePt t="16187" x="1603375" y="2076450"/>
          <p14:tracePt t="16203" x="1622425" y="2030413"/>
          <p14:tracePt t="16220" x="1635125" y="1958975"/>
          <p14:tracePt t="16237" x="1641475" y="1939925"/>
          <p14:tracePt t="16253" x="1641475" y="1933575"/>
          <p14:tracePt t="16270" x="1647825" y="1920875"/>
          <p14:tracePt t="16303" x="1641475" y="1927225"/>
          <p14:tracePt t="16317" x="1628775" y="1933575"/>
          <p14:tracePt t="16328" x="1628775" y="1939925"/>
          <p14:tracePt t="16341" x="1622425" y="1946275"/>
          <p14:tracePt t="16353" x="1616075" y="1952625"/>
          <p14:tracePt t="16370" x="1616075" y="1958975"/>
          <p14:tracePt t="16387" x="1616075" y="1965325"/>
          <p14:tracePt t="16403" x="1603375" y="1979613"/>
          <p14:tracePt t="16420" x="1595438" y="1992313"/>
          <p14:tracePt t="16436" x="1582738" y="2024063"/>
          <p14:tracePt t="16453" x="1576388" y="2043113"/>
          <p14:tracePt t="16470" x="1570038" y="2101850"/>
          <p14:tracePt t="16486" x="1557338" y="2406650"/>
          <p14:tracePt t="16503" x="1544638" y="2562225"/>
          <p14:tracePt t="16520" x="1517650" y="2782888"/>
          <p14:tracePt t="16536" x="1511300" y="2854325"/>
          <p14:tracePt t="16553" x="1492250" y="2913063"/>
          <p14:tracePt t="16570" x="1473200" y="3108325"/>
          <p14:tracePt t="16586" x="1473200" y="3211513"/>
          <p14:tracePt t="16604" x="1473200" y="3360738"/>
          <p14:tracePt t="16620" x="1466850" y="3432175"/>
          <p14:tracePt t="16636" x="1454150" y="3490913"/>
          <p14:tracePt t="16652" x="1439863" y="3621088"/>
          <p14:tracePt t="16669" x="1420813" y="3678238"/>
          <p14:tracePt t="16686" x="1414463" y="3736975"/>
          <p14:tracePt t="16688" x="1408113" y="3776663"/>
          <p14:tracePt t="16703" x="1408113" y="3814763"/>
          <p14:tracePt t="16720" x="1401763" y="3827463"/>
          <p14:tracePt t="16736" x="1395413" y="3860800"/>
          <p14:tracePt t="16753" x="1395413" y="3867150"/>
          <p14:tracePt t="16770" x="1395413" y="3873500"/>
          <p14:tracePt t="16772" x="1395413" y="3879850"/>
          <p14:tracePt t="16786" x="1389063" y="3892550"/>
          <p14:tracePt t="16803" x="1389063" y="3898900"/>
          <p14:tracePt t="16819" x="1389063" y="3911600"/>
          <p14:tracePt t="16836" x="1382713" y="3919538"/>
          <p14:tracePt t="16879" x="1382713" y="3925888"/>
          <p14:tracePt t="16927" x="1382713" y="3932238"/>
          <p14:tracePt t="16940" x="1382713" y="3951288"/>
          <p14:tracePt t="16951" x="1382713" y="3963988"/>
          <p14:tracePt t="16963" x="1382713" y="3983038"/>
          <p14:tracePt t="16976" x="1382713" y="4016375"/>
          <p14:tracePt t="16987" x="1382713" y="4029075"/>
          <p14:tracePt t="17002" x="1382713" y="4048125"/>
          <p14:tracePt t="17020" x="1382713" y="4060825"/>
          <p14:tracePt t="17036" x="1382713" y="4081463"/>
          <p14:tracePt t="17053" x="1382713" y="4094163"/>
          <p14:tracePt t="17069" x="1382713" y="4106863"/>
          <p14:tracePt t="17086" x="1382713" y="4125913"/>
          <p14:tracePt t="17103" x="1382713" y="4140200"/>
          <p14:tracePt t="17119" x="1382713" y="4165600"/>
          <p14:tracePt t="17136" x="1382713" y="4171950"/>
          <p14:tracePt t="17153" x="1382713" y="4178300"/>
          <p14:tracePt t="17156" x="1382713" y="4191000"/>
          <p14:tracePt t="17169" x="1382713" y="4197350"/>
          <p14:tracePt t="17186" x="1382713" y="4203700"/>
          <p14:tracePt t="17226" x="1382713" y="4210050"/>
          <p14:tracePt t="17719" x="1349375" y="4373563"/>
          <p14:tracePt t="17730" x="1296988" y="4560888"/>
          <p14:tracePt t="17741" x="1239838" y="4722813"/>
          <p14:tracePt t="17753" x="1200150" y="4852988"/>
          <p14:tracePt t="17769" x="1135063" y="4964113"/>
          <p14:tracePt t="17785" x="1096963" y="5060950"/>
          <p14:tracePt t="17802" x="1025525" y="5235575"/>
          <p14:tracePt t="17819" x="998538" y="5300663"/>
          <p14:tracePt t="17835" x="979488" y="5340350"/>
          <p14:tracePt t="17852" x="954088" y="5384800"/>
          <p14:tracePt t="17868" x="954088" y="5391150"/>
          <p14:tracePt t="17886" x="947738" y="5397500"/>
          <p14:tracePt t="17902" x="941388" y="5397500"/>
          <p14:tracePt t="17933" x="941388" y="5391150"/>
          <p14:tracePt t="17945" x="941388" y="5384800"/>
          <p14:tracePt t="17981" x="941388" y="5378450"/>
          <p14:tracePt t="17993" x="947738" y="5378450"/>
          <p14:tracePt t="18005" x="947738" y="5372100"/>
          <p14:tracePt t="18017" x="960438" y="5372100"/>
          <p14:tracePt t="18028" x="966788" y="5372100"/>
          <p14:tracePt t="18041" x="973138" y="5372100"/>
          <p14:tracePt t="18052" x="985838" y="5372100"/>
          <p14:tracePt t="18068" x="998538" y="5378450"/>
          <p14:tracePt t="18085" x="1031875" y="5405438"/>
          <p14:tracePt t="18102" x="1135063" y="5502275"/>
          <p14:tracePt t="18118" x="1200150" y="5561013"/>
          <p14:tracePt t="18135" x="1296988" y="5618163"/>
          <p14:tracePt t="18152" x="1401763" y="5689600"/>
          <p14:tracePt t="18168" x="1439863" y="5703888"/>
          <p14:tracePt t="18185" x="1473200" y="5716588"/>
          <p14:tracePt t="18202" x="1485900" y="5722938"/>
          <p14:tracePt t="18219" x="1492250" y="5722938"/>
          <p14:tracePt t="18235" x="1498600" y="5729288"/>
          <p14:tracePt t="18257" x="1498600" y="5735638"/>
          <p14:tracePt t="18281" x="1485900" y="5741988"/>
          <p14:tracePt t="18293" x="1473200" y="5741988"/>
          <p14:tracePt t="18307" x="1454150" y="5741988"/>
          <p14:tracePt t="18318" x="1439863" y="5741988"/>
          <p14:tracePt t="18335" x="1420813" y="5741988"/>
          <p14:tracePt t="18352" x="1376363" y="5735638"/>
          <p14:tracePt t="18368" x="1355725" y="5729288"/>
          <p14:tracePt t="18385" x="1343025" y="5722938"/>
          <p14:tracePt t="18401" x="1311275" y="5716588"/>
          <p14:tracePt t="18418" x="1304925" y="5716588"/>
          <p14:tracePt t="18461" x="1304925" y="5710238"/>
          <p14:tracePt t="18473" x="1311275" y="5710238"/>
          <p14:tracePt t="18485" x="1317625" y="5710238"/>
          <p14:tracePt t="18496" x="1323975" y="5710238"/>
          <p14:tracePt t="18508" x="1336675" y="5710238"/>
          <p14:tracePt t="18522" x="1343025" y="5710238"/>
          <p14:tracePt t="18535" x="1355725" y="5710238"/>
          <p14:tracePt t="18551" x="1368425" y="5710238"/>
          <p14:tracePt t="18568" x="1401763" y="5703888"/>
          <p14:tracePt t="18584" x="1414463" y="5703888"/>
          <p14:tracePt t="18601" x="1433513" y="5703888"/>
          <p14:tracePt t="18618" x="1511300" y="5689600"/>
          <p14:tracePt t="18635" x="1570038" y="5683250"/>
          <p14:tracePt t="18652" x="1719263" y="5670550"/>
          <p14:tracePt t="18668" x="1771650" y="5664200"/>
          <p14:tracePt t="18685" x="1809750" y="5664200"/>
          <p14:tracePt t="18701" x="1849438" y="5664200"/>
          <p14:tracePt t="18718" x="1855788" y="5657850"/>
          <p14:tracePt t="18735" x="1862138" y="5657850"/>
          <p14:tracePt t="18737" x="1868488" y="5657850"/>
          <p14:tracePt t="18928" x="1874838" y="5657850"/>
          <p14:tracePt t="19263" x="1887538" y="5657850"/>
          <p14:tracePt t="19275" x="1908175" y="5657850"/>
          <p14:tracePt t="19289" x="1920875" y="5651500"/>
          <p14:tracePt t="19298" x="1939925" y="5651500"/>
          <p14:tracePt t="19311" x="1958975" y="5651500"/>
          <p14:tracePt t="19323" x="1985963" y="5645150"/>
          <p14:tracePt t="19335" x="2017713" y="5645150"/>
          <p14:tracePt t="19351" x="2051050" y="5638800"/>
          <p14:tracePt t="19367" x="2082800" y="5638800"/>
          <p14:tracePt t="19384" x="2147888" y="5618163"/>
          <p14:tracePt t="19401" x="2179638" y="5618163"/>
          <p14:tracePt t="19417" x="2206625" y="5618163"/>
          <p14:tracePt t="19434" x="2263775" y="5618163"/>
          <p14:tracePt t="19451" x="2297113" y="5618163"/>
          <p14:tracePt t="19467" x="2362200" y="5624513"/>
          <p14:tracePt t="19484" x="2387600" y="5624513"/>
          <p14:tracePt t="19503" x="2446338" y="5638800"/>
          <p14:tracePt t="19517" x="2465388" y="5638800"/>
          <p14:tracePt t="19534" x="2484438" y="5645150"/>
          <p14:tracePt t="19551" x="2517775" y="5645150"/>
          <p14:tracePt t="19568" x="2524125" y="5645150"/>
          <p14:tracePt t="19584" x="2536825" y="5645150"/>
          <p14:tracePt t="20185" x="2543175" y="5645150"/>
          <p14:tracePt t="20197" x="2549525" y="5645150"/>
          <p14:tracePt t="20209" x="2562225" y="5638800"/>
          <p14:tracePt t="20223" x="2576513" y="5638800"/>
          <p14:tracePt t="20234" x="2608263" y="5638800"/>
          <p14:tracePt t="20250" x="2627313" y="5638800"/>
          <p14:tracePt t="20266" x="2667000" y="5638800"/>
          <p14:tracePt t="20283" x="2816225" y="5645150"/>
          <p14:tracePt t="20300" x="2940050" y="5645150"/>
          <p14:tracePt t="20317" x="3217863" y="5645150"/>
          <p14:tracePt t="20333" x="3328988" y="5645150"/>
          <p14:tracePt t="20350" x="3406775" y="5645150"/>
          <p14:tracePt t="20367" x="3490913" y="5645150"/>
          <p14:tracePt t="20383" x="3529013" y="5645150"/>
          <p14:tracePt t="20401" x="3575050" y="5645150"/>
          <p14:tracePt t="20416" x="3594100" y="5638800"/>
          <p14:tracePt t="20433" x="3608388" y="5638800"/>
          <p14:tracePt t="20450" x="3621088" y="5632450"/>
          <p14:tracePt t="20466" x="3627438" y="5632450"/>
          <p14:tracePt t="20533" x="3633788" y="5632450"/>
          <p14:tracePt t="20557" x="3640138" y="5632450"/>
          <p14:tracePt t="20570" x="3646488" y="5632450"/>
          <p14:tracePt t="20581" x="3652838" y="5632450"/>
          <p14:tracePt t="20593" x="3671888" y="5632450"/>
          <p14:tracePt t="20605" x="3686175" y="5632450"/>
          <p14:tracePt t="20616" x="3692525" y="5632450"/>
          <p14:tracePt t="20633" x="3705225" y="5632450"/>
          <p14:tracePt t="20665" x="3711575" y="5632450"/>
          <p14:tracePt t="20712" x="3705225" y="5632450"/>
          <p14:tracePt t="20749" x="3698875" y="5632450"/>
          <p14:tracePt t="20784" x="3692525" y="5632450"/>
          <p14:tracePt t="20821" x="3686175" y="5632450"/>
          <p14:tracePt t="20844" x="3678238" y="5632450"/>
          <p14:tracePt t="20868" x="3671888" y="5632450"/>
          <p14:tracePt t="20880" x="3665538" y="5632450"/>
          <p14:tracePt t="20905" x="3659188" y="5632450"/>
          <p14:tracePt t="20928" x="3652838" y="5632450"/>
          <p14:tracePt t="20951" x="3646488" y="5632450"/>
          <p14:tracePt t="20977" x="3640138" y="5632450"/>
          <p14:tracePt t="21000" x="3633788" y="5632450"/>
          <p14:tracePt t="21012" x="3627438" y="5632450"/>
          <p14:tracePt t="21037" x="3621088" y="5632450"/>
          <p14:tracePt t="21072" x="3614738" y="5632450"/>
          <p14:tracePt t="21107" x="3608388" y="5632450"/>
          <p14:tracePt t="21144" x="3600450" y="5632450"/>
          <p14:tracePt t="21575" x="3608388" y="5632450"/>
          <p14:tracePt t="21587" x="3627438" y="5632450"/>
          <p14:tracePt t="21599" x="3665538" y="5632450"/>
          <p14:tracePt t="21611" x="3749675" y="5611813"/>
          <p14:tracePt t="21623" x="3860800" y="5611813"/>
          <p14:tracePt t="21636" x="3997325" y="5599113"/>
          <p14:tracePt t="21649" x="4140200" y="5599113"/>
          <p14:tracePt t="21665" x="4262438" y="5592763"/>
          <p14:tracePt t="21682" x="4411663" y="5592763"/>
          <p14:tracePt t="21699" x="4464050" y="5592763"/>
          <p14:tracePt t="21715" x="4489450" y="5592763"/>
          <p14:tracePt t="21732" x="4529138" y="5592763"/>
          <p14:tracePt t="21749" x="4541838" y="5592763"/>
          <p14:tracePt t="21766" x="4548188" y="5592763"/>
          <p14:tracePt t="22700" x="4567238" y="5592763"/>
          <p14:tracePt t="22714" x="4581525" y="5592763"/>
          <p14:tracePt t="22715" x="4606925" y="5592763"/>
          <p14:tracePt t="22726" x="4638675" y="5599113"/>
          <p14:tracePt t="22737" x="4659313" y="5599113"/>
          <p14:tracePt t="22749" x="4665663" y="5599113"/>
          <p14:tracePt t="22765" x="4672013" y="5599113"/>
          <p14:tracePt t="22781" x="4678363" y="5599113"/>
          <p14:tracePt t="22832" x="4684713" y="5599113"/>
          <p14:tracePt t="22892" x="4691063" y="5599113"/>
          <p14:tracePt t="22940" x="4697413" y="5599113"/>
          <p14:tracePt t="22954" x="4703763" y="5599113"/>
          <p14:tracePt t="22965" x="4716463" y="5599113"/>
          <p14:tracePt t="22977" x="4730750" y="5599113"/>
          <p14:tracePt t="22989" x="4743450" y="5599113"/>
          <p14:tracePt t="23002" x="4762500" y="5599113"/>
          <p14:tracePt t="23015" x="4775200" y="5592763"/>
          <p14:tracePt t="23031" x="4795838" y="5592763"/>
          <p14:tracePt t="23048" x="4846638" y="5592763"/>
          <p14:tracePt t="23064" x="4873625" y="5592763"/>
          <p14:tracePt t="23081" x="4892675" y="5592763"/>
          <p14:tracePt t="23098" x="4930775" y="5592763"/>
          <p14:tracePt t="23114" x="4951413" y="5592763"/>
          <p14:tracePt t="23131" x="4976813" y="5592763"/>
          <p14:tracePt t="23133" x="4995863" y="5592763"/>
          <p14:tracePt t="23148" x="5008563" y="5586413"/>
          <p14:tracePt t="23165" x="5022850" y="5586413"/>
          <p14:tracePt t="23181" x="5054600" y="5586413"/>
          <p14:tracePt t="23198" x="5060950" y="5586413"/>
          <p14:tracePt t="23214" x="5073650" y="5586413"/>
          <p14:tracePt t="23231" x="5080000" y="5586413"/>
          <p14:tracePt t="23254" x="5086350" y="5586413"/>
          <p14:tracePt t="23276" x="5094288" y="5586413"/>
          <p14:tracePt t="23383" x="5100638" y="5586413"/>
          <p14:tracePt t="23420" x="5113338" y="5586413"/>
          <p14:tracePt t="23431" x="5119688" y="5586413"/>
          <p14:tracePt t="23443" x="5126038" y="5586413"/>
          <p14:tracePt t="23456" x="5132388" y="5592763"/>
          <p14:tracePt t="23469" x="5145088" y="5592763"/>
          <p14:tracePt t="23481" x="5157788" y="5592763"/>
          <p14:tracePt t="23497" x="5164138" y="5592763"/>
          <p14:tracePt t="23514" x="5172075" y="5592763"/>
          <p14:tracePt t="23516" x="5184775" y="5599113"/>
          <p14:tracePt t="23530" x="5191125" y="5599113"/>
          <p14:tracePt t="23547" x="5203825" y="5599113"/>
          <p14:tracePt t="23564" x="5216525" y="5605463"/>
          <p14:tracePt t="23580" x="5222875" y="5605463"/>
          <p14:tracePt t="23601" x="5229225" y="5605463"/>
          <p14:tracePt t="23614" x="5235575" y="5605463"/>
          <p14:tracePt t="23636" x="5243513" y="5605463"/>
          <p14:tracePt t="23660" x="5249863" y="5605463"/>
          <p14:tracePt t="23708" x="5256213" y="5605463"/>
          <p14:tracePt t="23995" x="5256213" y="5611813"/>
          <p14:tracePt t="24019" x="5256213" y="5618163"/>
          <p14:tracePt t="24030" x="5249863" y="5618163"/>
          <p14:tracePt t="24054" x="5249863" y="5624513"/>
          <p14:tracePt t="24067" x="5243513" y="5624513"/>
          <p14:tracePt t="24090" x="5243513" y="5632450"/>
          <p14:tracePt t="25158" x="5203825" y="5632450"/>
          <p14:tracePt t="25170" x="5002213" y="5632450"/>
          <p14:tracePt t="25183" x="4716463" y="5645150"/>
          <p14:tracePt t="25194" x="4418013" y="5657850"/>
          <p14:tracePt t="25206" x="4127500" y="5695950"/>
          <p14:tracePt t="25218" x="3886200" y="5729288"/>
          <p14:tracePt t="25229" x="3686175" y="5754688"/>
          <p14:tracePt t="25246" x="3543300" y="5761038"/>
          <p14:tracePt t="25262" x="3432175" y="5788025"/>
          <p14:tracePt t="25279" x="3289300" y="5800725"/>
          <p14:tracePt t="25296" x="3251200" y="5807075"/>
          <p14:tracePt t="25313" x="3192463" y="5819775"/>
          <p14:tracePt t="25329" x="3179763" y="5819775"/>
          <p14:tracePt t="25346" x="3173413" y="5819775"/>
          <p14:tracePt t="25363" x="3167063" y="5819775"/>
          <p14:tracePt t="25385" x="3160713" y="5819775"/>
          <p14:tracePt t="25433" x="3152775" y="5819775"/>
          <p14:tracePt t="25457" x="3146425" y="5819775"/>
          <p14:tracePt t="25481" x="3140075" y="5819775"/>
          <p14:tracePt t="25494" x="3127375" y="5819775"/>
          <p14:tracePt t="25504" x="3108325" y="5819775"/>
          <p14:tracePt t="25517" x="3081338" y="5819775"/>
          <p14:tracePt t="25529" x="3024188" y="5819775"/>
          <p14:tracePt t="25546" x="2913063" y="5826125"/>
          <p14:tracePt t="25563" x="2790825" y="5838825"/>
          <p14:tracePt t="25566" x="2633663" y="5853113"/>
          <p14:tracePt t="25580" x="2478088" y="5872163"/>
          <p14:tracePt t="25595" x="2322513" y="5884863"/>
          <p14:tracePt t="25612" x="2057400" y="5922963"/>
          <p14:tracePt t="25629" x="1952625" y="5956300"/>
          <p14:tracePt t="25646" x="1887538" y="5962650"/>
          <p14:tracePt t="25662" x="1816100" y="5981700"/>
          <p14:tracePt t="25679" x="1809750" y="5988050"/>
          <p14:tracePt t="25696" x="1803400" y="5988050"/>
          <p14:tracePt t="25720" x="1803400" y="5994400"/>
          <p14:tracePt t="25733" x="1816100" y="5994400"/>
          <p14:tracePt t="25756" x="1830388" y="5988050"/>
          <p14:tracePt t="25768" x="1836738" y="5988050"/>
          <p14:tracePt t="25780" x="1843088" y="5981700"/>
          <p14:tracePt t="25795" x="1849438" y="5975350"/>
          <p14:tracePt t="25812" x="1862138" y="5969000"/>
          <p14:tracePt t="25828" x="1887538" y="5949950"/>
          <p14:tracePt t="25845" x="1914525" y="5949950"/>
          <p14:tracePt t="25862" x="1952625" y="5949950"/>
          <p14:tracePt t="25879" x="2043113" y="5949950"/>
          <p14:tracePt t="25895" x="2070100" y="5949950"/>
          <p14:tracePt t="25912" x="2101850" y="5949950"/>
          <p14:tracePt t="25929" x="2114550" y="5949950"/>
          <p14:tracePt t="25945" x="2114550" y="5956300"/>
          <p14:tracePt t="25962" x="2114550" y="5969000"/>
          <p14:tracePt t="25979" x="2114550" y="5975350"/>
          <p14:tracePt t="25996" x="2101850" y="5981700"/>
          <p14:tracePt t="26012" x="2095500" y="5981700"/>
          <p14:tracePt t="26056" x="2101850" y="5981700"/>
          <p14:tracePt t="26068" x="2114550" y="5981700"/>
          <p14:tracePt t="26080" x="2122488" y="5981700"/>
          <p14:tracePt t="26092" x="2128838" y="5975350"/>
          <p14:tracePt t="26104" x="2135188" y="5975350"/>
          <p14:tracePt t="26128" x="2141538" y="5975350"/>
          <p14:tracePt t="26307" x="2147888" y="5969000"/>
          <p14:tracePt t="26331" x="2154238" y="5969000"/>
          <p14:tracePt t="26343" x="2173288" y="5962650"/>
          <p14:tracePt t="26355" x="2200275" y="5956300"/>
          <p14:tracePt t="26368" x="2225675" y="5949950"/>
          <p14:tracePt t="26379" x="2284413" y="5937250"/>
          <p14:tracePt t="26395" x="2368550" y="5930900"/>
          <p14:tracePt t="26412" x="2465388" y="5916613"/>
          <p14:tracePt t="26428" x="2725738" y="5910263"/>
          <p14:tracePt t="26445" x="2803525" y="5910263"/>
          <p14:tracePt t="26463" x="2913063" y="5910263"/>
          <p14:tracePt t="26478" x="2946400" y="5910263"/>
          <p14:tracePt t="26495" x="2965450" y="5910263"/>
          <p14:tracePt t="26511" x="2984500" y="5916613"/>
          <p14:tracePt t="26528" x="2990850" y="5916613"/>
          <p14:tracePt t="26548" x="2990850" y="5922963"/>
          <p14:tracePt t="26583" x="2990850" y="5930900"/>
          <p14:tracePt t="26702" x="2984500" y="5930900"/>
          <p14:tracePt t="26738" x="2978150" y="5930900"/>
          <p14:tracePt t="26774" x="2971800" y="5930900"/>
          <p14:tracePt t="26822" x="2965450" y="5930900"/>
          <p14:tracePt t="26858" x="2959100" y="5930900"/>
          <p14:tracePt t="26918" x="2952750" y="5930900"/>
          <p14:tracePt t="27015" x="2952750" y="5922963"/>
          <p14:tracePt t="27050" x="2952750" y="5916613"/>
          <p14:tracePt t="27086" x="2952750" y="5910263"/>
          <p14:tracePt t="27122" x="2952750" y="5903913"/>
          <p14:tracePt t="27133" x="2952750" y="5897563"/>
          <p14:tracePt t="27147" x="2952750" y="5891213"/>
          <p14:tracePt t="27170" x="2952750" y="5884863"/>
          <p14:tracePt t="27183" x="2952750" y="5878513"/>
          <p14:tracePt t="27206" x="2952750" y="5872163"/>
          <p14:tracePt t="27218" x="2946400" y="5872163"/>
          <p14:tracePt t="27242" x="2940050" y="5872163"/>
          <p14:tracePt t="27266" x="2932113" y="5872163"/>
          <p14:tracePt t="27289" x="2925763" y="5872163"/>
          <p14:tracePt t="27314" x="2919413" y="5878513"/>
          <p14:tracePt t="27337" x="2913063" y="5884863"/>
          <p14:tracePt t="27350" x="2913063" y="5891213"/>
          <p14:tracePt t="27361" x="2913063" y="5897563"/>
          <p14:tracePt t="27385" x="2913063" y="5903913"/>
          <p14:tracePt t="27410" x="2913063" y="5910263"/>
          <p14:tracePt t="27433" x="2919413" y="5916613"/>
          <p14:tracePt t="27469" x="2925763" y="5922963"/>
          <p14:tracePt t="27518" x="2932113" y="5922963"/>
          <p14:tracePt t="27541" x="2940050" y="5922963"/>
          <p14:tracePt t="27567" x="2946400" y="5922963"/>
          <p14:tracePt t="27601" x="2952750" y="5922963"/>
          <p14:tracePt t="27661" x="2959100" y="5922963"/>
          <p14:tracePt t="27696" x="2965450" y="5922963"/>
          <p14:tracePt t="28081" x="2990850" y="5872163"/>
          <p14:tracePt t="28092" x="3101975" y="5632450"/>
          <p14:tracePt t="28104" x="3257550" y="5365750"/>
          <p14:tracePt t="28117" x="3536950" y="5008563"/>
          <p14:tracePt t="28128" x="3848100" y="4665663"/>
          <p14:tracePt t="28144" x="4119563" y="4379913"/>
          <p14:tracePt t="28160" x="4327525" y="4191000"/>
          <p14:tracePt t="28177" x="4678363" y="3938588"/>
          <p14:tracePt t="28194" x="4840288" y="3854450"/>
          <p14:tracePt t="28211" x="5184775" y="3692525"/>
          <p14:tracePt t="28227" x="5334000" y="3621088"/>
          <p14:tracePt t="28243" x="5483225" y="3556000"/>
          <p14:tracePt t="28260" x="5683250" y="3457575"/>
          <p14:tracePt t="28277" x="5762625" y="3425825"/>
          <p14:tracePt t="28294" x="5800725" y="3406775"/>
          <p14:tracePt t="28296" x="5826125" y="3406775"/>
          <p14:tracePt t="28298" x="5840413" y="3400425"/>
          <p14:tracePt t="28310" x="5859463" y="3400425"/>
          <p14:tracePt t="28327" x="5865813" y="3400425"/>
          <p14:tracePt t="28344" x="5872163" y="3400425"/>
          <p14:tracePt t="29207" x="5897563" y="3367088"/>
          <p14:tracePt t="29219" x="5949950" y="3314700"/>
          <p14:tracePt t="29232" x="6034088" y="3244850"/>
          <p14:tracePt t="29243" x="6111875" y="3173413"/>
          <p14:tracePt t="29259" x="6210300" y="3087688"/>
          <p14:tracePt t="29276" x="6345238" y="3009900"/>
          <p14:tracePt t="29293" x="6611938" y="2860675"/>
          <p14:tracePt t="29310" x="6729413" y="2822575"/>
          <p14:tracePt t="29326" x="6891338" y="2744788"/>
          <p14:tracePt t="29342" x="6942138" y="2717800"/>
          <p14:tracePt t="29359" x="6981825" y="2705100"/>
          <p14:tracePt t="29376" x="7053263" y="2679700"/>
          <p14:tracePt t="29392" x="7078663" y="2667000"/>
          <p14:tracePt t="29410" x="7105650" y="2647950"/>
          <p14:tracePt t="29426" x="7118350" y="2647950"/>
          <p14:tracePt t="29442" x="7124700" y="2640013"/>
          <p14:tracePt t="29459" x="7143750" y="2633663"/>
          <p14:tracePt t="29476" x="7156450" y="2620963"/>
          <p14:tracePt t="29492" x="7162800" y="2614613"/>
          <p14:tracePt t="29509" x="7183438" y="2608263"/>
          <p14:tracePt t="29526" x="7196138" y="2595563"/>
          <p14:tracePt t="29542" x="7234238" y="2576513"/>
          <p14:tracePt t="29559" x="7246938" y="2568575"/>
          <p14:tracePt t="29576" x="7267575" y="2562225"/>
          <p14:tracePt t="29579" x="7286625" y="2555875"/>
          <p14:tracePt t="29592" x="7305675" y="2555875"/>
          <p14:tracePt t="29610" x="7339013" y="2549525"/>
          <p14:tracePt t="29626" x="7389813" y="2524125"/>
          <p14:tracePt t="29642" x="7410450" y="2524125"/>
          <p14:tracePt t="29659" x="7429500" y="2517775"/>
          <p14:tracePt t="29675" x="7461250" y="2517775"/>
          <p14:tracePt t="29692" x="7467600" y="2517775"/>
          <p14:tracePt t="29709" x="7488238" y="2517775"/>
          <p14:tracePt t="29726" x="7494588" y="2517775"/>
          <p14:tracePt t="29746" x="7500938" y="2517775"/>
          <p14:tracePt t="29865" x="7500938" y="2524125"/>
          <p14:tracePt t="29878" x="7494588" y="2530475"/>
          <p14:tracePt t="29913" x="7488238" y="2530475"/>
          <p14:tracePt t="29961" x="7481888" y="2530475"/>
          <p14:tracePt t="30452" x="7494588" y="2549525"/>
          <p14:tracePt t="30464" x="7526338" y="2589213"/>
          <p14:tracePt t="30476" x="7559675" y="2627313"/>
          <p14:tracePt t="30488" x="7572375" y="2673350"/>
          <p14:tracePt t="30500" x="7591425" y="2711450"/>
          <p14:tracePt t="30513" x="7597775" y="2732088"/>
          <p14:tracePt t="30525" x="7597775" y="2763838"/>
          <p14:tracePt t="30542" x="7597775" y="2776538"/>
          <p14:tracePt t="30558" x="7591425" y="2789238"/>
          <p14:tracePt t="30560" x="7585075" y="2803525"/>
          <p14:tracePt t="30575" x="7585075" y="2816225"/>
          <p14:tracePt t="30597" x="7578725" y="2816225"/>
          <p14:tracePt t="30619" x="7578725" y="2809875"/>
          <p14:tracePt t="30631" x="7578725" y="2803525"/>
          <p14:tracePt t="30645" x="7578725" y="2789238"/>
          <p14:tracePt t="30658" x="7578725" y="2782888"/>
          <p14:tracePt t="30675" x="7578725" y="2763838"/>
          <p14:tracePt t="30692" x="7604125" y="2725738"/>
          <p14:tracePt t="30708" x="7610475" y="2705100"/>
          <p14:tracePt t="30725" x="7624763" y="2679700"/>
          <p14:tracePt t="30742" x="7650163" y="2640013"/>
          <p14:tracePt t="30758" x="7656513" y="2620963"/>
          <p14:tracePt t="30776" x="7669213" y="2601913"/>
          <p14:tracePt t="30791" x="7669213" y="2595563"/>
          <p14:tracePt t="30808" x="7675563" y="2595563"/>
          <p14:tracePt t="30824" x="7675563" y="2608263"/>
          <p14:tracePt t="30842" x="7681913" y="2614613"/>
          <p14:tracePt t="30858" x="7681913" y="2620963"/>
          <p14:tracePt t="30860" x="7688263" y="2620963"/>
          <p14:tracePt t="30875" x="7696200" y="2627313"/>
          <p14:tracePt t="30892" x="7708900" y="2633663"/>
          <p14:tracePt t="30908" x="7786688" y="2633663"/>
          <p14:tracePt t="30925" x="7889875" y="2633663"/>
          <p14:tracePt t="30941" x="8045450" y="2627313"/>
          <p14:tracePt t="30944" x="8201025" y="2627313"/>
          <p14:tracePt t="30958" x="8383588" y="2627313"/>
          <p14:tracePt t="30975" x="8532813" y="2627313"/>
          <p14:tracePt t="30992" x="8812213" y="2627313"/>
          <p14:tracePt t="31008" x="8934450" y="2627313"/>
          <p14:tracePt t="31025" x="8993188" y="2627313"/>
          <p14:tracePt t="31041" x="9110663" y="2627313"/>
          <p14:tracePt t="31058" x="9155113" y="2627313"/>
          <p14:tracePt t="31075" x="9251950" y="2614613"/>
          <p14:tracePt t="31091" x="9304338" y="2614613"/>
          <p14:tracePt t="31108" x="9356725" y="2595563"/>
          <p14:tracePt t="31124" x="9440863" y="2582863"/>
          <p14:tracePt t="31141" x="9472613" y="2568575"/>
          <p14:tracePt t="31159" x="9505950" y="2568575"/>
          <p14:tracePt t="31175" x="9512300" y="2568575"/>
          <p14:tracePt t="31207" x="9505950" y="2568575"/>
          <p14:tracePt t="31219" x="9493250" y="2568575"/>
          <p14:tracePt t="31232" x="9472613" y="2576513"/>
          <p14:tracePt t="31244" x="9453563" y="2576513"/>
          <p14:tracePt t="31258" x="9428163" y="2589213"/>
          <p14:tracePt t="31274" x="9394825" y="2595563"/>
          <p14:tracePt t="31291" x="9297988" y="2595563"/>
          <p14:tracePt t="31308" x="9232900" y="2595563"/>
          <p14:tracePt t="31325" x="9148763" y="2595563"/>
          <p14:tracePt t="31328" x="9070975" y="2595563"/>
          <p14:tracePt t="31341" x="9005888" y="2595563"/>
          <p14:tracePt t="31358" x="8947150" y="2601913"/>
          <p14:tracePt t="31375" x="8882063" y="2608263"/>
          <p14:tracePt t="31391" x="8863013" y="2608263"/>
          <p14:tracePt t="31408" x="8850313" y="2614613"/>
          <p14:tracePt t="31424" x="8831263" y="2620963"/>
          <p14:tracePt t="31441" x="8824913" y="2620963"/>
          <p14:tracePt t="31555" x="8831263" y="2620963"/>
          <p14:tracePt t="31674" x="8824913" y="2620963"/>
          <p14:tracePt t="31722" x="8818563" y="2620963"/>
          <p14:tracePt t="31746" x="8812213" y="2620963"/>
          <p14:tracePt t="31758" x="8804275" y="2620963"/>
          <p14:tracePt t="31782" x="8804275" y="2614613"/>
          <p14:tracePt t="31818" x="8804275" y="2608263"/>
          <p14:tracePt t="31854" x="8812213" y="2608263"/>
          <p14:tracePt t="31866" x="8824913" y="2601913"/>
          <p14:tracePt t="31879" x="8843963" y="2601913"/>
          <p14:tracePt t="31891" x="8869363" y="2589213"/>
          <p14:tracePt t="31907" x="8909050" y="2589213"/>
          <p14:tracePt t="31924" x="8934450" y="2589213"/>
          <p14:tracePt t="31940" x="9064625" y="2608263"/>
          <p14:tracePt t="31957" x="9142413" y="2608263"/>
          <p14:tracePt t="31974" x="9266238" y="2608263"/>
          <p14:tracePt t="31990" x="9331325" y="2589213"/>
          <p14:tracePt t="32007" x="9382125" y="2582863"/>
          <p14:tracePt t="32023" x="9459913" y="2568575"/>
          <p14:tracePt t="32041" x="9499600" y="2562225"/>
          <p14:tracePt t="32058" x="9558338" y="2562225"/>
          <p14:tracePt t="32074" x="9577388" y="2555875"/>
          <p14:tracePt t="32091" x="9590088" y="2555875"/>
          <p14:tracePt t="32107" x="9609138" y="2555875"/>
          <p14:tracePt t="32124" x="9621838" y="2555875"/>
          <p14:tracePt t="32140" x="9629775" y="2555875"/>
          <p14:tracePt t="32157" x="9636125" y="2555875"/>
          <p14:tracePt t="32174" x="9642475" y="2555875"/>
          <p14:tracePt t="32201" x="9648825" y="2555875"/>
          <p14:tracePt t="32381" x="9642475" y="2555875"/>
          <p14:tracePt t="32429" x="9636125" y="2555875"/>
          <p14:tracePt t="32489" x="9629775" y="2555875"/>
          <p14:tracePt t="32513" x="9621838" y="2555875"/>
          <p14:tracePt t="32526" x="9615488" y="2555875"/>
          <p14:tracePt t="32548" x="9609138" y="2555875"/>
          <p14:tracePt t="32562" x="9596438" y="2555875"/>
          <p14:tracePt t="32573" x="9583738" y="2555875"/>
          <p14:tracePt t="32585" x="9564688" y="2562225"/>
          <p14:tracePt t="32597" x="9531350" y="2568575"/>
          <p14:tracePt t="32610" x="9505950" y="2568575"/>
          <p14:tracePt t="32623" x="9447213" y="2582863"/>
          <p14:tracePt t="32640" x="9375775" y="2589213"/>
          <p14:tracePt t="32657" x="9077325" y="2633663"/>
          <p14:tracePt t="32673" x="8863013" y="2679700"/>
          <p14:tracePt t="32691" x="8629650" y="2732088"/>
          <p14:tracePt t="32695" x="8383588" y="2789238"/>
          <p14:tracePt t="32707" x="8194675" y="2841625"/>
          <p14:tracePt t="32723" x="8032750" y="2894013"/>
          <p14:tracePt t="32740" x="7812088" y="2978150"/>
          <p14:tracePt t="32757" x="7753350" y="3003550"/>
          <p14:tracePt t="32774" x="7696200" y="3030538"/>
          <p14:tracePt t="32790" x="7631113" y="3068638"/>
          <p14:tracePt t="32807" x="7616825" y="3074988"/>
          <p14:tracePt t="32824" x="7604125" y="3087688"/>
          <p14:tracePt t="32840" x="7597775" y="3095625"/>
          <p14:tracePt t="32861" x="7597775" y="3101975"/>
          <p14:tracePt t="32981" x="7604125" y="3101975"/>
          <p14:tracePt t="32993" x="7604125" y="3095625"/>
          <p14:tracePt t="33004" x="7610475" y="3095625"/>
          <p14:tracePt t="33016" x="7616825" y="3087688"/>
          <p14:tracePt t="33029" x="7624763" y="3087688"/>
          <p14:tracePt t="33040" x="7631113" y="3081338"/>
          <p14:tracePt t="33056" x="7637463" y="3074988"/>
          <p14:tracePt t="33073" x="7643813" y="3074988"/>
          <p14:tracePt t="33090" x="7656513" y="3062288"/>
          <p14:tracePt t="33106" x="7669213" y="3062288"/>
          <p14:tracePt t="33123" x="7696200" y="3055938"/>
          <p14:tracePt t="33139" x="7708900" y="3049588"/>
          <p14:tracePt t="33156" x="7715250" y="3049588"/>
          <p14:tracePt t="33173" x="7747000" y="3049588"/>
          <p14:tracePt t="33190" x="7759700" y="3049588"/>
          <p14:tracePt t="33207" x="7780338" y="3049588"/>
          <p14:tracePt t="33208" x="7793038" y="3049588"/>
          <p14:tracePt t="33223" x="7805738" y="3049588"/>
          <p14:tracePt t="33239" x="7818438" y="3049588"/>
          <p14:tracePt t="33256" x="7824788" y="3049588"/>
          <p14:tracePt t="33273" x="7831138" y="3049588"/>
          <p14:tracePt t="33293" x="7837488" y="3049588"/>
          <p14:tracePt t="33376" x="7831138" y="3049588"/>
          <p14:tracePt t="33400" x="7818438" y="3055938"/>
          <p14:tracePt t="33412" x="7805738" y="3068638"/>
          <p14:tracePt t="33423" x="7793038" y="3081338"/>
          <p14:tracePt t="33436" x="7773988" y="3095625"/>
          <p14:tracePt t="33448" x="7759700" y="3108325"/>
          <p14:tracePt t="33460" x="7740650" y="3133725"/>
          <p14:tracePt t="33472" x="7715250" y="3146425"/>
          <p14:tracePt t="33489" x="7702550" y="3159125"/>
          <p14:tracePt t="33506" x="7681913" y="3186113"/>
          <p14:tracePt t="33508" x="7669213" y="3198813"/>
          <p14:tracePt t="33522" x="7656513" y="3217863"/>
          <p14:tracePt t="33539" x="7643813" y="3230563"/>
          <p14:tracePt t="33556" x="7616825" y="3270250"/>
          <p14:tracePt t="33573" x="7604125" y="3282950"/>
          <p14:tracePt t="33589" x="7591425" y="3302000"/>
          <p14:tracePt t="33592" x="7578725" y="3308350"/>
          <p14:tracePt t="33606" x="7566025" y="3335338"/>
          <p14:tracePt t="33623" x="7553325" y="3341688"/>
          <p14:tracePt t="33639" x="7526338" y="3360738"/>
          <p14:tracePt t="33656" x="7513638" y="3367088"/>
          <p14:tracePt t="33672" x="7507288" y="3373438"/>
          <p14:tracePt t="33689" x="7494588" y="3379788"/>
          <p14:tracePt t="33706" x="7488238" y="3386138"/>
          <p14:tracePt t="33723" x="7481888" y="3386138"/>
          <p14:tracePt t="33818" x="7481888" y="3379788"/>
          <p14:tracePt t="33844" x="7481888" y="3373438"/>
          <p14:tracePt t="33855" x="7488238" y="3373438"/>
          <p14:tracePt t="33867" x="7500938" y="3367088"/>
          <p14:tracePt t="33879" x="7513638" y="3354388"/>
          <p14:tracePt t="33892" x="7532688" y="3348038"/>
          <p14:tracePt t="33906" x="7566025" y="3341688"/>
          <p14:tracePt t="33922" x="7585075" y="3322638"/>
          <p14:tracePt t="33939" x="7656513" y="3295650"/>
          <p14:tracePt t="33955" x="7740650" y="3276600"/>
          <p14:tracePt t="33972" x="7870825" y="3230563"/>
          <p14:tracePt t="33975" x="7961313" y="3217863"/>
          <p14:tracePt t="33977" x="8072438" y="3192463"/>
          <p14:tracePt t="33989" x="8318500" y="3146425"/>
          <p14:tracePt t="34005" x="8604250" y="3121025"/>
          <p14:tracePt t="34023" x="9096375" y="3062288"/>
          <p14:tracePt t="34039" x="9310688" y="3036888"/>
          <p14:tracePt t="34055" x="9493250" y="3024188"/>
          <p14:tracePt t="34072" x="9758363" y="3009900"/>
          <p14:tracePt t="34089" x="9869488" y="3003550"/>
          <p14:tracePt t="34107" x="10012363" y="2997200"/>
          <p14:tracePt t="34122" x="10056813" y="2984500"/>
          <p14:tracePt t="34139" x="10090150" y="2984500"/>
          <p14:tracePt t="34156" x="10128250" y="2984500"/>
          <p14:tracePt t="34172" x="10140950" y="2984500"/>
          <p14:tracePt t="34189" x="10155238" y="2984500"/>
          <p14:tracePt t="34206" x="10161588" y="2984500"/>
          <p14:tracePt t="34322" x="10155238" y="2984500"/>
          <p14:tracePt t="34334" x="10148888" y="2984500"/>
          <p14:tracePt t="34346" x="10140950" y="2984500"/>
          <p14:tracePt t="34360" x="10134600" y="2990850"/>
          <p14:tracePt t="34405" x="10134600" y="2997200"/>
          <p14:tracePt t="34429" x="10140950" y="2997200"/>
          <p14:tracePt t="34442" x="10155238" y="3003550"/>
          <p14:tracePt t="34454" x="10174288" y="3003550"/>
          <p14:tracePt t="34466" x="10206038" y="3003550"/>
          <p14:tracePt t="34478" x="10271125" y="3003550"/>
          <p14:tracePt t="34489" x="10329863" y="3003550"/>
          <p14:tracePt t="34505" x="10382250" y="3003550"/>
          <p14:tracePt t="34522" x="10426700" y="3016250"/>
          <p14:tracePt t="34538" x="10466388" y="3016250"/>
          <p14:tracePt t="34555" x="10479088" y="3016250"/>
          <p14:tracePt t="34575" x="10485438" y="3016250"/>
          <p14:tracePt t="34598" x="10491788" y="3024188"/>
          <p14:tracePt t="34741" x="10485438" y="3024188"/>
          <p14:tracePt t="34765" x="10479088" y="3016250"/>
          <p14:tracePt t="34778" x="10472738" y="3016250"/>
          <p14:tracePt t="34788" x="10466388" y="3016250"/>
          <p14:tracePt t="34801" x="10460038" y="3009900"/>
          <p14:tracePt t="34813" x="10433050" y="3003550"/>
          <p14:tracePt t="34827" x="10394950" y="2984500"/>
          <p14:tracePt t="34838" x="10329863" y="2965450"/>
          <p14:tracePt t="34855" x="10206038" y="2938463"/>
          <p14:tracePt t="34872" x="10037763" y="2900363"/>
          <p14:tracePt t="34873" x="9823450" y="2887663"/>
          <p14:tracePt t="34888" x="9596438" y="2887663"/>
          <p14:tracePt t="34905" x="9323388" y="2906713"/>
          <p14:tracePt t="34921" x="8843963" y="3003550"/>
          <p14:tracePt t="34938" x="8642350" y="3055938"/>
          <p14:tracePt t="34955" x="8455025" y="3114675"/>
          <p14:tracePt t="34959" x="8324850" y="3159125"/>
          <p14:tracePt t="34971" x="8221663" y="3198813"/>
          <p14:tracePt t="34988" x="8135938" y="3224213"/>
          <p14:tracePt t="35005" x="8001000" y="3270250"/>
          <p14:tracePt t="35023" x="7942263" y="3289300"/>
          <p14:tracePt t="35038" x="7889875" y="3295650"/>
          <p14:tracePt t="35055" x="7793038" y="3328988"/>
          <p14:tracePt t="35071" x="7759700" y="3348038"/>
          <p14:tracePt t="35089" x="7708900" y="3360738"/>
          <p14:tracePt t="35105" x="7696200" y="3367088"/>
          <p14:tracePt t="35122" x="7681913" y="3367088"/>
          <p14:tracePt t="35138" x="7662863" y="3373438"/>
          <p14:tracePt t="35155" x="7656513" y="3373438"/>
          <p14:tracePt t="35172" x="7643813" y="3373438"/>
          <p14:tracePt t="35231" x="7643813" y="3367088"/>
          <p14:tracePt t="35244" x="7650163" y="3367088"/>
          <p14:tracePt t="35280" x="7656513" y="3367088"/>
          <p14:tracePt t="35304" x="7662863" y="3360738"/>
          <p14:tracePt t="35341" x="7669213" y="3360738"/>
          <p14:tracePt t="35388" x="7675563" y="3360738"/>
          <p14:tracePt t="35424" x="7681913" y="3360738"/>
          <p14:tracePt t="35472" x="7688263" y="3360738"/>
          <p14:tracePt t="36000" x="7688263" y="3354388"/>
          <p14:tracePt t="36083" x="7696200" y="3354388"/>
          <p14:tracePt t="36119" x="7696200" y="3348038"/>
          <p14:tracePt t="36179" x="7702550" y="3348038"/>
          <p14:tracePt t="36203" x="7702550" y="3341688"/>
          <p14:tracePt t="36263" x="7702550" y="3335338"/>
          <p14:tracePt t="36359" x="7702550" y="3328988"/>
          <p14:tracePt t="36419" x="7702550" y="3322638"/>
          <p14:tracePt t="36705" x="7708900" y="3322638"/>
          <p14:tracePt t="36802" x="7708900" y="3314700"/>
          <p14:tracePt t="36862" x="7715250" y="3314700"/>
          <p14:tracePt t="36910" x="7715250" y="3308350"/>
          <p14:tracePt t="36934" x="7721600" y="3308350"/>
          <p14:tracePt t="36982" x="7727950" y="3308350"/>
          <p14:tracePt t="37017" x="7727950" y="3302000"/>
          <p14:tracePt t="37029" x="7734300" y="3302000"/>
          <p14:tracePt t="37065" x="7740650" y="3302000"/>
          <p14:tracePt t="37124" x="7747000" y="3302000"/>
          <p14:tracePt t="37149" x="7753350" y="3302000"/>
          <p14:tracePt t="37173" x="7759700" y="3295650"/>
          <p14:tracePt t="37185" x="7766050" y="3295650"/>
          <p14:tracePt t="37197" x="7766050" y="3289300"/>
          <p14:tracePt t="37210" x="7773988" y="3289300"/>
          <p14:tracePt t="37232" x="7780338" y="3282950"/>
          <p14:tracePt t="37258" x="7786688" y="3282950"/>
          <p14:tracePt t="37269" x="7793038" y="3276600"/>
          <p14:tracePt t="37281" x="7799388" y="3276600"/>
          <p14:tracePt t="37293" x="7805738" y="3276600"/>
          <p14:tracePt t="37317" x="7812088" y="3270250"/>
          <p14:tracePt t="37329" x="7818438" y="3270250"/>
          <p14:tracePt t="37342" x="7824788" y="3270250"/>
          <p14:tracePt t="37353" x="7831138" y="3263900"/>
          <p14:tracePt t="37370" x="7831138" y="3257550"/>
          <p14:tracePt t="37386" x="7837488" y="3251200"/>
          <p14:tracePt t="37403" x="7858125" y="3236913"/>
          <p14:tracePt t="37420" x="7870825" y="3224213"/>
          <p14:tracePt t="37437" x="7902575" y="3192463"/>
          <p14:tracePt t="37453" x="7929563" y="3165475"/>
          <p14:tracePt t="37469" x="7948613" y="3152775"/>
          <p14:tracePt t="37486" x="7986713" y="3121025"/>
          <p14:tracePt t="37503" x="8007350" y="3108325"/>
          <p14:tracePt t="37520" x="8039100" y="3087688"/>
          <p14:tracePt t="37536" x="8058150" y="3068638"/>
          <p14:tracePt t="37553" x="8072438" y="3062288"/>
          <p14:tracePt t="37569" x="8097838" y="3043238"/>
          <p14:tracePt t="37586" x="8116888" y="3036888"/>
          <p14:tracePt t="37603" x="8129588" y="3030538"/>
          <p14:tracePt t="37604" x="8143875" y="3024188"/>
          <p14:tracePt t="37619" x="8156575" y="3024188"/>
          <p14:tracePt t="37636" x="8162925" y="3016250"/>
          <p14:tracePt t="37653" x="8181975" y="3009900"/>
          <p14:tracePt t="37669" x="8188325" y="3009900"/>
          <p14:tracePt t="37686" x="8194675" y="3009900"/>
          <p14:tracePt t="37688" x="8201025" y="3009900"/>
          <p14:tracePt t="37703" x="8201025" y="3003550"/>
          <p14:tracePt t="37719" x="8207375" y="3003550"/>
          <p14:tracePt t="37736" x="8221663" y="2997200"/>
          <p14:tracePt t="37760" x="8228013" y="2990850"/>
          <p14:tracePt t="37795" x="8234363" y="2990850"/>
          <p14:tracePt t="38202" x="8240713" y="2990850"/>
          <p14:tracePt t="38215" x="8247063" y="2990850"/>
          <p14:tracePt t="38227" x="8253413" y="2990850"/>
          <p14:tracePt t="38239" x="8259763" y="2990850"/>
          <p14:tracePt t="38252" x="8266113" y="2990850"/>
          <p14:tracePt t="38275" x="8272463" y="2990850"/>
          <p14:tracePt t="38298" x="8278813" y="2990850"/>
          <p14:tracePt t="38442" x="8278813" y="2997200"/>
          <p14:tracePt t="38455" x="8272463" y="3003550"/>
          <p14:tracePt t="38479" x="8266113" y="3003550"/>
          <p14:tracePt t="38502" x="8266113" y="3009900"/>
          <p14:tracePt t="38515" x="8259763" y="3016250"/>
          <p14:tracePt t="38539" x="8253413" y="3024188"/>
          <p14:tracePt t="38550" x="8253413" y="3030538"/>
          <p14:tracePt t="38574" x="8247063" y="3036888"/>
          <p14:tracePt t="38600" x="8247063" y="3049588"/>
          <p14:tracePt t="38611" x="8253413" y="3055938"/>
          <p14:tracePt t="38624" x="8266113" y="3081338"/>
          <p14:tracePt t="38635" x="8285163" y="3101975"/>
          <p14:tracePt t="38652" x="8312150" y="3114675"/>
          <p14:tracePt t="38669" x="8331200" y="3133725"/>
          <p14:tracePt t="38671" x="8337550" y="3140075"/>
          <p14:tracePt t="38685" x="8350250" y="3152775"/>
          <p14:tracePt t="38702" x="8356600" y="3159125"/>
          <p14:tracePt t="38718" x="8364538" y="3179763"/>
          <p14:tracePt t="38742" x="8364538" y="3186113"/>
          <p14:tracePt t="38755" x="8364538" y="3192463"/>
          <p14:tracePt t="38768" x="8350250" y="3198813"/>
          <p14:tracePt t="38785" x="8343900" y="3205163"/>
          <p14:tracePt t="38802" x="8312150" y="3224213"/>
          <p14:tracePt t="38818" x="8293100" y="3244850"/>
          <p14:tracePt t="38835" x="8266113" y="3251200"/>
          <p14:tracePt t="38852" x="8207375" y="3289300"/>
          <p14:tracePt t="38868" x="8175625" y="3295650"/>
          <p14:tracePt t="38885" x="8156575" y="3302000"/>
          <p14:tracePt t="38887" x="8143875" y="3308350"/>
          <p14:tracePt t="38902" x="8123238" y="3314700"/>
          <p14:tracePt t="38918" x="8116888" y="3314700"/>
          <p14:tracePt t="38934" x="8110538" y="3314700"/>
          <p14:tracePt t="39101" x="8110538" y="3308350"/>
          <p14:tracePt t="39223" x="8110538" y="3302000"/>
          <p14:tracePt t="39233" x="8116888" y="3302000"/>
          <p14:tracePt t="39269" x="8123238" y="3302000"/>
          <p14:tracePt t="39293" x="8129588" y="3302000"/>
          <p14:tracePt t="39306" x="8129588" y="3295650"/>
          <p14:tracePt t="39318" x="8135938" y="3295650"/>
          <p14:tracePt t="39341" x="8143875" y="3289300"/>
          <p14:tracePt t="39353" x="8150225" y="3289300"/>
          <p14:tracePt t="39364" x="8156575" y="3289300"/>
          <p14:tracePt t="39377" x="8162925" y="3282950"/>
          <p14:tracePt t="39390" x="8169275" y="3282950"/>
          <p14:tracePt t="39401" x="8175625" y="3276600"/>
          <p14:tracePt t="39418" x="8188325" y="3276600"/>
          <p14:tracePt t="39435" x="8207375" y="3276600"/>
          <p14:tracePt t="39438" x="8228013" y="3270250"/>
          <p14:tracePt t="39451" x="8259763" y="3270250"/>
          <p14:tracePt t="39468" x="8299450" y="3270250"/>
          <p14:tracePt t="39485" x="8383588" y="3270250"/>
          <p14:tracePt t="39501" x="8434388" y="3270250"/>
          <p14:tracePt t="39518" x="8461375" y="3270250"/>
          <p14:tracePt t="39534" x="8505825" y="3263900"/>
          <p14:tracePt t="39551" x="8526463" y="3263900"/>
          <p14:tracePt t="39568" x="8551863" y="3257550"/>
          <p14:tracePt t="39585" x="8558213" y="3257550"/>
          <p14:tracePt t="39601" x="8564563" y="3251200"/>
          <p14:tracePt t="39617" x="8570913" y="3251200"/>
          <p14:tracePt t="39634" x="8577263" y="3244850"/>
          <p14:tracePt t="39651" x="8583613" y="3244850"/>
          <p14:tracePt t="39653" x="8591550" y="3236913"/>
          <p14:tracePt t="39667" x="8597900" y="3236913"/>
          <p14:tracePt t="39690" x="8604250" y="3236913"/>
          <p14:tracePt t="39701" x="8610600" y="3236913"/>
          <p14:tracePt t="39718" x="8616950" y="3236913"/>
          <p14:tracePt t="39735" x="8623300" y="3236913"/>
          <p14:tracePt t="39737" x="8629650" y="3236913"/>
          <p14:tracePt t="39751" x="8636000" y="3236913"/>
          <p14:tracePt t="39767" x="8648700" y="3236913"/>
          <p14:tracePt t="39784" x="8675688" y="3236913"/>
          <p14:tracePt t="39801" x="8688388" y="3236913"/>
          <p14:tracePt t="39818" x="8701088" y="3236913"/>
          <p14:tracePt t="39834" x="8720138" y="3236913"/>
          <p14:tracePt t="39851" x="8726488" y="3236913"/>
          <p14:tracePt t="39868" x="8732838" y="3236913"/>
          <p14:tracePt t="39884" x="8740775" y="3236913"/>
          <p14:tracePt t="39906" x="8747125" y="3236913"/>
          <p14:tracePt t="39917" x="8753475" y="3236913"/>
          <p14:tracePt t="39940" x="8759825" y="3236913"/>
          <p14:tracePt t="39976" x="8766175" y="3236913"/>
          <p14:tracePt t="40023" x="8772525" y="3236913"/>
          <p14:tracePt t="40084" x="8778875" y="3236913"/>
          <p14:tracePt t="40108" x="8785225" y="3236913"/>
          <p14:tracePt t="40132" x="8791575" y="3236913"/>
          <p14:tracePt t="40144" x="8797925" y="3236913"/>
          <p14:tracePt t="40157" x="8804275" y="3236913"/>
          <p14:tracePt t="40167" x="8812213" y="3236913"/>
          <p14:tracePt t="40184" x="8824913" y="3236913"/>
          <p14:tracePt t="40205" x="8831263" y="3236913"/>
          <p14:tracePt t="40217" x="8837613" y="3236913"/>
          <p14:tracePt t="40234" x="8843963" y="3236913"/>
          <p14:tracePt t="40251" x="8850313" y="3236913"/>
          <p14:tracePt t="40267" x="8856663" y="3236913"/>
          <p14:tracePt t="40611" x="8896350" y="3236913"/>
          <p14:tracePt t="40624" x="9005888" y="3236913"/>
          <p14:tracePt t="40635" x="9096375" y="3236913"/>
          <p14:tracePt t="40646" x="9155113" y="3251200"/>
          <p14:tracePt t="40658" x="9194800" y="3251200"/>
          <p14:tracePt t="40672" x="9226550" y="3251200"/>
          <p14:tracePt t="40683" x="9245600" y="3257550"/>
          <p14:tracePt t="40700" x="9251950" y="3257550"/>
          <p14:tracePt t="40717" x="9259888" y="3257550"/>
          <p14:tracePt t="40733" x="9272588" y="3257550"/>
          <p14:tracePt t="40750" x="9278938" y="3257550"/>
          <p14:tracePt t="40767" x="9291638" y="3257550"/>
          <p14:tracePt t="40783" x="9297988" y="3263900"/>
          <p14:tracePt t="40800" x="9317038" y="3263900"/>
          <p14:tracePt t="40817" x="9388475" y="3270250"/>
          <p14:tracePt t="40833" x="9434513" y="3270250"/>
          <p14:tracePt t="40850" x="9544050" y="3270250"/>
          <p14:tracePt t="40867" x="9590088" y="3270250"/>
          <p14:tracePt t="40883" x="9629775" y="3270250"/>
          <p14:tracePt t="40900" x="9707563" y="3270250"/>
          <p14:tracePt t="40917" x="9745663" y="3270250"/>
          <p14:tracePt t="40934" x="9804400" y="3270250"/>
          <p14:tracePt t="40950" x="9842500" y="3270250"/>
          <p14:tracePt t="40967" x="9882188" y="3270250"/>
          <p14:tracePt t="40983" x="9947275" y="3270250"/>
          <p14:tracePt t="41000" x="9979025" y="3270250"/>
          <p14:tracePt t="41016" x="9998075" y="3263900"/>
          <p14:tracePt t="41018" x="10018713" y="3263900"/>
          <p14:tracePt t="41033" x="10031413" y="3257550"/>
          <p14:tracePt t="41050" x="10044113" y="3257550"/>
          <p14:tracePt t="41066" x="10063163" y="3257550"/>
          <p14:tracePt t="41083" x="10069513" y="3251200"/>
          <p14:tracePt t="41102" x="10090150" y="3251200"/>
          <p14:tracePt t="41117" x="10096500" y="3251200"/>
          <p14:tracePt t="41133" x="10102850" y="3244850"/>
          <p14:tracePt t="41150" x="10128250" y="3244850"/>
          <p14:tracePt t="41168" x="10140950" y="3236913"/>
          <p14:tracePt t="41183" x="10155238" y="3236913"/>
          <p14:tracePt t="41200" x="10186988" y="3224213"/>
          <p14:tracePt t="41216" x="10212388" y="3217863"/>
          <p14:tracePt t="41234" x="10277475" y="3198813"/>
          <p14:tracePt t="41250" x="10329863" y="3192463"/>
          <p14:tracePt t="41266" x="10382250" y="3179763"/>
          <p14:tracePt t="41283" x="10485438" y="3165475"/>
          <p14:tracePt t="41300" x="10537825" y="3159125"/>
          <p14:tracePt t="41316" x="10563225" y="3146425"/>
          <p14:tracePt t="41318" x="10596563" y="3146425"/>
          <p14:tracePt t="41333" x="10615613" y="3146425"/>
          <p14:tracePt t="41350" x="10628313" y="3146425"/>
          <p14:tracePt t="41366" x="10653713" y="3146425"/>
          <p14:tracePt t="41383" x="10666413" y="3146425"/>
          <p14:tracePt t="41399" x="10680700" y="3146425"/>
          <p14:tracePt t="41416" x="10699750" y="3152775"/>
          <p14:tracePt t="41433" x="10712450" y="3152775"/>
          <p14:tracePt t="41450" x="10731500" y="3165475"/>
          <p14:tracePt t="41466" x="10737850" y="3173413"/>
          <p14:tracePt t="41483" x="10745788" y="3173413"/>
          <p14:tracePt t="41501" x="10752138" y="3179763"/>
          <p14:tracePt t="41517" x="10758488" y="3186113"/>
          <p14:tracePt t="41533" x="10758488" y="3192463"/>
          <p14:tracePt t="41549" x="10764838" y="3192463"/>
          <p14:tracePt t="41581" x="10771188" y="3192463"/>
          <p14:tracePt t="41605" x="10771188" y="3198813"/>
          <p14:tracePt t="41701" x="10764838" y="3198813"/>
          <p14:tracePt t="41725" x="10764838" y="3205163"/>
          <p14:tracePt t="41832" x="10758488" y="3205163"/>
          <p14:tracePt t="42109" x="10752138" y="3205163"/>
          <p14:tracePt t="42588" x="10752138" y="3198813"/>
          <p14:tracePt t="42599" x="10745788" y="3198813"/>
          <p14:tracePt t="42635" x="10737850" y="3192463"/>
          <p14:tracePt t="42659" x="10737850" y="3186113"/>
          <p14:tracePt t="42684" x="10731500" y="3186113"/>
          <p14:tracePt t="42707" x="10731500" y="3179763"/>
          <p14:tracePt t="42720" x="10725150" y="3179763"/>
          <p14:tracePt t="42743" x="10718800" y="3173413"/>
          <p14:tracePt t="42767" x="10712450" y="3165475"/>
          <p14:tracePt t="42780" x="10706100" y="3165475"/>
          <p14:tracePt t="42791" x="10706100" y="3159125"/>
          <p14:tracePt t="42804" x="10699750" y="3152775"/>
          <p14:tracePt t="42815" x="10693400" y="3146425"/>
          <p14:tracePt t="42832" x="10687050" y="3140075"/>
          <p14:tracePt t="42848" x="10674350" y="3133725"/>
          <p14:tracePt t="42865" x="10634663" y="3114675"/>
          <p14:tracePt t="42882" x="10602913" y="3101975"/>
          <p14:tracePt t="42899" x="10525125" y="3074988"/>
          <p14:tracePt t="42915" x="10491788" y="3062288"/>
          <p14:tracePt t="42932" x="10439400" y="3049588"/>
          <p14:tracePt t="42948" x="10361613" y="3036888"/>
          <p14:tracePt t="42965" x="10310813" y="3030538"/>
          <p14:tracePt t="42982" x="10206038" y="3009900"/>
          <p14:tracePt t="42998" x="10148888" y="3009900"/>
          <p14:tracePt t="43015" x="10050463" y="3009900"/>
          <p14:tracePt t="43032" x="9848850" y="3024188"/>
          <p14:tracePt t="43048" x="9720263" y="3049588"/>
          <p14:tracePt t="43065" x="9609138" y="3068638"/>
          <p14:tracePt t="43082" x="9363075" y="3133725"/>
          <p14:tracePt t="43098" x="9232900" y="3152775"/>
          <p14:tracePt t="43115" x="9064625" y="3211513"/>
          <p14:tracePt t="43132" x="8986838" y="3230563"/>
          <p14:tracePt t="43148" x="8940800" y="3244850"/>
          <p14:tracePt t="43165" x="8890000" y="3270250"/>
          <p14:tracePt t="43182" x="8863013" y="3276600"/>
          <p14:tracePt t="43198" x="8856663" y="3282950"/>
          <p14:tracePt t="43215" x="8850313" y="3282950"/>
          <p14:tracePt t="43283" x="8843963" y="3282950"/>
          <p14:tracePt t="43331" x="8843963" y="3276600"/>
          <p14:tracePt t="43342" x="8843963" y="3270250"/>
          <p14:tracePt t="43355" x="8850313" y="3257550"/>
          <p14:tracePt t="43367" x="8856663" y="3251200"/>
          <p14:tracePt t="43381" x="8856663" y="3244850"/>
          <p14:tracePt t="43398" x="8856663" y="3230563"/>
          <p14:tracePt t="43415" x="8863013" y="3211513"/>
          <p14:tracePt t="43432" x="8875713" y="3192463"/>
          <p14:tracePt t="43448" x="8882063" y="3179763"/>
          <p14:tracePt t="43464" x="8896350" y="3152775"/>
          <p14:tracePt t="43481" x="8902700" y="3140075"/>
          <p14:tracePt t="43498" x="8915400" y="3127375"/>
          <p14:tracePt t="43515" x="8921750" y="3108325"/>
          <p14:tracePt t="43531" x="8928100" y="3101975"/>
          <p14:tracePt t="43548" x="8940800" y="3087688"/>
          <p14:tracePt t="43565" x="8947150" y="3087688"/>
          <p14:tracePt t="43594" x="8940800" y="3087688"/>
          <p14:tracePt t="43607" x="8928100" y="3087688"/>
          <p14:tracePt t="43619" x="8915400" y="3087688"/>
          <p14:tracePt t="43631" x="8890000" y="3095625"/>
          <p14:tracePt t="43648" x="8850313" y="3114675"/>
          <p14:tracePt t="43664" x="8804275" y="3127375"/>
          <p14:tracePt t="43681" x="8623300" y="3159125"/>
          <p14:tracePt t="43698" x="8493125" y="3205163"/>
          <p14:tracePt t="43714" x="8234363" y="3276600"/>
          <p14:tracePt t="43731" x="8150225" y="3308350"/>
          <p14:tracePt t="43747" x="8078788" y="3328988"/>
          <p14:tracePt t="43764" x="7967663" y="3373438"/>
          <p14:tracePt t="43781" x="7915275" y="3386138"/>
          <p14:tracePt t="43798" x="7845425" y="3425825"/>
          <p14:tracePt t="43814" x="7805738" y="3444875"/>
          <p14:tracePt t="43831" x="7773988" y="3471863"/>
          <p14:tracePt t="43847" x="7727950" y="3509963"/>
          <p14:tracePt t="43864" x="7708900" y="3522663"/>
          <p14:tracePt t="43882" x="7669213" y="3556000"/>
          <p14:tracePt t="43898" x="7656513" y="3556000"/>
          <p14:tracePt t="43914" x="7643813" y="3568700"/>
          <p14:tracePt t="43931" x="7624763" y="3581400"/>
          <p14:tracePt t="43948" x="7616825" y="3587750"/>
          <p14:tracePt t="43965" x="7610475" y="3600450"/>
          <p14:tracePt t="43981" x="7604125" y="3600450"/>
          <p14:tracePt t="43998" x="7604125" y="3606800"/>
          <p14:tracePt t="44062" x="7604125" y="3613150"/>
          <p14:tracePt t="44109" x="7610475" y="3613150"/>
          <p14:tracePt t="44121" x="7610475" y="3621088"/>
          <p14:tracePt t="44157" x="7610475" y="3627438"/>
          <p14:tracePt t="44181" x="7610475" y="3633788"/>
          <p14:tracePt t="44219" x="7610475" y="3646488"/>
          <p14:tracePt t="44253" x="7610475" y="3652838"/>
          <p14:tracePt t="44265" x="7610475" y="3659188"/>
          <p14:tracePt t="44277" x="7610475" y="3671888"/>
          <p14:tracePt t="44289" x="7610475" y="3692525"/>
          <p14:tracePt t="44303" x="7610475" y="3698875"/>
          <p14:tracePt t="44314" x="7610475" y="3711575"/>
          <p14:tracePt t="44330" x="7610475" y="3724275"/>
          <p14:tracePt t="44347" x="7610475" y="3743325"/>
          <p14:tracePt t="44349" x="7604125" y="3756025"/>
          <p14:tracePt t="44364" x="7597775" y="3762375"/>
          <p14:tracePt t="44381" x="7597775" y="3770313"/>
          <p14:tracePt t="44397" x="7585075" y="3783013"/>
          <p14:tracePt t="44414" x="7585075" y="3795713"/>
          <p14:tracePt t="44431" x="7578725" y="3795713"/>
          <p14:tracePt t="44433" x="7578725" y="3802063"/>
          <p14:tracePt t="44447" x="7572375" y="3802063"/>
          <p14:tracePt t="44464" x="7572375" y="3808413"/>
          <p14:tracePt t="44481" x="7566025" y="3808413"/>
          <p14:tracePt t="44497" x="7559675" y="3814763"/>
          <p14:tracePt t="44518" x="7553325" y="3814763"/>
          <p14:tracePt t="44553" x="7546975" y="3814763"/>
          <p14:tracePt t="44601" x="7539038" y="3814763"/>
          <p14:tracePt t="44613" x="7532688" y="3814763"/>
          <p14:tracePt t="44636" x="7526338" y="3814763"/>
          <p14:tracePt t="44660" x="7519988" y="3814763"/>
          <p14:tracePt t="44672" x="7513638" y="3814763"/>
          <p14:tracePt t="44696" x="7507288" y="3814763"/>
          <p14:tracePt t="44720" x="7500938" y="3814763"/>
          <p14:tracePt t="44733" x="7494588" y="3814763"/>
          <p14:tracePt t="44744" x="7488238" y="3814763"/>
          <p14:tracePt t="44756" x="7481888" y="3814763"/>
          <p14:tracePt t="44769" x="7475538" y="3814763"/>
          <p14:tracePt t="44792" x="7467600" y="3814763"/>
          <p14:tracePt t="44804" x="7461250" y="3814763"/>
          <p14:tracePt t="44817" x="7454900" y="3814763"/>
          <p14:tracePt t="44840" x="7448550" y="3814763"/>
          <p14:tracePt t="44876" x="7442200" y="3814763"/>
          <p14:tracePt t="44972" x="7448550" y="3814763"/>
          <p14:tracePt t="44985" x="7461250" y="3814763"/>
          <p14:tracePt t="44996" x="7475538" y="3814763"/>
          <p14:tracePt t="45008" x="7500938" y="3808413"/>
          <p14:tracePt t="45021" x="7532688" y="3802063"/>
          <p14:tracePt t="45033" x="7572375" y="3795713"/>
          <p14:tracePt t="45047" x="7610475" y="3795713"/>
          <p14:tracePt t="45063" x="7669213" y="3795713"/>
          <p14:tracePt t="45080" x="7793038" y="3789363"/>
          <p14:tracePt t="45096" x="7851775" y="3776663"/>
          <p14:tracePt t="45113" x="7902575" y="3776663"/>
          <p14:tracePt t="45130" x="7980363" y="3770313"/>
          <p14:tracePt t="45146" x="8001000" y="3770313"/>
          <p14:tracePt t="45164" x="8026400" y="3770313"/>
          <p14:tracePt t="45180" x="8032750" y="3770313"/>
          <p14:tracePt t="45197" x="8045450" y="3762375"/>
          <p14:tracePt t="45213" x="8051800" y="3762375"/>
          <p14:tracePt t="45230" x="8058150" y="3762375"/>
          <p14:tracePt t="45247" x="8064500" y="3762375"/>
          <p14:tracePt t="45263" x="8072438" y="3762375"/>
          <p14:tracePt t="45284" x="8078788" y="3762375"/>
          <p14:tracePt t="45296" x="8085138" y="3762375"/>
          <p14:tracePt t="45319" x="8091488" y="3762375"/>
          <p14:tracePt t="45343" x="8097838" y="3762375"/>
          <p14:tracePt t="45391" x="8104188" y="3762375"/>
          <p14:tracePt t="45619" x="8110538" y="3762375"/>
          <p14:tracePt t="45630" x="8116888" y="3762375"/>
          <p14:tracePt t="45643" x="8123238" y="3762375"/>
          <p14:tracePt t="45655" x="8135938" y="3762375"/>
          <p14:tracePt t="45667" x="8143875" y="3762375"/>
          <p14:tracePt t="45679" x="8150225" y="3762375"/>
          <p14:tracePt t="45696" x="8156575" y="3762375"/>
          <p14:tracePt t="45713" x="8162925" y="3762375"/>
          <p14:tracePt t="45716" x="8175625" y="3762375"/>
          <p14:tracePt t="45729" x="8188325" y="3762375"/>
          <p14:tracePt t="45746" x="8194675" y="3762375"/>
          <p14:tracePt t="45763" x="8207375" y="3762375"/>
          <p14:tracePt t="45779" x="8213725" y="3762375"/>
          <p14:tracePt t="45796" x="8221663" y="3762375"/>
          <p14:tracePt t="45812" x="8234363" y="3762375"/>
          <p14:tracePt t="45830" x="8240713" y="3762375"/>
          <p14:tracePt t="45846" x="8247063" y="3762375"/>
          <p14:tracePt t="45863" x="8253413" y="3762375"/>
          <p14:tracePt t="45879" x="8259763" y="3762375"/>
          <p14:tracePt t="45896" x="8272463" y="3762375"/>
          <p14:tracePt t="45913" x="8278813" y="3762375"/>
          <p14:tracePt t="45929" x="8285163" y="3762375"/>
          <p14:tracePt t="45954" x="8293100" y="3762375"/>
          <p14:tracePt t="45978" x="8299450" y="3762375"/>
          <p14:tracePt t="46014" x="8305800" y="3762375"/>
          <p14:tracePt t="46074" x="8305800" y="3770313"/>
          <p14:tracePt t="46361" x="8305800" y="3776663"/>
          <p14:tracePt t="46445" x="8305800" y="3783013"/>
          <p14:tracePt t="46792" x="8312150" y="3783013"/>
          <p14:tracePt t="46804" x="8343900" y="3783013"/>
          <p14:tracePt t="46817" x="8377238" y="3783013"/>
          <p14:tracePt t="46829" x="8402638" y="3783013"/>
          <p14:tracePt t="46845" x="8434388" y="3783013"/>
          <p14:tracePt t="46862" x="8474075" y="3776663"/>
          <p14:tracePt t="46878" x="8539163" y="3762375"/>
          <p14:tracePt t="46895" x="8577263" y="3762375"/>
          <p14:tracePt t="46912" x="8675688" y="3762375"/>
          <p14:tracePt t="46928" x="8713788" y="3762375"/>
          <p14:tracePt t="46945" x="8753475" y="3762375"/>
          <p14:tracePt t="46962" x="8824913" y="3762375"/>
          <p14:tracePt t="46978" x="8843963" y="3762375"/>
          <p14:tracePt t="46996" x="8863013" y="3762375"/>
          <p14:tracePt t="47012" x="8869363" y="3762375"/>
          <p14:tracePt t="47116" x="8875713" y="3762375"/>
          <p14:tracePt t="47152" x="8882063" y="3762375"/>
          <p14:tracePt t="47165" x="8890000" y="3762375"/>
          <p14:tracePt t="47176" x="8896350" y="3762375"/>
          <p14:tracePt t="47188" x="8909050" y="3762375"/>
          <p14:tracePt t="47201" x="8921750" y="3762375"/>
          <p14:tracePt t="47212" x="8940800" y="3762375"/>
          <p14:tracePt t="47228" x="8974138" y="3762375"/>
          <p14:tracePt t="47245" x="9018588" y="3756025"/>
          <p14:tracePt t="47261" x="9077325" y="3756025"/>
          <p14:tracePt t="47278" x="9096375" y="3756025"/>
          <p14:tracePt t="47295" x="9136063" y="3756025"/>
          <p14:tracePt t="47311" x="9155113" y="3756025"/>
          <p14:tracePt t="47328" x="9161463" y="3756025"/>
          <p14:tracePt t="47345" x="9188450" y="3749675"/>
          <p14:tracePt t="47361" x="9194800" y="3749675"/>
          <p14:tracePt t="47378" x="9201150" y="3749675"/>
          <p14:tracePt t="47395" x="9207500" y="3749675"/>
          <p14:tracePt t="47411" x="9213850" y="3749675"/>
          <p14:tracePt t="47691" x="9207500" y="3749675"/>
          <p14:tracePt t="47703" x="9167813" y="3743325"/>
          <p14:tracePt t="47716" x="9096375" y="3736975"/>
          <p14:tracePt t="47728" x="9031288" y="3724275"/>
          <p14:tracePt t="47744" x="8909050" y="3724275"/>
          <p14:tracePt t="47761" x="8740775" y="3724275"/>
          <p14:tracePt t="47777" x="8331200" y="3730625"/>
          <p14:tracePt t="47794" x="8116888" y="3756025"/>
          <p14:tracePt t="47811" x="7773988" y="3814763"/>
          <p14:tracePt t="47828" x="7662863" y="3833813"/>
          <p14:tracePt t="47845" x="7597775" y="3860800"/>
          <p14:tracePt t="47848" x="7559675" y="3867150"/>
          <p14:tracePt t="47861" x="7526338" y="3886200"/>
          <p14:tracePt t="47878" x="7507288" y="3892550"/>
          <p14:tracePt t="47895" x="7494588" y="3898900"/>
          <p14:tracePt t="47911" x="7488238" y="3905250"/>
          <p14:tracePt t="47928" x="7481888" y="3911600"/>
          <p14:tracePt t="47967" x="7481888" y="3919538"/>
          <p14:tracePt t="48039" x="7488238" y="3919538"/>
          <p14:tracePt t="48062" x="7494588" y="3919538"/>
          <p14:tracePt t="48098" x="7500938" y="3919538"/>
          <p14:tracePt t="48122" x="7507288" y="3919538"/>
          <p14:tracePt t="48170" x="7513638" y="3919538"/>
          <p14:tracePt t="48194" x="7519988" y="3925888"/>
          <p14:tracePt t="48206" x="7526338" y="3925888"/>
          <p14:tracePt t="48218" x="7526338" y="3932238"/>
          <p14:tracePt t="48242" x="7532688" y="3938588"/>
          <p14:tracePt t="48254" x="7532688" y="3944938"/>
          <p14:tracePt t="48278" x="7532688" y="3951288"/>
          <p14:tracePt t="48302" x="7532688" y="3957638"/>
          <p14:tracePt t="48315" x="7532688" y="3963988"/>
          <p14:tracePt t="48338" x="7539038" y="3970338"/>
          <p14:tracePt t="48361" x="7546975" y="3970338"/>
          <p14:tracePt t="48374" x="7546975" y="3976688"/>
          <p14:tracePt t="48386" x="7553325" y="3976688"/>
          <p14:tracePt t="48411" x="7559675" y="3983038"/>
          <p14:tracePt t="48422" x="7566025" y="3983038"/>
          <p14:tracePt t="48434" x="7585075" y="3983038"/>
          <p14:tracePt t="48447" x="7604125" y="3990975"/>
          <p14:tracePt t="48460" x="7637463" y="3997325"/>
          <p14:tracePt t="48477" x="7675563" y="4016375"/>
          <p14:tracePt t="48494" x="7780338" y="4035425"/>
          <p14:tracePt t="48511" x="7845425" y="4054475"/>
          <p14:tracePt t="48527" x="7896225" y="4075113"/>
          <p14:tracePt t="48544" x="7967663" y="4087813"/>
          <p14:tracePt t="48561" x="8001000" y="4094163"/>
          <p14:tracePt t="48578" x="8039100" y="4094163"/>
          <p14:tracePt t="48594" x="8051800" y="4100513"/>
          <p14:tracePt t="48611" x="8058150" y="4100513"/>
          <p14:tracePt t="48627" x="8064500" y="4100513"/>
          <p14:tracePt t="48644" x="8072438" y="4100513"/>
          <p14:tracePt t="48926" x="8064500" y="4100513"/>
          <p14:tracePt t="49045" x="8058150" y="4100513"/>
          <p14:tracePt t="49380" x="7942263" y="4132263"/>
          <p14:tracePt t="49393" x="7805738" y="4210050"/>
          <p14:tracePt t="49405" x="7656513" y="4308475"/>
          <p14:tracePt t="49416" x="7532688" y="4373563"/>
          <p14:tracePt t="49429" x="7410450" y="4451350"/>
          <p14:tracePt t="49443" x="7339013" y="4495800"/>
          <p14:tracePt t="49459" x="7286625" y="4529138"/>
          <p14:tracePt t="49477" x="7221538" y="4579938"/>
          <p14:tracePt t="49493" x="7202488" y="4594225"/>
          <p14:tracePt t="49510" x="7189788" y="4594225"/>
          <p14:tracePt t="49526" x="7169150" y="4594225"/>
          <p14:tracePt t="49543" x="7162800" y="4594225"/>
          <p14:tracePt t="49560" x="7156450" y="4587875"/>
          <p14:tracePt t="49577" x="7156450" y="4579938"/>
          <p14:tracePt t="49593" x="7143750" y="4573588"/>
          <p14:tracePt t="49610" x="7124700" y="4560888"/>
          <p14:tracePt t="49626" x="7124700" y="4554538"/>
          <p14:tracePt t="49644" x="7118350" y="4554538"/>
          <p14:tracePt t="49692" x="7124700" y="4554538"/>
          <p14:tracePt t="49704" x="7131050" y="4554538"/>
          <p14:tracePt t="49716" x="7137400" y="4554538"/>
          <p14:tracePt t="49730" x="7143750" y="4554538"/>
          <p14:tracePt t="49743" x="7150100" y="4554538"/>
          <p14:tracePt t="49759" x="7156450" y="4554538"/>
          <p14:tracePt t="49776" x="7162800" y="4554538"/>
          <p14:tracePt t="49793" x="7169150" y="4554538"/>
          <p14:tracePt t="49809" x="7183438" y="4548188"/>
          <p14:tracePt t="49826" x="7196138" y="4541838"/>
          <p14:tracePt t="49843" x="7208838" y="4535488"/>
          <p14:tracePt t="49860" x="7221538" y="4535488"/>
          <p14:tracePt t="49876" x="7234238" y="4529138"/>
          <p14:tracePt t="49893" x="7246938" y="4529138"/>
          <p14:tracePt t="49909" x="7273925" y="4529138"/>
          <p14:tracePt t="49926" x="7286625" y="4529138"/>
          <p14:tracePt t="49943" x="7332663" y="4529138"/>
          <p14:tracePt t="49959" x="7364413" y="4529138"/>
          <p14:tracePt t="49976" x="7377113" y="4529138"/>
          <p14:tracePt t="49992" x="7404100" y="4529138"/>
          <p14:tracePt t="50009" x="7410450" y="4529138"/>
          <p14:tracePt t="50027" x="7423150" y="4529138"/>
          <p14:tracePt t="50183" x="7416800" y="4529138"/>
          <p14:tracePt t="50279" x="7423150" y="4522788"/>
          <p14:tracePt t="50302" x="7429500" y="4522788"/>
          <p14:tracePt t="50316" x="7442200" y="4522788"/>
          <p14:tracePt t="50327" x="7467600" y="4522788"/>
          <p14:tracePt t="50340" x="7500938" y="4522788"/>
          <p14:tracePt t="50351" x="7546975" y="4529138"/>
          <p14:tracePt t="50365" x="7597775" y="4529138"/>
          <p14:tracePt t="50376" x="7662863" y="4541838"/>
          <p14:tracePt t="50392" x="7715250" y="4541838"/>
          <p14:tracePt t="50409" x="7773988" y="4548188"/>
          <p14:tracePt t="50426" x="7870825" y="4554538"/>
          <p14:tracePt t="50442" x="7935913" y="4554538"/>
          <p14:tracePt t="50459" x="8064500" y="4567238"/>
          <p14:tracePt t="50475" x="8123238" y="4567238"/>
          <p14:tracePt t="50492" x="8181975" y="4567238"/>
          <p14:tracePt t="50495" x="8234363" y="4560888"/>
          <p14:tracePt t="50509" x="8272463" y="4560888"/>
          <p14:tracePt t="50525" x="8299450" y="4560888"/>
          <p14:tracePt t="50542" x="8364538" y="4554538"/>
          <p14:tracePt t="50559" x="8383588" y="4548188"/>
          <p14:tracePt t="50576" x="8402638" y="4548188"/>
          <p14:tracePt t="50592" x="8428038" y="4541838"/>
          <p14:tracePt t="50609" x="8442325" y="4541838"/>
          <p14:tracePt t="50626" x="8455025" y="4541838"/>
          <p14:tracePt t="50642" x="8467725" y="4535488"/>
          <p14:tracePt t="50659" x="8474075" y="4535488"/>
          <p14:tracePt t="50675" x="8486775" y="4535488"/>
          <p14:tracePt t="50692" x="8499475" y="4535488"/>
          <p14:tracePt t="50709" x="8505825" y="4535488"/>
          <p14:tracePt t="50710" x="8520113" y="4535488"/>
          <p14:tracePt t="50725" x="8532813" y="4535488"/>
          <p14:tracePt t="50742" x="8545513" y="4535488"/>
          <p14:tracePt t="50759" x="8570913" y="4535488"/>
          <p14:tracePt t="50776" x="8583613" y="4535488"/>
          <p14:tracePt t="50792" x="8591550" y="4535488"/>
          <p14:tracePt t="50795" x="8597900" y="4535488"/>
          <p14:tracePt t="50818" x="8604250" y="4535488"/>
          <p14:tracePt t="50842" x="8610600" y="4535488"/>
          <p14:tracePt t="51656" x="8616950" y="4529138"/>
          <p14:tracePt t="51668" x="8642350" y="4529138"/>
          <p14:tracePt t="51681" x="8675688" y="4522788"/>
          <p14:tracePt t="51692" x="8720138" y="4508500"/>
          <p14:tracePt t="51708" x="8778875" y="4508500"/>
          <p14:tracePt t="51724" x="8818563" y="4508500"/>
          <p14:tracePt t="51741" x="8875713" y="4508500"/>
          <p14:tracePt t="51758" x="8890000" y="4508500"/>
          <p14:tracePt t="51824" x="8882063" y="4508500"/>
          <p14:tracePt t="51836" x="8875713" y="4508500"/>
          <p14:tracePt t="51848" x="8869363" y="4508500"/>
          <p14:tracePt t="51861" x="8863013" y="4508500"/>
          <p14:tracePt t="51874" x="8856663" y="4508500"/>
          <p14:tracePt t="51897" x="8850313" y="4508500"/>
          <p14:tracePt t="51908" x="8843963" y="4508500"/>
          <p14:tracePt t="51932" x="8837613" y="4502150"/>
          <p14:tracePt t="51980" x="8843963" y="4502150"/>
          <p14:tracePt t="51992" x="8850313" y="4502150"/>
          <p14:tracePt t="52028" x="8856663" y="4502150"/>
          <p14:tracePt t="52077" x="8863013" y="4502150"/>
          <p14:tracePt t="52088" x="8869363" y="4502150"/>
          <p14:tracePt t="52124" x="8875713" y="4502150"/>
          <p14:tracePt t="52148" x="8882063" y="4502150"/>
          <p14:tracePt t="52172" x="8890000" y="4502150"/>
          <p14:tracePt t="52219" x="8896350" y="4502150"/>
          <p14:tracePt t="52256" x="8902700" y="4502150"/>
          <p14:tracePt t="52280" x="8909050" y="4502150"/>
          <p14:tracePt t="52292" x="8915400" y="4502150"/>
          <p14:tracePt t="52316" x="8921750" y="4502150"/>
          <p14:tracePt t="52627" x="8921750" y="4495800"/>
          <p14:tracePt t="52639" x="8928100" y="4495800"/>
          <p14:tracePt t="52652" x="8928100" y="4489450"/>
          <p14:tracePt t="52676" x="8934450" y="4489450"/>
          <p14:tracePt t="52699" x="8947150" y="4489450"/>
          <p14:tracePt t="52712" x="8967788" y="4489450"/>
          <p14:tracePt t="52723" x="8980488" y="4489450"/>
          <p14:tracePt t="52724" x="8993188" y="4489450"/>
          <p14:tracePt t="52735" x="9024938" y="4489450"/>
          <p14:tracePt t="52746" x="9077325" y="4489450"/>
          <p14:tracePt t="52758" x="9136063" y="4489450"/>
          <p14:tracePt t="52774" x="9207500" y="4489450"/>
          <p14:tracePt t="52790" x="9259888" y="4495800"/>
          <p14:tracePt t="52807" x="9337675" y="4502150"/>
          <p14:tracePt t="52823" x="9356725" y="4502150"/>
          <p14:tracePt t="52841" x="9369425" y="4502150"/>
          <p14:tracePt t="52857" x="9388475" y="4502150"/>
          <p14:tracePt t="52902" x="9382125" y="4508500"/>
          <p14:tracePt t="52915" x="9369425" y="4508500"/>
          <p14:tracePt t="52928" x="9350375" y="4508500"/>
          <p14:tracePt t="52939" x="9317038" y="4508500"/>
          <p14:tracePt t="52951" x="9291638" y="4508500"/>
          <p14:tracePt t="52963" x="9259888" y="4508500"/>
          <p14:tracePt t="52974" x="9232900" y="4508500"/>
          <p14:tracePt t="52990" x="9213850" y="4508500"/>
          <p14:tracePt t="53007" x="9188450" y="4508500"/>
          <p14:tracePt t="53023" x="9161463" y="4508500"/>
          <p14:tracePt t="53041" x="9155113" y="4508500"/>
          <p14:tracePt t="53082" x="9182100" y="4508500"/>
          <p14:tracePt t="53096" x="9201150" y="4508500"/>
          <p14:tracePt t="53106" x="9226550" y="4508500"/>
          <p14:tracePt t="53118" x="9278938" y="4516438"/>
          <p14:tracePt t="53130" x="9356725" y="4516438"/>
          <p14:tracePt t="53144" x="9428163" y="4529138"/>
          <p14:tracePt t="53157" x="9505950" y="4535488"/>
          <p14:tracePt t="53174" x="9583738" y="4535488"/>
          <p14:tracePt t="53190" x="9674225" y="4535488"/>
          <p14:tracePt t="53207" x="9693275" y="4535488"/>
          <p14:tracePt t="53223" x="9707563" y="4535488"/>
          <p14:tracePt t="53240" x="9726613" y="4535488"/>
          <p14:tracePt t="53257" x="9732963" y="4535488"/>
          <p14:tracePt t="53273" x="9745663" y="4535488"/>
          <p14:tracePt t="53370" x="9745663" y="4529138"/>
          <p14:tracePt t="53525" x="9739313" y="4529138"/>
          <p14:tracePt t="53561" x="9732963" y="4522788"/>
          <p14:tracePt t="53610" x="9726613" y="4522788"/>
          <p14:tracePt t="53633" x="9726613" y="4516438"/>
          <p14:tracePt t="53681" x="9720263" y="4516438"/>
          <p14:tracePt t="53705" x="9720263" y="4508500"/>
          <p14:tracePt t="53717" x="9713913" y="4508500"/>
          <p14:tracePt t="53753" x="9707563" y="4508500"/>
          <p14:tracePt t="53764" x="9693275" y="4508500"/>
          <p14:tracePt t="53778" x="9680575" y="4508500"/>
          <p14:tracePt t="53789" x="9667875" y="4508500"/>
          <p14:tracePt t="53806" x="9636125" y="4508500"/>
          <p14:tracePt t="53823" x="9596438" y="4508500"/>
          <p14:tracePt t="53825" x="9537700" y="4508500"/>
          <p14:tracePt t="53840" x="9447213" y="4516438"/>
          <p14:tracePt t="53856" x="9337675" y="4529138"/>
          <p14:tracePt t="53873" x="8993188" y="4573588"/>
          <p14:tracePt t="53889" x="8791575" y="4645025"/>
          <p14:tracePt t="53906" x="8583613" y="4703763"/>
          <p14:tracePt t="53923" x="8234363" y="4859338"/>
          <p14:tracePt t="53939" x="8110538" y="4924425"/>
          <p14:tracePt t="53956" x="7915275" y="5014913"/>
          <p14:tracePt t="53973" x="7858125" y="5054600"/>
          <p14:tracePt t="53990" x="7805738" y="5086350"/>
          <p14:tracePt t="54006" x="7734300" y="5126038"/>
          <p14:tracePt t="54023" x="7702550" y="5138738"/>
          <p14:tracePt t="54040" x="7656513" y="5164138"/>
          <p14:tracePt t="54056" x="7643813" y="5170488"/>
          <p14:tracePt t="54073" x="7624763" y="5176838"/>
          <p14:tracePt t="54089" x="7578725" y="5184775"/>
          <p14:tracePt t="54106" x="7559675" y="5184775"/>
          <p14:tracePt t="54122" x="7539038" y="5184775"/>
          <p14:tracePt t="54139" x="7494588" y="5184775"/>
          <p14:tracePt t="54157" x="7467600" y="5184775"/>
          <p14:tracePt t="54172" x="7429500" y="5184775"/>
          <p14:tracePt t="54189" x="7410450" y="5184775"/>
          <p14:tracePt t="54206" x="7389813" y="5170488"/>
          <p14:tracePt t="54208" x="7370763" y="5164138"/>
          <p14:tracePt t="54223" x="7364413" y="5157788"/>
          <p14:tracePt t="54239" x="7351713" y="5151438"/>
          <p14:tracePt t="54256" x="7351713" y="5145088"/>
          <p14:tracePt t="54272" x="7351713" y="5138738"/>
          <p14:tracePt t="54303" x="7358063" y="5138738"/>
          <p14:tracePt t="54339" x="7364413" y="5138738"/>
          <p14:tracePt t="54363" x="7370763" y="5138738"/>
          <p14:tracePt t="54388" x="7377113" y="5132388"/>
          <p14:tracePt t="54400" x="7383463" y="5132388"/>
          <p14:tracePt t="54424" x="7389813" y="5132388"/>
          <p14:tracePt t="54435" x="7396163" y="5132388"/>
          <p14:tracePt t="54460" x="7404100" y="5126038"/>
          <p14:tracePt t="54472" x="7410450" y="5126038"/>
          <p14:tracePt t="54484" x="7416800" y="5126038"/>
          <p14:tracePt t="54520" x="7423150" y="5126038"/>
          <p14:tracePt t="54532" x="7429500" y="5126038"/>
          <p14:tracePt t="54567" x="7435850" y="5126038"/>
          <p14:tracePt t="54579" x="7442200" y="5126038"/>
          <p14:tracePt t="54604" x="7448550" y="5126038"/>
          <p14:tracePt t="54651" x="7454900" y="5126038"/>
          <p14:tracePt t="54699" x="7461250" y="5126038"/>
          <p14:tracePt t="54723" x="7467600" y="5126038"/>
          <p14:tracePt t="54735" x="7475538" y="5126038"/>
          <p14:tracePt t="54747" x="7481888" y="5126038"/>
          <p14:tracePt t="54761" x="7494588" y="5126038"/>
          <p14:tracePt t="54772" x="7513638" y="5126038"/>
          <p14:tracePt t="54788" x="7539038" y="5126038"/>
          <p14:tracePt t="54806" x="7616825" y="5126038"/>
          <p14:tracePt t="54822" x="7662863" y="5126038"/>
          <p14:tracePt t="54839" x="7721600" y="5126038"/>
          <p14:tracePt t="54855" x="7851775" y="5126038"/>
          <p14:tracePt t="54872" x="7896225" y="5126038"/>
          <p14:tracePt t="54888" x="7935913" y="5126038"/>
          <p14:tracePt t="54906" x="8007350" y="5119688"/>
          <p14:tracePt t="54922" x="8032750" y="5119688"/>
          <p14:tracePt t="54939" x="8085138" y="5105400"/>
          <p14:tracePt t="54956" x="8116888" y="5105400"/>
          <p14:tracePt t="54972" x="8135938" y="5099050"/>
          <p14:tracePt t="54988" x="8169275" y="5092700"/>
          <p14:tracePt t="55005" x="8188325" y="5086350"/>
          <p14:tracePt t="55022" x="8228013" y="5067300"/>
          <p14:tracePt t="55039" x="8247063" y="5060950"/>
          <p14:tracePt t="55055" x="8266113" y="5048250"/>
          <p14:tracePt t="55072" x="8305800" y="5014913"/>
          <p14:tracePt t="55089" x="8318500" y="5002213"/>
          <p14:tracePt t="55106" x="8343900" y="4970463"/>
          <p14:tracePt t="55122" x="8356600" y="4943475"/>
          <p14:tracePt t="55138" x="8370888" y="4911725"/>
          <p14:tracePt t="55155" x="8383588" y="4852988"/>
          <p14:tracePt t="55172" x="8402638" y="4821238"/>
          <p14:tracePt t="55188" x="8408988" y="4781550"/>
          <p14:tracePt t="55205" x="8415338" y="4722813"/>
          <p14:tracePt t="55222" x="8421688" y="4678363"/>
          <p14:tracePt t="55238" x="8415338" y="4579938"/>
          <p14:tracePt t="55255" x="8383588" y="4548188"/>
          <p14:tracePt t="55272" x="8337550" y="4508500"/>
          <p14:tracePt t="55274" x="8312150" y="4502150"/>
          <p14:tracePt t="55276" x="8293100" y="4483100"/>
          <p14:tracePt t="55288" x="8213725" y="4464050"/>
          <p14:tracePt t="55305" x="8135938" y="4464050"/>
          <p14:tracePt t="55322" x="7948613" y="4476750"/>
          <p14:tracePt t="55338" x="7837488" y="4495800"/>
          <p14:tracePt t="55356" x="7696200" y="4541838"/>
          <p14:tracePt t="55372" x="7475538" y="4638675"/>
          <p14:tracePt t="55388" x="7396163" y="4684713"/>
          <p14:tracePt t="55405" x="7345363" y="4722813"/>
          <p14:tracePt t="55407" x="7312025" y="4768850"/>
          <p14:tracePt t="55424" x="7286625" y="4800600"/>
          <p14:tracePt t="55438" x="7267575" y="4833938"/>
          <p14:tracePt t="55455" x="7240588" y="4924425"/>
          <p14:tracePt t="55472" x="7240588" y="4964113"/>
          <p14:tracePt t="55488" x="7261225" y="5008563"/>
          <p14:tracePt t="55490" x="7292975" y="5073650"/>
          <p14:tracePt t="55505" x="7351713" y="5138738"/>
          <p14:tracePt t="55522" x="7416800" y="5184775"/>
          <p14:tracePt t="55538" x="7591425" y="5248275"/>
          <p14:tracePt t="55555" x="7675563" y="5281613"/>
          <p14:tracePt t="55572" x="7773988" y="5300663"/>
          <p14:tracePt t="55588" x="7994650" y="5307013"/>
          <p14:tracePt t="55606" x="8078788" y="5300663"/>
          <p14:tracePt t="55622" x="8247063" y="5248275"/>
          <p14:tracePt t="55638" x="8299450" y="5222875"/>
          <p14:tracePt t="55655" x="8350250" y="5197475"/>
          <p14:tracePt t="55671" x="8448675" y="5113338"/>
          <p14:tracePt t="55688" x="8480425" y="5060950"/>
          <p14:tracePt t="55705" x="8520113" y="4949825"/>
          <p14:tracePt t="55722" x="8532813" y="4905375"/>
          <p14:tracePt t="55738" x="8526463" y="4865688"/>
          <p14:tracePt t="55755" x="8499475" y="4814888"/>
          <p14:tracePt t="55772" x="8480425" y="4800600"/>
          <p14:tracePt t="55788" x="8448675" y="4787900"/>
          <p14:tracePt t="55804" x="8364538" y="4794250"/>
          <p14:tracePt t="55824" x="8318500" y="4800600"/>
          <p14:tracePt t="55838" x="8253413" y="4814888"/>
          <p14:tracePt t="55854" x="8228013" y="4821238"/>
          <p14:tracePt t="55872" x="8207375" y="4840288"/>
          <p14:tracePt t="55875" x="8194675" y="4846638"/>
          <p14:tracePt t="55897" x="8194675" y="4852988"/>
          <p14:tracePt t="55934" x="8207375" y="4846638"/>
          <p14:tracePt t="55946" x="8213725" y="4833938"/>
          <p14:tracePt t="55960" x="8221663" y="4833938"/>
          <p14:tracePt t="55969" x="8234363" y="4827588"/>
          <p14:tracePt t="55982" x="8234363" y="4814888"/>
          <p14:tracePt t="55994" x="8240713" y="4800600"/>
          <p14:tracePt t="56005" x="8240713" y="4775200"/>
          <p14:tracePt t="56021" x="8240713" y="4762500"/>
          <p14:tracePt t="56038" x="8247063" y="4743450"/>
          <p14:tracePt t="56054" x="8247063" y="4697413"/>
          <p14:tracePt t="56071" x="8253413" y="4665663"/>
          <p14:tracePt t="56088" x="8285163" y="4573588"/>
          <p14:tracePt t="56105" x="8312150" y="4516438"/>
          <p14:tracePt t="56121" x="8337550" y="4445000"/>
          <p14:tracePt t="56137" x="8428038" y="4314825"/>
          <p14:tracePt t="56155" x="8474075" y="4275138"/>
          <p14:tracePt t="56172" x="8526463" y="4230688"/>
          <p14:tracePt t="56188" x="8636000" y="4159250"/>
          <p14:tracePt t="56205" x="8707438" y="4146550"/>
          <p14:tracePt t="56221" x="8837613" y="4106863"/>
          <p14:tracePt t="56238" x="8934450" y="4087813"/>
          <p14:tracePt t="56254" x="9045575" y="4081463"/>
          <p14:tracePt t="56271" x="9251950" y="4048125"/>
          <p14:tracePt t="56287" x="9337675" y="4048125"/>
          <p14:tracePt t="56304" x="9480550" y="4048125"/>
          <p14:tracePt t="56321" x="9564688" y="4048125"/>
          <p14:tracePt t="56338" x="9648825" y="4060825"/>
          <p14:tracePt t="56354" x="9785350" y="4100513"/>
          <p14:tracePt t="56371" x="9863138" y="4125913"/>
          <p14:tracePt t="56388" x="9959975" y="4165600"/>
          <p14:tracePt t="56404" x="10018713" y="4184650"/>
          <p14:tracePt t="56421" x="10063163" y="4210050"/>
          <p14:tracePt t="56438" x="10140950" y="4249738"/>
          <p14:tracePt t="56454" x="10174288" y="4275138"/>
          <p14:tracePt t="56471" x="10233025" y="4340225"/>
          <p14:tracePt t="56487" x="10258425" y="4379913"/>
          <p14:tracePt t="56504" x="10283825" y="4438650"/>
          <p14:tracePt t="56521" x="10317163" y="4560888"/>
          <p14:tracePt t="56537" x="10323513" y="4619625"/>
          <p14:tracePt t="56554" x="10323513" y="4691063"/>
          <p14:tracePt t="56558" x="10323513" y="4743450"/>
          <p14:tracePt t="56571" x="10323513" y="4794250"/>
          <p14:tracePt t="56587" x="10310813" y="4827588"/>
          <p14:tracePt t="56605" x="10271125" y="4859338"/>
          <p14:tracePt t="56621" x="10252075" y="4886325"/>
          <p14:tracePt t="56637" x="10233025" y="4899025"/>
          <p14:tracePt t="56654" x="10161588" y="4918075"/>
          <p14:tracePt t="56671" x="10121900" y="4937125"/>
          <p14:tracePt t="56688" x="10012363" y="4943475"/>
          <p14:tracePt t="56705" x="9953625" y="4943475"/>
          <p14:tracePt t="56721" x="9875838" y="4943475"/>
          <p14:tracePt t="56737" x="9745663" y="4943475"/>
          <p14:tracePt t="56754" x="9693275" y="4924425"/>
          <p14:tracePt t="56771" x="9648825" y="4918075"/>
          <p14:tracePt t="56773" x="9609138" y="4911725"/>
          <p14:tracePt t="56787" x="9577388" y="4905375"/>
          <p14:tracePt t="56804" x="9544050" y="4886325"/>
          <p14:tracePt t="56821" x="9472613" y="4865688"/>
          <p14:tracePt t="56837" x="9447213" y="4846638"/>
          <p14:tracePt t="56854" x="9401175" y="4833938"/>
          <p14:tracePt t="56857" x="9375775" y="4827588"/>
          <p14:tracePt t="56870" x="9350375" y="4814888"/>
          <p14:tracePt t="56887" x="9331325" y="4806950"/>
          <p14:tracePt t="56904" x="9310688" y="4800600"/>
          <p14:tracePt t="56921" x="9297988" y="4794250"/>
          <p14:tracePt t="56937" x="9291638" y="4787900"/>
          <p14:tracePt t="56954" x="9285288" y="4781550"/>
          <p14:tracePt t="56971" x="9285288" y="4775200"/>
          <p14:tracePt t="56987" x="9304338" y="4756150"/>
          <p14:tracePt t="57004" x="9337675" y="4722813"/>
          <p14:tracePt t="57021" x="9356725" y="4710113"/>
          <p14:tracePt t="57037" x="9428163" y="4645025"/>
          <p14:tracePt t="57053" x="9480550" y="4600575"/>
          <p14:tracePt t="57071" x="9615488" y="4535488"/>
          <p14:tracePt t="57087" x="9699625" y="4522788"/>
          <p14:tracePt t="57105" x="9785350" y="4508500"/>
          <p14:tracePt t="57121" x="9947275" y="4522788"/>
          <p14:tracePt t="57137" x="10018713" y="4541838"/>
          <p14:tracePt t="57154" x="10077450" y="4554538"/>
          <p14:tracePt t="57155" x="10128250" y="4579938"/>
          <p14:tracePt t="57170" x="10167938" y="4600575"/>
          <p14:tracePt t="57187" x="10212388" y="4619625"/>
          <p14:tracePt t="57203" x="10245725" y="4651375"/>
          <p14:tracePt t="57220" x="10258425" y="4672013"/>
          <p14:tracePt t="57237" x="10264775" y="4684713"/>
          <p14:tracePt t="57254" x="10271125" y="4710113"/>
          <p14:tracePt t="57270" x="10271125" y="4722813"/>
          <p14:tracePt t="57287" x="10271125" y="4743450"/>
          <p14:tracePt t="57304" x="10264775" y="4756150"/>
          <p14:tracePt t="57320" x="10264775" y="4762500"/>
          <p14:tracePt t="57336" x="10252075" y="4775200"/>
          <p14:tracePt t="57360" x="10245725" y="4775200"/>
          <p14:tracePt t="57383" x="10239375" y="4775200"/>
          <p14:tracePt t="57408" x="10233025" y="4775200"/>
          <p14:tracePt t="57443" x="10226675" y="4775200"/>
          <p14:tracePt t="57502" x="10218738" y="4775200"/>
          <p14:tracePt t="57539" x="10212388" y="4775200"/>
          <p14:tracePt t="57562" x="10206038" y="4775200"/>
          <p14:tracePt t="57575" x="10199688" y="4775200"/>
          <p14:tracePt t="57600" x="10193338" y="4781550"/>
          <p14:tracePt t="57625" x="10186988" y="4781550"/>
          <p14:tracePt t="57634" x="10180638" y="4781550"/>
          <p14:tracePt t="57647" x="10174288" y="4781550"/>
          <p14:tracePt t="57659" x="10167938" y="4781550"/>
          <p14:tracePt t="57670" x="10161588" y="4781550"/>
          <p14:tracePt t="57687" x="10148888" y="4781550"/>
          <p14:tracePt t="57703" x="10128250" y="4787900"/>
          <p14:tracePt t="57719" x="10031413" y="4800600"/>
          <p14:tracePt t="57736" x="9928225" y="4814888"/>
          <p14:tracePt t="57753" x="9771063" y="4821238"/>
          <p14:tracePt t="57756" x="9602788" y="4846638"/>
          <p14:tracePt t="57770" x="9428163" y="4865688"/>
          <p14:tracePt t="57787" x="9259888" y="4892675"/>
          <p14:tracePt t="57803" x="9005888" y="4924425"/>
          <p14:tracePt t="57820" x="8909050" y="4943475"/>
          <p14:tracePt t="57836" x="8797925" y="4964113"/>
          <p14:tracePt t="57853" x="8604250" y="4995863"/>
          <p14:tracePt t="57869" x="8532813" y="5002213"/>
          <p14:tracePt t="57886" x="8434388" y="5008563"/>
          <p14:tracePt t="57903" x="8396288" y="5008563"/>
          <p14:tracePt t="57920" x="8364538" y="5008563"/>
          <p14:tracePt t="57922" x="8337550" y="5008563"/>
          <p14:tracePt t="57936" x="8318500" y="5008563"/>
          <p14:tracePt t="57953" x="8285163" y="5008563"/>
          <p14:tracePt t="57970" x="8247063" y="5008563"/>
          <p14:tracePt t="57986" x="8234363" y="5008563"/>
          <p14:tracePt t="58003" x="8228013" y="5008563"/>
          <p14:tracePt t="58019" x="8213725" y="5008563"/>
          <p14:tracePt t="58036" x="8207375" y="5008563"/>
          <p14:tracePt t="58053" x="8201025" y="5008563"/>
          <p14:tracePt t="58138" x="8194675" y="5008563"/>
          <p14:tracePt t="58869" x="8181975" y="5008563"/>
          <p14:tracePt t="58881" x="8169275" y="5002213"/>
          <p14:tracePt t="58893" x="8162925" y="4995863"/>
          <p14:tracePt t="58906" x="8150225" y="4989513"/>
          <p14:tracePt t="58919" x="8143875" y="4989513"/>
          <p14:tracePt t="58935" x="8135938" y="4983163"/>
          <p14:tracePt t="58952" x="8129588" y="4976813"/>
          <p14:tracePt t="58989" x="8129588" y="4970463"/>
          <p14:tracePt t="59024" x="8129588" y="4964113"/>
          <p14:tracePt t="59061" x="8129588" y="4956175"/>
          <p14:tracePt t="59073" x="8135938" y="4956175"/>
          <p14:tracePt t="59096" x="8135938" y="4949825"/>
          <p14:tracePt t="59108" x="8143875" y="4949825"/>
          <p14:tracePt t="59145" x="8150225" y="4943475"/>
          <p14:tracePt t="59157" x="8150225" y="4937125"/>
          <p14:tracePt t="59192" x="8156575" y="4937125"/>
          <p14:tracePt t="59456" x="8162925" y="4937125"/>
          <p14:tracePt t="59503" x="8169275" y="4937125"/>
          <p14:tracePt t="59540" x="8175625" y="4937125"/>
          <p14:tracePt t="59576" x="8181975" y="4937125"/>
          <p14:tracePt t="59635" x="8188325" y="4937125"/>
          <p14:tracePt t="59684" x="8194675" y="4937125"/>
          <p14:tracePt t="59719" x="8201025" y="4937125"/>
          <p14:tracePt t="59755" x="8207375" y="4937125"/>
          <p14:tracePt t="59804" x="8213725" y="4937125"/>
          <p14:tracePt t="59899" x="8221663" y="4937125"/>
          <p14:tracePt t="59947" x="8228013" y="4937125"/>
          <p14:tracePt t="59983" x="8234363" y="4937125"/>
          <p14:tracePt t="60019" x="8240713" y="4937125"/>
          <p14:tracePt t="60043" x="8240713" y="4930775"/>
          <p14:tracePt t="60067" x="8247063" y="4930775"/>
          <p14:tracePt t="60114" x="8253413" y="4930775"/>
          <p14:tracePt t="60139" x="8259763" y="4930775"/>
          <p14:tracePt t="60151" x="8259763" y="4924425"/>
          <p14:tracePt t="60162" x="8266113" y="4924425"/>
          <p14:tracePt t="60174" x="8272463" y="4924425"/>
          <p14:tracePt t="60188" x="8272463" y="4918075"/>
          <p14:tracePt t="60201" x="8278813" y="4918075"/>
          <p14:tracePt t="60218" x="8285163" y="4918075"/>
          <p14:tracePt t="60247" x="8293100" y="4911725"/>
          <p14:tracePt t="60258" x="8299450" y="4911725"/>
          <p14:tracePt t="60271" x="8305800" y="4911725"/>
          <p14:tracePt t="60284" x="8312150" y="4911725"/>
          <p14:tracePt t="60301" x="8312150" y="4905375"/>
          <p14:tracePt t="60318" x="8318500" y="4905375"/>
          <p14:tracePt t="60334" x="8324850" y="4899025"/>
          <p14:tracePt t="60351" x="8331200" y="4899025"/>
          <p14:tracePt t="60368" x="8337550" y="4899025"/>
          <p14:tracePt t="60391" x="8343900" y="4899025"/>
          <p14:tracePt t="60402" x="8350250" y="4892675"/>
          <p14:tracePt t="60439" x="8356600" y="4892675"/>
          <p14:tracePt t="60451" x="8364538" y="4892675"/>
          <p14:tracePt t="60474" x="8370888" y="4892675"/>
          <p14:tracePt t="60498" x="8377238" y="4886325"/>
          <p14:tracePt t="60510" x="8383588" y="4886325"/>
          <p14:tracePt t="60534" x="8389938" y="4878388"/>
          <p14:tracePt t="60558" x="8396288" y="4878388"/>
          <p14:tracePt t="60571" x="8402638" y="4872038"/>
          <p14:tracePt t="60583" x="8408988" y="4872038"/>
          <p14:tracePt t="60594" x="8415338" y="4865688"/>
          <p14:tracePt t="60630" x="8421688" y="4859338"/>
          <p14:tracePt t="60654" x="8428038" y="4859338"/>
          <p14:tracePt t="60666" x="8428038" y="4852988"/>
          <p14:tracePt t="60690" x="8434388" y="4852988"/>
          <p14:tracePt t="60714" x="8434388" y="4846638"/>
          <p14:tracePt t="60726" x="8442325" y="4846638"/>
        </p14:tracePtLst>
      </p14:laserTraceLst>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35921" y="420624"/>
            <a:ext cx="4206240" cy="2377440"/>
          </a:xfrm>
          <a:prstGeom prst="rect">
            <a:avLst/>
          </a:prstGeom>
          <a:noFill/>
        </p:spPr>
        <p:txBody>
          <a:bodyPr wrap="square" lIns="0" tIns="0" rIns="0" bIns="0" anchor="t">
            <a:noAutofit/>
          </a:bodyPr>
          <a:lstStyle/>
          <a:p>
            <a:pPr algn="r">
              <a:lnSpc>
                <a:spcPct val="100000"/>
              </a:lnSpc>
            </a:pPr>
            <a:r>
              <a:rPr sz="15000" b="0" spc="-300">
                <a:solidFill>
                  <a:srgbClr val="DCD5CA"/>
                </a:solidFill>
                <a:latin typeface="Georgia"/>
              </a:rPr>
              <a:t>03</a:t>
            </a:r>
          </a:p>
        </p:txBody>
      </p:sp>
      <p:cxnSp>
        <p:nvCxnSpPr>
          <p:cNvPr id="3" name="Connector 2"/>
          <p:cNvCxnSpPr/>
          <p:nvPr/>
        </p:nvCxnSpPr>
        <p:spPr>
          <a:xfrm>
            <a:off x="749808" y="2468880"/>
            <a:ext cx="1280159" cy="0"/>
          </a:xfrm>
          <a:prstGeom prst="line">
            <a:avLst/>
          </a:prstGeom>
          <a:ln w="33020">
            <a:solidFill>
              <a:srgbClr val="C8341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49808" y="2688336"/>
            <a:ext cx="6176246" cy="219456"/>
          </a:xfrm>
          <a:prstGeom prst="rect">
            <a:avLst/>
          </a:prstGeom>
          <a:noFill/>
        </p:spPr>
        <p:txBody>
          <a:bodyPr wrap="square" lIns="0" tIns="0" rIns="0" bIns="0" anchor="t">
            <a:noAutofit/>
          </a:bodyPr>
          <a:lstStyle/>
          <a:p>
            <a:pPr algn="l">
              <a:lnSpc>
                <a:spcPct val="100000"/>
              </a:lnSpc>
            </a:pPr>
            <a:r>
              <a:rPr sz="950" b="0" spc="180">
                <a:solidFill>
                  <a:srgbClr val="787066"/>
                </a:solidFill>
                <a:latin typeface="Franklin Gothic Medium"/>
              </a:rPr>
              <a:t>ACT THREE</a:t>
            </a:r>
          </a:p>
        </p:txBody>
      </p:sp>
      <p:sp>
        <p:nvSpPr>
          <p:cNvPr id="5" name="TextBox 4"/>
          <p:cNvSpPr txBox="1"/>
          <p:nvPr/>
        </p:nvSpPr>
        <p:spPr>
          <a:xfrm>
            <a:off x="749808" y="3017520"/>
            <a:ext cx="7079467" cy="1371600"/>
          </a:xfrm>
          <a:prstGeom prst="rect">
            <a:avLst/>
          </a:prstGeom>
          <a:noFill/>
        </p:spPr>
        <p:txBody>
          <a:bodyPr wrap="square" lIns="0" tIns="0" rIns="0" bIns="0" anchor="t">
            <a:noAutofit/>
          </a:bodyPr>
          <a:lstStyle/>
          <a:p>
            <a:pPr algn="l">
              <a:lnSpc>
                <a:spcPct val="110000"/>
              </a:lnSpc>
            </a:pPr>
            <a:r>
              <a:rPr sz="4200" b="0" spc="-60">
                <a:solidFill>
                  <a:srgbClr val="16130F"/>
                </a:solidFill>
                <a:latin typeface="Georgia"/>
              </a:rPr>
              <a:t>Does it actually work?</a:t>
            </a:r>
          </a:p>
        </p:txBody>
      </p:sp>
      <p:cxnSp>
        <p:nvCxnSpPr>
          <p:cNvPr id="6" name="Connector 5"/>
          <p:cNvCxnSpPr/>
          <p:nvPr/>
        </p:nvCxnSpPr>
        <p:spPr>
          <a:xfrm>
            <a:off x="749808" y="4626864"/>
            <a:ext cx="3466581"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49808" y="4828032"/>
            <a:ext cx="5273024" cy="914400"/>
          </a:xfrm>
          <a:prstGeom prst="rect">
            <a:avLst/>
          </a:prstGeom>
          <a:noFill/>
        </p:spPr>
        <p:txBody>
          <a:bodyPr wrap="square" lIns="0" tIns="0" rIns="0" bIns="0" anchor="t">
            <a:noAutofit/>
          </a:bodyPr>
          <a:lstStyle/>
          <a:p>
            <a:pPr algn="l">
              <a:lnSpc>
                <a:spcPct val="154000"/>
              </a:lnSpc>
            </a:pPr>
            <a:r>
              <a:rPr sz="1350" b="0">
                <a:solidFill>
                  <a:srgbClr val="3A342E"/>
                </a:solidFill>
                <a:latin typeface="Franklin Gothic Book"/>
              </a:rPr>
              <a:t>Scores on years the models never saw, sixty-six separate re-tests, and the twenty-three experiments behind the one we kept.</a:t>
            </a:r>
          </a:p>
        </p:txBody>
      </p:sp>
      <p:sp>
        <p:nvSpPr>
          <p:cNvPr id="8" name="TextBox 7"/>
          <p:cNvSpPr txBox="1"/>
          <p:nvPr/>
        </p:nvSpPr>
        <p:spPr>
          <a:xfrm>
            <a:off x="749808" y="5705856"/>
            <a:ext cx="5273024" cy="256032"/>
          </a:xfrm>
          <a:prstGeom prst="rect">
            <a:avLst/>
          </a:prstGeom>
          <a:noFill/>
        </p:spPr>
        <p:txBody>
          <a:bodyPr wrap="square" lIns="0" tIns="0" rIns="0" bIns="0" anchor="t">
            <a:noAutofit/>
          </a:bodyPr>
          <a:lstStyle/>
          <a:p>
            <a:pPr algn="l">
              <a:lnSpc>
                <a:spcPct val="100000"/>
              </a:lnSpc>
            </a:pPr>
            <a:r>
              <a:rPr sz="1050" b="0" spc="60">
                <a:solidFill>
                  <a:srgbClr val="C8341B"/>
                </a:solidFill>
                <a:latin typeface="Franklin Gothic Medium"/>
              </a:rPr>
              <a:t>Tharushi Wimalachandra</a:t>
            </a:r>
          </a:p>
        </p:txBody>
      </p:sp>
      <p:cxnSp>
        <p:nvCxnSpPr>
          <p:cNvPr id="9" name="Connector 8"/>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49808" y="6345936"/>
            <a:ext cx="5346176"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12</a:t>
            </a:r>
          </a:p>
        </p:txBody>
      </p:sp>
    </p:spTree>
  </p:cSld>
  <p:clrMapOvr>
    <a:masterClrMapping/>
  </p:clrMapOvr>
  <mc:AlternateContent xmlns:mc="http://schemas.openxmlformats.org/markup-compatibility/2006" xmlns:p14="http://schemas.microsoft.com/office/powerpoint/2010/main">
    <mc:Choice Requires="p14">
      <p:transition spd="slow" p14:dur="2000" advTm="8156"/>
    </mc:Choice>
    <mc:Fallback xmlns="">
      <p:transition spd="slow" advTm="815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RESULTS</a:t>
            </a:r>
          </a:p>
        </p:txBody>
      </p:sp>
      <p:sp>
        <p:nvSpPr>
          <p:cNvPr id="4" name="TextBox 3"/>
          <p:cNvSpPr txBox="1"/>
          <p:nvPr/>
        </p:nvSpPr>
        <p:spPr>
          <a:xfrm>
            <a:off x="749808" y="749808"/>
            <a:ext cx="9789132"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Gradient boosting wins, and every model beats the baselines.</a:t>
            </a:r>
          </a:p>
        </p:txBody>
      </p:sp>
      <p:pic>
        <p:nvPicPr>
          <p:cNvPr id="5" name="Picture 4" descr="models.png"/>
          <p:cNvPicPr>
            <a:picLocks noChangeAspect="1"/>
          </p:cNvPicPr>
          <p:nvPr/>
        </p:nvPicPr>
        <p:blipFill>
          <a:blip r:embed="rId3"/>
          <a:stretch>
            <a:fillRect/>
          </a:stretch>
        </p:blipFill>
        <p:spPr>
          <a:xfrm>
            <a:off x="585215" y="1920240"/>
            <a:ext cx="7187184" cy="3902141"/>
          </a:xfrm>
          <a:prstGeom prst="rect">
            <a:avLst/>
          </a:prstGeom>
        </p:spPr>
      </p:pic>
      <p:sp>
        <p:nvSpPr>
          <p:cNvPr id="6" name="Rectangle 5"/>
          <p:cNvSpPr/>
          <p:nvPr/>
        </p:nvSpPr>
        <p:spPr>
          <a:xfrm>
            <a:off x="7975579" y="1956816"/>
            <a:ext cx="3466581" cy="3877056"/>
          </a:xfrm>
          <a:prstGeom prst="rect">
            <a:avLst/>
          </a:prstGeom>
          <a:solidFill>
            <a:srgbClr val="F4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975579" y="1956816"/>
            <a:ext cx="34747" cy="3877056"/>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23051" y="2194560"/>
            <a:ext cx="2771637" cy="310896"/>
          </a:xfrm>
          <a:prstGeom prst="rect">
            <a:avLst/>
          </a:prstGeom>
          <a:noFill/>
        </p:spPr>
        <p:txBody>
          <a:bodyPr wrap="square" lIns="0" tIns="0" rIns="0" bIns="0" anchor="t">
            <a:noAutofit/>
          </a:bodyPr>
          <a:lstStyle/>
          <a:p>
            <a:pPr algn="l">
              <a:lnSpc>
                <a:spcPct val="100000"/>
              </a:lnSpc>
            </a:pPr>
            <a:r>
              <a:rPr sz="1600" b="0">
                <a:solidFill>
                  <a:srgbClr val="16130F"/>
                </a:solidFill>
                <a:latin typeface="Georgia"/>
              </a:rPr>
              <a:t>Read it this way</a:t>
            </a:r>
          </a:p>
        </p:txBody>
      </p:sp>
      <p:sp>
        <p:nvSpPr>
          <p:cNvPr id="9" name="TextBox 8"/>
          <p:cNvSpPr txBox="1"/>
          <p:nvPr/>
        </p:nvSpPr>
        <p:spPr>
          <a:xfrm>
            <a:off x="8323051" y="2633472"/>
            <a:ext cx="2771637" cy="2926080"/>
          </a:xfrm>
          <a:prstGeom prst="rect">
            <a:avLst/>
          </a:prstGeom>
          <a:noFill/>
        </p:spPr>
        <p:txBody>
          <a:bodyPr wrap="square" lIns="0" tIns="0" rIns="0" bIns="0" anchor="t">
            <a:noAutofit/>
          </a:bodyPr>
          <a:lstStyle/>
          <a:p>
            <a:pPr algn="l">
              <a:lnSpc>
                <a:spcPct val="150000"/>
              </a:lnSpc>
            </a:pPr>
            <a:r>
              <a:rPr sz="1150" b="0">
                <a:solidFill>
                  <a:srgbClr val="3A342E"/>
                </a:solidFill>
                <a:latin typeface="Franklin Gothic Book"/>
              </a:rPr>
              <a:t>Balanced F1 treats all three answers as equally important, so a model cannot score well by ignoring the rare ones.</a:t>
            </a:r>
          </a:p>
          <a:p>
            <a:pPr algn="l">
              <a:lnSpc>
                <a:spcPct val="150000"/>
              </a:lnSpc>
              <a:spcBef>
                <a:spcPts val="1008"/>
              </a:spcBef>
            </a:pPr>
            <a:r>
              <a:rPr sz="1150" b="0">
                <a:solidFill>
                  <a:srgbClr val="3A342E"/>
                </a:solidFill>
                <a:latin typeface="Franklin Gothic Book"/>
              </a:rPr>
              <a:t>The number to watch is the gap to “same as last year” at 0.506. That is what a fire officer already knows without us. Gradient boosting adds 0.178 on top of it.</a:t>
            </a:r>
          </a:p>
          <a:p>
            <a:pPr algn="l">
              <a:lnSpc>
                <a:spcPct val="150000"/>
              </a:lnSpc>
              <a:spcBef>
                <a:spcPts val="1008"/>
              </a:spcBef>
            </a:pPr>
            <a:r>
              <a:rPr sz="1250" b="0">
                <a:solidFill>
                  <a:srgbClr val="C8341B"/>
                </a:solidFill>
                <a:latin typeface="Georgia"/>
              </a:rPr>
              <a:t>Accuracy on the same years is 0.725.</a:t>
            </a:r>
          </a:p>
        </p:txBody>
      </p:sp>
      <p:cxnSp>
        <p:nvCxnSpPr>
          <p:cNvPr id="10" name="Connector 9"/>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49808" y="6345936"/>
            <a:ext cx="5791691"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13</a:t>
            </a:r>
          </a:p>
        </p:txBody>
      </p:sp>
      <p:sp>
        <p:nvSpPr>
          <p:cNvPr id="13" name="TextBox 12"/>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Tharushi Wimalachandra</a:t>
            </a:r>
          </a:p>
        </p:txBody>
      </p:sp>
    </p:spTree>
  </p:cSld>
  <p:clrMapOvr>
    <a:masterClrMapping/>
  </p:clrMapOvr>
  <mc:AlternateContent xmlns:mc="http://schemas.openxmlformats.org/markup-compatibility/2006" xmlns:p14="http://schemas.microsoft.com/office/powerpoint/2010/main">
    <mc:Choice Requires="p14">
      <p:transition spd="slow" p14:dur="2000" advTm="59253"/>
    </mc:Choice>
    <mc:Fallback xmlns="">
      <p:transition spd="slow" advTm="5925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WHAT THE DATA BOUGHT</a:t>
            </a:r>
          </a:p>
        </p:txBody>
      </p:sp>
      <p:sp>
        <p:nvSpPr>
          <p:cNvPr id="4" name="TextBox 3"/>
          <p:cNvSpPr txBox="1"/>
          <p:nvPr/>
        </p:nvSpPr>
        <p:spPr>
          <a:xfrm>
            <a:off x="749808" y="749808"/>
            <a:ext cx="9789132"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Weather earned its place. Greenness earned less, and we said so.</a:t>
            </a:r>
          </a:p>
        </p:txBody>
      </p:sp>
      <p:pic>
        <p:nvPicPr>
          <p:cNvPr id="5" name="Picture 4" descr="layers.png"/>
          <p:cNvPicPr>
            <a:picLocks noChangeAspect="1"/>
          </p:cNvPicPr>
          <p:nvPr/>
        </p:nvPicPr>
        <p:blipFill>
          <a:blip r:embed="rId3"/>
          <a:stretch>
            <a:fillRect/>
          </a:stretch>
        </p:blipFill>
        <p:spPr>
          <a:xfrm>
            <a:off x="603503" y="2029968"/>
            <a:ext cx="6309360" cy="3982900"/>
          </a:xfrm>
          <a:prstGeom prst="rect">
            <a:avLst/>
          </a:prstGeom>
        </p:spPr>
      </p:pic>
      <p:cxnSp>
        <p:nvCxnSpPr>
          <p:cNvPr id="6" name="Connector 5"/>
          <p:cNvCxnSpPr/>
          <p:nvPr/>
        </p:nvCxnSpPr>
        <p:spPr>
          <a:xfrm>
            <a:off x="6999206" y="2066543"/>
            <a:ext cx="0" cy="329184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05811" y="2066543"/>
            <a:ext cx="4369803" cy="3291840"/>
          </a:xfrm>
          <a:prstGeom prst="rect">
            <a:avLst/>
          </a:prstGeom>
          <a:noFill/>
        </p:spPr>
        <p:txBody>
          <a:bodyPr wrap="square" lIns="0" tIns="0" rIns="0" bIns="0" anchor="t">
            <a:noAutofit/>
          </a:bodyPr>
          <a:lstStyle/>
          <a:p>
            <a:pPr algn="l">
              <a:lnSpc>
                <a:spcPct val="140000"/>
              </a:lnSpc>
            </a:pPr>
            <a:r>
              <a:rPr sz="1300" b="0">
                <a:solidFill>
                  <a:srgbClr val="16130F"/>
                </a:solidFill>
                <a:latin typeface="Georgia"/>
              </a:rPr>
              <a:t>Adding the weather was the single biggest step in the project — +0.035, from knowing how wet the wet season was.</a:t>
            </a:r>
          </a:p>
          <a:p>
            <a:pPr algn="l">
              <a:lnSpc>
                <a:spcPct val="150000"/>
              </a:lnSpc>
              <a:spcBef>
                <a:spcPts val="1440"/>
              </a:spcBef>
            </a:pPr>
            <a:r>
              <a:rPr sz="1180" b="0">
                <a:solidFill>
                  <a:srgbClr val="3A342E"/>
                </a:solidFill>
                <a:latin typeface="Franklin Gothic Book"/>
              </a:rPr>
              <a:t>The third run adds greenness, longer fire memory and elevation together, for +0.010. Isolated in the experiment ledger, greenness on its own is worth +0.029.</a:t>
            </a:r>
          </a:p>
          <a:p>
            <a:pPr algn="l">
              <a:lnSpc>
                <a:spcPct val="150000"/>
              </a:lnSpc>
              <a:spcBef>
                <a:spcPts val="1440"/>
              </a:spcBef>
            </a:pPr>
            <a:r>
              <a:rPr sz="1180" b="0">
                <a:solidFill>
                  <a:srgbClr val="3A342E"/>
                </a:solidFill>
                <a:latin typeface="Franklin Gothic Book"/>
              </a:rPr>
              <a:t>We kept it, because it holds up on years the model never saw and because two of the model's five strongest inputs turn out to be greenness — even though Earth Engine cost ten minutes a run against sixty seconds for everything else.</a:t>
            </a:r>
          </a:p>
        </p:txBody>
      </p:sp>
      <p:cxnSp>
        <p:nvCxnSpPr>
          <p:cNvPr id="8" name="Connector 7"/>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49808" y="6345936"/>
            <a:ext cx="6237206"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14</a:t>
            </a:r>
          </a:p>
        </p:txBody>
      </p:sp>
      <p:sp>
        <p:nvSpPr>
          <p:cNvPr id="11" name="TextBox 10"/>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Tharushi Wimalachandra</a:t>
            </a:r>
          </a:p>
        </p:txBody>
      </p:sp>
    </p:spTree>
  </p:cSld>
  <p:clrMapOvr>
    <a:masterClrMapping/>
  </p:clrMapOvr>
  <mc:AlternateContent xmlns:mc="http://schemas.openxmlformats.org/markup-compatibility/2006" xmlns:p14="http://schemas.microsoft.com/office/powerpoint/2010/main">
    <mc:Choice Requires="p14">
      <p:transition spd="slow" p14:dur="2000" advTm="42905"/>
    </mc:Choice>
    <mc:Fallback xmlns="">
      <p:transition spd="slow" advTm="4290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WALK-FORWARD TESTING</a:t>
            </a:r>
          </a:p>
        </p:txBody>
      </p:sp>
      <p:sp>
        <p:nvSpPr>
          <p:cNvPr id="4" name="TextBox 3"/>
          <p:cNvSpPr txBox="1"/>
          <p:nvPr/>
        </p:nvSpPr>
        <p:spPr>
          <a:xfrm>
            <a:off x="749808" y="749808"/>
            <a:ext cx="9789132"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One good year could be luck. So we did it sixty-six times.</a:t>
            </a:r>
          </a:p>
        </p:txBody>
      </p:sp>
      <p:sp>
        <p:nvSpPr>
          <p:cNvPr id="5" name="TextBox 4"/>
          <p:cNvSpPr txBox="1"/>
          <p:nvPr/>
        </p:nvSpPr>
        <p:spPr>
          <a:xfrm>
            <a:off x="749808" y="1993392"/>
            <a:ext cx="9789132" cy="475488"/>
          </a:xfrm>
          <a:prstGeom prst="rect">
            <a:avLst/>
          </a:prstGeom>
          <a:noFill/>
        </p:spPr>
        <p:txBody>
          <a:bodyPr wrap="square" lIns="0" tIns="0" rIns="0" bIns="0" anchor="t">
            <a:noAutofit/>
          </a:bodyPr>
          <a:lstStyle/>
          <a:p>
            <a:pPr algn="l">
              <a:lnSpc>
                <a:spcPct val="144000"/>
              </a:lnSpc>
            </a:pPr>
            <a:r>
              <a:rPr sz="1250" b="0">
                <a:solidFill>
                  <a:srgbClr val="787066"/>
                </a:solidFill>
                <a:latin typeface="Franklin Gothic Book"/>
              </a:rPr>
              <a:t>We cut the record at each year from 2014 to 2024, let the model learn only what came before the cut, and scored it on every year after — 66 separate tests.</a:t>
            </a:r>
          </a:p>
        </p:txBody>
      </p:sp>
      <p:pic>
        <p:nvPicPr>
          <p:cNvPr id="6" name="Picture 5" descr="walk.png"/>
          <p:cNvPicPr>
            <a:picLocks noChangeAspect="1"/>
          </p:cNvPicPr>
          <p:nvPr/>
        </p:nvPicPr>
        <p:blipFill>
          <a:blip r:embed="rId3"/>
          <a:stretch>
            <a:fillRect/>
          </a:stretch>
        </p:blipFill>
        <p:spPr>
          <a:xfrm>
            <a:off x="585215" y="2578608"/>
            <a:ext cx="7187184" cy="3492269"/>
          </a:xfrm>
          <a:prstGeom prst="rect">
            <a:avLst/>
          </a:prstGeom>
        </p:spPr>
      </p:pic>
      <p:sp>
        <p:nvSpPr>
          <p:cNvPr id="7" name="Rectangle 6"/>
          <p:cNvSpPr/>
          <p:nvPr/>
        </p:nvSpPr>
        <p:spPr>
          <a:xfrm>
            <a:off x="7975579" y="2615184"/>
            <a:ext cx="3466581" cy="2926080"/>
          </a:xfrm>
          <a:prstGeom prst="rect">
            <a:avLst/>
          </a:prstGeom>
          <a:solidFill>
            <a:srgbClr val="F4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975579" y="2615184"/>
            <a:ext cx="34747" cy="2926080"/>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3051" y="2852928"/>
            <a:ext cx="2771637" cy="310896"/>
          </a:xfrm>
          <a:prstGeom prst="rect">
            <a:avLst/>
          </a:prstGeom>
          <a:noFill/>
        </p:spPr>
        <p:txBody>
          <a:bodyPr wrap="square" lIns="0" tIns="0" rIns="0" bIns="0" anchor="t">
            <a:noAutofit/>
          </a:bodyPr>
          <a:lstStyle/>
          <a:p>
            <a:pPr algn="l">
              <a:lnSpc>
                <a:spcPct val="100000"/>
              </a:lnSpc>
            </a:pPr>
            <a:r>
              <a:rPr sz="1600" b="0">
                <a:solidFill>
                  <a:srgbClr val="16130F"/>
                </a:solidFill>
                <a:latin typeface="Georgia"/>
              </a:rPr>
              <a:t>The surprise</a:t>
            </a:r>
          </a:p>
        </p:txBody>
      </p:sp>
      <p:sp>
        <p:nvSpPr>
          <p:cNvPr id="10" name="TextBox 9"/>
          <p:cNvSpPr txBox="1"/>
          <p:nvPr/>
        </p:nvSpPr>
        <p:spPr>
          <a:xfrm>
            <a:off x="8323051" y="3291840"/>
            <a:ext cx="2771637" cy="2011680"/>
          </a:xfrm>
          <a:prstGeom prst="rect">
            <a:avLst/>
          </a:prstGeom>
          <a:noFill/>
        </p:spPr>
        <p:txBody>
          <a:bodyPr wrap="square" lIns="0" tIns="0" rIns="0" bIns="0" anchor="t">
            <a:noAutofit/>
          </a:bodyPr>
          <a:lstStyle/>
          <a:p>
            <a:pPr algn="l">
              <a:lnSpc>
                <a:spcPct val="150000"/>
              </a:lnSpc>
            </a:pPr>
            <a:r>
              <a:rPr sz="1150" b="0">
                <a:solidFill>
                  <a:srgbClr val="3A342E"/>
                </a:solidFill>
                <a:latin typeface="Franklin Gothic Book"/>
              </a:rPr>
              <a:t>Skill does not fade with distance. Guessing one year ahead scores 0.635; eleven years ahead it still scores 0.604.</a:t>
            </a:r>
          </a:p>
          <a:p>
            <a:pPr algn="l">
              <a:lnSpc>
                <a:spcPct val="150000"/>
              </a:lnSpc>
              <a:spcBef>
                <a:spcPts val="1152"/>
              </a:spcBef>
            </a:pPr>
            <a:r>
              <a:rPr sz="1150" b="0">
                <a:solidFill>
                  <a:srgbClr val="3A342E"/>
                </a:solidFill>
                <a:latin typeface="Franklin Gothic Book"/>
              </a:rPr>
              <a:t>That is not the model being clever. It is telling us the strongest clue is the wet season just gone, which is known by the end of April however old the fire history is.</a:t>
            </a:r>
          </a:p>
        </p:txBody>
      </p:sp>
      <p:cxnSp>
        <p:nvCxnSpPr>
          <p:cNvPr id="11" name="Connector 10"/>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49808" y="6345936"/>
            <a:ext cx="6682720"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15</a:t>
            </a:r>
          </a:p>
        </p:txBody>
      </p:sp>
      <p:sp>
        <p:nvSpPr>
          <p:cNvPr id="14" name="TextBox 13"/>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Tharushi Wimalachandra</a:t>
            </a:r>
          </a:p>
        </p:txBody>
      </p:sp>
    </p:spTree>
  </p:cSld>
  <p:clrMapOvr>
    <a:masterClrMapping/>
  </p:clrMapOvr>
  <mc:AlternateContent xmlns:mc="http://schemas.openxmlformats.org/markup-compatibility/2006" xmlns:p14="http://schemas.microsoft.com/office/powerpoint/2010/main">
    <mc:Choice Requires="p14">
      <p:transition spd="slow" p14:dur="2000" advTm="41409"/>
    </mc:Choice>
    <mc:Fallback xmlns="">
      <p:transition spd="slow" advTm="41409"/>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CHECKING THE RESULTS</a:t>
            </a:r>
          </a:p>
        </p:txBody>
      </p:sp>
      <p:sp>
        <p:nvSpPr>
          <p:cNvPr id="4" name="TextBox 3"/>
          <p:cNvSpPr txBox="1"/>
          <p:nvPr/>
        </p:nvSpPr>
        <p:spPr>
          <a:xfrm>
            <a:off x="749808" y="749808"/>
            <a:ext cx="9789132" cy="1005840"/>
          </a:xfrm>
          <a:prstGeom prst="rect">
            <a:avLst/>
          </a:prstGeom>
          <a:noFill/>
        </p:spPr>
        <p:txBody>
          <a:bodyPr wrap="square" lIns="0" tIns="0" rIns="0" bIns="0" anchor="t">
            <a:noAutofit/>
          </a:bodyPr>
          <a:lstStyle/>
          <a:p>
            <a:pPr algn="l">
              <a:lnSpc>
                <a:spcPct val="114000"/>
              </a:lnSpc>
            </a:pPr>
            <a:r>
              <a:rPr sz="2900" b="0" spc="-15" dirty="0">
                <a:solidFill>
                  <a:srgbClr val="16130F"/>
                </a:solidFill>
                <a:latin typeface="Georgia"/>
              </a:rPr>
              <a:t>We tuned every model,</a:t>
            </a:r>
            <a:r>
              <a:rPr lang="en-AU" sz="2900" b="0" spc="-15" dirty="0">
                <a:solidFill>
                  <a:srgbClr val="16130F"/>
                </a:solidFill>
                <a:latin typeface="Georgia"/>
              </a:rPr>
              <a:t> </a:t>
            </a:r>
            <a:r>
              <a:rPr sz="2900" b="0" spc="-15" dirty="0">
                <a:solidFill>
                  <a:srgbClr val="16130F"/>
                </a:solidFill>
                <a:latin typeface="Georgia"/>
              </a:rPr>
              <a:t>and checked it would hold up.</a:t>
            </a:r>
          </a:p>
        </p:txBody>
      </p:sp>
      <p:sp>
        <p:nvSpPr>
          <p:cNvPr id="5" name="TextBox 4"/>
          <p:cNvSpPr txBox="1"/>
          <p:nvPr/>
        </p:nvSpPr>
        <p:spPr>
          <a:xfrm>
            <a:off x="749808" y="1572768"/>
            <a:ext cx="9789132" cy="475488"/>
          </a:xfrm>
          <a:prstGeom prst="rect">
            <a:avLst/>
          </a:prstGeom>
          <a:noFill/>
        </p:spPr>
        <p:txBody>
          <a:bodyPr wrap="square" lIns="0" tIns="0" rIns="0" bIns="0" anchor="t">
            <a:noAutofit/>
          </a:bodyPr>
          <a:lstStyle/>
          <a:p>
            <a:pPr algn="l">
              <a:lnSpc>
                <a:spcPct val="144000"/>
              </a:lnSpc>
            </a:pPr>
            <a:r>
              <a:rPr sz="1250" b="0">
                <a:solidFill>
                  <a:srgbClr val="787066"/>
                </a:solidFill>
                <a:latin typeface="Franklin Gothic Book"/>
              </a:rPr>
              <a:t>Four checks, all scored on years the models had not seen.</a:t>
            </a:r>
          </a:p>
        </p:txBody>
      </p:sp>
      <p:cxnSp>
        <p:nvCxnSpPr>
          <p:cNvPr id="11" name="Connector 10"/>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49808" y="6345936"/>
            <a:ext cx="6841175"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sz="1050" b="0">
                <a:solidFill>
                  <a:srgbClr val="787066"/>
                </a:solidFill>
                <a:latin typeface="Georgia"/>
              </a:rPr>
              <a:t>16</a:t>
            </a:r>
          </a:p>
        </p:txBody>
      </p:sp>
      <p:sp>
        <p:nvSpPr>
          <p:cNvPr id="14" name="TextBox 13"/>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Tharushi Wimalachandra</a:t>
            </a:r>
          </a:p>
        </p:txBody>
      </p:sp>
      <p:cxnSp>
        <p:nvCxnSpPr>
          <p:cNvPr id="8" name="Connector 4"/>
          <p:cNvCxnSpPr/>
          <p:nvPr/>
        </p:nvCxnSpPr>
        <p:spPr>
          <a:xfrm>
            <a:off x="749808" y="2286000"/>
            <a:ext cx="5202936"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49808" y="2286000"/>
            <a:ext cx="512064" cy="21945"/>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2468880"/>
            <a:ext cx="5202936" cy="310896"/>
          </a:xfrm>
          <a:prstGeom prst="rect">
            <a:avLst/>
          </a:prstGeom>
          <a:noFill/>
        </p:spPr>
        <p:txBody>
          <a:bodyPr wrap="square" lIns="0" tIns="0" rIns="0" bIns="0" anchor="t">
            <a:noAutofit/>
          </a:bodyPr>
          <a:lstStyle/>
          <a:p>
            <a:pPr algn="l">
              <a:lnSpc>
                <a:spcPct val="116000"/>
              </a:lnSpc>
            </a:pPr>
            <a:r>
              <a:rPr sz="1450" b="0">
                <a:solidFill>
                  <a:srgbClr val="16130F"/>
                </a:solidFill>
                <a:latin typeface="Georgia"/>
              </a:rPr>
              <a:t>Tuned properly</a:t>
            </a:r>
          </a:p>
        </p:txBody>
      </p:sp>
      <p:sp>
        <p:nvSpPr>
          <p:cNvPr id="10" name="TextBox 6"/>
          <p:cNvSpPr txBox="1"/>
          <p:nvPr/>
        </p:nvSpPr>
        <p:spPr>
          <a:xfrm>
            <a:off x="749808" y="2816352"/>
            <a:ext cx="5202936" cy="438912"/>
          </a:xfrm>
          <a:prstGeom prst="rect">
            <a:avLst/>
          </a:prstGeom>
          <a:noFill/>
        </p:spPr>
        <p:txBody>
          <a:bodyPr wrap="square" lIns="0" tIns="0" rIns="0" bIns="0" anchor="t">
            <a:noAutofit/>
          </a:bodyPr>
          <a:lstStyle/>
          <a:p>
            <a:pPr algn="l">
              <a:lnSpc>
                <a:spcPct val="116000"/>
              </a:lnSpc>
            </a:pPr>
            <a:r>
              <a:rPr sz="2200" b="0">
                <a:solidFill>
                  <a:srgbClr val="C8341B"/>
                </a:solidFill>
                <a:latin typeface="Georgia"/>
              </a:rPr>
              <a:t>0.684 → 0.684</a:t>
            </a:r>
          </a:p>
        </p:txBody>
      </p:sp>
      <p:sp>
        <p:nvSpPr>
          <p:cNvPr id="9" name="TextBox 8"/>
          <p:cNvSpPr txBox="1"/>
          <p:nvPr/>
        </p:nvSpPr>
        <p:spPr>
          <a:xfrm>
            <a:off x="749808" y="3291840"/>
            <a:ext cx="5202936" cy="640080"/>
          </a:xfrm>
          <a:prstGeom prst="rect">
            <a:avLst/>
          </a:prstGeom>
          <a:noFill/>
        </p:spPr>
        <p:txBody>
          <a:bodyPr wrap="square" lIns="0" tIns="0" rIns="0" bIns="0" anchor="t">
            <a:noAutofit/>
          </a:bodyPr>
          <a:lstStyle/>
          <a:p>
            <a:pPr algn="l">
              <a:lnSpc>
                <a:spcPct val="146000"/>
              </a:lnSpc>
            </a:pPr>
            <a:r>
              <a:rPr sz="1150" b="0">
                <a:solidFill>
                  <a:srgbClr val="3A342E"/>
                </a:solidFill>
                <a:latin typeface="Franklin Gothic Book"/>
              </a:rPr>
              <a:t>A search over every model's settings, scored on the validation years only, left gradient boosting where it was. The decision tree gained most: 0.604 → 0.632.</a:t>
            </a:r>
          </a:p>
        </p:txBody>
      </p:sp>
      <p:cxnSp>
        <p:nvCxnSpPr>
          <p:cNvPr id="15" name="Connector 4"/>
          <p:cNvCxnSpPr/>
          <p:nvPr/>
        </p:nvCxnSpPr>
        <p:spPr>
          <a:xfrm>
            <a:off x="6236208" y="2286000"/>
            <a:ext cx="5202936"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6" name="Rectangle 5"/>
          <p:cNvSpPr/>
          <p:nvPr/>
        </p:nvSpPr>
        <p:spPr>
          <a:xfrm>
            <a:off x="6236208" y="2286000"/>
            <a:ext cx="512064" cy="21945"/>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6"/>
          <p:cNvSpPr txBox="1"/>
          <p:nvPr/>
        </p:nvSpPr>
        <p:spPr>
          <a:xfrm>
            <a:off x="6236208" y="2468880"/>
            <a:ext cx="5202936" cy="310896"/>
          </a:xfrm>
          <a:prstGeom prst="rect">
            <a:avLst/>
          </a:prstGeom>
          <a:noFill/>
        </p:spPr>
        <p:txBody>
          <a:bodyPr wrap="square" lIns="0" tIns="0" rIns="0" bIns="0" anchor="t">
            <a:noAutofit/>
          </a:bodyPr>
          <a:lstStyle/>
          <a:p>
            <a:pPr algn="l">
              <a:lnSpc>
                <a:spcPct val="116000"/>
              </a:lnSpc>
            </a:pPr>
            <a:r>
              <a:rPr sz="1450" b="0">
                <a:solidFill>
                  <a:srgbClr val="16130F"/>
                </a:solidFill>
                <a:latin typeface="Georgia"/>
              </a:rPr>
              <a:t>Checked for overfitting</a:t>
            </a:r>
          </a:p>
        </p:txBody>
      </p:sp>
      <p:sp>
        <p:nvSpPr>
          <p:cNvPr id="18" name="TextBox 6"/>
          <p:cNvSpPr txBox="1"/>
          <p:nvPr/>
        </p:nvSpPr>
        <p:spPr>
          <a:xfrm>
            <a:off x="6236208" y="2816352"/>
            <a:ext cx="5202936" cy="438912"/>
          </a:xfrm>
          <a:prstGeom prst="rect">
            <a:avLst/>
          </a:prstGeom>
          <a:noFill/>
        </p:spPr>
        <p:txBody>
          <a:bodyPr wrap="square" lIns="0" tIns="0" rIns="0" bIns="0" anchor="t">
            <a:noAutofit/>
          </a:bodyPr>
          <a:lstStyle/>
          <a:p>
            <a:pPr algn="l">
              <a:lnSpc>
                <a:spcPct val="116000"/>
              </a:lnSpc>
            </a:pPr>
            <a:r>
              <a:rPr sz="2200" b="0">
                <a:solidFill>
                  <a:srgbClr val="C8341B"/>
                </a:solidFill>
                <a:latin typeface="Georgia"/>
              </a:rPr>
              <a:t>0.821 → 0.684</a:t>
            </a:r>
          </a:p>
        </p:txBody>
      </p:sp>
      <p:sp>
        <p:nvSpPr>
          <p:cNvPr id="19" name="TextBox 8"/>
          <p:cNvSpPr txBox="1"/>
          <p:nvPr/>
        </p:nvSpPr>
        <p:spPr>
          <a:xfrm>
            <a:off x="6236208" y="3291840"/>
            <a:ext cx="5202936" cy="640080"/>
          </a:xfrm>
          <a:prstGeom prst="rect">
            <a:avLst/>
          </a:prstGeom>
          <a:noFill/>
        </p:spPr>
        <p:txBody>
          <a:bodyPr wrap="square" lIns="0" tIns="0" rIns="0" bIns="0" anchor="t">
            <a:noAutofit/>
          </a:bodyPr>
          <a:lstStyle/>
          <a:p>
            <a:pPr algn="l">
              <a:lnSpc>
                <a:spcPct val="146000"/>
              </a:lnSpc>
            </a:pPr>
            <a:r>
              <a:rPr sz="1150" b="0">
                <a:solidFill>
                  <a:srgbClr val="3A342E"/>
                </a:solidFill>
                <a:latin typeface="Franklin Gothic Book"/>
              </a:rPr>
              <a:t>Gradient boosting on the years it trained on, then on years it never saw. The random forest memorises far more: 0.924 → 0.660.</a:t>
            </a:r>
          </a:p>
        </p:txBody>
      </p:sp>
      <p:cxnSp>
        <p:nvCxnSpPr>
          <p:cNvPr id="20" name="Connector 4"/>
          <p:cNvCxnSpPr/>
          <p:nvPr/>
        </p:nvCxnSpPr>
        <p:spPr>
          <a:xfrm>
            <a:off x="749808" y="4069080"/>
            <a:ext cx="5202936"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21" name="Rectangle 5"/>
          <p:cNvSpPr/>
          <p:nvPr/>
        </p:nvSpPr>
        <p:spPr>
          <a:xfrm>
            <a:off x="749808" y="4069080"/>
            <a:ext cx="512064" cy="21945"/>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6"/>
          <p:cNvSpPr txBox="1"/>
          <p:nvPr/>
        </p:nvSpPr>
        <p:spPr>
          <a:xfrm>
            <a:off x="749808" y="4251960"/>
            <a:ext cx="5202936" cy="310896"/>
          </a:xfrm>
          <a:prstGeom prst="rect">
            <a:avLst/>
          </a:prstGeom>
          <a:noFill/>
        </p:spPr>
        <p:txBody>
          <a:bodyPr wrap="square" lIns="0" tIns="0" rIns="0" bIns="0" anchor="t">
            <a:noAutofit/>
          </a:bodyPr>
          <a:lstStyle/>
          <a:p>
            <a:pPr algn="l">
              <a:lnSpc>
                <a:spcPct val="116000"/>
              </a:lnSpc>
            </a:pPr>
            <a:r>
              <a:rPr sz="1450" b="0">
                <a:solidFill>
                  <a:srgbClr val="16130F"/>
                </a:solidFill>
                <a:latin typeface="Georgia"/>
              </a:rPr>
              <a:t>Scored beyond accuracy</a:t>
            </a:r>
          </a:p>
        </p:txBody>
      </p:sp>
      <p:sp>
        <p:nvSpPr>
          <p:cNvPr id="23" name="TextBox 6"/>
          <p:cNvSpPr txBox="1"/>
          <p:nvPr/>
        </p:nvSpPr>
        <p:spPr>
          <a:xfrm>
            <a:off x="749808" y="4599432"/>
            <a:ext cx="5202936" cy="438912"/>
          </a:xfrm>
          <a:prstGeom prst="rect">
            <a:avLst/>
          </a:prstGeom>
          <a:noFill/>
        </p:spPr>
        <p:txBody>
          <a:bodyPr wrap="square" lIns="0" tIns="0" rIns="0" bIns="0" anchor="t">
            <a:noAutofit/>
          </a:bodyPr>
          <a:lstStyle/>
          <a:p>
            <a:pPr algn="l">
              <a:lnSpc>
                <a:spcPct val="116000"/>
              </a:lnSpc>
            </a:pPr>
            <a:r>
              <a:rPr sz="2200" b="0">
                <a:solidFill>
                  <a:srgbClr val="C8341B"/>
                </a:solidFill>
                <a:latin typeface="Georgia"/>
              </a:rPr>
              <a:t>ROC-AUC 0.862  ·  PR-AUC 0.732</a:t>
            </a:r>
          </a:p>
        </p:txBody>
      </p:sp>
      <p:sp>
        <p:nvSpPr>
          <p:cNvPr id="24" name="TextBox 8"/>
          <p:cNvSpPr txBox="1"/>
          <p:nvPr/>
        </p:nvSpPr>
        <p:spPr>
          <a:xfrm>
            <a:off x="749808" y="5074920"/>
            <a:ext cx="5202936" cy="640080"/>
          </a:xfrm>
          <a:prstGeom prst="rect">
            <a:avLst/>
          </a:prstGeom>
          <a:noFill/>
        </p:spPr>
        <p:txBody>
          <a:bodyPr wrap="square" lIns="0" tIns="0" rIns="0" bIns="0" anchor="t">
            <a:noAutofit/>
          </a:bodyPr>
          <a:lstStyle/>
          <a:p>
            <a:pPr algn="l">
              <a:lnSpc>
                <a:spcPct val="146000"/>
              </a:lnSpc>
            </a:pPr>
            <a:r>
              <a:rPr sz="1150" b="0">
                <a:solidFill>
                  <a:srgbClr val="3A342E"/>
                </a:solidFill>
                <a:latin typeface="Franklin Gothic Book"/>
              </a:rPr>
              <a:t>These score the probabilities behind each answer. On late fires the PR-AUC is 0.558, about twice what guessing would get.</a:t>
            </a:r>
          </a:p>
        </p:txBody>
      </p:sp>
      <p:cxnSp>
        <p:nvCxnSpPr>
          <p:cNvPr id="25" name="Connector 4"/>
          <p:cNvCxnSpPr/>
          <p:nvPr/>
        </p:nvCxnSpPr>
        <p:spPr>
          <a:xfrm>
            <a:off x="6236208" y="4069080"/>
            <a:ext cx="5202936"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26" name="Rectangle 5"/>
          <p:cNvSpPr/>
          <p:nvPr/>
        </p:nvSpPr>
        <p:spPr>
          <a:xfrm>
            <a:off x="6236208" y="4069080"/>
            <a:ext cx="512064" cy="21945"/>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6"/>
          <p:cNvSpPr txBox="1"/>
          <p:nvPr/>
        </p:nvSpPr>
        <p:spPr>
          <a:xfrm>
            <a:off x="6236208" y="4251960"/>
            <a:ext cx="5202936" cy="310896"/>
          </a:xfrm>
          <a:prstGeom prst="rect">
            <a:avLst/>
          </a:prstGeom>
          <a:noFill/>
        </p:spPr>
        <p:txBody>
          <a:bodyPr wrap="square" lIns="0" tIns="0" rIns="0" bIns="0" anchor="t">
            <a:noAutofit/>
          </a:bodyPr>
          <a:lstStyle/>
          <a:p>
            <a:pPr algn="l">
              <a:lnSpc>
                <a:spcPct val="116000"/>
              </a:lnSpc>
            </a:pPr>
            <a:r>
              <a:rPr sz="1450" b="0">
                <a:solidFill>
                  <a:srgbClr val="16130F"/>
                </a:solidFill>
                <a:latin typeface="Georgia"/>
              </a:rPr>
              <a:t>Why not shuffled cross-validation</a:t>
            </a:r>
          </a:p>
        </p:txBody>
      </p:sp>
      <p:sp>
        <p:nvSpPr>
          <p:cNvPr id="28" name="TextBox 6"/>
          <p:cNvSpPr txBox="1"/>
          <p:nvPr/>
        </p:nvSpPr>
        <p:spPr>
          <a:xfrm>
            <a:off x="6236208" y="4599432"/>
            <a:ext cx="5202936" cy="438912"/>
          </a:xfrm>
          <a:prstGeom prst="rect">
            <a:avLst/>
          </a:prstGeom>
          <a:noFill/>
        </p:spPr>
        <p:txBody>
          <a:bodyPr wrap="square" lIns="0" tIns="0" rIns="0" bIns="0" anchor="t">
            <a:noAutofit/>
          </a:bodyPr>
          <a:lstStyle/>
          <a:p>
            <a:pPr algn="l">
              <a:lnSpc>
                <a:spcPct val="116000"/>
              </a:lnSpc>
            </a:pPr>
            <a:r>
              <a:rPr sz="2200" b="0">
                <a:solidFill>
                  <a:srgbClr val="C8341B"/>
                </a:solidFill>
                <a:latin typeface="Georgia"/>
              </a:rPr>
              <a:t>0.772 vs 0.677</a:t>
            </a:r>
          </a:p>
        </p:txBody>
      </p:sp>
      <p:sp>
        <p:nvSpPr>
          <p:cNvPr id="29" name="TextBox 8"/>
          <p:cNvSpPr txBox="1"/>
          <p:nvPr/>
        </p:nvSpPr>
        <p:spPr>
          <a:xfrm>
            <a:off x="6236208" y="5074920"/>
            <a:ext cx="5202936" cy="640080"/>
          </a:xfrm>
          <a:prstGeom prst="rect">
            <a:avLst/>
          </a:prstGeom>
          <a:noFill/>
        </p:spPr>
        <p:txBody>
          <a:bodyPr wrap="square" lIns="0" tIns="0" rIns="0" bIns="0" anchor="t">
            <a:noAutofit/>
          </a:bodyPr>
          <a:lstStyle/>
          <a:p>
            <a:pPr algn="l">
              <a:lnSpc>
                <a:spcPct val="146000"/>
              </a:lnSpc>
            </a:pPr>
            <a:r>
              <a:rPr sz="1150" b="0">
                <a:solidFill>
                  <a:srgbClr val="3A342E"/>
                </a:solidFill>
                <a:latin typeface="Franklin Gothic Book"/>
              </a:rPr>
              <a:t>Shuffled 5-fold cross-validation leaks between neighbouring years and overstates the score. Testing forward in time gives the real figure.</a:t>
            </a:r>
          </a:p>
        </p:txBody>
      </p:sp>
      <p:cxnSp>
        <p:nvCxnSpPr>
          <p:cNvPr id="30" name="Connector 4"/>
          <p:cNvCxnSpPr/>
          <p:nvPr/>
        </p:nvCxnSpPr>
        <p:spPr>
          <a:xfrm>
            <a:off x="749808" y="5733288"/>
            <a:ext cx="10689336"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44071"/>
    </mc:Choice>
    <mc:Fallback xmlns="">
      <p:transition spd="slow" advTm="4407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THE LEDGER</a:t>
            </a:r>
          </a:p>
        </p:txBody>
      </p:sp>
      <p:sp>
        <p:nvSpPr>
          <p:cNvPr id="4" name="TextBox 3"/>
          <p:cNvSpPr txBox="1"/>
          <p:nvPr/>
        </p:nvSpPr>
        <p:spPr>
          <a:xfrm>
            <a:off x="749808" y="749808"/>
            <a:ext cx="9789132" cy="1005840"/>
          </a:xfrm>
          <a:prstGeom prst="rect">
            <a:avLst/>
          </a:prstGeom>
          <a:noFill/>
        </p:spPr>
        <p:txBody>
          <a:bodyPr wrap="square" lIns="0" tIns="0" rIns="0" bIns="0" anchor="t">
            <a:noAutofit/>
          </a:bodyPr>
          <a:lstStyle/>
          <a:p>
            <a:pPr algn="l">
              <a:lnSpc>
                <a:spcPct val="114000"/>
              </a:lnSpc>
            </a:pPr>
            <a:r>
              <a:rPr sz="2800" b="0" spc="-15">
                <a:solidFill>
                  <a:srgbClr val="16130F"/>
                </a:solidFill>
                <a:latin typeface="Georgia"/>
              </a:rPr>
              <a:t>Twenty-three experiments against a fixed benchmark. One was kept.</a:t>
            </a:r>
          </a:p>
        </p:txBody>
      </p:sp>
      <p:pic>
        <p:nvPicPr>
          <p:cNvPr id="5" name="Picture 4" descr="experiments.png"/>
          <p:cNvPicPr>
            <a:picLocks noChangeAspect="1"/>
          </p:cNvPicPr>
          <p:nvPr/>
        </p:nvPicPr>
        <p:blipFill>
          <a:blip r:embed="rId3"/>
          <a:stretch>
            <a:fillRect/>
          </a:stretch>
        </p:blipFill>
        <p:spPr>
          <a:xfrm>
            <a:off x="566927" y="1956816"/>
            <a:ext cx="7242048" cy="3851939"/>
          </a:xfrm>
          <a:prstGeom prst="rect">
            <a:avLst/>
          </a:prstGeom>
        </p:spPr>
      </p:pic>
      <p:sp>
        <p:nvSpPr>
          <p:cNvPr id="6" name="Rectangle 5"/>
          <p:cNvSpPr/>
          <p:nvPr/>
        </p:nvSpPr>
        <p:spPr>
          <a:xfrm>
            <a:off x="8067019" y="1993392"/>
            <a:ext cx="3375141" cy="3803904"/>
          </a:xfrm>
          <a:prstGeom prst="rect">
            <a:avLst/>
          </a:prstGeom>
          <a:solidFill>
            <a:srgbClr val="F4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67019" y="1993392"/>
            <a:ext cx="34747" cy="380390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4491" y="2231136"/>
            <a:ext cx="2680197" cy="548640"/>
          </a:xfrm>
          <a:prstGeom prst="rect">
            <a:avLst/>
          </a:prstGeom>
          <a:noFill/>
        </p:spPr>
        <p:txBody>
          <a:bodyPr wrap="square" lIns="0" tIns="0" rIns="0" bIns="0" anchor="t">
            <a:noAutofit/>
          </a:bodyPr>
          <a:lstStyle/>
          <a:p>
            <a:pPr algn="l">
              <a:lnSpc>
                <a:spcPct val="116000"/>
              </a:lnSpc>
            </a:pPr>
            <a:r>
              <a:rPr sz="1550" b="0">
                <a:solidFill>
                  <a:srgbClr val="16130F"/>
                </a:solidFill>
                <a:latin typeface="Georgia"/>
              </a:rPr>
              <a:t>Including the one that failed</a:t>
            </a:r>
          </a:p>
        </p:txBody>
      </p:sp>
      <p:sp>
        <p:nvSpPr>
          <p:cNvPr id="9" name="TextBox 8"/>
          <p:cNvSpPr txBox="1"/>
          <p:nvPr/>
        </p:nvSpPr>
        <p:spPr>
          <a:xfrm>
            <a:off x="8414491" y="2889504"/>
            <a:ext cx="2680197" cy="2743200"/>
          </a:xfrm>
          <a:prstGeom prst="rect">
            <a:avLst/>
          </a:prstGeom>
          <a:noFill/>
        </p:spPr>
        <p:txBody>
          <a:bodyPr wrap="square" lIns="0" tIns="0" rIns="0" bIns="0" anchor="t">
            <a:noAutofit/>
          </a:bodyPr>
          <a:lstStyle/>
          <a:p>
            <a:pPr algn="l">
              <a:lnSpc>
                <a:spcPct val="148000"/>
              </a:lnSpc>
            </a:pPr>
            <a:r>
              <a:rPr sz="1130" b="0">
                <a:solidFill>
                  <a:srgbClr val="3A342E"/>
                </a:solidFill>
                <a:latin typeface="Franklin Gothic Book"/>
              </a:rPr>
              <a:t>We built a U-Net over the whole grid to let a convolutional network read fire as a picture rather than a table of numbers.</a:t>
            </a:r>
          </a:p>
          <a:p>
            <a:pPr algn="l">
              <a:lnSpc>
                <a:spcPct val="148000"/>
              </a:lnSpc>
              <a:spcBef>
                <a:spcPts val="1152"/>
              </a:spcBef>
            </a:pPr>
            <a:r>
              <a:rPr sz="1130" b="0">
                <a:solidFill>
                  <a:srgbClr val="3A342E"/>
                </a:solidFill>
                <a:latin typeface="Franklin Gothic Book"/>
              </a:rPr>
              <a:t>It scored 0.588 — 0.048 below the benchmark — so it went in the ledger as a reverted run and stayed out of the final model.</a:t>
            </a:r>
          </a:p>
          <a:p>
            <a:pPr algn="l">
              <a:lnSpc>
                <a:spcPct val="148000"/>
              </a:lnSpc>
              <a:spcBef>
                <a:spcPts val="1152"/>
              </a:spcBef>
            </a:pPr>
            <a:r>
              <a:rPr sz="1130" b="0">
                <a:solidFill>
                  <a:srgbClr val="3A342E"/>
                </a:solidFill>
                <a:latin typeface="Franklin Gothic Book"/>
              </a:rPr>
              <a:t>Every run was scored the same way, against the same fixed benchmark, and recorded whether it helped or not.</a:t>
            </a:r>
          </a:p>
        </p:txBody>
      </p:sp>
      <p:cxnSp>
        <p:nvCxnSpPr>
          <p:cNvPr id="10" name="Connector 9"/>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49808" y="6345936"/>
            <a:ext cx="7128235"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lang="en-AU" sz="1050" b="0" dirty="0">
                <a:solidFill>
                  <a:srgbClr val="787066"/>
                </a:solidFill>
                <a:latin typeface="Georgia"/>
              </a:rPr>
              <a:t>17</a:t>
            </a:r>
            <a:endParaRPr sz="1050" b="0" dirty="0">
              <a:solidFill>
                <a:srgbClr val="787066"/>
              </a:solidFill>
              <a:latin typeface="Georgia"/>
            </a:endParaRPr>
          </a:p>
        </p:txBody>
      </p:sp>
      <p:sp>
        <p:nvSpPr>
          <p:cNvPr id="13" name="TextBox 12"/>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Tharushi Wimalachandra</a:t>
            </a:r>
          </a:p>
        </p:txBody>
      </p:sp>
    </p:spTree>
  </p:cSld>
  <p:clrMapOvr>
    <a:masterClrMapping/>
  </p:clrMapOvr>
  <mc:AlternateContent xmlns:mc="http://schemas.openxmlformats.org/markup-compatibility/2006" xmlns:p14="http://schemas.microsoft.com/office/powerpoint/2010/main">
    <mc:Choice Requires="p14">
      <p:transition spd="slow" p14:dur="2000" advTm="46578"/>
    </mc:Choice>
    <mc:Fallback xmlns="">
      <p:transition spd="slow" advTm="4657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WHAT IT LEANS ON</a:t>
            </a:r>
          </a:p>
        </p:txBody>
      </p:sp>
      <p:sp>
        <p:nvSpPr>
          <p:cNvPr id="4" name="TextBox 3"/>
          <p:cNvSpPr txBox="1"/>
          <p:nvPr/>
        </p:nvSpPr>
        <p:spPr>
          <a:xfrm>
            <a:off x="749808" y="749808"/>
            <a:ext cx="9789132"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The model rediscovered what land managers already knew.</a:t>
            </a:r>
          </a:p>
        </p:txBody>
      </p:sp>
      <p:pic>
        <p:nvPicPr>
          <p:cNvPr id="5" name="Picture 4" descr="importance.png"/>
          <p:cNvPicPr>
            <a:picLocks noChangeAspect="1"/>
          </p:cNvPicPr>
          <p:nvPr/>
        </p:nvPicPr>
        <p:blipFill>
          <a:blip r:embed="rId3"/>
          <a:stretch>
            <a:fillRect/>
          </a:stretch>
        </p:blipFill>
        <p:spPr>
          <a:xfrm>
            <a:off x="566927" y="1993392"/>
            <a:ext cx="7296912" cy="3243980"/>
          </a:xfrm>
          <a:prstGeom prst="rect">
            <a:avLst/>
          </a:prstGeom>
        </p:spPr>
      </p:pic>
      <p:cxnSp>
        <p:nvCxnSpPr>
          <p:cNvPr id="6" name="Connector 5"/>
          <p:cNvCxnSpPr/>
          <p:nvPr/>
        </p:nvCxnSpPr>
        <p:spPr>
          <a:xfrm>
            <a:off x="8085307" y="2048256"/>
            <a:ext cx="0" cy="329184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14214" y="2048256"/>
            <a:ext cx="3283701" cy="3291840"/>
          </a:xfrm>
          <a:prstGeom prst="rect">
            <a:avLst/>
          </a:prstGeom>
          <a:noFill/>
        </p:spPr>
        <p:txBody>
          <a:bodyPr wrap="square" lIns="0" tIns="0" rIns="0" bIns="0" anchor="t">
            <a:noAutofit/>
          </a:bodyPr>
          <a:lstStyle/>
          <a:p>
            <a:pPr algn="l">
              <a:lnSpc>
                <a:spcPct val="140000"/>
              </a:lnSpc>
            </a:pPr>
            <a:r>
              <a:rPr sz="1260" b="0">
                <a:solidFill>
                  <a:srgbClr val="16130F"/>
                </a:solidFill>
                <a:latin typeface="Georgia"/>
              </a:rPr>
              <a:t>Nobody told it that a wet, hot wet season grows the grass that carries an October fire. It found that in the data.</a:t>
            </a:r>
          </a:p>
          <a:p>
            <a:pPr algn="l">
              <a:lnSpc>
                <a:spcPct val="150000"/>
              </a:lnSpc>
              <a:spcBef>
                <a:spcPts val="1440"/>
              </a:spcBef>
            </a:pPr>
            <a:r>
              <a:rPr sz="1160" b="0">
                <a:solidFill>
                  <a:srgbClr val="3A342E"/>
                </a:solidFill>
                <a:latin typeface="Franklin Gothic Book"/>
              </a:rPr>
              <a:t>The top five inputs are the dryness of the air, average greenness, wet-season rainfall, what the neighbouring country did last year, and the lowest greenness of the wet.</a:t>
            </a:r>
          </a:p>
          <a:p>
            <a:pPr algn="l">
              <a:lnSpc>
                <a:spcPct val="150000"/>
              </a:lnSpc>
              <a:spcBef>
                <a:spcPts val="1440"/>
              </a:spcBef>
            </a:pPr>
            <a:r>
              <a:rPr sz="1160" b="0">
                <a:solidFill>
                  <a:srgbClr val="3A342E"/>
                </a:solidFill>
                <a:latin typeface="Franklin Gothic Book"/>
              </a:rPr>
              <a:t>That it lands where fire ecology already sits is the best evidence we have that it learned the problem rather than the dataset.</a:t>
            </a:r>
          </a:p>
        </p:txBody>
      </p:sp>
      <p:cxnSp>
        <p:nvCxnSpPr>
          <p:cNvPr id="8" name="Connector 7"/>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49808" y="6345936"/>
            <a:ext cx="7573750"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lang="en-AU" sz="1050" b="0" dirty="0">
                <a:solidFill>
                  <a:srgbClr val="787066"/>
                </a:solidFill>
                <a:latin typeface="Georgia"/>
              </a:rPr>
              <a:t>18</a:t>
            </a:r>
            <a:endParaRPr sz="1050" b="0" dirty="0">
              <a:solidFill>
                <a:srgbClr val="787066"/>
              </a:solidFill>
              <a:latin typeface="Georgia"/>
            </a:endParaRPr>
          </a:p>
        </p:txBody>
      </p:sp>
      <p:sp>
        <p:nvSpPr>
          <p:cNvPr id="11" name="TextBox 10"/>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Tharushi Wimalachandra</a:t>
            </a:r>
          </a:p>
        </p:txBody>
      </p:sp>
    </p:spTree>
  </p:cSld>
  <p:clrMapOvr>
    <a:masterClrMapping/>
  </p:clrMapOvr>
  <mc:AlternateContent xmlns:mc="http://schemas.openxmlformats.org/markup-compatibility/2006" xmlns:p14="http://schemas.microsoft.com/office/powerpoint/2010/main">
    <mc:Choice Requires="p14">
      <p:transition spd="slow" p14:dur="2000" advTm="28436"/>
    </mc:Choice>
    <mc:Fallback xmlns="">
      <p:transition spd="slow" advTm="2843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LIMITATIONS</a:t>
            </a:r>
          </a:p>
        </p:txBody>
      </p:sp>
      <p:sp>
        <p:nvSpPr>
          <p:cNvPr id="4" name="TextBox 3"/>
          <p:cNvSpPr txBox="1"/>
          <p:nvPr/>
        </p:nvSpPr>
        <p:spPr>
          <a:xfrm>
            <a:off x="749808" y="749808"/>
            <a:ext cx="8885910"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What this does not do.</a:t>
            </a:r>
          </a:p>
        </p:txBody>
      </p:sp>
      <p:cxnSp>
        <p:nvCxnSpPr>
          <p:cNvPr id="5" name="Connector 4"/>
          <p:cNvCxnSpPr/>
          <p:nvPr/>
        </p:nvCxnSpPr>
        <p:spPr>
          <a:xfrm>
            <a:off x="749808" y="195681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49808" y="1956816"/>
            <a:ext cx="512064" cy="21945"/>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2157984"/>
            <a:ext cx="3356853" cy="310896"/>
          </a:xfrm>
          <a:prstGeom prst="rect">
            <a:avLst/>
          </a:prstGeom>
          <a:noFill/>
        </p:spPr>
        <p:txBody>
          <a:bodyPr wrap="square" lIns="0" tIns="0" rIns="0" bIns="0" anchor="t">
            <a:noAutofit/>
          </a:bodyPr>
          <a:lstStyle/>
          <a:p>
            <a:pPr algn="l">
              <a:lnSpc>
                <a:spcPct val="116000"/>
              </a:lnSpc>
            </a:pPr>
            <a:r>
              <a:rPr sz="1450" b="0">
                <a:solidFill>
                  <a:srgbClr val="16130F"/>
                </a:solidFill>
                <a:latin typeface="Georgia"/>
              </a:rPr>
              <a:t>Late fires are still the hardest call</a:t>
            </a:r>
          </a:p>
        </p:txBody>
      </p:sp>
      <p:sp>
        <p:nvSpPr>
          <p:cNvPr id="8" name="TextBox 7"/>
          <p:cNvSpPr txBox="1"/>
          <p:nvPr/>
        </p:nvSpPr>
        <p:spPr>
          <a:xfrm>
            <a:off x="749808" y="2523744"/>
            <a:ext cx="3356853" cy="219456"/>
          </a:xfrm>
          <a:prstGeom prst="rect">
            <a:avLst/>
          </a:prstGeom>
          <a:noFill/>
        </p:spPr>
        <p:txBody>
          <a:bodyPr wrap="square" lIns="0" tIns="0" rIns="0" bIns="0" anchor="t">
            <a:noAutofit/>
          </a:bodyPr>
          <a:lstStyle/>
          <a:p>
            <a:pPr algn="l">
              <a:lnSpc>
                <a:spcPct val="100000"/>
              </a:lnSpc>
            </a:pPr>
            <a:r>
              <a:rPr sz="950" b="0">
                <a:solidFill>
                  <a:srgbClr val="C8341B"/>
                </a:solidFill>
                <a:latin typeface="Franklin Gothic Medium"/>
              </a:rPr>
              <a:t>balanced F1 0.553</a:t>
            </a:r>
          </a:p>
        </p:txBody>
      </p:sp>
      <p:sp>
        <p:nvSpPr>
          <p:cNvPr id="9" name="TextBox 8"/>
          <p:cNvSpPr txBox="1"/>
          <p:nvPr/>
        </p:nvSpPr>
        <p:spPr>
          <a:xfrm>
            <a:off x="5265915" y="2157984"/>
            <a:ext cx="6176246" cy="640080"/>
          </a:xfrm>
          <a:prstGeom prst="rect">
            <a:avLst/>
          </a:prstGeom>
          <a:noFill/>
        </p:spPr>
        <p:txBody>
          <a:bodyPr wrap="square" lIns="0" tIns="0" rIns="0" bIns="0" anchor="t">
            <a:noAutofit/>
          </a:bodyPr>
          <a:lstStyle/>
          <a:p>
            <a:pPr algn="l">
              <a:lnSpc>
                <a:spcPct val="146000"/>
              </a:lnSpc>
            </a:pPr>
            <a:r>
              <a:rPr sz="1150" b="0">
                <a:solidFill>
                  <a:srgbClr val="3A342E"/>
                </a:solidFill>
                <a:latin typeface="Franklin Gothic Book"/>
              </a:rPr>
              <a:t>The class that matters most is the one we predict worst. It is the rarest and the most weather-driven, and a year's weather after April is exactly what we refuse to look at.</a:t>
            </a:r>
          </a:p>
        </p:txBody>
      </p:sp>
      <p:cxnSp>
        <p:nvCxnSpPr>
          <p:cNvPr id="10" name="Connector 9"/>
          <p:cNvCxnSpPr/>
          <p:nvPr/>
        </p:nvCxnSpPr>
        <p:spPr>
          <a:xfrm>
            <a:off x="749808" y="296265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49808" y="2962656"/>
            <a:ext cx="512064" cy="21945"/>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3163824"/>
            <a:ext cx="3356853" cy="310896"/>
          </a:xfrm>
          <a:prstGeom prst="rect">
            <a:avLst/>
          </a:prstGeom>
          <a:noFill/>
        </p:spPr>
        <p:txBody>
          <a:bodyPr wrap="square" lIns="0" tIns="0" rIns="0" bIns="0" anchor="t">
            <a:noAutofit/>
          </a:bodyPr>
          <a:lstStyle/>
          <a:p>
            <a:pPr algn="l">
              <a:lnSpc>
                <a:spcPct val="116000"/>
              </a:lnSpc>
            </a:pPr>
            <a:r>
              <a:rPr sz="1450" b="0">
                <a:solidFill>
                  <a:srgbClr val="16130F"/>
                </a:solidFill>
                <a:latin typeface="Georgia"/>
              </a:rPr>
              <a:t>A season, not a day</a:t>
            </a:r>
          </a:p>
        </p:txBody>
      </p:sp>
      <p:sp>
        <p:nvSpPr>
          <p:cNvPr id="13" name="TextBox 12"/>
          <p:cNvSpPr txBox="1"/>
          <p:nvPr/>
        </p:nvSpPr>
        <p:spPr>
          <a:xfrm>
            <a:off x="5265915" y="3163824"/>
            <a:ext cx="6176246" cy="640080"/>
          </a:xfrm>
          <a:prstGeom prst="rect">
            <a:avLst/>
          </a:prstGeom>
          <a:noFill/>
        </p:spPr>
        <p:txBody>
          <a:bodyPr wrap="square" lIns="0" tIns="0" rIns="0" bIns="0" anchor="t">
            <a:noAutofit/>
          </a:bodyPr>
          <a:lstStyle/>
          <a:p>
            <a:pPr algn="l">
              <a:lnSpc>
                <a:spcPct val="146000"/>
              </a:lnSpc>
            </a:pPr>
            <a:r>
              <a:rPr sz="1150" b="0">
                <a:solidFill>
                  <a:srgbClr val="3A342E"/>
                </a:solidFill>
                <a:latin typeface="Franklin Gothic Book"/>
              </a:rPr>
              <a:t>This says which squares are likely to burn and roughly when. It does not say which Tuesday, and it is not a fire-danger rating.</a:t>
            </a:r>
          </a:p>
        </p:txBody>
      </p:sp>
      <p:cxnSp>
        <p:nvCxnSpPr>
          <p:cNvPr id="14" name="Connector 13"/>
          <p:cNvCxnSpPr/>
          <p:nvPr/>
        </p:nvCxnSpPr>
        <p:spPr>
          <a:xfrm>
            <a:off x="749808" y="396849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49808" y="3968496"/>
            <a:ext cx="512064" cy="21945"/>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4169663"/>
            <a:ext cx="3356853" cy="310896"/>
          </a:xfrm>
          <a:prstGeom prst="rect">
            <a:avLst/>
          </a:prstGeom>
          <a:noFill/>
        </p:spPr>
        <p:txBody>
          <a:bodyPr wrap="square" lIns="0" tIns="0" rIns="0" bIns="0" anchor="t">
            <a:noAutofit/>
          </a:bodyPr>
          <a:lstStyle/>
          <a:p>
            <a:pPr algn="l">
              <a:lnSpc>
                <a:spcPct val="116000"/>
              </a:lnSpc>
            </a:pPr>
            <a:r>
              <a:rPr sz="1450" b="0">
                <a:solidFill>
                  <a:srgbClr val="16130F"/>
                </a:solidFill>
                <a:latin typeface="Georgia"/>
              </a:rPr>
              <a:t>2026 is unverified</a:t>
            </a:r>
          </a:p>
        </p:txBody>
      </p:sp>
      <p:sp>
        <p:nvSpPr>
          <p:cNvPr id="17" name="TextBox 16"/>
          <p:cNvSpPr txBox="1"/>
          <p:nvPr/>
        </p:nvSpPr>
        <p:spPr>
          <a:xfrm>
            <a:off x="5265915" y="4169663"/>
            <a:ext cx="6176246" cy="640080"/>
          </a:xfrm>
          <a:prstGeom prst="rect">
            <a:avLst/>
          </a:prstGeom>
          <a:noFill/>
        </p:spPr>
        <p:txBody>
          <a:bodyPr wrap="square" lIns="0" tIns="0" rIns="0" bIns="0" anchor="t">
            <a:noAutofit/>
          </a:bodyPr>
          <a:lstStyle/>
          <a:p>
            <a:pPr algn="l">
              <a:lnSpc>
                <a:spcPct val="146000"/>
              </a:lnSpc>
            </a:pPr>
            <a:r>
              <a:rPr sz="1150" b="0">
                <a:solidFill>
                  <a:srgbClr val="3A342E"/>
                </a:solidFill>
                <a:latin typeface="Franklin Gothic Book"/>
              </a:rPr>
              <a:t>No burnt-area record exists for a year still running. The forecast is published as a claim that can be checked in 2027, not as a result.</a:t>
            </a:r>
          </a:p>
        </p:txBody>
      </p:sp>
      <p:cxnSp>
        <p:nvCxnSpPr>
          <p:cNvPr id="18" name="Connector 17"/>
          <p:cNvCxnSpPr/>
          <p:nvPr/>
        </p:nvCxnSpPr>
        <p:spPr>
          <a:xfrm>
            <a:off x="749808" y="49743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749808" y="4974336"/>
            <a:ext cx="512064" cy="21945"/>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9808" y="5175503"/>
            <a:ext cx="3356853" cy="310896"/>
          </a:xfrm>
          <a:prstGeom prst="rect">
            <a:avLst/>
          </a:prstGeom>
          <a:noFill/>
        </p:spPr>
        <p:txBody>
          <a:bodyPr wrap="square" lIns="0" tIns="0" rIns="0" bIns="0" anchor="t">
            <a:noAutofit/>
          </a:bodyPr>
          <a:lstStyle/>
          <a:p>
            <a:pPr algn="l">
              <a:lnSpc>
                <a:spcPct val="116000"/>
              </a:lnSpc>
            </a:pPr>
            <a:r>
              <a:rPr sz="1450" b="0">
                <a:solidFill>
                  <a:srgbClr val="16130F"/>
                </a:solidFill>
                <a:latin typeface="Georgia"/>
              </a:rPr>
              <a:t>One Territory, one grid</a:t>
            </a:r>
          </a:p>
        </p:txBody>
      </p:sp>
      <p:sp>
        <p:nvSpPr>
          <p:cNvPr id="21" name="TextBox 20"/>
          <p:cNvSpPr txBox="1"/>
          <p:nvPr/>
        </p:nvSpPr>
        <p:spPr>
          <a:xfrm>
            <a:off x="5265915" y="5175503"/>
            <a:ext cx="6176246" cy="640080"/>
          </a:xfrm>
          <a:prstGeom prst="rect">
            <a:avLst/>
          </a:prstGeom>
          <a:noFill/>
        </p:spPr>
        <p:txBody>
          <a:bodyPr wrap="square" lIns="0" tIns="0" rIns="0" bIns="0" anchor="t">
            <a:noAutofit/>
          </a:bodyPr>
          <a:lstStyle/>
          <a:p>
            <a:pPr algn="l">
              <a:lnSpc>
                <a:spcPct val="146000"/>
              </a:lnSpc>
            </a:pPr>
            <a:r>
              <a:rPr sz="1150" b="0">
                <a:solidFill>
                  <a:srgbClr val="3A342E"/>
                </a:solidFill>
                <a:latin typeface="Franklin Gothic Book"/>
              </a:rPr>
              <a:t>Everything is fitted to the NT at 0.05°. Whether it transfers to the Kimberley or Cape York is an open question, not an assumption.</a:t>
            </a:r>
          </a:p>
        </p:txBody>
      </p:sp>
      <p:cxnSp>
        <p:nvCxnSpPr>
          <p:cNvPr id="22" name="Connector 21"/>
          <p:cNvCxnSpPr/>
          <p:nvPr/>
        </p:nvCxnSpPr>
        <p:spPr>
          <a:xfrm>
            <a:off x="749808" y="5980175"/>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9808" y="6345936"/>
            <a:ext cx="8019265"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lang="en-AU" sz="1050" b="0" dirty="0">
                <a:solidFill>
                  <a:srgbClr val="787066"/>
                </a:solidFill>
                <a:latin typeface="Georgia"/>
              </a:rPr>
              <a:t>19</a:t>
            </a:r>
            <a:endParaRPr sz="1050" b="0" dirty="0">
              <a:solidFill>
                <a:srgbClr val="787066"/>
              </a:solidFill>
              <a:latin typeface="Georgia"/>
            </a:endParaRPr>
          </a:p>
        </p:txBody>
      </p:sp>
      <p:sp>
        <p:nvSpPr>
          <p:cNvPr id="26" name="TextBox 25"/>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Tharushi Wimalachandra</a:t>
            </a:r>
          </a:p>
        </p:txBody>
      </p:sp>
    </p:spTree>
  </p:cSld>
  <p:clrMapOvr>
    <a:masterClrMapping/>
  </p:clrMapOvr>
  <mc:AlternateContent xmlns:mc="http://schemas.openxmlformats.org/markup-compatibility/2006" xmlns:p14="http://schemas.microsoft.com/office/powerpoint/2010/main">
    <mc:Choice Requires="p14">
      <p:transition spd="slow" p14:dur="2000" advTm="39138"/>
    </mc:Choice>
    <mc:Fallback xmlns="">
      <p:transition spd="slow" advTm="39138"/>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FBF9"/>
        </a:solidFill>
        <a:effectLst/>
      </p:bgPr>
    </p:bg>
    <p:spTree>
      <p:nvGrpSpPr>
        <p:cNvPr id="1" name=""/>
        <p:cNvGrpSpPr/>
        <p:nvPr/>
      </p:nvGrpSpPr>
      <p:grpSpPr>
        <a:xfrm>
          <a:off x="0" y="0"/>
          <a:ext cx="0" cy="0"/>
          <a:chOff x="0" y="0"/>
          <a:chExt cx="0" cy="0"/>
        </a:xfrm>
      </p:grpSpPr>
      <p:sp>
        <p:nvSpPr>
          <p:cNvPr id="2" name="TextBox 1"/>
          <p:cNvSpPr txBox="1"/>
          <p:nvPr/>
        </p:nvSpPr>
        <p:spPr>
          <a:xfrm>
            <a:off x="7235921" y="420624"/>
            <a:ext cx="4206240" cy="2377440"/>
          </a:xfrm>
          <a:prstGeom prst="rect">
            <a:avLst/>
          </a:prstGeom>
          <a:noFill/>
        </p:spPr>
        <p:txBody>
          <a:bodyPr wrap="square" lIns="0" tIns="0" rIns="0" bIns="0" anchor="t">
            <a:noAutofit/>
          </a:bodyPr>
          <a:lstStyle/>
          <a:p>
            <a:pPr algn="r">
              <a:lnSpc>
                <a:spcPct val="100000"/>
              </a:lnSpc>
            </a:pPr>
            <a:r>
              <a:rPr sz="15000" b="0" spc="-300">
                <a:solidFill>
                  <a:srgbClr val="DCD5CA"/>
                </a:solidFill>
                <a:latin typeface="Georgia"/>
              </a:rPr>
              <a:t>04</a:t>
            </a:r>
          </a:p>
        </p:txBody>
      </p:sp>
      <p:cxnSp>
        <p:nvCxnSpPr>
          <p:cNvPr id="3" name="Connector 2"/>
          <p:cNvCxnSpPr/>
          <p:nvPr/>
        </p:nvCxnSpPr>
        <p:spPr>
          <a:xfrm>
            <a:off x="749808" y="2468880"/>
            <a:ext cx="1280159" cy="0"/>
          </a:xfrm>
          <a:prstGeom prst="line">
            <a:avLst/>
          </a:prstGeom>
          <a:ln w="33020">
            <a:solidFill>
              <a:srgbClr val="C8341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49808" y="2688336"/>
            <a:ext cx="6176246" cy="219456"/>
          </a:xfrm>
          <a:prstGeom prst="rect">
            <a:avLst/>
          </a:prstGeom>
          <a:noFill/>
        </p:spPr>
        <p:txBody>
          <a:bodyPr wrap="square" lIns="0" tIns="0" rIns="0" bIns="0" anchor="t">
            <a:noAutofit/>
          </a:bodyPr>
          <a:lstStyle/>
          <a:p>
            <a:pPr algn="l">
              <a:lnSpc>
                <a:spcPct val="100000"/>
              </a:lnSpc>
            </a:pPr>
            <a:r>
              <a:rPr sz="950" b="0" spc="180">
                <a:solidFill>
                  <a:srgbClr val="787066"/>
                </a:solidFill>
                <a:latin typeface="Franklin Gothic Medium"/>
              </a:rPr>
              <a:t>ACT FOUR</a:t>
            </a:r>
          </a:p>
        </p:txBody>
      </p:sp>
      <p:sp>
        <p:nvSpPr>
          <p:cNvPr id="5" name="TextBox 4"/>
          <p:cNvSpPr txBox="1"/>
          <p:nvPr/>
        </p:nvSpPr>
        <p:spPr>
          <a:xfrm>
            <a:off x="749808" y="3017520"/>
            <a:ext cx="7079467" cy="1371600"/>
          </a:xfrm>
          <a:prstGeom prst="rect">
            <a:avLst/>
          </a:prstGeom>
          <a:noFill/>
        </p:spPr>
        <p:txBody>
          <a:bodyPr wrap="square" lIns="0" tIns="0" rIns="0" bIns="0" anchor="t">
            <a:noAutofit/>
          </a:bodyPr>
          <a:lstStyle/>
          <a:p>
            <a:pPr algn="l">
              <a:lnSpc>
                <a:spcPct val="110000"/>
              </a:lnSpc>
            </a:pPr>
            <a:r>
              <a:rPr sz="4200" b="0" spc="-60">
                <a:solidFill>
                  <a:srgbClr val="16130F"/>
                </a:solidFill>
                <a:latin typeface="Georgia"/>
              </a:rPr>
              <a:t>What it says about 2026</a:t>
            </a:r>
          </a:p>
        </p:txBody>
      </p:sp>
      <p:cxnSp>
        <p:nvCxnSpPr>
          <p:cNvPr id="6" name="Connector 5"/>
          <p:cNvCxnSpPr/>
          <p:nvPr/>
        </p:nvCxnSpPr>
        <p:spPr>
          <a:xfrm>
            <a:off x="749808" y="4626864"/>
            <a:ext cx="3466581"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49808" y="4828032"/>
            <a:ext cx="5273024" cy="914400"/>
          </a:xfrm>
          <a:prstGeom prst="rect">
            <a:avLst/>
          </a:prstGeom>
          <a:noFill/>
        </p:spPr>
        <p:txBody>
          <a:bodyPr wrap="square" lIns="0" tIns="0" rIns="0" bIns="0" anchor="t">
            <a:noAutofit/>
          </a:bodyPr>
          <a:lstStyle/>
          <a:p>
            <a:pPr algn="l">
              <a:lnSpc>
                <a:spcPct val="154000"/>
              </a:lnSpc>
            </a:pPr>
            <a:r>
              <a:rPr sz="1350" b="0">
                <a:solidFill>
                  <a:srgbClr val="3A342E"/>
                </a:solidFill>
                <a:latin typeface="Franklin Gothic Book"/>
              </a:rPr>
              <a:t>A forecast that can be checked next year, and the product that puts it in front of someone who is not a data scientist.</a:t>
            </a:r>
          </a:p>
        </p:txBody>
      </p:sp>
      <p:sp>
        <p:nvSpPr>
          <p:cNvPr id="8" name="TextBox 7"/>
          <p:cNvSpPr txBox="1"/>
          <p:nvPr/>
        </p:nvSpPr>
        <p:spPr>
          <a:xfrm>
            <a:off x="749808" y="5705856"/>
            <a:ext cx="5273024" cy="256032"/>
          </a:xfrm>
          <a:prstGeom prst="rect">
            <a:avLst/>
          </a:prstGeom>
          <a:noFill/>
        </p:spPr>
        <p:txBody>
          <a:bodyPr wrap="square" lIns="0" tIns="0" rIns="0" bIns="0" anchor="t">
            <a:noAutofit/>
          </a:bodyPr>
          <a:lstStyle/>
          <a:p>
            <a:pPr algn="l">
              <a:lnSpc>
                <a:spcPct val="100000"/>
              </a:lnSpc>
            </a:pPr>
            <a:r>
              <a:rPr sz="1050" b="0" spc="60">
                <a:solidFill>
                  <a:srgbClr val="C8341B"/>
                </a:solidFill>
                <a:latin typeface="Franklin Gothic Medium"/>
              </a:rPr>
              <a:t>Harsh Rastogi</a:t>
            </a:r>
          </a:p>
        </p:txBody>
      </p:sp>
      <p:cxnSp>
        <p:nvCxnSpPr>
          <p:cNvPr id="9" name="Connector 8"/>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49808" y="6345936"/>
            <a:ext cx="8464779"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lang="en-AU" sz="1050" b="0" dirty="0">
                <a:solidFill>
                  <a:srgbClr val="787066"/>
                </a:solidFill>
                <a:latin typeface="Georgia"/>
              </a:rPr>
              <a:t>20</a:t>
            </a:r>
            <a:endParaRPr sz="1050" b="0" dirty="0">
              <a:solidFill>
                <a:srgbClr val="787066"/>
              </a:solidFill>
              <a:latin typeface="Georgia"/>
            </a:endParaRPr>
          </a:p>
        </p:txBody>
      </p:sp>
    </p:spTree>
  </p:cSld>
  <p:clrMapOvr>
    <a:masterClrMapping/>
  </p:clrMapOvr>
  <mc:AlternateContent xmlns:mc="http://schemas.openxmlformats.org/markup-compatibility/2006" xmlns:p14="http://schemas.microsoft.com/office/powerpoint/2010/main">
    <mc:Choice Requires="p14">
      <p:transition spd="slow" p14:dur="2000" advTm="7032"/>
    </mc:Choice>
    <mc:Fallback xmlns="">
      <p:transition spd="slow" advTm="7032"/>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CFBF9"/>
        </a:solidFill>
        <a:effectLst/>
      </p:bgPr>
    </p:bg>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THE FORECAST</a:t>
            </a:r>
          </a:p>
        </p:txBody>
      </p:sp>
      <p:sp>
        <p:nvSpPr>
          <p:cNvPr id="4" name="TextBox 3"/>
          <p:cNvSpPr txBox="1"/>
          <p:nvPr/>
        </p:nvSpPr>
        <p:spPr>
          <a:xfrm>
            <a:off x="749808" y="749808"/>
            <a:ext cx="9789132"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2026 is running heavy, and most of what is left will burn late.</a:t>
            </a:r>
          </a:p>
        </p:txBody>
      </p:sp>
      <p:pic>
        <p:nvPicPr>
          <p:cNvPr id="5" name="Picture 4" descr="forecast.png"/>
          <p:cNvPicPr>
            <a:picLocks noChangeAspect="1"/>
          </p:cNvPicPr>
          <p:nvPr/>
        </p:nvPicPr>
        <p:blipFill>
          <a:blip r:embed="rId3"/>
          <a:stretch>
            <a:fillRect/>
          </a:stretch>
        </p:blipFill>
        <p:spPr>
          <a:xfrm>
            <a:off x="585215" y="2432304"/>
            <a:ext cx="7132320" cy="3127441"/>
          </a:xfrm>
          <a:prstGeom prst="rect">
            <a:avLst/>
          </a:prstGeom>
        </p:spPr>
      </p:pic>
      <p:cxnSp>
        <p:nvCxnSpPr>
          <p:cNvPr id="6" name="Connector 5"/>
          <p:cNvCxnSpPr/>
          <p:nvPr/>
        </p:nvCxnSpPr>
        <p:spPr>
          <a:xfrm>
            <a:off x="7902427" y="1956816"/>
            <a:ext cx="0" cy="3346704"/>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031334" y="1920240"/>
            <a:ext cx="3466581" cy="896112"/>
          </a:xfrm>
          <a:prstGeom prst="rect">
            <a:avLst/>
          </a:prstGeom>
          <a:noFill/>
        </p:spPr>
        <p:txBody>
          <a:bodyPr wrap="square" lIns="0" tIns="0" rIns="0" bIns="0" anchor="t">
            <a:noAutofit/>
          </a:bodyPr>
          <a:lstStyle/>
          <a:p>
            <a:pPr algn="l">
              <a:lnSpc>
                <a:spcPct val="100000"/>
              </a:lnSpc>
            </a:pPr>
            <a:r>
              <a:rPr sz="5800" b="0" spc="-100">
                <a:solidFill>
                  <a:srgbClr val="C8341B"/>
                </a:solidFill>
                <a:latin typeface="Georgia"/>
              </a:rPr>
              <a:t>51%</a:t>
            </a:r>
          </a:p>
        </p:txBody>
      </p:sp>
      <p:sp>
        <p:nvSpPr>
          <p:cNvPr id="8" name="TextBox 7"/>
          <p:cNvSpPr txBox="1"/>
          <p:nvPr/>
        </p:nvSpPr>
        <p:spPr>
          <a:xfrm>
            <a:off x="8031334" y="2798064"/>
            <a:ext cx="3466581" cy="512064"/>
          </a:xfrm>
          <a:prstGeom prst="rect">
            <a:avLst/>
          </a:prstGeom>
          <a:noFill/>
        </p:spPr>
        <p:txBody>
          <a:bodyPr wrap="square" lIns="0" tIns="0" rIns="0" bIns="0" anchor="t">
            <a:noAutofit/>
          </a:bodyPr>
          <a:lstStyle/>
          <a:p>
            <a:pPr algn="l">
              <a:lnSpc>
                <a:spcPct val="142000"/>
              </a:lnSpc>
            </a:pPr>
            <a:r>
              <a:rPr sz="1000" b="0">
                <a:solidFill>
                  <a:srgbClr val="787066"/>
                </a:solidFill>
                <a:latin typeface="Franklin Gothic Medium"/>
              </a:rPr>
              <a:t>of the Territory forecast to burn in 2026, against a 26-year average of 33%</a:t>
            </a:r>
          </a:p>
        </p:txBody>
      </p:sp>
      <p:cxnSp>
        <p:nvCxnSpPr>
          <p:cNvPr id="9" name="Connector 8"/>
          <p:cNvCxnSpPr/>
          <p:nvPr/>
        </p:nvCxnSpPr>
        <p:spPr>
          <a:xfrm>
            <a:off x="8009032" y="3456432"/>
            <a:ext cx="3466582"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031334" y="3621024"/>
            <a:ext cx="3466581" cy="1737360"/>
          </a:xfrm>
          <a:prstGeom prst="rect">
            <a:avLst/>
          </a:prstGeom>
          <a:noFill/>
        </p:spPr>
        <p:txBody>
          <a:bodyPr wrap="square" lIns="0" tIns="0" rIns="0" bIns="0" anchor="t">
            <a:noAutofit/>
          </a:bodyPr>
          <a:lstStyle/>
          <a:p>
            <a:pPr algn="l">
              <a:lnSpc>
                <a:spcPct val="148000"/>
              </a:lnSpc>
            </a:pPr>
            <a:r>
              <a:rPr sz="1160" b="0">
                <a:solidFill>
                  <a:srgbClr val="3A342E"/>
                </a:solidFill>
                <a:latin typeface="Franklin Gothic Book"/>
              </a:rPr>
              <a:t>The model reads a wet season that delivered 783 mm — 45% above the 2005 to 2019 average and the second wettest in 22 years — and the greenest April on record at 0.46.</a:t>
            </a:r>
          </a:p>
          <a:p>
            <a:pPr algn="l">
              <a:lnSpc>
                <a:spcPct val="148000"/>
              </a:lnSpc>
              <a:spcBef>
                <a:spcPts val="1152"/>
              </a:spcBef>
            </a:pPr>
            <a:r>
              <a:rPr sz="1250" b="0">
                <a:solidFill>
                  <a:srgbClr val="16130F"/>
                </a:solidFill>
                <a:latin typeface="Georgia"/>
              </a:rPr>
              <a:t>More water grew more grass. More grass is more fuel.</a:t>
            </a:r>
          </a:p>
        </p:txBody>
      </p:sp>
      <p:sp>
        <p:nvSpPr>
          <p:cNvPr id="11" name="TextBox 10"/>
          <p:cNvSpPr txBox="1"/>
          <p:nvPr/>
        </p:nvSpPr>
        <p:spPr>
          <a:xfrm>
            <a:off x="749808" y="5760720"/>
            <a:ext cx="6176246" cy="402336"/>
          </a:xfrm>
          <a:prstGeom prst="rect">
            <a:avLst/>
          </a:prstGeom>
          <a:noFill/>
        </p:spPr>
        <p:txBody>
          <a:bodyPr wrap="square" lIns="0" tIns="0" rIns="0" bIns="0" anchor="t">
            <a:noAutofit/>
          </a:bodyPr>
          <a:lstStyle/>
          <a:p>
            <a:pPr algn="l">
              <a:lnSpc>
                <a:spcPct val="144000"/>
              </a:lnSpc>
            </a:pPr>
            <a:r>
              <a:rPr sz="1100" b="0">
                <a:solidFill>
                  <a:srgbClr val="787066"/>
                </a:solidFill>
                <a:latin typeface="Franklin Gothic Book"/>
              </a:rPr>
              <a:t>Mean confidence across the map is 0.733. No fire scars exist for 2026 yet, so this is a claim we can be held to in 2027.</a:t>
            </a:r>
          </a:p>
        </p:txBody>
      </p:sp>
      <p:cxnSp>
        <p:nvCxnSpPr>
          <p:cNvPr id="12" name="Connector 11"/>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9808" y="6345936"/>
            <a:ext cx="8910294"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lang="en-AU" sz="1050" b="0" dirty="0">
                <a:solidFill>
                  <a:srgbClr val="787066"/>
                </a:solidFill>
                <a:latin typeface="Georgia"/>
              </a:rPr>
              <a:t>21</a:t>
            </a:r>
            <a:endParaRPr sz="1050" b="0" dirty="0">
              <a:solidFill>
                <a:srgbClr val="787066"/>
              </a:solidFill>
              <a:latin typeface="Georgia"/>
            </a:endParaRPr>
          </a:p>
        </p:txBody>
      </p:sp>
      <p:sp>
        <p:nvSpPr>
          <p:cNvPr id="15" name="TextBox 14"/>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Harsh Rastogi</a:t>
            </a:r>
          </a:p>
        </p:txBody>
      </p:sp>
    </p:spTree>
  </p:cSld>
  <p:clrMapOvr>
    <a:masterClrMapping/>
  </p:clrMapOvr>
  <mc:AlternateContent xmlns:mc="http://schemas.openxmlformats.org/markup-compatibility/2006" xmlns:p14="http://schemas.microsoft.com/office/powerpoint/2010/main">
    <mc:Choice Requires="p14">
      <p:transition spd="slow" p14:dur="2000" advTm="55824"/>
    </mc:Choice>
    <mc:Fallback xmlns="">
      <p:transition spd="slow" advTm="5582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BF9"/>
        </a:solidFill>
        <a:effectLst/>
      </p:bgPr>
    </p:bg>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THE PRODUCT</a:t>
            </a:r>
          </a:p>
        </p:txBody>
      </p:sp>
      <p:sp>
        <p:nvSpPr>
          <p:cNvPr id="4" name="TextBox 3"/>
          <p:cNvSpPr txBox="1"/>
          <p:nvPr/>
        </p:nvSpPr>
        <p:spPr>
          <a:xfrm>
            <a:off x="749808" y="749808"/>
            <a:ext cx="8885910"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A model in a notebook helps nobody.</a:t>
            </a:r>
          </a:p>
        </p:txBody>
      </p:sp>
      <p:sp>
        <p:nvSpPr>
          <p:cNvPr id="5" name="TextBox 4"/>
          <p:cNvSpPr txBox="1"/>
          <p:nvPr/>
        </p:nvSpPr>
        <p:spPr>
          <a:xfrm>
            <a:off x="749808" y="1755648"/>
            <a:ext cx="10692353" cy="402336"/>
          </a:xfrm>
          <a:prstGeom prst="rect">
            <a:avLst/>
          </a:prstGeom>
          <a:noFill/>
        </p:spPr>
        <p:txBody>
          <a:bodyPr wrap="square" lIns="0" tIns="0" rIns="0" bIns="0" anchor="t">
            <a:noAutofit/>
          </a:bodyPr>
          <a:lstStyle/>
          <a:p>
            <a:pPr algn="l">
              <a:lnSpc>
                <a:spcPct val="140000"/>
              </a:lnSpc>
            </a:pPr>
            <a:r>
              <a:rPr sz="1220" b="0">
                <a:solidFill>
                  <a:srgbClr val="787066"/>
                </a:solidFill>
                <a:latin typeface="Franklin Gothic Book"/>
              </a:rPr>
              <a:t>So we shipped it: a public site that answers the question in plain English first, and shows the map, the record and the evidence underneath.</a:t>
            </a:r>
          </a:p>
        </p:txBody>
      </p:sp>
      <p:sp>
        <p:nvSpPr>
          <p:cNvPr id="6" name="Rectangle 5"/>
          <p:cNvSpPr/>
          <p:nvPr/>
        </p:nvSpPr>
        <p:spPr>
          <a:xfrm>
            <a:off x="749808" y="2249424"/>
            <a:ext cx="3986784" cy="2447290"/>
          </a:xfrm>
          <a:prstGeom prst="rect">
            <a:avLst/>
          </a:prstGeom>
          <a:solidFill>
            <a:srgbClr val="EF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outlook.png"/>
          <p:cNvPicPr>
            <a:picLocks noChangeAspect="1"/>
          </p:cNvPicPr>
          <p:nvPr/>
        </p:nvPicPr>
        <p:blipFill>
          <a:blip r:embed="rId3"/>
          <a:stretch>
            <a:fillRect/>
          </a:stretch>
        </p:blipFill>
        <p:spPr>
          <a:xfrm>
            <a:off x="832103" y="2331720"/>
            <a:ext cx="3822192" cy="2282698"/>
          </a:xfrm>
          <a:prstGeom prst="rect">
            <a:avLst/>
          </a:prstGeom>
        </p:spPr>
      </p:pic>
      <p:sp>
        <p:nvSpPr>
          <p:cNvPr id="8" name="TextBox 7"/>
          <p:cNvSpPr txBox="1"/>
          <p:nvPr/>
        </p:nvSpPr>
        <p:spPr>
          <a:xfrm>
            <a:off x="749808" y="4824730"/>
            <a:ext cx="3986784" cy="256032"/>
          </a:xfrm>
          <a:prstGeom prst="rect">
            <a:avLst/>
          </a:prstGeom>
          <a:noFill/>
        </p:spPr>
        <p:txBody>
          <a:bodyPr wrap="square" lIns="0" tIns="0" rIns="0" bIns="0" anchor="t">
            <a:noAutofit/>
          </a:bodyPr>
          <a:lstStyle/>
          <a:p>
            <a:pPr algn="l">
              <a:lnSpc>
                <a:spcPct val="120000"/>
              </a:lnSpc>
            </a:pPr>
            <a:r>
              <a:rPr sz="950" b="0">
                <a:solidFill>
                  <a:srgbClr val="787066"/>
                </a:solidFill>
                <a:latin typeface="Franklin Gothic Medium"/>
              </a:rPr>
              <a:t>This year — the forecast for any town or square</a:t>
            </a:r>
          </a:p>
        </p:txBody>
      </p:sp>
      <p:sp>
        <p:nvSpPr>
          <p:cNvPr id="9" name="Rectangle 8"/>
          <p:cNvSpPr/>
          <p:nvPr/>
        </p:nvSpPr>
        <p:spPr>
          <a:xfrm>
            <a:off x="5047488" y="2249424"/>
            <a:ext cx="6394673" cy="1971407"/>
          </a:xfrm>
          <a:prstGeom prst="rect">
            <a:avLst/>
          </a:prstGeom>
          <a:solidFill>
            <a:srgbClr val="EF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models_panel.png"/>
          <p:cNvPicPr>
            <a:picLocks noChangeAspect="1"/>
          </p:cNvPicPr>
          <p:nvPr/>
        </p:nvPicPr>
        <p:blipFill>
          <a:blip r:embed="rId4"/>
          <a:stretch>
            <a:fillRect/>
          </a:stretch>
        </p:blipFill>
        <p:spPr>
          <a:xfrm>
            <a:off x="5129784" y="2331720"/>
            <a:ext cx="6230081" cy="1806815"/>
          </a:xfrm>
          <a:prstGeom prst="rect">
            <a:avLst/>
          </a:prstGeom>
        </p:spPr>
      </p:pic>
      <p:sp>
        <p:nvSpPr>
          <p:cNvPr id="11" name="TextBox 10"/>
          <p:cNvSpPr txBox="1"/>
          <p:nvPr/>
        </p:nvSpPr>
        <p:spPr>
          <a:xfrm>
            <a:off x="5047488" y="4348847"/>
            <a:ext cx="6394673" cy="420624"/>
          </a:xfrm>
          <a:prstGeom prst="rect">
            <a:avLst/>
          </a:prstGeom>
          <a:noFill/>
        </p:spPr>
        <p:txBody>
          <a:bodyPr wrap="square" lIns="0" tIns="0" rIns="0" bIns="0" anchor="t">
            <a:noAutofit/>
          </a:bodyPr>
          <a:lstStyle/>
          <a:p>
            <a:pPr algn="l">
              <a:lnSpc>
                <a:spcPct val="134000"/>
              </a:lnSpc>
            </a:pPr>
            <a:r>
              <a:rPr sz="950" b="0">
                <a:solidFill>
                  <a:srgbClr val="787066"/>
                </a:solidFill>
                <a:latin typeface="Franklin Gothic Medium"/>
              </a:rPr>
              <a:t>How good is it — every model, scored on years it never saw</a:t>
            </a:r>
          </a:p>
        </p:txBody>
      </p:sp>
      <p:cxnSp>
        <p:nvCxnSpPr>
          <p:cNvPr id="12" name="Connector 11"/>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9808" y="6345936"/>
            <a:ext cx="9355809"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lang="en-AU" sz="1050" b="0" dirty="0">
                <a:solidFill>
                  <a:srgbClr val="787066"/>
                </a:solidFill>
                <a:latin typeface="Georgia"/>
              </a:rPr>
              <a:t>22</a:t>
            </a:r>
            <a:endParaRPr sz="1050" b="0" dirty="0">
              <a:solidFill>
                <a:srgbClr val="787066"/>
              </a:solidFill>
              <a:latin typeface="Georgia"/>
            </a:endParaRPr>
          </a:p>
        </p:txBody>
      </p:sp>
      <p:sp>
        <p:nvSpPr>
          <p:cNvPr id="15" name="TextBox 14"/>
          <p:cNvSpPr txBox="1"/>
          <p:nvPr/>
        </p:nvSpPr>
        <p:spPr>
          <a:xfrm>
            <a:off x="1170432" y="6501384"/>
            <a:ext cx="5486400" cy="201168"/>
          </a:xfrm>
          <a:prstGeom prst="rect">
            <a:avLst/>
          </a:prstGeom>
          <a:noFill/>
        </p:spPr>
        <p:txBody>
          <a:bodyPr wrap="square" lIns="0" tIns="0" rIns="0" bIns="0" anchor="t">
            <a:noAutofit/>
          </a:bodyPr>
          <a:lstStyle/>
          <a:p>
            <a:pPr algn="l">
              <a:lnSpc>
                <a:spcPct val="100000"/>
              </a:lnSpc>
            </a:pPr>
            <a:r>
              <a:rPr sz="900" b="0" spc="60">
                <a:solidFill>
                  <a:srgbClr val="A79D91"/>
                </a:solidFill>
                <a:latin typeface="Franklin Gothic Medium"/>
              </a:rPr>
              <a:t>Harsh Rastogi</a:t>
            </a:r>
          </a:p>
        </p:txBody>
      </p:sp>
    </p:spTree>
  </p:cSld>
  <p:clrMapOvr>
    <a:masterClrMapping/>
  </p:clrMapOvr>
  <mc:AlternateContent xmlns:mc="http://schemas.openxmlformats.org/markup-compatibility/2006" xmlns:p14="http://schemas.microsoft.com/office/powerpoint/2010/main">
    <mc:Choice Requires="p14">
      <p:transition spd="slow" p14:dur="2000" advTm="23266"/>
    </mc:Choice>
    <mc:Fallback xmlns="">
      <p:transition spd="slow" advTm="23266"/>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BF9"/>
        </a:solidFill>
        <a:effectLst/>
      </p:bgPr>
    </p:bg>
    <p:spTree>
      <p:nvGrpSpPr>
        <p:cNvPr id="1" name=""/>
        <p:cNvGrpSpPr/>
        <p:nvPr/>
      </p:nvGrpSpPr>
      <p:grpSpPr>
        <a:xfrm>
          <a:off x="0" y="0"/>
          <a:ext cx="0" cy="0"/>
          <a:chOff x="0" y="0"/>
          <a:chExt cx="0" cy="0"/>
        </a:xfrm>
      </p:grpSpPr>
      <p:cxnSp>
        <p:nvCxnSpPr>
          <p:cNvPr id="2" name="Connector 1"/>
          <p:cNvCxnSpPr/>
          <p:nvPr/>
        </p:nvCxnSpPr>
        <p:spPr>
          <a:xfrm>
            <a:off x="749808" y="1335024"/>
            <a:ext cx="1280159" cy="0"/>
          </a:xfrm>
          <a:prstGeom prst="line">
            <a:avLst/>
          </a:prstGeom>
          <a:ln w="33020">
            <a:solidFill>
              <a:srgbClr val="C8341B"/>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49808" y="1609344"/>
            <a:ext cx="7079467" cy="2103120"/>
          </a:xfrm>
          <a:prstGeom prst="rect">
            <a:avLst/>
          </a:prstGeom>
          <a:noFill/>
        </p:spPr>
        <p:txBody>
          <a:bodyPr wrap="square" lIns="0" tIns="0" rIns="0" bIns="0" anchor="t">
            <a:noAutofit/>
          </a:bodyPr>
          <a:lstStyle/>
          <a:p>
            <a:pPr algn="l">
              <a:lnSpc>
                <a:spcPct val="114000"/>
              </a:lnSpc>
            </a:pPr>
            <a:r>
              <a:rPr sz="3600" b="0" spc="-40">
                <a:solidFill>
                  <a:srgbClr val="16130F"/>
                </a:solidFill>
                <a:latin typeface="Georgia"/>
              </a:rPr>
              <a:t>Every square, every year, and an honest number on how often it is right.</a:t>
            </a:r>
          </a:p>
        </p:txBody>
      </p:sp>
      <p:sp>
        <p:nvSpPr>
          <p:cNvPr id="4" name="TextBox 3"/>
          <p:cNvSpPr txBox="1"/>
          <p:nvPr/>
        </p:nvSpPr>
        <p:spPr>
          <a:xfrm>
            <a:off x="749808" y="3749039"/>
            <a:ext cx="5273024" cy="1188720"/>
          </a:xfrm>
          <a:prstGeom prst="rect">
            <a:avLst/>
          </a:prstGeom>
          <a:noFill/>
        </p:spPr>
        <p:txBody>
          <a:bodyPr wrap="square" lIns="0" tIns="0" rIns="0" bIns="0" anchor="t">
            <a:noAutofit/>
          </a:bodyPr>
          <a:lstStyle/>
          <a:p>
            <a:pPr algn="l">
              <a:lnSpc>
                <a:spcPct val="154000"/>
              </a:lnSpc>
            </a:pPr>
            <a:r>
              <a:rPr sz="1350" b="0">
                <a:solidFill>
                  <a:srgbClr val="3A342E"/>
                </a:solidFill>
                <a:latin typeface="Franklin Gothic Book"/>
              </a:rPr>
              <a:t>Fire in the Territory is not going to stop. Knowing in April which country is likely to carry an October fire is how a burning programme gets planned while there is still time to plan it.</a:t>
            </a:r>
          </a:p>
        </p:txBody>
      </p:sp>
      <p:sp>
        <p:nvSpPr>
          <p:cNvPr id="5" name="Rectangle 4"/>
          <p:cNvSpPr/>
          <p:nvPr/>
        </p:nvSpPr>
        <p:spPr>
          <a:xfrm>
            <a:off x="7072358" y="3694176"/>
            <a:ext cx="4369803" cy="1426464"/>
          </a:xfrm>
          <a:prstGeom prst="rect">
            <a:avLst/>
          </a:prstGeom>
          <a:solidFill>
            <a:srgbClr val="F4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072358" y="3694176"/>
            <a:ext cx="34747" cy="142646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19830" y="3895344"/>
            <a:ext cx="3674859" cy="256032"/>
          </a:xfrm>
          <a:prstGeom prst="rect">
            <a:avLst/>
          </a:prstGeom>
          <a:noFill/>
        </p:spPr>
        <p:txBody>
          <a:bodyPr wrap="square" lIns="0" tIns="0" rIns="0" bIns="0" anchor="t">
            <a:noAutofit/>
          </a:bodyPr>
          <a:lstStyle/>
          <a:p>
            <a:pPr algn="l">
              <a:lnSpc>
                <a:spcPct val="100000"/>
              </a:lnSpc>
            </a:pPr>
            <a:r>
              <a:rPr sz="1100" b="0">
                <a:solidFill>
                  <a:srgbClr val="C8341B"/>
                </a:solidFill>
                <a:latin typeface="Franklin Gothic Book"/>
              </a:rPr>
              <a:t>pyrantis.harshlabs.workers.dev</a:t>
            </a:r>
          </a:p>
        </p:txBody>
      </p:sp>
      <p:sp>
        <p:nvSpPr>
          <p:cNvPr id="8" name="TextBox 7"/>
          <p:cNvSpPr txBox="1"/>
          <p:nvPr/>
        </p:nvSpPr>
        <p:spPr>
          <a:xfrm>
            <a:off x="7419830" y="4187952"/>
            <a:ext cx="3674859" cy="256032"/>
          </a:xfrm>
          <a:prstGeom prst="rect">
            <a:avLst/>
          </a:prstGeom>
          <a:noFill/>
        </p:spPr>
        <p:txBody>
          <a:bodyPr wrap="square" lIns="0" tIns="0" rIns="0" bIns="0" anchor="t">
            <a:noAutofit/>
          </a:bodyPr>
          <a:lstStyle/>
          <a:p>
            <a:pPr algn="l">
              <a:lnSpc>
                <a:spcPct val="100000"/>
              </a:lnSpc>
            </a:pPr>
            <a:r>
              <a:rPr sz="1100" b="0">
                <a:solidFill>
                  <a:srgbClr val="3A342E"/>
                </a:solidFill>
                <a:latin typeface="Franklin Gothic Book"/>
              </a:rPr>
              <a:t>github.com/harshrastogii/PYRANTIS</a:t>
            </a:r>
          </a:p>
        </p:txBody>
      </p:sp>
      <p:sp>
        <p:nvSpPr>
          <p:cNvPr id="9" name="TextBox 8"/>
          <p:cNvSpPr txBox="1"/>
          <p:nvPr/>
        </p:nvSpPr>
        <p:spPr>
          <a:xfrm>
            <a:off x="7419830" y="4553712"/>
            <a:ext cx="3674859" cy="475488"/>
          </a:xfrm>
          <a:prstGeom prst="rect">
            <a:avLst/>
          </a:prstGeom>
          <a:noFill/>
        </p:spPr>
        <p:txBody>
          <a:bodyPr wrap="square" lIns="0" tIns="0" rIns="0" bIns="0" anchor="t">
            <a:noAutofit/>
          </a:bodyPr>
          <a:lstStyle/>
          <a:p>
            <a:pPr algn="l">
              <a:lnSpc>
                <a:spcPct val="136000"/>
              </a:lnSpc>
            </a:pPr>
            <a:r>
              <a:rPr sz="1050" b="0">
                <a:solidFill>
                  <a:srgbClr val="787066"/>
                </a:solidFill>
                <a:latin typeface="Franklin Gothic Book"/>
              </a:rPr>
              <a:t>Every figure in this deck is generated from the repository, not typed in.</a:t>
            </a:r>
          </a:p>
        </p:txBody>
      </p:sp>
      <p:cxnSp>
        <p:nvCxnSpPr>
          <p:cNvPr id="10" name="Connector 9"/>
          <p:cNvCxnSpPr/>
          <p:nvPr/>
        </p:nvCxnSpPr>
        <p:spPr>
          <a:xfrm>
            <a:off x="749808" y="5358384"/>
            <a:ext cx="7982689"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49808" y="5541264"/>
            <a:ext cx="2398768" cy="658368"/>
          </a:xfrm>
          <a:prstGeom prst="rect">
            <a:avLst/>
          </a:prstGeom>
          <a:noFill/>
        </p:spPr>
        <p:txBody>
          <a:bodyPr wrap="square" lIns="0" tIns="0" rIns="0" bIns="0" anchor="t">
            <a:noAutofit/>
          </a:bodyPr>
          <a:lstStyle/>
          <a:p>
            <a:pPr algn="l">
              <a:lnSpc>
                <a:spcPct val="100000"/>
              </a:lnSpc>
            </a:pPr>
            <a:r>
              <a:rPr sz="2800" b="0" spc="-40">
                <a:solidFill>
                  <a:srgbClr val="16130F"/>
                </a:solidFill>
                <a:latin typeface="Georgia"/>
              </a:rPr>
              <a:t>0.684</a:t>
            </a:r>
          </a:p>
        </p:txBody>
      </p:sp>
      <p:sp>
        <p:nvSpPr>
          <p:cNvPr id="12" name="TextBox 11"/>
          <p:cNvSpPr txBox="1"/>
          <p:nvPr/>
        </p:nvSpPr>
        <p:spPr>
          <a:xfrm>
            <a:off x="749808" y="5975096"/>
            <a:ext cx="2398768" cy="548640"/>
          </a:xfrm>
          <a:prstGeom prst="rect">
            <a:avLst/>
          </a:prstGeom>
          <a:noFill/>
        </p:spPr>
        <p:txBody>
          <a:bodyPr wrap="square" lIns="0" tIns="0" rIns="0" bIns="0" anchor="t">
            <a:noAutofit/>
          </a:bodyPr>
          <a:lstStyle/>
          <a:p>
            <a:pPr algn="l">
              <a:lnSpc>
                <a:spcPct val="128000"/>
              </a:lnSpc>
            </a:pPr>
            <a:r>
              <a:rPr sz="1000" b="0" spc="20">
                <a:solidFill>
                  <a:srgbClr val="787066"/>
                </a:solidFill>
                <a:latin typeface="Franklin Gothic Medium"/>
              </a:rPr>
              <a:t>balanced F1, years never seen</a:t>
            </a:r>
          </a:p>
        </p:txBody>
      </p:sp>
      <p:cxnSp>
        <p:nvCxnSpPr>
          <p:cNvPr id="13" name="Connector 12"/>
          <p:cNvCxnSpPr/>
          <p:nvPr/>
        </p:nvCxnSpPr>
        <p:spPr>
          <a:xfrm>
            <a:off x="3368032" y="5541264"/>
            <a:ext cx="0" cy="731519"/>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459472" y="5541264"/>
            <a:ext cx="2398768" cy="658368"/>
          </a:xfrm>
          <a:prstGeom prst="rect">
            <a:avLst/>
          </a:prstGeom>
          <a:noFill/>
        </p:spPr>
        <p:txBody>
          <a:bodyPr wrap="square" lIns="0" tIns="0" rIns="0" bIns="0" anchor="t">
            <a:noAutofit/>
          </a:bodyPr>
          <a:lstStyle/>
          <a:p>
            <a:pPr algn="l">
              <a:lnSpc>
                <a:spcPct val="100000"/>
              </a:lnSpc>
            </a:pPr>
            <a:r>
              <a:rPr sz="2800" b="0" spc="-40">
                <a:solidFill>
                  <a:srgbClr val="16130F"/>
                </a:solidFill>
                <a:latin typeface="Georgia"/>
              </a:rPr>
              <a:t>66</a:t>
            </a:r>
          </a:p>
        </p:txBody>
      </p:sp>
      <p:sp>
        <p:nvSpPr>
          <p:cNvPr id="15" name="TextBox 14"/>
          <p:cNvSpPr txBox="1"/>
          <p:nvPr/>
        </p:nvSpPr>
        <p:spPr>
          <a:xfrm>
            <a:off x="3459472" y="5975096"/>
            <a:ext cx="2398768" cy="548640"/>
          </a:xfrm>
          <a:prstGeom prst="rect">
            <a:avLst/>
          </a:prstGeom>
          <a:noFill/>
        </p:spPr>
        <p:txBody>
          <a:bodyPr wrap="square" lIns="0" tIns="0" rIns="0" bIns="0" anchor="t">
            <a:noAutofit/>
          </a:bodyPr>
          <a:lstStyle/>
          <a:p>
            <a:pPr algn="l">
              <a:lnSpc>
                <a:spcPct val="128000"/>
              </a:lnSpc>
            </a:pPr>
            <a:r>
              <a:rPr sz="1000" b="0" spc="20">
                <a:solidFill>
                  <a:srgbClr val="787066"/>
                </a:solidFill>
                <a:latin typeface="Franklin Gothic Medium"/>
              </a:rPr>
              <a:t>independent re-tests</a:t>
            </a:r>
          </a:p>
        </p:txBody>
      </p:sp>
      <p:cxnSp>
        <p:nvCxnSpPr>
          <p:cNvPr id="16" name="Connector 15"/>
          <p:cNvCxnSpPr/>
          <p:nvPr/>
        </p:nvCxnSpPr>
        <p:spPr>
          <a:xfrm>
            <a:off x="6077696" y="5541264"/>
            <a:ext cx="0" cy="731519"/>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69136" y="5541264"/>
            <a:ext cx="2398768" cy="658368"/>
          </a:xfrm>
          <a:prstGeom prst="rect">
            <a:avLst/>
          </a:prstGeom>
          <a:noFill/>
        </p:spPr>
        <p:txBody>
          <a:bodyPr wrap="square" lIns="0" tIns="0" rIns="0" bIns="0" anchor="t">
            <a:noAutofit/>
          </a:bodyPr>
          <a:lstStyle/>
          <a:p>
            <a:pPr algn="l">
              <a:lnSpc>
                <a:spcPct val="100000"/>
              </a:lnSpc>
            </a:pPr>
            <a:r>
              <a:rPr sz="2800" b="0" spc="-40">
                <a:solidFill>
                  <a:srgbClr val="C8341B"/>
                </a:solidFill>
                <a:latin typeface="Georgia"/>
              </a:rPr>
              <a:t>51%</a:t>
            </a:r>
          </a:p>
        </p:txBody>
      </p:sp>
      <p:sp>
        <p:nvSpPr>
          <p:cNvPr id="18" name="TextBox 17"/>
          <p:cNvSpPr txBox="1"/>
          <p:nvPr/>
        </p:nvSpPr>
        <p:spPr>
          <a:xfrm>
            <a:off x="6169136" y="5975096"/>
            <a:ext cx="2398768" cy="548640"/>
          </a:xfrm>
          <a:prstGeom prst="rect">
            <a:avLst/>
          </a:prstGeom>
          <a:noFill/>
        </p:spPr>
        <p:txBody>
          <a:bodyPr wrap="square" lIns="0" tIns="0" rIns="0" bIns="0" anchor="t">
            <a:noAutofit/>
          </a:bodyPr>
          <a:lstStyle/>
          <a:p>
            <a:pPr algn="l">
              <a:lnSpc>
                <a:spcPct val="128000"/>
              </a:lnSpc>
            </a:pPr>
            <a:r>
              <a:rPr sz="1000" b="0" spc="20">
                <a:solidFill>
                  <a:srgbClr val="787066"/>
                </a:solidFill>
                <a:latin typeface="Franklin Gothic Medium"/>
              </a:rPr>
              <a:t>forecast to burn in 2026</a:t>
            </a:r>
          </a:p>
        </p:txBody>
      </p:sp>
      <p:cxnSp>
        <p:nvCxnSpPr>
          <p:cNvPr id="19" name="Connector 18"/>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49808" y="6345936"/>
            <a:ext cx="9801324"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lang="en-AU" sz="1050" b="0" dirty="0">
                <a:solidFill>
                  <a:srgbClr val="787066"/>
                </a:solidFill>
                <a:latin typeface="Georgia"/>
              </a:rPr>
              <a:t>23</a:t>
            </a:r>
            <a:endParaRPr sz="1050" b="0" dirty="0">
              <a:solidFill>
                <a:srgbClr val="787066"/>
              </a:solidFill>
              <a:latin typeface="Georgia"/>
            </a:endParaRPr>
          </a:p>
        </p:txBody>
      </p:sp>
    </p:spTree>
  </p:cSld>
  <p:clrMapOvr>
    <a:masterClrMapping/>
  </p:clrMapOvr>
  <mc:AlternateContent xmlns:mc="http://schemas.openxmlformats.org/markup-compatibility/2006" xmlns:p14="http://schemas.microsoft.com/office/powerpoint/2010/main">
    <mc:Choice Requires="p14">
      <p:transition spd="slow" p14:dur="2000" advTm="47668"/>
    </mc:Choice>
    <mc:Fallback xmlns="">
      <p:transition spd="slow" advTm="47668"/>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BF9"/>
        </a:solidFill>
        <a:effectLst/>
      </p:bgPr>
    </p:bg>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REFERENCES</a:t>
            </a:r>
          </a:p>
        </p:txBody>
      </p:sp>
      <p:sp>
        <p:nvSpPr>
          <p:cNvPr id="4" name="TextBox 3"/>
          <p:cNvSpPr txBox="1"/>
          <p:nvPr/>
        </p:nvSpPr>
        <p:spPr>
          <a:xfrm>
            <a:off x="749808" y="749808"/>
            <a:ext cx="8885910"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References (1 of 2)</a:t>
            </a:r>
          </a:p>
        </p:txBody>
      </p:sp>
      <p:sp>
        <p:nvSpPr>
          <p:cNvPr id="5" name="TextBox 4"/>
          <p:cNvSpPr txBox="1"/>
          <p:nvPr/>
        </p:nvSpPr>
        <p:spPr>
          <a:xfrm>
            <a:off x="749808" y="1828800"/>
            <a:ext cx="9789132" cy="256032"/>
          </a:xfrm>
          <a:prstGeom prst="rect">
            <a:avLst/>
          </a:prstGeom>
          <a:noFill/>
        </p:spPr>
        <p:txBody>
          <a:bodyPr wrap="square" lIns="0" tIns="0" rIns="0" bIns="0" anchor="t">
            <a:noAutofit/>
          </a:bodyPr>
          <a:lstStyle/>
          <a:p>
            <a:pPr algn="l">
              <a:lnSpc>
                <a:spcPct val="100000"/>
              </a:lnSpc>
            </a:pPr>
            <a:r>
              <a:rPr sz="950" b="0" spc="80">
                <a:solidFill>
                  <a:srgbClr val="787066"/>
                </a:solidFill>
                <a:latin typeface="Franklin Gothic Medium"/>
              </a:rPr>
              <a:t>American Psychological Association, 7th edition</a:t>
            </a:r>
          </a:p>
        </p:txBody>
      </p:sp>
      <p:cxnSp>
        <p:nvCxnSpPr>
          <p:cNvPr id="6" name="Connector 5"/>
          <p:cNvCxnSpPr/>
          <p:nvPr/>
        </p:nvCxnSpPr>
        <p:spPr>
          <a:xfrm>
            <a:off x="749808" y="213969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749808" y="2388412"/>
            <a:ext cx="34747" cy="34747"/>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42415" y="2322576"/>
            <a:ext cx="10399745" cy="237947"/>
          </a:xfrm>
          <a:prstGeom prst="rect">
            <a:avLst/>
          </a:prstGeom>
          <a:noFill/>
        </p:spPr>
        <p:txBody>
          <a:bodyPr wrap="square" lIns="0" tIns="0" rIns="0" bIns="0" anchor="t">
            <a:noAutofit/>
          </a:bodyPr>
          <a:lstStyle/>
          <a:p>
            <a:pPr algn="l">
              <a:lnSpc>
                <a:spcPct val="136000"/>
              </a:lnSpc>
            </a:pPr>
            <a:r>
              <a:rPr sz="1060" b="0">
                <a:solidFill>
                  <a:srgbClr val="3A342E"/>
                </a:solidFill>
                <a:latin typeface="Franklin Gothic Book"/>
              </a:rPr>
              <a:t>Breiman, L. (2001). Random forests. Machine Learning, 45(1), 5–32. https://doi.org/10.1023/A:1010933404324</a:t>
            </a:r>
          </a:p>
        </p:txBody>
      </p:sp>
      <p:sp>
        <p:nvSpPr>
          <p:cNvPr id="9" name="Rectangle 8"/>
          <p:cNvSpPr/>
          <p:nvPr/>
        </p:nvSpPr>
        <p:spPr>
          <a:xfrm>
            <a:off x="749808" y="2754376"/>
            <a:ext cx="34747" cy="34747"/>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42415" y="2688539"/>
            <a:ext cx="10399745" cy="237947"/>
          </a:xfrm>
          <a:prstGeom prst="rect">
            <a:avLst/>
          </a:prstGeom>
          <a:noFill/>
        </p:spPr>
        <p:txBody>
          <a:bodyPr wrap="square" lIns="0" tIns="0" rIns="0" bIns="0" anchor="t">
            <a:noAutofit/>
          </a:bodyPr>
          <a:lstStyle/>
          <a:p>
            <a:pPr algn="l">
              <a:lnSpc>
                <a:spcPct val="136000"/>
              </a:lnSpc>
            </a:pPr>
            <a:r>
              <a:rPr sz="1060" b="0">
                <a:solidFill>
                  <a:srgbClr val="3A342E"/>
                </a:solidFill>
                <a:latin typeface="Franklin Gothic Book"/>
              </a:rPr>
              <a:t>Chollet, F., &amp; others. (2015). Keras [Computer software]. https://keras.io</a:t>
            </a:r>
          </a:p>
        </p:txBody>
      </p:sp>
      <p:sp>
        <p:nvSpPr>
          <p:cNvPr id="11" name="Rectangle 10"/>
          <p:cNvSpPr/>
          <p:nvPr/>
        </p:nvSpPr>
        <p:spPr>
          <a:xfrm>
            <a:off x="749808" y="3120339"/>
            <a:ext cx="34747" cy="34747"/>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42415" y="3054502"/>
            <a:ext cx="10399745" cy="421030"/>
          </a:xfrm>
          <a:prstGeom prst="rect">
            <a:avLst/>
          </a:prstGeom>
          <a:noFill/>
        </p:spPr>
        <p:txBody>
          <a:bodyPr wrap="square" lIns="0" tIns="0" rIns="0" bIns="0" anchor="t">
            <a:noAutofit/>
          </a:bodyPr>
          <a:lstStyle/>
          <a:p>
            <a:pPr algn="l">
              <a:lnSpc>
                <a:spcPct val="136000"/>
              </a:lnSpc>
            </a:pPr>
            <a:r>
              <a:rPr sz="1060" b="0">
                <a:solidFill>
                  <a:srgbClr val="3A342E"/>
                </a:solidFill>
                <a:latin typeface="Franklin Gothic Book"/>
              </a:rPr>
              <a:t>Didan, K. (2021). MODIS/Terra vegetation indices 16-day L3 global 250 m SIN grid V061 [Data set]. NASA EOSDIS Land Processes Distributed Active Archive Center. https://doi.org/10.5067/MODIS/MOD13Q1.061</a:t>
            </a:r>
          </a:p>
        </p:txBody>
      </p:sp>
      <p:sp>
        <p:nvSpPr>
          <p:cNvPr id="13" name="Rectangle 12"/>
          <p:cNvSpPr/>
          <p:nvPr/>
        </p:nvSpPr>
        <p:spPr>
          <a:xfrm>
            <a:off x="749808" y="3669385"/>
            <a:ext cx="34747" cy="34747"/>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42415" y="3603548"/>
            <a:ext cx="10399745" cy="237947"/>
          </a:xfrm>
          <a:prstGeom prst="rect">
            <a:avLst/>
          </a:prstGeom>
          <a:noFill/>
        </p:spPr>
        <p:txBody>
          <a:bodyPr wrap="square" lIns="0" tIns="0" rIns="0" bIns="0" anchor="t">
            <a:noAutofit/>
          </a:bodyPr>
          <a:lstStyle/>
          <a:p>
            <a:pPr algn="l">
              <a:lnSpc>
                <a:spcPct val="136000"/>
              </a:lnSpc>
            </a:pPr>
            <a:r>
              <a:rPr sz="1060" b="0">
                <a:solidFill>
                  <a:srgbClr val="3A342E"/>
                </a:solidFill>
                <a:latin typeface="Franklin Gothic Book"/>
              </a:rPr>
              <a:t>Friedman, J. H. (2001). Greedy function approximation: A gradient boosting machine. The Annals of Statistics, 29(5), 1189–1232. https://doi.org/10.1214/aos/1013203451</a:t>
            </a:r>
          </a:p>
        </p:txBody>
      </p:sp>
      <p:sp>
        <p:nvSpPr>
          <p:cNvPr id="15" name="Rectangle 14"/>
          <p:cNvSpPr/>
          <p:nvPr/>
        </p:nvSpPr>
        <p:spPr>
          <a:xfrm>
            <a:off x="749808" y="4035348"/>
            <a:ext cx="34747" cy="34747"/>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2415" y="3969512"/>
            <a:ext cx="10399745" cy="421030"/>
          </a:xfrm>
          <a:prstGeom prst="rect">
            <a:avLst/>
          </a:prstGeom>
          <a:noFill/>
        </p:spPr>
        <p:txBody>
          <a:bodyPr wrap="square" lIns="0" tIns="0" rIns="0" bIns="0" anchor="t">
            <a:noAutofit/>
          </a:bodyPr>
          <a:lstStyle/>
          <a:p>
            <a:pPr algn="l">
              <a:lnSpc>
                <a:spcPct val="136000"/>
              </a:lnSpc>
            </a:pPr>
            <a:r>
              <a:rPr sz="1060" b="0">
                <a:solidFill>
                  <a:srgbClr val="3A342E"/>
                </a:solidFill>
                <a:latin typeface="Franklin Gothic Book"/>
              </a:rPr>
              <a:t>Gorelick, N., Hancher, M., Dixon, M., Ilyushchenko, S., Thau, D., &amp; Moore, R. (2017). Google Earth Engine: Planetary-scale geospatial analysis for everyone. Remote Sensing of Environment, 202, 18–27. https://doi.org/10.1016/j.rse.2017.06.031</a:t>
            </a:r>
          </a:p>
        </p:txBody>
      </p:sp>
      <p:sp>
        <p:nvSpPr>
          <p:cNvPr id="17" name="Rectangle 16"/>
          <p:cNvSpPr/>
          <p:nvPr/>
        </p:nvSpPr>
        <p:spPr>
          <a:xfrm>
            <a:off x="749808" y="4584395"/>
            <a:ext cx="34747" cy="34747"/>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5" y="4518558"/>
            <a:ext cx="10399745" cy="421030"/>
          </a:xfrm>
          <a:prstGeom prst="rect">
            <a:avLst/>
          </a:prstGeom>
          <a:noFill/>
        </p:spPr>
        <p:txBody>
          <a:bodyPr wrap="square" lIns="0" tIns="0" rIns="0" bIns="0" anchor="t">
            <a:noAutofit/>
          </a:bodyPr>
          <a:lstStyle/>
          <a:p>
            <a:pPr algn="l">
              <a:lnSpc>
                <a:spcPct val="136000"/>
              </a:lnSpc>
            </a:pPr>
            <a:r>
              <a:rPr sz="1060" b="0">
                <a:solidFill>
                  <a:srgbClr val="3A342E"/>
                </a:solidFill>
                <a:latin typeface="Franklin Gothic Book"/>
              </a:rPr>
              <a:t>Harris, C. R., Millman, K. J., van der Walt, S. J., Gommers, R., Virtanen, P., Cournapeau, D., … Oliphant, T. E. (2020). Array programming with NumPy. Nature, 585(7825), 357–362. https://doi.org/10.1038/s41586-020-2649-2</a:t>
            </a:r>
          </a:p>
        </p:txBody>
      </p:sp>
      <p:sp>
        <p:nvSpPr>
          <p:cNvPr id="19" name="Rectangle 18"/>
          <p:cNvSpPr/>
          <p:nvPr/>
        </p:nvSpPr>
        <p:spPr>
          <a:xfrm>
            <a:off x="749808" y="5133441"/>
            <a:ext cx="34747" cy="34747"/>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42415" y="5067604"/>
            <a:ext cx="10399745" cy="237947"/>
          </a:xfrm>
          <a:prstGeom prst="rect">
            <a:avLst/>
          </a:prstGeom>
          <a:noFill/>
        </p:spPr>
        <p:txBody>
          <a:bodyPr wrap="square" lIns="0" tIns="0" rIns="0" bIns="0" anchor="t">
            <a:noAutofit/>
          </a:bodyPr>
          <a:lstStyle/>
          <a:p>
            <a:pPr algn="l">
              <a:lnSpc>
                <a:spcPct val="136000"/>
              </a:lnSpc>
            </a:pPr>
            <a:r>
              <a:rPr sz="1060" b="0">
                <a:solidFill>
                  <a:srgbClr val="3A342E"/>
                </a:solidFill>
                <a:latin typeface="Franklin Gothic Book"/>
              </a:rPr>
              <a:t>Hochreiter, S., &amp; Schmidhuber, J. (1997). Long short-term memory. Neural Computation, 9(8), 1735–1780. https://doi.org/10.1162/neco.1997.9.8.1735</a:t>
            </a:r>
          </a:p>
        </p:txBody>
      </p:sp>
      <p:sp>
        <p:nvSpPr>
          <p:cNvPr id="21" name="Rectangle 20"/>
          <p:cNvSpPr/>
          <p:nvPr/>
        </p:nvSpPr>
        <p:spPr>
          <a:xfrm>
            <a:off x="749808" y="5499404"/>
            <a:ext cx="34747" cy="34747"/>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42415" y="5433568"/>
            <a:ext cx="10399745" cy="237947"/>
          </a:xfrm>
          <a:prstGeom prst="rect">
            <a:avLst/>
          </a:prstGeom>
          <a:noFill/>
        </p:spPr>
        <p:txBody>
          <a:bodyPr wrap="square" lIns="0" tIns="0" rIns="0" bIns="0" anchor="t">
            <a:noAutofit/>
          </a:bodyPr>
          <a:lstStyle/>
          <a:p>
            <a:pPr algn="l">
              <a:lnSpc>
                <a:spcPct val="136000"/>
              </a:lnSpc>
            </a:pPr>
            <a:r>
              <a:rPr sz="1060" b="0">
                <a:solidFill>
                  <a:srgbClr val="3A342E"/>
                </a:solidFill>
                <a:latin typeface="Franklin Gothic Book"/>
              </a:rPr>
              <a:t>Hunter, J. D. (2007). Matplotlib: A 2D graphics environment. Computing in Science &amp; Engineering, 9(3), 90–95. https://doi.org/10.1109/MCSE.2007.55</a:t>
            </a:r>
          </a:p>
        </p:txBody>
      </p:sp>
      <p:cxnSp>
        <p:nvCxnSpPr>
          <p:cNvPr id="23" name="Connector 22"/>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9808" y="6345936"/>
            <a:ext cx="10246838"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lang="en-AU" sz="1050" b="0" dirty="0">
                <a:solidFill>
                  <a:srgbClr val="787066"/>
                </a:solidFill>
                <a:latin typeface="Georgia"/>
              </a:rPr>
              <a:t>24</a:t>
            </a:r>
            <a:endParaRPr sz="1050" b="0" dirty="0">
              <a:solidFill>
                <a:srgbClr val="787066"/>
              </a:solidFill>
              <a:latin typeface="Georgia"/>
            </a:endParaRPr>
          </a:p>
        </p:txBody>
      </p:sp>
    </p:spTree>
  </p:cSld>
  <p:clrMapOvr>
    <a:masterClrMapping/>
  </p:clrMapOvr>
  <mc:AlternateContent xmlns:mc="http://schemas.openxmlformats.org/markup-compatibility/2006" xmlns:p14="http://schemas.microsoft.com/office/powerpoint/2010/main">
    <mc:Choice Requires="p14">
      <p:transition spd="slow" p14:dur="2000" advTm="3780"/>
    </mc:Choice>
    <mc:Fallback xmlns="">
      <p:transition spd="slow" advTm="378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BF9"/>
        </a:solidFill>
        <a:effectLst/>
      </p:bgPr>
    </p:bg>
    <p:spTree>
      <p:nvGrpSpPr>
        <p:cNvPr id="1" name=""/>
        <p:cNvGrpSpPr/>
        <p:nvPr/>
      </p:nvGrpSpPr>
      <p:grpSpPr>
        <a:xfrm>
          <a:off x="0" y="0"/>
          <a:ext cx="0" cy="0"/>
          <a:chOff x="0" y="0"/>
          <a:chExt cx="0" cy="0"/>
        </a:xfrm>
      </p:grpSpPr>
      <p:sp>
        <p:nvSpPr>
          <p:cNvPr id="2" name="Rectangle 1"/>
          <p:cNvSpPr/>
          <p:nvPr/>
        </p:nvSpPr>
        <p:spPr>
          <a:xfrm>
            <a:off x="749808" y="470916"/>
            <a:ext cx="77724" cy="77724"/>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20624"/>
            <a:ext cx="8229600" cy="201168"/>
          </a:xfrm>
          <a:prstGeom prst="rect">
            <a:avLst/>
          </a:prstGeom>
          <a:noFill/>
        </p:spPr>
        <p:txBody>
          <a:bodyPr wrap="square" lIns="0" tIns="0" rIns="0" bIns="0" anchor="t">
            <a:noAutofit/>
          </a:bodyPr>
          <a:lstStyle/>
          <a:p>
            <a:pPr algn="l">
              <a:lnSpc>
                <a:spcPct val="100000"/>
              </a:lnSpc>
            </a:pPr>
            <a:r>
              <a:rPr sz="900" b="0" spc="150">
                <a:solidFill>
                  <a:srgbClr val="787066"/>
                </a:solidFill>
                <a:latin typeface="Franklin Gothic Medium"/>
              </a:rPr>
              <a:t>REFERENCES</a:t>
            </a:r>
          </a:p>
        </p:txBody>
      </p:sp>
      <p:sp>
        <p:nvSpPr>
          <p:cNvPr id="4" name="TextBox 3"/>
          <p:cNvSpPr txBox="1"/>
          <p:nvPr/>
        </p:nvSpPr>
        <p:spPr>
          <a:xfrm>
            <a:off x="749808" y="749808"/>
            <a:ext cx="8885910" cy="1005840"/>
          </a:xfrm>
          <a:prstGeom prst="rect">
            <a:avLst/>
          </a:prstGeom>
          <a:noFill/>
        </p:spPr>
        <p:txBody>
          <a:bodyPr wrap="square" lIns="0" tIns="0" rIns="0" bIns="0" anchor="t">
            <a:noAutofit/>
          </a:bodyPr>
          <a:lstStyle/>
          <a:p>
            <a:pPr algn="l">
              <a:lnSpc>
                <a:spcPct val="114000"/>
              </a:lnSpc>
            </a:pPr>
            <a:r>
              <a:rPr sz="2900" b="0" spc="-15">
                <a:solidFill>
                  <a:srgbClr val="16130F"/>
                </a:solidFill>
                <a:latin typeface="Georgia"/>
              </a:rPr>
              <a:t>References (2 of 2)</a:t>
            </a:r>
          </a:p>
        </p:txBody>
      </p:sp>
      <p:sp>
        <p:nvSpPr>
          <p:cNvPr id="5" name="TextBox 4"/>
          <p:cNvSpPr txBox="1"/>
          <p:nvPr/>
        </p:nvSpPr>
        <p:spPr>
          <a:xfrm>
            <a:off x="749808" y="1828800"/>
            <a:ext cx="9789132" cy="256032"/>
          </a:xfrm>
          <a:prstGeom prst="rect">
            <a:avLst/>
          </a:prstGeom>
          <a:noFill/>
        </p:spPr>
        <p:txBody>
          <a:bodyPr wrap="square" lIns="0" tIns="0" rIns="0" bIns="0" anchor="t">
            <a:noAutofit/>
          </a:bodyPr>
          <a:lstStyle/>
          <a:p>
            <a:pPr algn="l">
              <a:lnSpc>
                <a:spcPct val="100000"/>
              </a:lnSpc>
            </a:pPr>
            <a:r>
              <a:rPr sz="950" b="0" spc="80">
                <a:solidFill>
                  <a:srgbClr val="787066"/>
                </a:solidFill>
                <a:latin typeface="Franklin Gothic Medium"/>
              </a:rPr>
              <a:t>American Psychological Association, 7th edition</a:t>
            </a:r>
          </a:p>
        </p:txBody>
      </p:sp>
      <p:cxnSp>
        <p:nvCxnSpPr>
          <p:cNvPr id="6" name="Connector 5"/>
          <p:cNvCxnSpPr/>
          <p:nvPr/>
        </p:nvCxnSpPr>
        <p:spPr>
          <a:xfrm>
            <a:off x="749808" y="213969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749808" y="2388412"/>
            <a:ext cx="34747" cy="34747"/>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42415" y="2322576"/>
            <a:ext cx="10399745" cy="421030"/>
          </a:xfrm>
          <a:prstGeom prst="rect">
            <a:avLst/>
          </a:prstGeom>
          <a:noFill/>
        </p:spPr>
        <p:txBody>
          <a:bodyPr wrap="square" lIns="0" tIns="0" rIns="0" bIns="0" anchor="t">
            <a:noAutofit/>
          </a:bodyPr>
          <a:lstStyle/>
          <a:p>
            <a:pPr algn="l">
              <a:lnSpc>
                <a:spcPct val="136000"/>
              </a:lnSpc>
            </a:pPr>
            <a:r>
              <a:rPr sz="1060" b="0">
                <a:solidFill>
                  <a:srgbClr val="3A342E"/>
                </a:solidFill>
                <a:latin typeface="Franklin Gothic Book"/>
              </a:rPr>
              <a:t>Jeffrey, S. J., Carter, J. O., Moodie, K. B., &amp; Beswick, A. R. (2001). Using spatial interpolation to construct a comprehensive archive of Australian climate data. Environmental Modelling &amp; Software, 16(4), 309–330. https://doi.org/10.1016/S1364-8152(01)00008-1</a:t>
            </a:r>
          </a:p>
        </p:txBody>
      </p:sp>
      <p:sp>
        <p:nvSpPr>
          <p:cNvPr id="9" name="Rectangle 8"/>
          <p:cNvSpPr/>
          <p:nvPr/>
        </p:nvSpPr>
        <p:spPr>
          <a:xfrm>
            <a:off x="749808" y="2937459"/>
            <a:ext cx="34747" cy="34747"/>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42415" y="2871622"/>
            <a:ext cx="10399745" cy="421030"/>
          </a:xfrm>
          <a:prstGeom prst="rect">
            <a:avLst/>
          </a:prstGeom>
          <a:noFill/>
        </p:spPr>
        <p:txBody>
          <a:bodyPr wrap="square" lIns="0" tIns="0" rIns="0" bIns="0" anchor="t">
            <a:noAutofit/>
          </a:bodyPr>
          <a:lstStyle/>
          <a:p>
            <a:pPr algn="l">
              <a:lnSpc>
                <a:spcPct val="136000"/>
              </a:lnSpc>
            </a:pPr>
            <a:r>
              <a:rPr sz="1060" b="0">
                <a:solidFill>
                  <a:srgbClr val="3A342E"/>
                </a:solidFill>
                <a:latin typeface="Franklin Gothic Book"/>
              </a:rPr>
              <a:t>North Australian Fire Information. (2026). Northern Territory fire scar mapping [Data set]. Darwin Centre for Bushfire Research, Charles Darwin University. https://firenorth.org.au</a:t>
            </a:r>
          </a:p>
        </p:txBody>
      </p:sp>
      <p:sp>
        <p:nvSpPr>
          <p:cNvPr id="11" name="Rectangle 10"/>
          <p:cNvSpPr/>
          <p:nvPr/>
        </p:nvSpPr>
        <p:spPr>
          <a:xfrm>
            <a:off x="749808" y="3486505"/>
            <a:ext cx="34747" cy="34747"/>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42415" y="3420668"/>
            <a:ext cx="10399745" cy="421030"/>
          </a:xfrm>
          <a:prstGeom prst="rect">
            <a:avLst/>
          </a:prstGeom>
          <a:noFill/>
        </p:spPr>
        <p:txBody>
          <a:bodyPr wrap="square" lIns="0" tIns="0" rIns="0" bIns="0" anchor="t">
            <a:noAutofit/>
          </a:bodyPr>
          <a:lstStyle/>
          <a:p>
            <a:pPr algn="l">
              <a:lnSpc>
                <a:spcPct val="136000"/>
              </a:lnSpc>
            </a:pPr>
            <a:r>
              <a:rPr sz="1060" b="0">
                <a:solidFill>
                  <a:srgbClr val="3A342E"/>
                </a:solidFill>
                <a:latin typeface="Franklin Gothic Book"/>
              </a:rPr>
              <a:t>Pedregosa, F., Varoquaux, G., Gramfort, A., Michel, V., Thirion, B., Grisel, O., … Duchesnay, É. (2011). Scikit-learn: Machine learning in Python. Journal of Machine Learning Research, 12, 2825–2830.</a:t>
            </a:r>
          </a:p>
        </p:txBody>
      </p:sp>
      <p:sp>
        <p:nvSpPr>
          <p:cNvPr id="13" name="Rectangle 12"/>
          <p:cNvSpPr/>
          <p:nvPr/>
        </p:nvSpPr>
        <p:spPr>
          <a:xfrm>
            <a:off x="749808" y="4035552"/>
            <a:ext cx="34747" cy="34747"/>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42415" y="3969715"/>
            <a:ext cx="10399745" cy="237947"/>
          </a:xfrm>
          <a:prstGeom prst="rect">
            <a:avLst/>
          </a:prstGeom>
          <a:noFill/>
        </p:spPr>
        <p:txBody>
          <a:bodyPr wrap="square" lIns="0" tIns="0" rIns="0" bIns="0" anchor="t">
            <a:noAutofit/>
          </a:bodyPr>
          <a:lstStyle/>
          <a:p>
            <a:pPr algn="l">
              <a:lnSpc>
                <a:spcPct val="136000"/>
              </a:lnSpc>
            </a:pPr>
            <a:r>
              <a:rPr sz="1060" b="0">
                <a:solidFill>
                  <a:srgbClr val="3A342E"/>
                </a:solidFill>
                <a:latin typeface="Franklin Gothic Book"/>
              </a:rPr>
              <a:t>Queensland Government. (2026). SILO climate data: Data Drill [Data set]. Long Paddock. https://www.longpaddock.qld.gov.au/silo/</a:t>
            </a:r>
          </a:p>
        </p:txBody>
      </p:sp>
      <p:sp>
        <p:nvSpPr>
          <p:cNvPr id="15" name="Rectangle 14"/>
          <p:cNvSpPr/>
          <p:nvPr/>
        </p:nvSpPr>
        <p:spPr>
          <a:xfrm>
            <a:off x="749808" y="4401515"/>
            <a:ext cx="34747" cy="34747"/>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2415" y="4335678"/>
            <a:ext cx="10399745" cy="421030"/>
          </a:xfrm>
          <a:prstGeom prst="rect">
            <a:avLst/>
          </a:prstGeom>
          <a:noFill/>
        </p:spPr>
        <p:txBody>
          <a:bodyPr wrap="square" lIns="0" tIns="0" rIns="0" bIns="0" anchor="t">
            <a:noAutofit/>
          </a:bodyPr>
          <a:lstStyle/>
          <a:p>
            <a:pPr algn="l">
              <a:lnSpc>
                <a:spcPct val="136000"/>
              </a:lnSpc>
            </a:pPr>
            <a:r>
              <a:rPr sz="1060" b="0">
                <a:solidFill>
                  <a:srgbClr val="3A342E"/>
                </a:solidFill>
                <a:latin typeface="Franklin Gothic Book"/>
              </a:rPr>
              <a:t>Ronneberger, O., Fischer, P., &amp; Brox, T. (2015). U-Net: Convolutional networks for biomedical image segmentation. In N. Navab, J. Hornegger, W. M. Wells, &amp; A. F. Frangi (Eds.), Medical image computing and computer-assisted intervention – MICCAI 2015 (pp. 234–241). Springer. https://doi.org/10.1007/978-3-319-24574-4_28</a:t>
            </a:r>
          </a:p>
        </p:txBody>
      </p:sp>
      <p:sp>
        <p:nvSpPr>
          <p:cNvPr id="17" name="Rectangle 16"/>
          <p:cNvSpPr/>
          <p:nvPr/>
        </p:nvSpPr>
        <p:spPr>
          <a:xfrm>
            <a:off x="749808" y="4950561"/>
            <a:ext cx="34747" cy="34747"/>
          </a:xfrm>
          <a:prstGeom prst="rect">
            <a:avLst/>
          </a:prstGeom>
          <a:solidFill>
            <a:srgbClr val="C83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5" y="4884724"/>
            <a:ext cx="10399745" cy="604113"/>
          </a:xfrm>
          <a:prstGeom prst="rect">
            <a:avLst/>
          </a:prstGeom>
          <a:noFill/>
        </p:spPr>
        <p:txBody>
          <a:bodyPr wrap="square" lIns="0" tIns="0" rIns="0" bIns="0" anchor="t">
            <a:noAutofit/>
          </a:bodyPr>
          <a:lstStyle/>
          <a:p>
            <a:pPr algn="l">
              <a:lnSpc>
                <a:spcPct val="136000"/>
              </a:lnSpc>
            </a:pPr>
            <a:r>
              <a:rPr sz="1060" b="0">
                <a:solidFill>
                  <a:srgbClr val="3A342E"/>
                </a:solidFill>
                <a:latin typeface="Franklin Gothic Book"/>
              </a:rPr>
              <a:t>Russell-Smith, J., Yates, C. P., Whitehead, P. J., Smith, R., Craig, R., Allan, G. E., Thackway, R., Frakes, I., Cridland, S., Meyer, M. C. P., &amp; Gill, A. M. (2007). Bushfires 'down under': Patterns and implications of contemporary Australian landscape burning. International Journal of Wildland Fire, 16(4), 361–377. https://doi.org/10.1071/WF07018</a:t>
            </a:r>
          </a:p>
        </p:txBody>
      </p:sp>
      <p:cxnSp>
        <p:nvCxnSpPr>
          <p:cNvPr id="19" name="Connector 18"/>
          <p:cNvCxnSpPr/>
          <p:nvPr/>
        </p:nvCxnSpPr>
        <p:spPr>
          <a:xfrm>
            <a:off x="749808" y="6345936"/>
            <a:ext cx="10692353" cy="0"/>
          </a:xfrm>
          <a:prstGeom prst="line">
            <a:avLst/>
          </a:prstGeom>
          <a:ln w="11430">
            <a:solidFill>
              <a:srgbClr val="DCD5C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49808" y="6345936"/>
            <a:ext cx="10692353" cy="0"/>
          </a:xfrm>
          <a:prstGeom prst="line">
            <a:avLst/>
          </a:prstGeom>
          <a:ln w="17780">
            <a:solidFill>
              <a:srgbClr val="C8341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49808" y="6483096"/>
            <a:ext cx="548640" cy="219456"/>
          </a:xfrm>
          <a:prstGeom prst="rect">
            <a:avLst/>
          </a:prstGeom>
          <a:noFill/>
        </p:spPr>
        <p:txBody>
          <a:bodyPr wrap="square" lIns="0" tIns="0" rIns="0" bIns="0" anchor="t">
            <a:noAutofit/>
          </a:bodyPr>
          <a:lstStyle/>
          <a:p>
            <a:pPr algn="l">
              <a:lnSpc>
                <a:spcPct val="100000"/>
              </a:lnSpc>
            </a:pPr>
            <a:r>
              <a:rPr lang="en-AU" sz="1050" b="0" dirty="0">
                <a:solidFill>
                  <a:srgbClr val="787066"/>
                </a:solidFill>
                <a:latin typeface="Georgia"/>
              </a:rPr>
              <a:t>25</a:t>
            </a:r>
            <a:endParaRPr sz="1050" b="0" dirty="0">
              <a:solidFill>
                <a:srgbClr val="787066"/>
              </a:solidFill>
              <a:latin typeface="Georgia"/>
            </a:endParaRPr>
          </a:p>
        </p:txBody>
      </p:sp>
    </p:spTree>
  </p:cSld>
  <p:clrMapOvr>
    <a:masterClrMapping/>
  </p:clrMapOvr>
  <mc:AlternateContent xmlns:mc="http://schemas.openxmlformats.org/markup-compatibility/2006" xmlns:p14="http://schemas.microsoft.com/office/powerpoint/2010/main">
    <mc:Choice Requires="p14">
      <p:transition spd="slow" p14:dur="2000" advTm="4451"/>
    </mc:Choice>
    <mc:Fallback xmlns="">
      <p:transition spd="slow" advTm="445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4263</Words>
  <Application>Microsoft Macintosh PowerPoint</Application>
  <PresentationFormat>Widescreen</PresentationFormat>
  <Paragraphs>349</Paragraphs>
  <Slides>25</Slides>
  <Notes>23</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Arial</vt:lpstr>
      <vt:lpstr>Calibri</vt:lpstr>
      <vt:lpstr>Franklin Gothic Book</vt:lpstr>
      <vt:lpstr>Franklin Gothic Medium</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Harsh Rastogi</cp:lastModifiedBy>
  <cp:revision>9</cp:revision>
  <dcterms:created xsi:type="dcterms:W3CDTF">2013-01-27T09:14:16Z</dcterms:created>
  <dcterms:modified xsi:type="dcterms:W3CDTF">2026-09-26T08:29:14Z</dcterms:modified>
  <cp:category/>
</cp:coreProperties>
</file>
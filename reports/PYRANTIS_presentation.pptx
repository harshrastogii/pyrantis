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Harsh opens. Name the place, the question, the promise.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scale of it. Fire here is not an emergency, it is the weather.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month is the whole game. Early is management, late is damage.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target precisely. Three classes, one cut date.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public sources, all open. Say the licence line.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to Saira.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Saira. The labelling pipeline and the two thresholds.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Saira. The 30 April cut-off is the honesty rule.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Saira. This is the slide that separates a real result from a lucky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Saira. Random splits would let the model learn from its own future.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Saira. Five required models, plus gradient boosting, plus weighting.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to Tharushi.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Tharushi. Read the gap to the baseline, not the absolute number.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Tharushi. Each layer of data earned its place or it went back.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Tharushi. One test year could be luck. Sixty-six is a pattern.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Tharushi. Name the CNN failure plainly. It is the credible slide.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Tharushi. The model agrees with what fire people already say.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Tharushi. Say these before a marker has to ask.</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Harsh for the payoff.</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Harsh. This is the number. Say it slowly and say it is falsifiable.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Harsh. The work is only worth something if someone can use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Harsh closes. Land on the use, not the metric.</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Nothing to say -- leave it up during questions.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 slide. Nothing to say -- leave it up during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A35"/>
        </a:solidFill>
        <a:effectLst/>
      </p:bgPr>
    </p:bg>
    <p:spTree>
      <p:nvGrpSpPr>
        <p:cNvPr id="1" name=""/>
        <p:cNvGrpSpPr/>
        <p:nvPr/>
      </p:nvGrpSpPr>
      <p:grpSpPr/>
      <p:sp>
        <p:nvSpPr>
          <p:cNvPr id="2" name="TextBox 1"/>
          <p:cNvSpPr txBox="1"/>
          <p:nvPr/>
        </p:nvSpPr>
        <p:spPr>
          <a:xfrm>
            <a:off x="822960" y="713232"/>
            <a:ext cx="10515600" cy="274320"/>
          </a:xfrm>
          <a:prstGeom prst="rect">
            <a:avLst/>
          </a:prstGeom>
          <a:noFill/>
        </p:spPr>
        <p:txBody>
          <a:bodyPr wrap="square" anchor="t" lIns="0" rIns="0" tIns="0" bIns="0">
            <a:spAutoFit/>
          </a:bodyPr>
          <a:lstStyle/>
          <a:p>
            <a:pPr algn="l">
              <a:lnSpc>
                <a:spcPct val="100000"/>
              </a:lnSpc>
              <a:spcAft>
                <a:spcPts val="0"/>
              </a:spcAft>
            </a:pPr>
            <a:r>
              <a:rPr sz="1150" b="1" i="0">
                <a:solidFill>
                  <a:srgbClr val="B9CAD2"/>
                </a:solidFill>
                <a:latin typeface="Calibri"/>
              </a:rPr>
              <a:t>CHARLES DARWIN UNIVERSITY</a:t>
            </a:r>
          </a:p>
        </p:txBody>
      </p:sp>
      <p:sp>
        <p:nvSpPr>
          <p:cNvPr id="3" name="Rounded Rectangle 2"/>
          <p:cNvSpPr/>
          <p:nvPr/>
        </p:nvSpPr>
        <p:spPr>
          <a:xfrm>
            <a:off x="822960" y="1389888"/>
            <a:ext cx="182880" cy="182880"/>
          </a:xfrm>
          <a:prstGeom prst="roundRect">
            <a:avLst>
              <a:gd name="adj" fmla="val 18000"/>
            </a:avLst>
          </a:prstGeom>
          <a:solidFill>
            <a:srgbClr val="9AA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1088136" y="1389888"/>
            <a:ext cx="182880" cy="182880"/>
          </a:xfrm>
          <a:prstGeom prst="roundRect">
            <a:avLst>
              <a:gd name="adj" fmla="val 18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353312" y="1389888"/>
            <a:ext cx="182880" cy="182880"/>
          </a:xfrm>
          <a:prstGeom prst="roundRect">
            <a:avLst>
              <a:gd name="adj" fmla="val 18000"/>
            </a:avLst>
          </a:prstGeom>
          <a:solidFill>
            <a:srgbClr val="C85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1847088"/>
            <a:ext cx="10515600" cy="1005840"/>
          </a:xfrm>
          <a:prstGeom prst="rect">
            <a:avLst/>
          </a:prstGeom>
          <a:noFill/>
        </p:spPr>
        <p:txBody>
          <a:bodyPr wrap="square" anchor="t" lIns="0" rIns="0" tIns="0" bIns="0">
            <a:spAutoFit/>
          </a:bodyPr>
          <a:lstStyle/>
          <a:p>
            <a:pPr algn="l">
              <a:lnSpc>
                <a:spcPct val="100000"/>
              </a:lnSpc>
              <a:spcAft>
                <a:spcPts val="0"/>
              </a:spcAft>
            </a:pPr>
            <a:r>
              <a:rPr sz="5600" b="1" i="0">
                <a:solidFill>
                  <a:srgbClr val="FFFFFF"/>
                </a:solidFill>
                <a:latin typeface="Cambria"/>
              </a:rPr>
              <a:t>PYRANTIS</a:t>
            </a:r>
          </a:p>
        </p:txBody>
      </p:sp>
      <p:sp>
        <p:nvSpPr>
          <p:cNvPr id="7" name="TextBox 6"/>
          <p:cNvSpPr txBox="1"/>
          <p:nvPr/>
        </p:nvSpPr>
        <p:spPr>
          <a:xfrm>
            <a:off x="822960" y="2724912"/>
            <a:ext cx="8778240" cy="640080"/>
          </a:xfrm>
          <a:prstGeom prst="rect">
            <a:avLst/>
          </a:prstGeom>
          <a:noFill/>
        </p:spPr>
        <p:txBody>
          <a:bodyPr wrap="square" anchor="t" lIns="0" rIns="0" tIns="0" bIns="0">
            <a:spAutoFit/>
          </a:bodyPr>
          <a:lstStyle/>
          <a:p>
            <a:pPr algn="l">
              <a:lnSpc>
                <a:spcPct val="115000"/>
              </a:lnSpc>
              <a:spcAft>
                <a:spcPts val="0"/>
              </a:spcAft>
            </a:pPr>
            <a:r>
              <a:rPr sz="2200" b="0" i="0">
                <a:solidFill>
                  <a:srgbClr val="B9CAD2"/>
                </a:solidFill>
                <a:latin typeface="Cambria"/>
              </a:rPr>
              <a:t>Which country burns in the Northern Territory, and when</a:t>
            </a:r>
          </a:p>
        </p:txBody>
      </p:sp>
      <p:sp>
        <p:nvSpPr>
          <p:cNvPr id="8" name="TextBox 7"/>
          <p:cNvSpPr txBox="1"/>
          <p:nvPr/>
        </p:nvSpPr>
        <p:spPr>
          <a:xfrm>
            <a:off x="822960" y="3401568"/>
            <a:ext cx="8961120" cy="365760"/>
          </a:xfrm>
          <a:prstGeom prst="rect">
            <a:avLst/>
          </a:prstGeom>
          <a:noFill/>
        </p:spPr>
        <p:txBody>
          <a:bodyPr wrap="square" anchor="t" lIns="0" rIns="0" tIns="0" bIns="0">
            <a:spAutoFit/>
          </a:bodyPr>
          <a:lstStyle/>
          <a:p>
            <a:pPr algn="l">
              <a:lnSpc>
                <a:spcPct val="140000"/>
              </a:lnSpc>
              <a:spcAft>
                <a:spcPts val="0"/>
              </a:spcAft>
            </a:pPr>
            <a:r>
              <a:rPr sz="1350" b="0" i="0">
                <a:solidFill>
                  <a:srgbClr val="B9CAD2"/>
                </a:solidFill>
                <a:latin typeface="Calibri"/>
              </a:rPr>
              <a:t>Multi-class classification of 46,445 map squares across 26 fire years, and a forecast for 2026.</a:t>
            </a:r>
          </a:p>
        </p:txBody>
      </p:sp>
      <p:sp>
        <p:nvSpPr>
          <p:cNvPr id="9" name="TextBox 8"/>
          <p:cNvSpPr txBox="1"/>
          <p:nvPr/>
        </p:nvSpPr>
        <p:spPr>
          <a:xfrm>
            <a:off x="822960" y="4133087"/>
            <a:ext cx="1371600" cy="274320"/>
          </a:xfrm>
          <a:prstGeom prst="rect">
            <a:avLst/>
          </a:prstGeom>
          <a:noFill/>
        </p:spPr>
        <p:txBody>
          <a:bodyPr wrap="square" anchor="t" lIns="0" rIns="0" tIns="0" bIns="0">
            <a:spAutoFit/>
          </a:bodyPr>
          <a:lstStyle/>
          <a:p>
            <a:pPr algn="l">
              <a:lnSpc>
                <a:spcPct val="125000"/>
              </a:lnSpc>
              <a:spcAft>
                <a:spcPts val="0"/>
              </a:spcAft>
            </a:pPr>
            <a:r>
              <a:rPr sz="1050" b="0" i="0">
                <a:solidFill>
                  <a:srgbClr val="B9CAD2"/>
                </a:solidFill>
                <a:latin typeface="Calibri"/>
              </a:rPr>
              <a:t>Unit</a:t>
            </a:r>
          </a:p>
        </p:txBody>
      </p:sp>
      <p:sp>
        <p:nvSpPr>
          <p:cNvPr id="10" name="TextBox 9"/>
          <p:cNvSpPr txBox="1"/>
          <p:nvPr/>
        </p:nvSpPr>
        <p:spPr>
          <a:xfrm>
            <a:off x="2331720" y="4133087"/>
            <a:ext cx="4572000" cy="274320"/>
          </a:xfrm>
          <a:prstGeom prst="rect">
            <a:avLst/>
          </a:prstGeom>
          <a:noFill/>
        </p:spPr>
        <p:txBody>
          <a:bodyPr wrap="square" anchor="t" lIns="0" rIns="0" tIns="0" bIns="0">
            <a:spAutoFit/>
          </a:bodyPr>
          <a:lstStyle/>
          <a:p>
            <a:pPr algn="l">
              <a:lnSpc>
                <a:spcPct val="125000"/>
              </a:lnSpc>
              <a:spcAft>
                <a:spcPts val="0"/>
              </a:spcAft>
            </a:pPr>
            <a:r>
              <a:rPr sz="1150" b="1" i="0">
                <a:solidFill>
                  <a:srgbClr val="FFFFFF"/>
                </a:solidFill>
                <a:latin typeface="Calibri"/>
              </a:rPr>
              <a:t>Machine Learning, Artificial Intelligence and Algorithms</a:t>
            </a:r>
          </a:p>
        </p:txBody>
      </p:sp>
      <p:sp>
        <p:nvSpPr>
          <p:cNvPr id="11" name="TextBox 10"/>
          <p:cNvSpPr txBox="1"/>
          <p:nvPr/>
        </p:nvSpPr>
        <p:spPr>
          <a:xfrm>
            <a:off x="822960" y="4535424"/>
            <a:ext cx="1371600" cy="274320"/>
          </a:xfrm>
          <a:prstGeom prst="rect">
            <a:avLst/>
          </a:prstGeom>
          <a:noFill/>
        </p:spPr>
        <p:txBody>
          <a:bodyPr wrap="square" anchor="t" lIns="0" rIns="0" tIns="0" bIns="0">
            <a:spAutoFit/>
          </a:bodyPr>
          <a:lstStyle/>
          <a:p>
            <a:pPr algn="l">
              <a:lnSpc>
                <a:spcPct val="125000"/>
              </a:lnSpc>
              <a:spcAft>
                <a:spcPts val="0"/>
              </a:spcAft>
            </a:pPr>
            <a:r>
              <a:rPr sz="1050" b="0" i="0">
                <a:solidFill>
                  <a:srgbClr val="B9CAD2"/>
                </a:solidFill>
                <a:latin typeface="Calibri"/>
              </a:rPr>
              <a:t>Unit code</a:t>
            </a:r>
          </a:p>
        </p:txBody>
      </p:sp>
      <p:sp>
        <p:nvSpPr>
          <p:cNvPr id="12" name="TextBox 11"/>
          <p:cNvSpPr txBox="1"/>
          <p:nvPr/>
        </p:nvSpPr>
        <p:spPr>
          <a:xfrm>
            <a:off x="2331720" y="4535424"/>
            <a:ext cx="4572000" cy="274320"/>
          </a:xfrm>
          <a:prstGeom prst="rect">
            <a:avLst/>
          </a:prstGeom>
          <a:noFill/>
        </p:spPr>
        <p:txBody>
          <a:bodyPr wrap="square" anchor="t" lIns="0" rIns="0" tIns="0" bIns="0">
            <a:spAutoFit/>
          </a:bodyPr>
          <a:lstStyle/>
          <a:p>
            <a:pPr algn="l">
              <a:lnSpc>
                <a:spcPct val="125000"/>
              </a:lnSpc>
              <a:spcAft>
                <a:spcPts val="0"/>
              </a:spcAft>
            </a:pPr>
            <a:r>
              <a:rPr sz="1150" b="1" i="0">
                <a:solidFill>
                  <a:srgbClr val="FFFFFF"/>
                </a:solidFill>
                <a:latin typeface="Calibri"/>
              </a:rPr>
              <a:t>PRT565</a:t>
            </a:r>
          </a:p>
        </p:txBody>
      </p:sp>
      <p:sp>
        <p:nvSpPr>
          <p:cNvPr id="13" name="TextBox 12"/>
          <p:cNvSpPr txBox="1"/>
          <p:nvPr/>
        </p:nvSpPr>
        <p:spPr>
          <a:xfrm>
            <a:off x="822960" y="4937760"/>
            <a:ext cx="1371600" cy="274320"/>
          </a:xfrm>
          <a:prstGeom prst="rect">
            <a:avLst/>
          </a:prstGeom>
          <a:noFill/>
        </p:spPr>
        <p:txBody>
          <a:bodyPr wrap="square" anchor="t" lIns="0" rIns="0" tIns="0" bIns="0">
            <a:spAutoFit/>
          </a:bodyPr>
          <a:lstStyle/>
          <a:p>
            <a:pPr algn="l">
              <a:lnSpc>
                <a:spcPct val="125000"/>
              </a:lnSpc>
              <a:spcAft>
                <a:spcPts val="0"/>
              </a:spcAft>
            </a:pPr>
            <a:r>
              <a:rPr sz="1050" b="0" i="0">
                <a:solidFill>
                  <a:srgbClr val="B9CAD2"/>
                </a:solidFill>
                <a:latin typeface="Calibri"/>
              </a:rPr>
              <a:t>Assessment</a:t>
            </a:r>
          </a:p>
        </p:txBody>
      </p:sp>
      <p:sp>
        <p:nvSpPr>
          <p:cNvPr id="14" name="TextBox 13"/>
          <p:cNvSpPr txBox="1"/>
          <p:nvPr/>
        </p:nvSpPr>
        <p:spPr>
          <a:xfrm>
            <a:off x="2331720" y="4937760"/>
            <a:ext cx="4572000" cy="274320"/>
          </a:xfrm>
          <a:prstGeom prst="rect">
            <a:avLst/>
          </a:prstGeom>
          <a:noFill/>
        </p:spPr>
        <p:txBody>
          <a:bodyPr wrap="square" anchor="t" lIns="0" rIns="0" tIns="0" bIns="0">
            <a:spAutoFit/>
          </a:bodyPr>
          <a:lstStyle/>
          <a:p>
            <a:pPr algn="l">
              <a:lnSpc>
                <a:spcPct val="125000"/>
              </a:lnSpc>
              <a:spcAft>
                <a:spcPts val="0"/>
              </a:spcAft>
            </a:pPr>
            <a:r>
              <a:rPr sz="1150" b="1" i="0">
                <a:solidFill>
                  <a:srgbClr val="FFFFFF"/>
                </a:solidFill>
                <a:latin typeface="Calibri"/>
              </a:rPr>
              <a:t>Assessment 3 — Presentation</a:t>
            </a:r>
          </a:p>
        </p:txBody>
      </p:sp>
      <p:sp>
        <p:nvSpPr>
          <p:cNvPr id="15" name="TextBox 14"/>
          <p:cNvSpPr txBox="1"/>
          <p:nvPr/>
        </p:nvSpPr>
        <p:spPr>
          <a:xfrm>
            <a:off x="822960" y="5340096"/>
            <a:ext cx="1371600" cy="274320"/>
          </a:xfrm>
          <a:prstGeom prst="rect">
            <a:avLst/>
          </a:prstGeom>
          <a:noFill/>
        </p:spPr>
        <p:txBody>
          <a:bodyPr wrap="square" anchor="t" lIns="0" rIns="0" tIns="0" bIns="0">
            <a:spAutoFit/>
          </a:bodyPr>
          <a:lstStyle/>
          <a:p>
            <a:pPr algn="l">
              <a:lnSpc>
                <a:spcPct val="125000"/>
              </a:lnSpc>
              <a:spcAft>
                <a:spcPts val="0"/>
              </a:spcAft>
            </a:pPr>
            <a:r>
              <a:rPr sz="1050" b="0" i="0">
                <a:solidFill>
                  <a:srgbClr val="B9CAD2"/>
                </a:solidFill>
                <a:latin typeface="Calibri"/>
              </a:rPr>
              <a:t>Group</a:t>
            </a:r>
          </a:p>
        </p:txBody>
      </p:sp>
      <p:sp>
        <p:nvSpPr>
          <p:cNvPr id="16" name="TextBox 15"/>
          <p:cNvSpPr txBox="1"/>
          <p:nvPr/>
        </p:nvSpPr>
        <p:spPr>
          <a:xfrm>
            <a:off x="2331720" y="5340096"/>
            <a:ext cx="4572000" cy="274320"/>
          </a:xfrm>
          <a:prstGeom prst="rect">
            <a:avLst/>
          </a:prstGeom>
          <a:noFill/>
        </p:spPr>
        <p:txBody>
          <a:bodyPr wrap="square" anchor="t" lIns="0" rIns="0" tIns="0" bIns="0">
            <a:spAutoFit/>
          </a:bodyPr>
          <a:lstStyle/>
          <a:p>
            <a:pPr algn="l">
              <a:lnSpc>
                <a:spcPct val="125000"/>
              </a:lnSpc>
              <a:spcAft>
                <a:spcPts val="0"/>
              </a:spcAft>
            </a:pPr>
            <a:r>
              <a:rPr sz="1150" b="1" i="0">
                <a:solidFill>
                  <a:srgbClr val="FFFFFF"/>
                </a:solidFill>
                <a:latin typeface="Calibri"/>
              </a:rPr>
              <a:t>Group 85</a:t>
            </a:r>
          </a:p>
        </p:txBody>
      </p:sp>
      <p:sp>
        <p:nvSpPr>
          <p:cNvPr id="17" name="TextBox 16"/>
          <p:cNvSpPr txBox="1"/>
          <p:nvPr/>
        </p:nvSpPr>
        <p:spPr>
          <a:xfrm>
            <a:off x="7452360" y="4133087"/>
            <a:ext cx="3931920" cy="274320"/>
          </a:xfrm>
          <a:prstGeom prst="rect">
            <a:avLst/>
          </a:prstGeom>
          <a:noFill/>
        </p:spPr>
        <p:txBody>
          <a:bodyPr wrap="square" anchor="t" lIns="0" rIns="0" tIns="0" bIns="0">
            <a:spAutoFit/>
          </a:bodyPr>
          <a:lstStyle/>
          <a:p>
            <a:pPr algn="l">
              <a:lnSpc>
                <a:spcPct val="125000"/>
              </a:lnSpc>
              <a:spcAft>
                <a:spcPts val="0"/>
              </a:spcAft>
            </a:pPr>
            <a:r>
              <a:rPr sz="1050" b="0" i="0">
                <a:solidFill>
                  <a:srgbClr val="B9CAD2"/>
                </a:solidFill>
                <a:latin typeface="Calibri"/>
              </a:rPr>
              <a:t>Team</a:t>
            </a:r>
          </a:p>
        </p:txBody>
      </p:sp>
      <p:sp>
        <p:nvSpPr>
          <p:cNvPr id="18" name="TextBox 17"/>
          <p:cNvSpPr txBox="1"/>
          <p:nvPr/>
        </p:nvSpPr>
        <p:spPr>
          <a:xfrm>
            <a:off x="7452360" y="4535424"/>
            <a:ext cx="2926080" cy="274320"/>
          </a:xfrm>
          <a:prstGeom prst="rect">
            <a:avLst/>
          </a:prstGeom>
          <a:noFill/>
        </p:spPr>
        <p:txBody>
          <a:bodyPr wrap="square" anchor="t" lIns="0" rIns="0" tIns="0" bIns="0">
            <a:spAutoFit/>
          </a:bodyPr>
          <a:lstStyle/>
          <a:p>
            <a:pPr algn="l">
              <a:lnSpc>
                <a:spcPct val="125000"/>
              </a:lnSpc>
              <a:spcAft>
                <a:spcPts val="0"/>
              </a:spcAft>
            </a:pPr>
            <a:r>
              <a:rPr sz="1150" b="1" i="0">
                <a:solidFill>
                  <a:srgbClr val="FFFFFF"/>
                </a:solidFill>
                <a:latin typeface="Calibri"/>
              </a:rPr>
              <a:t>Harsh Rastogi</a:t>
            </a:r>
          </a:p>
        </p:txBody>
      </p:sp>
      <p:sp>
        <p:nvSpPr>
          <p:cNvPr id="19" name="TextBox 18"/>
          <p:cNvSpPr txBox="1"/>
          <p:nvPr/>
        </p:nvSpPr>
        <p:spPr>
          <a:xfrm>
            <a:off x="10607040" y="4535424"/>
            <a:ext cx="777240" cy="274320"/>
          </a:xfrm>
          <a:prstGeom prst="rect">
            <a:avLst/>
          </a:prstGeom>
          <a:noFill/>
        </p:spPr>
        <p:txBody>
          <a:bodyPr wrap="square" anchor="t" lIns="0" rIns="0" tIns="0" bIns="0">
            <a:spAutoFit/>
          </a:bodyPr>
          <a:lstStyle/>
          <a:p>
            <a:pPr algn="r">
              <a:lnSpc>
                <a:spcPct val="125000"/>
              </a:lnSpc>
              <a:spcAft>
                <a:spcPts val="0"/>
              </a:spcAft>
            </a:pPr>
            <a:r>
              <a:rPr sz="1100" b="0" i="0">
                <a:solidFill>
                  <a:srgbClr val="B9CAD2"/>
                </a:solidFill>
                <a:latin typeface="Calibri"/>
              </a:rPr>
              <a:t>386401</a:t>
            </a:r>
          </a:p>
        </p:txBody>
      </p:sp>
      <p:sp>
        <p:nvSpPr>
          <p:cNvPr id="20" name="TextBox 19"/>
          <p:cNvSpPr txBox="1"/>
          <p:nvPr/>
        </p:nvSpPr>
        <p:spPr>
          <a:xfrm>
            <a:off x="7452360" y="4937760"/>
            <a:ext cx="2926080" cy="274320"/>
          </a:xfrm>
          <a:prstGeom prst="rect">
            <a:avLst/>
          </a:prstGeom>
          <a:noFill/>
        </p:spPr>
        <p:txBody>
          <a:bodyPr wrap="square" anchor="t" lIns="0" rIns="0" tIns="0" bIns="0">
            <a:spAutoFit/>
          </a:bodyPr>
          <a:lstStyle/>
          <a:p>
            <a:pPr algn="l">
              <a:lnSpc>
                <a:spcPct val="125000"/>
              </a:lnSpc>
              <a:spcAft>
                <a:spcPts val="0"/>
              </a:spcAft>
            </a:pPr>
            <a:r>
              <a:rPr sz="1150" b="1" i="0">
                <a:solidFill>
                  <a:srgbClr val="FFFFFF"/>
                </a:solidFill>
                <a:latin typeface="Calibri"/>
              </a:rPr>
              <a:t>Saira Zafar</a:t>
            </a:r>
          </a:p>
        </p:txBody>
      </p:sp>
      <p:sp>
        <p:nvSpPr>
          <p:cNvPr id="21" name="TextBox 20"/>
          <p:cNvSpPr txBox="1"/>
          <p:nvPr/>
        </p:nvSpPr>
        <p:spPr>
          <a:xfrm>
            <a:off x="10607040" y="4937760"/>
            <a:ext cx="777240" cy="274320"/>
          </a:xfrm>
          <a:prstGeom prst="rect">
            <a:avLst/>
          </a:prstGeom>
          <a:noFill/>
        </p:spPr>
        <p:txBody>
          <a:bodyPr wrap="square" anchor="t" lIns="0" rIns="0" tIns="0" bIns="0">
            <a:spAutoFit/>
          </a:bodyPr>
          <a:lstStyle/>
          <a:p>
            <a:pPr algn="r">
              <a:lnSpc>
                <a:spcPct val="125000"/>
              </a:lnSpc>
              <a:spcAft>
                <a:spcPts val="0"/>
              </a:spcAft>
            </a:pPr>
            <a:r>
              <a:rPr sz="1100" b="0" i="0">
                <a:solidFill>
                  <a:srgbClr val="B9CAD2"/>
                </a:solidFill>
                <a:latin typeface="Calibri"/>
              </a:rPr>
              <a:t>407193</a:t>
            </a:r>
          </a:p>
        </p:txBody>
      </p:sp>
      <p:sp>
        <p:nvSpPr>
          <p:cNvPr id="22" name="TextBox 21"/>
          <p:cNvSpPr txBox="1"/>
          <p:nvPr/>
        </p:nvSpPr>
        <p:spPr>
          <a:xfrm>
            <a:off x="7452360" y="5340096"/>
            <a:ext cx="2926080" cy="274320"/>
          </a:xfrm>
          <a:prstGeom prst="rect">
            <a:avLst/>
          </a:prstGeom>
          <a:noFill/>
        </p:spPr>
        <p:txBody>
          <a:bodyPr wrap="square" anchor="t" lIns="0" rIns="0" tIns="0" bIns="0">
            <a:spAutoFit/>
          </a:bodyPr>
          <a:lstStyle/>
          <a:p>
            <a:pPr algn="l">
              <a:lnSpc>
                <a:spcPct val="125000"/>
              </a:lnSpc>
              <a:spcAft>
                <a:spcPts val="0"/>
              </a:spcAft>
            </a:pPr>
            <a:r>
              <a:rPr sz="1150" b="1" i="0">
                <a:solidFill>
                  <a:srgbClr val="FFFFFF"/>
                </a:solidFill>
                <a:latin typeface="Calibri"/>
              </a:rPr>
              <a:t>Tharushi Wimalachandra</a:t>
            </a:r>
          </a:p>
        </p:txBody>
      </p:sp>
      <p:sp>
        <p:nvSpPr>
          <p:cNvPr id="23" name="TextBox 22"/>
          <p:cNvSpPr txBox="1"/>
          <p:nvPr/>
        </p:nvSpPr>
        <p:spPr>
          <a:xfrm>
            <a:off x="10607040" y="5340096"/>
            <a:ext cx="777240" cy="274320"/>
          </a:xfrm>
          <a:prstGeom prst="rect">
            <a:avLst/>
          </a:prstGeom>
          <a:noFill/>
        </p:spPr>
        <p:txBody>
          <a:bodyPr wrap="square" anchor="t" lIns="0" rIns="0" tIns="0" bIns="0">
            <a:spAutoFit/>
          </a:bodyPr>
          <a:lstStyle/>
          <a:p>
            <a:pPr algn="r">
              <a:lnSpc>
                <a:spcPct val="125000"/>
              </a:lnSpc>
              <a:spcAft>
                <a:spcPts val="0"/>
              </a:spcAft>
            </a:pPr>
            <a:r>
              <a:rPr sz="1100" b="0" i="0">
                <a:solidFill>
                  <a:srgbClr val="B9CAD2"/>
                </a:solidFill>
                <a:latin typeface="Calibri"/>
              </a:rPr>
              <a:t>386594</a:t>
            </a:r>
          </a:p>
        </p:txBody>
      </p:sp>
      <p:sp>
        <p:nvSpPr>
          <p:cNvPr id="24" name="Rounded Rectangle 23"/>
          <p:cNvSpPr/>
          <p:nvPr/>
        </p:nvSpPr>
        <p:spPr>
          <a:xfrm>
            <a:off x="822960" y="5742432"/>
            <a:ext cx="10515600" cy="566928"/>
          </a:xfrm>
          <a:prstGeom prst="roundRect">
            <a:avLst>
              <a:gd name="adj" fmla="val 6000"/>
            </a:avLst>
          </a:prstGeom>
          <a:solidFill>
            <a:srgbClr val="173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33856" y="5907024"/>
            <a:ext cx="2743200" cy="274320"/>
          </a:xfrm>
          <a:prstGeom prst="rect">
            <a:avLst/>
          </a:prstGeom>
          <a:noFill/>
        </p:spPr>
        <p:txBody>
          <a:bodyPr wrap="square" anchor="t" lIns="0" rIns="0" tIns="0" bIns="0">
            <a:spAutoFit/>
          </a:bodyPr>
          <a:lstStyle/>
          <a:p>
            <a:pPr algn="l">
              <a:lnSpc>
                <a:spcPct val="125000"/>
              </a:lnSpc>
              <a:spcAft>
                <a:spcPts val="0"/>
              </a:spcAft>
            </a:pPr>
            <a:r>
              <a:rPr sz="1050" b="0" i="0">
                <a:solidFill>
                  <a:srgbClr val="B9CAD2"/>
                </a:solidFill>
                <a:latin typeface="Calibri"/>
              </a:rPr>
              <a:t>Recording (unlisted)</a:t>
            </a:r>
          </a:p>
        </p:txBody>
      </p:sp>
      <p:sp>
        <p:nvSpPr>
          <p:cNvPr id="26" name="TextBox 25"/>
          <p:cNvSpPr txBox="1"/>
          <p:nvPr/>
        </p:nvSpPr>
        <p:spPr>
          <a:xfrm>
            <a:off x="3749039" y="5907024"/>
            <a:ext cx="4206240" cy="274320"/>
          </a:xfrm>
          <a:prstGeom prst="rect">
            <a:avLst/>
          </a:prstGeom>
          <a:noFill/>
        </p:spPr>
        <p:txBody>
          <a:bodyPr wrap="square" anchor="t" lIns="0" rIns="0" tIns="0" bIns="0">
            <a:spAutoFit/>
          </a:bodyPr>
          <a:lstStyle/>
          <a:p>
            <a:pPr algn="l">
              <a:lnSpc>
                <a:spcPct val="125000"/>
              </a:lnSpc>
              <a:spcAft>
                <a:spcPts val="0"/>
              </a:spcAft>
            </a:pPr>
            <a:r>
              <a:rPr sz="1100" b="0" i="0">
                <a:solidFill>
                  <a:srgbClr val="E0835C"/>
                </a:solidFill>
                <a:latin typeface="Calibri"/>
              </a:rPr>
              <a:t>[ paste the unlisted video link here ]</a:t>
            </a:r>
          </a:p>
        </p:txBody>
      </p:sp>
      <p:sp>
        <p:nvSpPr>
          <p:cNvPr id="27" name="TextBox 26"/>
          <p:cNvSpPr txBox="1"/>
          <p:nvPr/>
        </p:nvSpPr>
        <p:spPr>
          <a:xfrm>
            <a:off x="8321040" y="5907024"/>
            <a:ext cx="2743200" cy="274320"/>
          </a:xfrm>
          <a:prstGeom prst="rect">
            <a:avLst/>
          </a:prstGeom>
          <a:noFill/>
        </p:spPr>
        <p:txBody>
          <a:bodyPr wrap="square" anchor="t" lIns="0" rIns="0" tIns="0" bIns="0">
            <a:spAutoFit/>
          </a:bodyPr>
          <a:lstStyle/>
          <a:p>
            <a:pPr algn="r">
              <a:lnSpc>
                <a:spcPct val="125000"/>
              </a:lnSpc>
              <a:spcAft>
                <a:spcPts val="0"/>
              </a:spcAft>
            </a:pPr>
            <a:r>
              <a:rPr sz="1050" b="0" i="0">
                <a:solidFill>
                  <a:srgbClr val="B9CAD2"/>
                </a:solidFill>
                <a:latin typeface="Calibri"/>
              </a:rPr>
              <a:t>pyrantis.harshlabs.workers.dev</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822960" y="310896"/>
            <a:ext cx="106070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C8552F"/>
                </a:solidFill>
                <a:latin typeface="Calibri"/>
              </a:rPr>
              <a:t>THE SETTING</a:t>
            </a:r>
          </a:p>
        </p:txBody>
      </p:sp>
      <p:sp>
        <p:nvSpPr>
          <p:cNvPr id="3" name="TextBox 2"/>
          <p:cNvSpPr txBox="1"/>
          <p:nvPr/>
        </p:nvSpPr>
        <p:spPr>
          <a:xfrm>
            <a:off x="822960" y="566928"/>
            <a:ext cx="10607040" cy="914400"/>
          </a:xfrm>
          <a:prstGeom prst="rect">
            <a:avLst/>
          </a:prstGeom>
          <a:noFill/>
        </p:spPr>
        <p:txBody>
          <a:bodyPr wrap="square" anchor="t" lIns="0" rIns="0" tIns="0" bIns="0">
            <a:spAutoFit/>
          </a:bodyPr>
          <a:lstStyle/>
          <a:p>
            <a:pPr algn="l">
              <a:lnSpc>
                <a:spcPct val="105000"/>
              </a:lnSpc>
              <a:spcAft>
                <a:spcPts val="0"/>
              </a:spcAft>
            </a:pPr>
            <a:r>
              <a:rPr sz="3400" b="1" i="0">
                <a:solidFill>
                  <a:srgbClr val="0F2A35"/>
                </a:solidFill>
                <a:latin typeface="Cambria"/>
              </a:rPr>
              <a:t>Most of the Territory burns. The question is when.</a:t>
            </a:r>
          </a:p>
        </p:txBody>
      </p:sp>
      <p:sp>
        <p:nvSpPr>
          <p:cNvPr id="4" name="TextBox 3"/>
          <p:cNvSpPr txBox="1"/>
          <p:nvPr/>
        </p:nvSpPr>
        <p:spPr>
          <a:xfrm>
            <a:off x="822960" y="1600200"/>
            <a:ext cx="5577840" cy="1737360"/>
          </a:xfrm>
          <a:prstGeom prst="rect">
            <a:avLst/>
          </a:prstGeom>
          <a:noFill/>
        </p:spPr>
        <p:txBody>
          <a:bodyPr wrap="square" anchor="t" lIns="0" rIns="0" tIns="0" bIns="0">
            <a:spAutoFit/>
          </a:bodyPr>
          <a:lstStyle/>
          <a:p>
            <a:pPr algn="l">
              <a:lnSpc>
                <a:spcPct val="150000"/>
              </a:lnSpc>
              <a:spcAft>
                <a:spcPts val="0"/>
              </a:spcAft>
            </a:pPr>
            <a:r>
              <a:rPr sz="1500" b="0" i="0">
                <a:solidFill>
                  <a:srgbClr val="0F2A35"/>
                </a:solidFill>
                <a:latin typeface="Calibri"/>
              </a:rPr>
              <a:t>Across 2000 to 2025, roughly a third of the Northern Territory carried a fire in any given year. Nearly a million square-years of record say the same thing: burning is not the exception here, it is the season.</a:t>
            </a:r>
          </a:p>
        </p:txBody>
      </p:sp>
      <p:sp>
        <p:nvSpPr>
          <p:cNvPr id="5" name="TextBox 4"/>
          <p:cNvSpPr txBox="1"/>
          <p:nvPr/>
        </p:nvSpPr>
        <p:spPr>
          <a:xfrm>
            <a:off x="3495371" y="3675887"/>
            <a:ext cx="5200952" cy="320040"/>
          </a:xfrm>
          <a:prstGeom prst="rect">
            <a:avLst/>
          </a:prstGeom>
          <a:noFill/>
        </p:spPr>
        <p:txBody>
          <a:bodyPr wrap="square" anchor="t" lIns="0" rIns="0" tIns="0" bIns="0">
            <a:spAutoFit/>
          </a:bodyPr>
          <a:lstStyle/>
          <a:p>
            <a:pPr algn="ctr">
              <a:lnSpc>
                <a:spcPct val="125000"/>
              </a:lnSpc>
              <a:spcAft>
                <a:spcPts val="0"/>
              </a:spcAft>
            </a:pPr>
            <a:r>
              <a:rPr sz="1150" b="0" i="0">
                <a:solidFill>
                  <a:srgbClr val="6B7C85"/>
                </a:solidFill>
                <a:latin typeface="Calibri"/>
              </a:rPr>
              <a:t>Every square, every year, 2005 to 2025</a:t>
            </a:r>
          </a:p>
        </p:txBody>
      </p:sp>
      <p:pic>
        <p:nvPicPr>
          <p:cNvPr id="6" name="Picture 5" descr="deck_balance.png"/>
          <p:cNvPicPr>
            <a:picLocks noChangeAspect="1"/>
          </p:cNvPicPr>
          <p:nvPr/>
        </p:nvPicPr>
        <p:blipFill>
          <a:blip r:embed="rId3"/>
          <a:stretch>
            <a:fillRect/>
          </a:stretch>
        </p:blipFill>
        <p:spPr>
          <a:xfrm>
            <a:off x="3495371" y="4005072"/>
            <a:ext cx="5200952" cy="1965960"/>
          </a:xfrm>
          <a:prstGeom prst="rect">
            <a:avLst/>
          </a:prstGeom>
        </p:spPr>
      </p:pic>
      <p:sp>
        <p:nvSpPr>
          <p:cNvPr id="7" name="TextBox 6"/>
          <p:cNvSpPr txBox="1"/>
          <p:nvPr/>
        </p:nvSpPr>
        <p:spPr>
          <a:xfrm>
            <a:off x="6949440" y="1572768"/>
            <a:ext cx="4206240" cy="777240"/>
          </a:xfrm>
          <a:prstGeom prst="rect">
            <a:avLst/>
          </a:prstGeom>
          <a:noFill/>
        </p:spPr>
        <p:txBody>
          <a:bodyPr wrap="square" anchor="t" lIns="0" rIns="0" tIns="0" bIns="0">
            <a:spAutoFit/>
          </a:bodyPr>
          <a:lstStyle/>
          <a:p>
            <a:pPr algn="l">
              <a:lnSpc>
                <a:spcPct val="95000"/>
              </a:lnSpc>
              <a:spcAft>
                <a:spcPts val="0"/>
              </a:spcAft>
            </a:pPr>
            <a:r>
              <a:rPr sz="4000" b="1" i="0">
                <a:solidFill>
                  <a:srgbClr val="0F2A35"/>
                </a:solidFill>
                <a:latin typeface="Cambria"/>
              </a:rPr>
              <a:t>1,207,570</a:t>
            </a:r>
          </a:p>
        </p:txBody>
      </p:sp>
      <p:sp>
        <p:nvSpPr>
          <p:cNvPr id="8" name="TextBox 7"/>
          <p:cNvSpPr txBox="1"/>
          <p:nvPr/>
        </p:nvSpPr>
        <p:spPr>
          <a:xfrm>
            <a:off x="6949440" y="2110232"/>
            <a:ext cx="4206240" cy="640080"/>
          </a:xfrm>
          <a:prstGeom prst="rect">
            <a:avLst/>
          </a:prstGeom>
          <a:noFill/>
        </p:spPr>
        <p:txBody>
          <a:bodyPr wrap="square" anchor="t" lIns="0" rIns="0" tIns="0" bIns="0">
            <a:spAutoFit/>
          </a:bodyPr>
          <a:lstStyle/>
          <a:p>
            <a:pPr algn="l">
              <a:lnSpc>
                <a:spcPct val="120000"/>
              </a:lnSpc>
              <a:spcAft>
                <a:spcPts val="0"/>
              </a:spcAft>
            </a:pPr>
            <a:r>
              <a:rPr sz="1250" b="0" i="0">
                <a:solidFill>
                  <a:srgbClr val="6B7C85"/>
                </a:solidFill>
                <a:latin typeface="Calibri"/>
              </a:rPr>
              <a:t>square-years of fire record</a:t>
            </a:r>
          </a:p>
        </p:txBody>
      </p:sp>
      <p:sp>
        <p:nvSpPr>
          <p:cNvPr id="9" name="TextBox 8"/>
          <p:cNvSpPr txBox="1"/>
          <p:nvPr/>
        </p:nvSpPr>
        <p:spPr>
          <a:xfrm>
            <a:off x="6949440" y="2615184"/>
            <a:ext cx="4206240" cy="777240"/>
          </a:xfrm>
          <a:prstGeom prst="rect">
            <a:avLst/>
          </a:prstGeom>
          <a:noFill/>
        </p:spPr>
        <p:txBody>
          <a:bodyPr wrap="square" anchor="t" lIns="0" rIns="0" tIns="0" bIns="0">
            <a:spAutoFit/>
          </a:bodyPr>
          <a:lstStyle/>
          <a:p>
            <a:pPr algn="l">
              <a:lnSpc>
                <a:spcPct val="95000"/>
              </a:lnSpc>
              <a:spcAft>
                <a:spcPts val="0"/>
              </a:spcAft>
            </a:pPr>
            <a:r>
              <a:rPr sz="4000" b="1" i="0">
                <a:solidFill>
                  <a:srgbClr val="0F2A35"/>
                </a:solidFill>
                <a:latin typeface="Cambria"/>
              </a:rPr>
              <a:t>46,445</a:t>
            </a:r>
          </a:p>
        </p:txBody>
      </p:sp>
      <p:sp>
        <p:nvSpPr>
          <p:cNvPr id="10" name="TextBox 9"/>
          <p:cNvSpPr txBox="1"/>
          <p:nvPr/>
        </p:nvSpPr>
        <p:spPr>
          <a:xfrm>
            <a:off x="6949440" y="3152648"/>
            <a:ext cx="4206240" cy="640080"/>
          </a:xfrm>
          <a:prstGeom prst="rect">
            <a:avLst/>
          </a:prstGeom>
          <a:noFill/>
        </p:spPr>
        <p:txBody>
          <a:bodyPr wrap="square" anchor="t" lIns="0" rIns="0" tIns="0" bIns="0">
            <a:spAutoFit/>
          </a:bodyPr>
          <a:lstStyle/>
          <a:p>
            <a:pPr algn="l">
              <a:lnSpc>
                <a:spcPct val="120000"/>
              </a:lnSpc>
              <a:spcAft>
                <a:spcPts val="0"/>
              </a:spcAft>
            </a:pPr>
            <a:r>
              <a:rPr sz="1250" b="0" i="0">
                <a:solidFill>
                  <a:srgbClr val="6B7C85"/>
                </a:solidFill>
                <a:latin typeface="Calibri"/>
              </a:rPr>
              <a:t>map squares, five kilometres across</a:t>
            </a:r>
          </a:p>
        </p:txBody>
      </p:sp>
      <p:sp>
        <p:nvSpPr>
          <p:cNvPr id="11" name="TextBox 10"/>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6B7C85"/>
                </a:solidFill>
                <a:latin typeface="Calibri"/>
              </a:rPr>
              <a:t>Harsh Rastogi</a:t>
            </a:r>
          </a:p>
        </p:txBody>
      </p:sp>
      <p:sp>
        <p:nvSpPr>
          <p:cNvPr id="12" name="TextBox 11"/>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6B7C85"/>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822960" y="310896"/>
            <a:ext cx="106070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C8552F"/>
                </a:solidFill>
                <a:latin typeface="Calibri"/>
              </a:rPr>
              <a:t>WHY IT MATTERS</a:t>
            </a:r>
          </a:p>
        </p:txBody>
      </p:sp>
      <p:sp>
        <p:nvSpPr>
          <p:cNvPr id="3" name="TextBox 2"/>
          <p:cNvSpPr txBox="1"/>
          <p:nvPr/>
        </p:nvSpPr>
        <p:spPr>
          <a:xfrm>
            <a:off x="822960" y="566928"/>
            <a:ext cx="10607040" cy="914400"/>
          </a:xfrm>
          <a:prstGeom prst="rect">
            <a:avLst/>
          </a:prstGeom>
          <a:noFill/>
        </p:spPr>
        <p:txBody>
          <a:bodyPr wrap="square" anchor="t" lIns="0" rIns="0" tIns="0" bIns="0">
            <a:spAutoFit/>
          </a:bodyPr>
          <a:lstStyle/>
          <a:p>
            <a:pPr algn="l">
              <a:lnSpc>
                <a:spcPct val="105000"/>
              </a:lnSpc>
              <a:spcAft>
                <a:spcPts val="0"/>
              </a:spcAft>
            </a:pPr>
            <a:r>
              <a:rPr sz="3400" b="1" i="0">
                <a:solidFill>
                  <a:srgbClr val="0F2A35"/>
                </a:solidFill>
                <a:latin typeface="Cambria"/>
              </a:rPr>
              <a:t>A fire in June and a fire in October are different events.</a:t>
            </a:r>
          </a:p>
        </p:txBody>
      </p:sp>
      <p:sp>
        <p:nvSpPr>
          <p:cNvPr id="4" name="Rounded Rectangle 3"/>
          <p:cNvSpPr/>
          <p:nvPr/>
        </p:nvSpPr>
        <p:spPr>
          <a:xfrm>
            <a:off x="822960" y="1627632"/>
            <a:ext cx="4983480" cy="157276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207008" y="1901952"/>
            <a:ext cx="182880" cy="182880"/>
          </a:xfrm>
          <a:prstGeom prst="roundRect">
            <a:avLst>
              <a:gd name="adj" fmla="val 18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536192" y="1856231"/>
            <a:ext cx="3931920" cy="320040"/>
          </a:xfrm>
          <a:prstGeom prst="rect">
            <a:avLst/>
          </a:prstGeom>
          <a:noFill/>
        </p:spPr>
        <p:txBody>
          <a:bodyPr wrap="square" anchor="t" lIns="0" rIns="0" tIns="0" bIns="0">
            <a:spAutoFit/>
          </a:bodyPr>
          <a:lstStyle/>
          <a:p>
            <a:pPr algn="l">
              <a:lnSpc>
                <a:spcPct val="125000"/>
              </a:lnSpc>
              <a:spcAft>
                <a:spcPts val="0"/>
              </a:spcAft>
            </a:pPr>
            <a:r>
              <a:rPr sz="1700" b="1" i="0">
                <a:solidFill>
                  <a:srgbClr val="2E7D5B"/>
                </a:solidFill>
                <a:latin typeface="Cambria"/>
              </a:rPr>
              <a:t>Before August</a:t>
            </a:r>
          </a:p>
        </p:txBody>
      </p:sp>
      <p:sp>
        <p:nvSpPr>
          <p:cNvPr id="7" name="TextBox 6"/>
          <p:cNvSpPr txBox="1"/>
          <p:nvPr/>
        </p:nvSpPr>
        <p:spPr>
          <a:xfrm>
            <a:off x="1207008" y="2304288"/>
            <a:ext cx="4279392" cy="822960"/>
          </a:xfrm>
          <a:prstGeom prst="rect">
            <a:avLst/>
          </a:prstGeom>
          <a:noFill/>
        </p:spPr>
        <p:txBody>
          <a:bodyPr wrap="square" anchor="t" lIns="0" rIns="0" tIns="0" bIns="0">
            <a:spAutoFit/>
          </a:bodyPr>
          <a:lstStyle/>
          <a:p>
            <a:pPr algn="l">
              <a:lnSpc>
                <a:spcPct val="138000"/>
              </a:lnSpc>
              <a:spcAft>
                <a:spcPts val="0"/>
              </a:spcAft>
            </a:pPr>
            <a:r>
              <a:rPr sz="1300" b="0" i="0">
                <a:solidFill>
                  <a:srgbClr val="0F2A35"/>
                </a:solidFill>
                <a:latin typeface="Calibri"/>
              </a:rPr>
              <a:t>The country is still damp from the wet. Fires are cool, they creep, and they leave a patchwork. Rangers light these deliberately to break up the fuel.</a:t>
            </a:r>
          </a:p>
        </p:txBody>
      </p:sp>
      <p:sp>
        <p:nvSpPr>
          <p:cNvPr id="8" name="Rounded Rectangle 7"/>
          <p:cNvSpPr/>
          <p:nvPr/>
        </p:nvSpPr>
        <p:spPr>
          <a:xfrm>
            <a:off x="6355080" y="1627632"/>
            <a:ext cx="4983480" cy="157276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6739128" y="1901952"/>
            <a:ext cx="182880" cy="182880"/>
          </a:xfrm>
          <a:prstGeom prst="roundRect">
            <a:avLst>
              <a:gd name="adj" fmla="val 18000"/>
            </a:avLst>
          </a:prstGeom>
          <a:solidFill>
            <a:srgbClr val="C85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068312" y="1856231"/>
            <a:ext cx="3931920" cy="320040"/>
          </a:xfrm>
          <a:prstGeom prst="rect">
            <a:avLst/>
          </a:prstGeom>
          <a:noFill/>
        </p:spPr>
        <p:txBody>
          <a:bodyPr wrap="square" anchor="t" lIns="0" rIns="0" tIns="0" bIns="0">
            <a:spAutoFit/>
          </a:bodyPr>
          <a:lstStyle/>
          <a:p>
            <a:pPr algn="l">
              <a:lnSpc>
                <a:spcPct val="125000"/>
              </a:lnSpc>
              <a:spcAft>
                <a:spcPts val="0"/>
              </a:spcAft>
            </a:pPr>
            <a:r>
              <a:rPr sz="1700" b="1" i="0">
                <a:solidFill>
                  <a:srgbClr val="C8552F"/>
                </a:solidFill>
                <a:latin typeface="Cambria"/>
              </a:rPr>
              <a:t>After July</a:t>
            </a:r>
          </a:p>
        </p:txBody>
      </p:sp>
      <p:sp>
        <p:nvSpPr>
          <p:cNvPr id="11" name="TextBox 10"/>
          <p:cNvSpPr txBox="1"/>
          <p:nvPr/>
        </p:nvSpPr>
        <p:spPr>
          <a:xfrm>
            <a:off x="6739128" y="2304288"/>
            <a:ext cx="4279392" cy="822960"/>
          </a:xfrm>
          <a:prstGeom prst="rect">
            <a:avLst/>
          </a:prstGeom>
          <a:noFill/>
        </p:spPr>
        <p:txBody>
          <a:bodyPr wrap="square" anchor="t" lIns="0" rIns="0" tIns="0" bIns="0">
            <a:spAutoFit/>
          </a:bodyPr>
          <a:lstStyle/>
          <a:p>
            <a:pPr algn="l">
              <a:lnSpc>
                <a:spcPct val="138000"/>
              </a:lnSpc>
              <a:spcAft>
                <a:spcPts val="0"/>
              </a:spcAft>
            </a:pPr>
            <a:r>
              <a:rPr sz="1300" b="0" i="0">
                <a:solidFill>
                  <a:srgbClr val="0F2A35"/>
                </a:solidFill>
                <a:latin typeface="Calibri"/>
              </a:rPr>
              <a:t>The grass has cured. Fires run with the wind, burn hot enough to kill canopy, and take out fences, stock and country in a single afternoon.</a:t>
            </a:r>
          </a:p>
        </p:txBody>
      </p:sp>
      <p:pic>
        <p:nvPicPr>
          <p:cNvPr id="12" name="Picture 11" descr="deck_suppression.png"/>
          <p:cNvPicPr>
            <a:picLocks noChangeAspect="1"/>
          </p:cNvPicPr>
          <p:nvPr/>
        </p:nvPicPr>
        <p:blipFill>
          <a:blip r:embed="rId3"/>
          <a:stretch>
            <a:fillRect/>
          </a:stretch>
        </p:blipFill>
        <p:spPr>
          <a:xfrm>
            <a:off x="822960" y="3456432"/>
            <a:ext cx="4735461" cy="2377440"/>
          </a:xfrm>
          <a:prstGeom prst="rect">
            <a:avLst/>
          </a:prstGeom>
        </p:spPr>
      </p:pic>
      <p:sp>
        <p:nvSpPr>
          <p:cNvPr id="13" name="TextBox 12"/>
          <p:cNvSpPr txBox="1"/>
          <p:nvPr/>
        </p:nvSpPr>
        <p:spPr>
          <a:xfrm>
            <a:off x="7772400" y="3611880"/>
            <a:ext cx="3566160" cy="2011680"/>
          </a:xfrm>
          <a:prstGeom prst="rect">
            <a:avLst/>
          </a:prstGeom>
          <a:noFill/>
        </p:spPr>
        <p:txBody>
          <a:bodyPr wrap="square" anchor="t" lIns="0" rIns="0" tIns="0" bIns="0">
            <a:spAutoFit/>
          </a:bodyPr>
          <a:lstStyle/>
          <a:p>
            <a:pPr algn="l">
              <a:lnSpc>
                <a:spcPct val="142000"/>
              </a:lnSpc>
              <a:spcAft>
                <a:spcPts val="700"/>
              </a:spcAft>
            </a:pPr>
            <a:r>
              <a:rPr sz="1500" b="1" i="0">
                <a:solidFill>
                  <a:srgbClr val="0F2A35"/>
                </a:solidFill>
                <a:latin typeface="Cambria"/>
              </a:rPr>
              <a:t>And it compounds.</a:t>
            </a:r>
          </a:p>
          <a:p>
            <a:pPr algn="l">
              <a:lnSpc>
                <a:spcPct val="142000"/>
              </a:lnSpc>
              <a:spcAft>
                <a:spcPts val="700"/>
              </a:spcAft>
            </a:pPr>
            <a:r>
              <a:rPr sz="1250" b="0" i="0">
                <a:solidFill>
                  <a:srgbClr val="0F2A35"/>
                </a:solidFill>
                <a:latin typeface="Calibri"/>
              </a:rPr>
              <a:t>In the Top End, country burned early is far less likely to carry a late fire the next year — 20.1% against 31.9% for country left alone. Territory-wide the comparison reverses, because the arid south burns on a different clock. One number for the whole map would have hidden both facts.</a:t>
            </a:r>
          </a:p>
        </p:txBody>
      </p:sp>
      <p:sp>
        <p:nvSpPr>
          <p:cNvPr id="14" name="TextBox 13"/>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6B7C85"/>
                </a:solidFill>
                <a:latin typeface="Calibri"/>
              </a:rPr>
              <a:t>Harsh Rastogi</a:t>
            </a:r>
          </a:p>
        </p:txBody>
      </p:sp>
      <p:sp>
        <p:nvSpPr>
          <p:cNvPr id="15" name="TextBox 14"/>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6B7C85"/>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2A35"/>
        </a:solidFill>
        <a:effectLst/>
      </p:bgPr>
    </p:bg>
    <p:spTree>
      <p:nvGrpSpPr>
        <p:cNvPr id="1" name=""/>
        <p:cNvGrpSpPr/>
        <p:nvPr/>
      </p:nvGrpSpPr>
      <p:grpSpPr/>
      <p:sp>
        <p:nvSpPr>
          <p:cNvPr id="2" name="TextBox 1"/>
          <p:cNvSpPr txBox="1"/>
          <p:nvPr/>
        </p:nvSpPr>
        <p:spPr>
          <a:xfrm>
            <a:off x="822960" y="1298448"/>
            <a:ext cx="106070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E0835C"/>
                </a:solidFill>
                <a:latin typeface="Calibri"/>
              </a:rPr>
              <a:t>THE QUESTION WE SET</a:t>
            </a:r>
          </a:p>
        </p:txBody>
      </p:sp>
      <p:sp>
        <p:nvSpPr>
          <p:cNvPr id="3" name="TextBox 2"/>
          <p:cNvSpPr txBox="1"/>
          <p:nvPr/>
        </p:nvSpPr>
        <p:spPr>
          <a:xfrm>
            <a:off x="822960" y="1627632"/>
            <a:ext cx="10241280" cy="914400"/>
          </a:xfrm>
          <a:prstGeom prst="rect">
            <a:avLst/>
          </a:prstGeom>
          <a:noFill/>
        </p:spPr>
        <p:txBody>
          <a:bodyPr wrap="square" anchor="t" lIns="0" rIns="0" tIns="0" bIns="0">
            <a:spAutoFit/>
          </a:bodyPr>
          <a:lstStyle/>
          <a:p>
            <a:pPr algn="l">
              <a:lnSpc>
                <a:spcPct val="108000"/>
              </a:lnSpc>
              <a:spcAft>
                <a:spcPts val="0"/>
              </a:spcAft>
            </a:pPr>
            <a:r>
              <a:rPr sz="3400" b="1" i="0">
                <a:solidFill>
                  <a:srgbClr val="FFFFFF"/>
                </a:solidFill>
                <a:latin typeface="Cambria"/>
              </a:rPr>
              <a:t>For every square, for every year: which of three?</a:t>
            </a:r>
          </a:p>
        </p:txBody>
      </p:sp>
      <p:sp>
        <p:nvSpPr>
          <p:cNvPr id="4" name="Rounded Rectangle 3"/>
          <p:cNvSpPr/>
          <p:nvPr/>
        </p:nvSpPr>
        <p:spPr>
          <a:xfrm>
            <a:off x="822960" y="2962656"/>
            <a:ext cx="201168" cy="201168"/>
          </a:xfrm>
          <a:prstGeom prst="roundRect">
            <a:avLst>
              <a:gd name="adj" fmla="val 18000"/>
            </a:avLst>
          </a:prstGeom>
          <a:solidFill>
            <a:srgbClr val="9AA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298448" y="2880360"/>
            <a:ext cx="2194560" cy="365760"/>
          </a:xfrm>
          <a:prstGeom prst="rect">
            <a:avLst/>
          </a:prstGeom>
          <a:noFill/>
        </p:spPr>
        <p:txBody>
          <a:bodyPr wrap="square" anchor="t" lIns="0" rIns="0" tIns="0" bIns="0">
            <a:spAutoFit/>
          </a:bodyPr>
          <a:lstStyle/>
          <a:p>
            <a:pPr algn="l">
              <a:lnSpc>
                <a:spcPct val="125000"/>
              </a:lnSpc>
              <a:spcAft>
                <a:spcPts val="0"/>
              </a:spcAft>
            </a:pPr>
            <a:r>
              <a:rPr sz="2100" b="1" i="0">
                <a:solidFill>
                  <a:srgbClr val="FFFFFF"/>
                </a:solidFill>
                <a:latin typeface="Cambria"/>
              </a:rPr>
              <a:t>unburnt</a:t>
            </a:r>
          </a:p>
        </p:txBody>
      </p:sp>
      <p:sp>
        <p:nvSpPr>
          <p:cNvPr id="6" name="TextBox 5"/>
          <p:cNvSpPr txBox="1"/>
          <p:nvPr/>
        </p:nvSpPr>
        <p:spPr>
          <a:xfrm>
            <a:off x="3657600" y="2926079"/>
            <a:ext cx="6949440" cy="365760"/>
          </a:xfrm>
          <a:prstGeom prst="rect">
            <a:avLst/>
          </a:prstGeom>
          <a:noFill/>
        </p:spPr>
        <p:txBody>
          <a:bodyPr wrap="square" anchor="t" lIns="0" rIns="0" tIns="0" bIns="0">
            <a:spAutoFit/>
          </a:bodyPr>
          <a:lstStyle/>
          <a:p>
            <a:pPr algn="l">
              <a:lnSpc>
                <a:spcPct val="125000"/>
              </a:lnSpc>
              <a:spcAft>
                <a:spcPts val="0"/>
              </a:spcAft>
            </a:pPr>
            <a:r>
              <a:rPr sz="1500" b="0" i="0">
                <a:solidFill>
                  <a:srgbClr val="B9CAD2"/>
                </a:solidFill>
                <a:latin typeface="Calibri"/>
              </a:rPr>
              <a:t>no fire detected that year</a:t>
            </a:r>
          </a:p>
        </p:txBody>
      </p:sp>
      <p:sp>
        <p:nvSpPr>
          <p:cNvPr id="7" name="Rounded Rectangle 6"/>
          <p:cNvSpPr/>
          <p:nvPr/>
        </p:nvSpPr>
        <p:spPr>
          <a:xfrm>
            <a:off x="822960" y="3712463"/>
            <a:ext cx="201168" cy="201168"/>
          </a:xfrm>
          <a:prstGeom prst="roundRect">
            <a:avLst>
              <a:gd name="adj" fmla="val 18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8448" y="3630168"/>
            <a:ext cx="2194560" cy="365760"/>
          </a:xfrm>
          <a:prstGeom prst="rect">
            <a:avLst/>
          </a:prstGeom>
          <a:noFill/>
        </p:spPr>
        <p:txBody>
          <a:bodyPr wrap="square" anchor="t" lIns="0" rIns="0" tIns="0" bIns="0">
            <a:spAutoFit/>
          </a:bodyPr>
          <a:lstStyle/>
          <a:p>
            <a:pPr algn="l">
              <a:lnSpc>
                <a:spcPct val="125000"/>
              </a:lnSpc>
              <a:spcAft>
                <a:spcPts val="0"/>
              </a:spcAft>
            </a:pPr>
            <a:r>
              <a:rPr sz="2100" b="1" i="0">
                <a:solidFill>
                  <a:srgbClr val="FFFFFF"/>
                </a:solidFill>
                <a:latin typeface="Cambria"/>
              </a:rPr>
              <a:t>early</a:t>
            </a:r>
          </a:p>
        </p:txBody>
      </p:sp>
      <p:sp>
        <p:nvSpPr>
          <p:cNvPr id="9" name="TextBox 8"/>
          <p:cNvSpPr txBox="1"/>
          <p:nvPr/>
        </p:nvSpPr>
        <p:spPr>
          <a:xfrm>
            <a:off x="3657600" y="3675887"/>
            <a:ext cx="6949440" cy="365760"/>
          </a:xfrm>
          <a:prstGeom prst="rect">
            <a:avLst/>
          </a:prstGeom>
          <a:noFill/>
        </p:spPr>
        <p:txBody>
          <a:bodyPr wrap="square" anchor="t" lIns="0" rIns="0" tIns="0" bIns="0">
            <a:spAutoFit/>
          </a:bodyPr>
          <a:lstStyle/>
          <a:p>
            <a:pPr algn="l">
              <a:lnSpc>
                <a:spcPct val="125000"/>
              </a:lnSpc>
              <a:spcAft>
                <a:spcPts val="0"/>
              </a:spcAft>
            </a:pPr>
            <a:r>
              <a:rPr sz="1500" b="0" i="0">
                <a:solidFill>
                  <a:srgbClr val="B9CAD2"/>
                </a:solidFill>
                <a:latin typeface="Calibri"/>
              </a:rPr>
              <a:t>first detected on or before 31 July</a:t>
            </a:r>
          </a:p>
        </p:txBody>
      </p:sp>
      <p:sp>
        <p:nvSpPr>
          <p:cNvPr id="10" name="Rounded Rectangle 9"/>
          <p:cNvSpPr/>
          <p:nvPr/>
        </p:nvSpPr>
        <p:spPr>
          <a:xfrm>
            <a:off x="822960" y="4462272"/>
            <a:ext cx="201168" cy="201168"/>
          </a:xfrm>
          <a:prstGeom prst="roundRect">
            <a:avLst>
              <a:gd name="adj" fmla="val 18000"/>
            </a:avLst>
          </a:prstGeom>
          <a:solidFill>
            <a:srgbClr val="C85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8448" y="4379976"/>
            <a:ext cx="2194560" cy="365760"/>
          </a:xfrm>
          <a:prstGeom prst="rect">
            <a:avLst/>
          </a:prstGeom>
          <a:noFill/>
        </p:spPr>
        <p:txBody>
          <a:bodyPr wrap="square" anchor="t" lIns="0" rIns="0" tIns="0" bIns="0">
            <a:spAutoFit/>
          </a:bodyPr>
          <a:lstStyle/>
          <a:p>
            <a:pPr algn="l">
              <a:lnSpc>
                <a:spcPct val="125000"/>
              </a:lnSpc>
              <a:spcAft>
                <a:spcPts val="0"/>
              </a:spcAft>
            </a:pPr>
            <a:r>
              <a:rPr sz="2100" b="1" i="0">
                <a:solidFill>
                  <a:srgbClr val="FFFFFF"/>
                </a:solidFill>
                <a:latin typeface="Cambria"/>
              </a:rPr>
              <a:t>late</a:t>
            </a:r>
          </a:p>
        </p:txBody>
      </p:sp>
      <p:sp>
        <p:nvSpPr>
          <p:cNvPr id="12" name="TextBox 11"/>
          <p:cNvSpPr txBox="1"/>
          <p:nvPr/>
        </p:nvSpPr>
        <p:spPr>
          <a:xfrm>
            <a:off x="3657600" y="4425696"/>
            <a:ext cx="6949440" cy="365760"/>
          </a:xfrm>
          <a:prstGeom prst="rect">
            <a:avLst/>
          </a:prstGeom>
          <a:noFill/>
        </p:spPr>
        <p:txBody>
          <a:bodyPr wrap="square" anchor="t" lIns="0" rIns="0" tIns="0" bIns="0">
            <a:spAutoFit/>
          </a:bodyPr>
          <a:lstStyle/>
          <a:p>
            <a:pPr algn="l">
              <a:lnSpc>
                <a:spcPct val="125000"/>
              </a:lnSpc>
              <a:spcAft>
                <a:spcPts val="0"/>
              </a:spcAft>
            </a:pPr>
            <a:r>
              <a:rPr sz="1500" b="0" i="0">
                <a:solidFill>
                  <a:srgbClr val="B9CAD2"/>
                </a:solidFill>
                <a:latin typeface="Calibri"/>
              </a:rPr>
              <a:t>first detected after 31 July</a:t>
            </a:r>
          </a:p>
        </p:txBody>
      </p:sp>
      <p:sp>
        <p:nvSpPr>
          <p:cNvPr id="13" name="TextBox 12"/>
          <p:cNvSpPr txBox="1"/>
          <p:nvPr/>
        </p:nvSpPr>
        <p:spPr>
          <a:xfrm>
            <a:off x="822960" y="5413248"/>
            <a:ext cx="9692640" cy="548640"/>
          </a:xfrm>
          <a:prstGeom prst="rect">
            <a:avLst/>
          </a:prstGeom>
          <a:noFill/>
        </p:spPr>
        <p:txBody>
          <a:bodyPr wrap="square" anchor="t" lIns="0" rIns="0" tIns="0" bIns="0">
            <a:spAutoFit/>
          </a:bodyPr>
          <a:lstStyle/>
          <a:p>
            <a:pPr algn="l">
              <a:lnSpc>
                <a:spcPct val="140000"/>
              </a:lnSpc>
              <a:spcAft>
                <a:spcPts val="0"/>
              </a:spcAft>
            </a:pPr>
            <a:r>
              <a:rPr sz="1300" b="0" i="0">
                <a:solidFill>
                  <a:srgbClr val="B9CAD2"/>
                </a:solidFill>
                <a:latin typeface="Calibri"/>
              </a:rPr>
              <a:t>The 31 July line is the one the Territory's own fire management uses, so the classes mean something to the people who would act on them.</a:t>
            </a:r>
          </a:p>
        </p:txBody>
      </p:sp>
      <p:sp>
        <p:nvSpPr>
          <p:cNvPr id="14" name="TextBox 13"/>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B9CAD2"/>
                </a:solidFill>
                <a:latin typeface="Calibri"/>
              </a:rPr>
              <a:t>Harsh Rastogi</a:t>
            </a:r>
          </a:p>
        </p:txBody>
      </p:sp>
      <p:sp>
        <p:nvSpPr>
          <p:cNvPr id="15" name="TextBox 14"/>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B9CAD2"/>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822960" y="310896"/>
            <a:ext cx="106070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C8552F"/>
                </a:solidFill>
                <a:latin typeface="Calibri"/>
              </a:rPr>
              <a:t>THE DATA</a:t>
            </a:r>
          </a:p>
        </p:txBody>
      </p:sp>
      <p:sp>
        <p:nvSpPr>
          <p:cNvPr id="3" name="TextBox 2"/>
          <p:cNvSpPr txBox="1"/>
          <p:nvPr/>
        </p:nvSpPr>
        <p:spPr>
          <a:xfrm>
            <a:off x="822960" y="566928"/>
            <a:ext cx="10607040" cy="914400"/>
          </a:xfrm>
          <a:prstGeom prst="rect">
            <a:avLst/>
          </a:prstGeom>
          <a:noFill/>
        </p:spPr>
        <p:txBody>
          <a:bodyPr wrap="square" anchor="t" lIns="0" rIns="0" tIns="0" bIns="0">
            <a:spAutoFit/>
          </a:bodyPr>
          <a:lstStyle/>
          <a:p>
            <a:pPr algn="l">
              <a:lnSpc>
                <a:spcPct val="105000"/>
              </a:lnSpc>
              <a:spcAft>
                <a:spcPts val="0"/>
              </a:spcAft>
            </a:pPr>
            <a:r>
              <a:rPr sz="3400" b="1" i="0">
                <a:solidFill>
                  <a:srgbClr val="0F2A35"/>
                </a:solidFill>
                <a:latin typeface="Cambria"/>
              </a:rPr>
              <a:t>Three public sources, joined on one grid.</a:t>
            </a:r>
          </a:p>
        </p:txBody>
      </p:sp>
      <p:sp>
        <p:nvSpPr>
          <p:cNvPr id="4" name="Rounded Rectangle 3"/>
          <p:cNvSpPr/>
          <p:nvPr/>
        </p:nvSpPr>
        <p:spPr>
          <a:xfrm>
            <a:off x="822960" y="1627632"/>
            <a:ext cx="3401568" cy="239572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188720" y="1920240"/>
            <a:ext cx="182880" cy="182880"/>
          </a:xfrm>
          <a:prstGeom prst="roundRect">
            <a:avLst>
              <a:gd name="adj" fmla="val 18000"/>
            </a:avLst>
          </a:prstGeom>
          <a:solidFill>
            <a:srgbClr val="245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88720" y="2249424"/>
            <a:ext cx="2743200" cy="365760"/>
          </a:xfrm>
          <a:prstGeom prst="rect">
            <a:avLst/>
          </a:prstGeom>
          <a:noFill/>
        </p:spPr>
        <p:txBody>
          <a:bodyPr wrap="square" anchor="t" lIns="0" rIns="0" tIns="0" bIns="0">
            <a:spAutoFit/>
          </a:bodyPr>
          <a:lstStyle/>
          <a:p>
            <a:pPr algn="l">
              <a:lnSpc>
                <a:spcPct val="125000"/>
              </a:lnSpc>
              <a:spcAft>
                <a:spcPts val="0"/>
              </a:spcAft>
            </a:pPr>
            <a:r>
              <a:rPr sz="2100" b="1" i="0">
                <a:solidFill>
                  <a:srgbClr val="0F2A35"/>
                </a:solidFill>
                <a:latin typeface="Cambria"/>
              </a:rPr>
              <a:t>NAFI</a:t>
            </a:r>
          </a:p>
        </p:txBody>
      </p:sp>
      <p:sp>
        <p:nvSpPr>
          <p:cNvPr id="7" name="TextBox 6"/>
          <p:cNvSpPr txBox="1"/>
          <p:nvPr/>
        </p:nvSpPr>
        <p:spPr>
          <a:xfrm>
            <a:off x="1188720" y="2615184"/>
            <a:ext cx="2743200" cy="320040"/>
          </a:xfrm>
          <a:prstGeom prst="rect">
            <a:avLst/>
          </a:prstGeom>
          <a:noFill/>
        </p:spPr>
        <p:txBody>
          <a:bodyPr wrap="square" anchor="t" lIns="0" rIns="0" tIns="0" bIns="0">
            <a:spAutoFit/>
          </a:bodyPr>
          <a:lstStyle/>
          <a:p>
            <a:pPr algn="l">
              <a:lnSpc>
                <a:spcPct val="125000"/>
              </a:lnSpc>
              <a:spcAft>
                <a:spcPts val="0"/>
              </a:spcAft>
            </a:pPr>
            <a:r>
              <a:rPr sz="1050" b="0" i="0">
                <a:solidFill>
                  <a:srgbClr val="6B7C85"/>
                </a:solidFill>
                <a:latin typeface="Calibri"/>
              </a:rPr>
              <a:t>North Australian Fire Information</a:t>
            </a:r>
          </a:p>
        </p:txBody>
      </p:sp>
      <p:sp>
        <p:nvSpPr>
          <p:cNvPr id="8" name="TextBox 7"/>
          <p:cNvSpPr txBox="1"/>
          <p:nvPr/>
        </p:nvSpPr>
        <p:spPr>
          <a:xfrm>
            <a:off x="1188720" y="2999232"/>
            <a:ext cx="2697480" cy="914400"/>
          </a:xfrm>
          <a:prstGeom prst="rect">
            <a:avLst/>
          </a:prstGeom>
          <a:noFill/>
        </p:spPr>
        <p:txBody>
          <a:bodyPr wrap="square" anchor="t" lIns="0" rIns="0" tIns="0" bIns="0">
            <a:spAutoFit/>
          </a:bodyPr>
          <a:lstStyle/>
          <a:p>
            <a:pPr algn="l">
              <a:lnSpc>
                <a:spcPct val="140000"/>
              </a:lnSpc>
              <a:spcAft>
                <a:spcPts val="0"/>
              </a:spcAft>
            </a:pPr>
            <a:r>
              <a:rPr sz="1200" b="0" i="0">
                <a:solidFill>
                  <a:srgbClr val="0F2A35"/>
                </a:solidFill>
                <a:latin typeface="Calibri"/>
              </a:rPr>
              <a:t>250 m burnt-area rasters, 2000 to 2025. Each pixel carries the month it was detected — which is what makes an early/late label possible at all.</a:t>
            </a:r>
          </a:p>
        </p:txBody>
      </p:sp>
      <p:sp>
        <p:nvSpPr>
          <p:cNvPr id="9" name="Rounded Rectangle 8"/>
          <p:cNvSpPr/>
          <p:nvPr/>
        </p:nvSpPr>
        <p:spPr>
          <a:xfrm>
            <a:off x="4498848" y="1627632"/>
            <a:ext cx="3401568" cy="239572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4864608" y="1920240"/>
            <a:ext cx="182880" cy="182880"/>
          </a:xfrm>
          <a:prstGeom prst="roundRect">
            <a:avLst>
              <a:gd name="adj" fmla="val 18000"/>
            </a:avLst>
          </a:prstGeom>
          <a:solidFill>
            <a:srgbClr val="C85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864608" y="2249424"/>
            <a:ext cx="2743200" cy="365760"/>
          </a:xfrm>
          <a:prstGeom prst="rect">
            <a:avLst/>
          </a:prstGeom>
          <a:noFill/>
        </p:spPr>
        <p:txBody>
          <a:bodyPr wrap="square" anchor="t" lIns="0" rIns="0" tIns="0" bIns="0">
            <a:spAutoFit/>
          </a:bodyPr>
          <a:lstStyle/>
          <a:p>
            <a:pPr algn="l">
              <a:lnSpc>
                <a:spcPct val="125000"/>
              </a:lnSpc>
              <a:spcAft>
                <a:spcPts val="0"/>
              </a:spcAft>
            </a:pPr>
            <a:r>
              <a:rPr sz="2100" b="1" i="0">
                <a:solidFill>
                  <a:srgbClr val="0F2A35"/>
                </a:solidFill>
                <a:latin typeface="Cambria"/>
              </a:rPr>
              <a:t>SILO</a:t>
            </a:r>
          </a:p>
        </p:txBody>
      </p:sp>
      <p:sp>
        <p:nvSpPr>
          <p:cNvPr id="12" name="TextBox 11"/>
          <p:cNvSpPr txBox="1"/>
          <p:nvPr/>
        </p:nvSpPr>
        <p:spPr>
          <a:xfrm>
            <a:off x="4864608" y="2615184"/>
            <a:ext cx="2743200" cy="320040"/>
          </a:xfrm>
          <a:prstGeom prst="rect">
            <a:avLst/>
          </a:prstGeom>
          <a:noFill/>
        </p:spPr>
        <p:txBody>
          <a:bodyPr wrap="square" anchor="t" lIns="0" rIns="0" tIns="0" bIns="0">
            <a:spAutoFit/>
          </a:bodyPr>
          <a:lstStyle/>
          <a:p>
            <a:pPr algn="l">
              <a:lnSpc>
                <a:spcPct val="125000"/>
              </a:lnSpc>
              <a:spcAft>
                <a:spcPts val="0"/>
              </a:spcAft>
            </a:pPr>
            <a:r>
              <a:rPr sz="1050" b="0" i="0">
                <a:solidFill>
                  <a:srgbClr val="6B7C85"/>
                </a:solidFill>
                <a:latin typeface="Calibri"/>
              </a:rPr>
              <a:t>Queensland Government Data Drill</a:t>
            </a:r>
          </a:p>
        </p:txBody>
      </p:sp>
      <p:sp>
        <p:nvSpPr>
          <p:cNvPr id="13" name="TextBox 12"/>
          <p:cNvSpPr txBox="1"/>
          <p:nvPr/>
        </p:nvSpPr>
        <p:spPr>
          <a:xfrm>
            <a:off x="4864608" y="2999232"/>
            <a:ext cx="2697480" cy="914400"/>
          </a:xfrm>
          <a:prstGeom prst="rect">
            <a:avLst/>
          </a:prstGeom>
          <a:noFill/>
        </p:spPr>
        <p:txBody>
          <a:bodyPr wrap="square" anchor="t" lIns="0" rIns="0" tIns="0" bIns="0">
            <a:spAutoFit/>
          </a:bodyPr>
          <a:lstStyle/>
          <a:p>
            <a:pPr algn="l">
              <a:lnSpc>
                <a:spcPct val="140000"/>
              </a:lnSpc>
              <a:spcAft>
                <a:spcPts val="0"/>
              </a:spcAft>
            </a:pPr>
            <a:r>
              <a:rPr sz="1200" b="0" i="0">
                <a:solidFill>
                  <a:srgbClr val="0F2A35"/>
                </a:solidFill>
                <a:latin typeface="Calibri"/>
              </a:rPr>
              <a:t>Daily rainfall, temperature, humidity and radiation, interpolated from Bureau of Meteorology stations to the same 0.05° grid.</a:t>
            </a:r>
          </a:p>
        </p:txBody>
      </p:sp>
      <p:sp>
        <p:nvSpPr>
          <p:cNvPr id="14" name="Rounded Rectangle 13"/>
          <p:cNvSpPr/>
          <p:nvPr/>
        </p:nvSpPr>
        <p:spPr>
          <a:xfrm>
            <a:off x="8174736" y="1627632"/>
            <a:ext cx="3401568" cy="239572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8540496" y="1920240"/>
            <a:ext cx="182880" cy="182880"/>
          </a:xfrm>
          <a:prstGeom prst="roundRect">
            <a:avLst>
              <a:gd name="adj" fmla="val 18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540496" y="2249424"/>
            <a:ext cx="2743200" cy="365760"/>
          </a:xfrm>
          <a:prstGeom prst="rect">
            <a:avLst/>
          </a:prstGeom>
          <a:noFill/>
        </p:spPr>
        <p:txBody>
          <a:bodyPr wrap="square" anchor="t" lIns="0" rIns="0" tIns="0" bIns="0">
            <a:spAutoFit/>
          </a:bodyPr>
          <a:lstStyle/>
          <a:p>
            <a:pPr algn="l">
              <a:lnSpc>
                <a:spcPct val="125000"/>
              </a:lnSpc>
              <a:spcAft>
                <a:spcPts val="0"/>
              </a:spcAft>
            </a:pPr>
            <a:r>
              <a:rPr sz="2100" b="1" i="0">
                <a:solidFill>
                  <a:srgbClr val="0F2A35"/>
                </a:solidFill>
                <a:latin typeface="Cambria"/>
              </a:rPr>
              <a:t>MODIS</a:t>
            </a:r>
          </a:p>
        </p:txBody>
      </p:sp>
      <p:sp>
        <p:nvSpPr>
          <p:cNvPr id="17" name="TextBox 16"/>
          <p:cNvSpPr txBox="1"/>
          <p:nvPr/>
        </p:nvSpPr>
        <p:spPr>
          <a:xfrm>
            <a:off x="8540496" y="2615184"/>
            <a:ext cx="2743200" cy="320040"/>
          </a:xfrm>
          <a:prstGeom prst="rect">
            <a:avLst/>
          </a:prstGeom>
          <a:noFill/>
        </p:spPr>
        <p:txBody>
          <a:bodyPr wrap="square" anchor="t" lIns="0" rIns="0" tIns="0" bIns="0">
            <a:spAutoFit/>
          </a:bodyPr>
          <a:lstStyle/>
          <a:p>
            <a:pPr algn="l">
              <a:lnSpc>
                <a:spcPct val="125000"/>
              </a:lnSpc>
              <a:spcAft>
                <a:spcPts val="0"/>
              </a:spcAft>
            </a:pPr>
            <a:r>
              <a:rPr sz="1050" b="0" i="0">
                <a:solidFill>
                  <a:srgbClr val="6B7C85"/>
                </a:solidFill>
                <a:latin typeface="Calibri"/>
              </a:rPr>
              <a:t>MOD13Q1 via Google Earth Engine</a:t>
            </a:r>
          </a:p>
        </p:txBody>
      </p:sp>
      <p:sp>
        <p:nvSpPr>
          <p:cNvPr id="18" name="TextBox 17"/>
          <p:cNvSpPr txBox="1"/>
          <p:nvPr/>
        </p:nvSpPr>
        <p:spPr>
          <a:xfrm>
            <a:off x="8540496" y="2999232"/>
            <a:ext cx="2697480" cy="914400"/>
          </a:xfrm>
          <a:prstGeom prst="rect">
            <a:avLst/>
          </a:prstGeom>
          <a:noFill/>
        </p:spPr>
        <p:txBody>
          <a:bodyPr wrap="square" anchor="t" lIns="0" rIns="0" tIns="0" bIns="0">
            <a:spAutoFit/>
          </a:bodyPr>
          <a:lstStyle/>
          <a:p>
            <a:pPr algn="l">
              <a:lnSpc>
                <a:spcPct val="140000"/>
              </a:lnSpc>
              <a:spcAft>
                <a:spcPts val="0"/>
              </a:spcAft>
            </a:pPr>
            <a:r>
              <a:rPr sz="1200" b="0" i="0">
                <a:solidFill>
                  <a:srgbClr val="0F2A35"/>
                </a:solidFill>
                <a:latin typeface="Calibri"/>
              </a:rPr>
              <a:t>Sixteen-day vegetation index. How green the country got over the wet season is how much fuel is standing when the dry arrives.</a:t>
            </a:r>
          </a:p>
        </p:txBody>
      </p:sp>
      <p:sp>
        <p:nvSpPr>
          <p:cNvPr id="19" name="TextBox 18"/>
          <p:cNvSpPr txBox="1"/>
          <p:nvPr/>
        </p:nvSpPr>
        <p:spPr>
          <a:xfrm>
            <a:off x="822960" y="4370832"/>
            <a:ext cx="10515600" cy="365760"/>
          </a:xfrm>
          <a:prstGeom prst="rect">
            <a:avLst/>
          </a:prstGeom>
          <a:noFill/>
        </p:spPr>
        <p:txBody>
          <a:bodyPr wrap="square" anchor="t" lIns="0" rIns="0" tIns="0" bIns="0">
            <a:spAutoFit/>
          </a:bodyPr>
          <a:lstStyle/>
          <a:p>
            <a:pPr algn="l">
              <a:lnSpc>
                <a:spcPct val="140000"/>
              </a:lnSpc>
              <a:spcAft>
                <a:spcPts val="0"/>
              </a:spcAft>
            </a:pPr>
            <a:r>
              <a:rPr sz="1350" b="0" i="0">
                <a:solidFill>
                  <a:srgbClr val="0F2A35"/>
                </a:solidFill>
                <a:latin typeface="Calibri"/>
              </a:rPr>
              <a:t>All three are open data, used under their own licences and cited in the report. </a:t>
            </a:r>
            <a:r>
              <a:rPr sz="1350" b="1" i="0">
                <a:solidFill>
                  <a:srgbClr val="0F2A35"/>
                </a:solidFill>
                <a:latin typeface="Calibri"/>
              </a:rPr>
              <a:t>Nothing in this project sits behind a login.</a:t>
            </a:r>
          </a:p>
        </p:txBody>
      </p:sp>
      <p:sp>
        <p:nvSpPr>
          <p:cNvPr id="20" name="TextBox 19"/>
          <p:cNvSpPr txBox="1"/>
          <p:nvPr/>
        </p:nvSpPr>
        <p:spPr>
          <a:xfrm>
            <a:off x="822960" y="4892040"/>
            <a:ext cx="2560320" cy="777240"/>
          </a:xfrm>
          <a:prstGeom prst="rect">
            <a:avLst/>
          </a:prstGeom>
          <a:noFill/>
        </p:spPr>
        <p:txBody>
          <a:bodyPr wrap="square" anchor="t" lIns="0" rIns="0" tIns="0" bIns="0">
            <a:spAutoFit/>
          </a:bodyPr>
          <a:lstStyle/>
          <a:p>
            <a:pPr algn="l">
              <a:lnSpc>
                <a:spcPct val="95000"/>
              </a:lnSpc>
              <a:spcAft>
                <a:spcPts val="0"/>
              </a:spcAft>
            </a:pPr>
            <a:r>
              <a:rPr sz="2600" b="1" i="0">
                <a:solidFill>
                  <a:srgbClr val="0F2A35"/>
                </a:solidFill>
                <a:latin typeface="Cambria"/>
              </a:rPr>
              <a:t>0.05°</a:t>
            </a:r>
          </a:p>
        </p:txBody>
      </p:sp>
      <p:sp>
        <p:nvSpPr>
          <p:cNvPr id="21" name="TextBox 20"/>
          <p:cNvSpPr txBox="1"/>
          <p:nvPr/>
        </p:nvSpPr>
        <p:spPr>
          <a:xfrm>
            <a:off x="822960" y="5260594"/>
            <a:ext cx="2560320" cy="640080"/>
          </a:xfrm>
          <a:prstGeom prst="rect">
            <a:avLst/>
          </a:prstGeom>
          <a:noFill/>
        </p:spPr>
        <p:txBody>
          <a:bodyPr wrap="square" anchor="t" lIns="0" rIns="0" tIns="0" bIns="0">
            <a:spAutoFit/>
          </a:bodyPr>
          <a:lstStyle/>
          <a:p>
            <a:pPr algn="l">
              <a:lnSpc>
                <a:spcPct val="120000"/>
              </a:lnSpc>
              <a:spcAft>
                <a:spcPts val="0"/>
              </a:spcAft>
            </a:pPr>
            <a:r>
              <a:rPr sz="1150" b="0" i="0">
                <a:solidFill>
                  <a:srgbClr val="6B7C85"/>
                </a:solidFill>
                <a:latin typeface="Calibri"/>
              </a:rPr>
              <a:t>grid cell, about 5 km</a:t>
            </a:r>
          </a:p>
        </p:txBody>
      </p:sp>
      <p:sp>
        <p:nvSpPr>
          <p:cNvPr id="22" name="TextBox 21"/>
          <p:cNvSpPr txBox="1"/>
          <p:nvPr/>
        </p:nvSpPr>
        <p:spPr>
          <a:xfrm>
            <a:off x="3566160" y="4892040"/>
            <a:ext cx="2560320" cy="777240"/>
          </a:xfrm>
          <a:prstGeom prst="rect">
            <a:avLst/>
          </a:prstGeom>
          <a:noFill/>
        </p:spPr>
        <p:txBody>
          <a:bodyPr wrap="square" anchor="t" lIns="0" rIns="0" tIns="0" bIns="0">
            <a:spAutoFit/>
          </a:bodyPr>
          <a:lstStyle/>
          <a:p>
            <a:pPr algn="l">
              <a:lnSpc>
                <a:spcPct val="95000"/>
              </a:lnSpc>
              <a:spcAft>
                <a:spcPts val="0"/>
              </a:spcAft>
            </a:pPr>
            <a:r>
              <a:rPr sz="2600" b="1" i="0">
                <a:solidFill>
                  <a:srgbClr val="0F2A35"/>
                </a:solidFill>
                <a:latin typeface="Cambria"/>
              </a:rPr>
              <a:t>2000–2025</a:t>
            </a:r>
          </a:p>
        </p:txBody>
      </p:sp>
      <p:sp>
        <p:nvSpPr>
          <p:cNvPr id="23" name="TextBox 22"/>
          <p:cNvSpPr txBox="1"/>
          <p:nvPr/>
        </p:nvSpPr>
        <p:spPr>
          <a:xfrm>
            <a:off x="3566160" y="5260594"/>
            <a:ext cx="2560320" cy="640080"/>
          </a:xfrm>
          <a:prstGeom prst="rect">
            <a:avLst/>
          </a:prstGeom>
          <a:noFill/>
        </p:spPr>
        <p:txBody>
          <a:bodyPr wrap="square" anchor="t" lIns="0" rIns="0" tIns="0" bIns="0">
            <a:spAutoFit/>
          </a:bodyPr>
          <a:lstStyle/>
          <a:p>
            <a:pPr algn="l">
              <a:lnSpc>
                <a:spcPct val="120000"/>
              </a:lnSpc>
              <a:spcAft>
                <a:spcPts val="0"/>
              </a:spcAft>
            </a:pPr>
            <a:r>
              <a:rPr sz="1150" b="0" i="0">
                <a:solidFill>
                  <a:srgbClr val="6B7C85"/>
                </a:solidFill>
                <a:latin typeface="Calibri"/>
              </a:rPr>
              <a:t>years of fire record</a:t>
            </a:r>
          </a:p>
        </p:txBody>
      </p:sp>
      <p:sp>
        <p:nvSpPr>
          <p:cNvPr id="24" name="TextBox 23"/>
          <p:cNvSpPr txBox="1"/>
          <p:nvPr/>
        </p:nvSpPr>
        <p:spPr>
          <a:xfrm>
            <a:off x="6309360" y="4892040"/>
            <a:ext cx="2560320" cy="777240"/>
          </a:xfrm>
          <a:prstGeom prst="rect">
            <a:avLst/>
          </a:prstGeom>
          <a:noFill/>
        </p:spPr>
        <p:txBody>
          <a:bodyPr wrap="square" anchor="t" lIns="0" rIns="0" tIns="0" bIns="0">
            <a:spAutoFit/>
          </a:bodyPr>
          <a:lstStyle/>
          <a:p>
            <a:pPr algn="l">
              <a:lnSpc>
                <a:spcPct val="95000"/>
              </a:lnSpc>
              <a:spcAft>
                <a:spcPts val="0"/>
              </a:spcAft>
            </a:pPr>
            <a:r>
              <a:rPr sz="2600" b="1" i="0">
                <a:solidFill>
                  <a:srgbClr val="0F2A35"/>
                </a:solidFill>
                <a:latin typeface="Cambria"/>
              </a:rPr>
              <a:t>50</a:t>
            </a:r>
          </a:p>
        </p:txBody>
      </p:sp>
      <p:sp>
        <p:nvSpPr>
          <p:cNvPr id="25" name="TextBox 24"/>
          <p:cNvSpPr txBox="1"/>
          <p:nvPr/>
        </p:nvSpPr>
        <p:spPr>
          <a:xfrm>
            <a:off x="6309360" y="5260594"/>
            <a:ext cx="2560320" cy="640080"/>
          </a:xfrm>
          <a:prstGeom prst="rect">
            <a:avLst/>
          </a:prstGeom>
          <a:noFill/>
        </p:spPr>
        <p:txBody>
          <a:bodyPr wrap="square" anchor="t" lIns="0" rIns="0" tIns="0" bIns="0">
            <a:spAutoFit/>
          </a:bodyPr>
          <a:lstStyle/>
          <a:p>
            <a:pPr algn="l">
              <a:lnSpc>
                <a:spcPct val="120000"/>
              </a:lnSpc>
              <a:spcAft>
                <a:spcPts val="0"/>
              </a:spcAft>
            </a:pPr>
            <a:r>
              <a:rPr sz="1150" b="0" i="0">
                <a:solidFill>
                  <a:srgbClr val="6B7C85"/>
                </a:solidFill>
                <a:latin typeface="Calibri"/>
              </a:rPr>
              <a:t>features per square-year</a:t>
            </a:r>
          </a:p>
        </p:txBody>
      </p:sp>
      <p:sp>
        <p:nvSpPr>
          <p:cNvPr id="26" name="TextBox 25"/>
          <p:cNvSpPr txBox="1"/>
          <p:nvPr/>
        </p:nvSpPr>
        <p:spPr>
          <a:xfrm>
            <a:off x="9052560" y="4892040"/>
            <a:ext cx="2560320" cy="777240"/>
          </a:xfrm>
          <a:prstGeom prst="rect">
            <a:avLst/>
          </a:prstGeom>
          <a:noFill/>
        </p:spPr>
        <p:txBody>
          <a:bodyPr wrap="square" anchor="t" lIns="0" rIns="0" tIns="0" bIns="0">
            <a:spAutoFit/>
          </a:bodyPr>
          <a:lstStyle/>
          <a:p>
            <a:pPr algn="l">
              <a:lnSpc>
                <a:spcPct val="95000"/>
              </a:lnSpc>
              <a:spcAft>
                <a:spcPts val="0"/>
              </a:spcAft>
            </a:pPr>
            <a:r>
              <a:rPr sz="2600" b="1" i="0">
                <a:solidFill>
                  <a:srgbClr val="0F2A35"/>
                </a:solidFill>
                <a:latin typeface="Cambria"/>
              </a:rPr>
              <a:t>966,819</a:t>
            </a:r>
          </a:p>
        </p:txBody>
      </p:sp>
      <p:sp>
        <p:nvSpPr>
          <p:cNvPr id="27" name="TextBox 26"/>
          <p:cNvSpPr txBox="1"/>
          <p:nvPr/>
        </p:nvSpPr>
        <p:spPr>
          <a:xfrm>
            <a:off x="9052560" y="5260594"/>
            <a:ext cx="2560320" cy="640080"/>
          </a:xfrm>
          <a:prstGeom prst="rect">
            <a:avLst/>
          </a:prstGeom>
          <a:noFill/>
        </p:spPr>
        <p:txBody>
          <a:bodyPr wrap="square" anchor="t" lIns="0" rIns="0" tIns="0" bIns="0">
            <a:spAutoFit/>
          </a:bodyPr>
          <a:lstStyle/>
          <a:p>
            <a:pPr algn="l">
              <a:lnSpc>
                <a:spcPct val="120000"/>
              </a:lnSpc>
              <a:spcAft>
                <a:spcPts val="0"/>
              </a:spcAft>
            </a:pPr>
            <a:r>
              <a:rPr sz="1150" b="0" i="0">
                <a:solidFill>
                  <a:srgbClr val="6B7C85"/>
                </a:solidFill>
                <a:latin typeface="Calibri"/>
              </a:rPr>
              <a:t>rows used for modelling</a:t>
            </a:r>
          </a:p>
        </p:txBody>
      </p:sp>
      <p:sp>
        <p:nvSpPr>
          <p:cNvPr id="28" name="TextBox 27"/>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6B7C85"/>
                </a:solidFill>
                <a:latin typeface="Calibri"/>
              </a:rPr>
              <a:t>Harsh Rastogi</a:t>
            </a:r>
          </a:p>
        </p:txBody>
      </p:sp>
      <p:sp>
        <p:nvSpPr>
          <p:cNvPr id="29" name="TextBox 28"/>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6B7C85"/>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2A35"/>
        </a:solidFill>
        <a:effectLst/>
      </p:bgPr>
    </p:bg>
    <p:spTree>
      <p:nvGrpSpPr>
        <p:cNvPr id="1" name=""/>
        <p:cNvGrpSpPr/>
        <p:nvPr/>
      </p:nvGrpSpPr>
      <p:grpSpPr/>
      <p:sp>
        <p:nvSpPr>
          <p:cNvPr id="2" name="Rounded Rectangle 1"/>
          <p:cNvSpPr/>
          <p:nvPr/>
        </p:nvSpPr>
        <p:spPr>
          <a:xfrm>
            <a:off x="822960" y="2084831"/>
            <a:ext cx="155448" cy="155448"/>
          </a:xfrm>
          <a:prstGeom prst="roundRect">
            <a:avLst>
              <a:gd name="adj" fmla="val 18000"/>
            </a:avLst>
          </a:prstGeom>
          <a:solidFill>
            <a:srgbClr val="9AA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1046988" y="2084831"/>
            <a:ext cx="155448" cy="155448"/>
          </a:xfrm>
          <a:prstGeom prst="roundRect">
            <a:avLst>
              <a:gd name="adj" fmla="val 18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1271016" y="2084831"/>
            <a:ext cx="155448" cy="155448"/>
          </a:xfrm>
          <a:prstGeom prst="roundRect">
            <a:avLst>
              <a:gd name="adj" fmla="val 18000"/>
            </a:avLst>
          </a:prstGeom>
          <a:solidFill>
            <a:srgbClr val="C85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2514600"/>
            <a:ext cx="106070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E0835C"/>
                </a:solidFill>
                <a:latin typeface="Calibri"/>
              </a:rPr>
              <a:t>ACT TWO</a:t>
            </a:r>
          </a:p>
        </p:txBody>
      </p:sp>
      <p:sp>
        <p:nvSpPr>
          <p:cNvPr id="6" name="TextBox 5"/>
          <p:cNvSpPr txBox="1"/>
          <p:nvPr/>
        </p:nvSpPr>
        <p:spPr>
          <a:xfrm>
            <a:off x="822960" y="2788920"/>
            <a:ext cx="9601200" cy="1280160"/>
          </a:xfrm>
          <a:prstGeom prst="rect">
            <a:avLst/>
          </a:prstGeom>
          <a:noFill/>
        </p:spPr>
        <p:txBody>
          <a:bodyPr wrap="square" anchor="t" lIns="0" rIns="0" tIns="0" bIns="0">
            <a:spAutoFit/>
          </a:bodyPr>
          <a:lstStyle/>
          <a:p>
            <a:pPr algn="l">
              <a:lnSpc>
                <a:spcPct val="102000"/>
              </a:lnSpc>
              <a:spcAft>
                <a:spcPts val="0"/>
              </a:spcAft>
            </a:pPr>
            <a:r>
              <a:rPr sz="4400" b="1" i="0">
                <a:solidFill>
                  <a:srgbClr val="FFFFFF"/>
                </a:solidFill>
                <a:latin typeface="Cambria"/>
              </a:rPr>
              <a:t>How we built it</a:t>
            </a:r>
          </a:p>
        </p:txBody>
      </p:sp>
      <p:sp>
        <p:nvSpPr>
          <p:cNvPr id="7" name="TextBox 6"/>
          <p:cNvSpPr txBox="1"/>
          <p:nvPr/>
        </p:nvSpPr>
        <p:spPr>
          <a:xfrm>
            <a:off x="822960" y="4160520"/>
            <a:ext cx="7863840" cy="822960"/>
          </a:xfrm>
          <a:prstGeom prst="rect">
            <a:avLst/>
          </a:prstGeom>
          <a:noFill/>
        </p:spPr>
        <p:txBody>
          <a:bodyPr wrap="square" anchor="t" lIns="0" rIns="0" tIns="0" bIns="0">
            <a:spAutoFit/>
          </a:bodyPr>
          <a:lstStyle/>
          <a:p>
            <a:pPr algn="l">
              <a:lnSpc>
                <a:spcPct val="140000"/>
              </a:lnSpc>
              <a:spcAft>
                <a:spcPts val="0"/>
              </a:spcAft>
            </a:pPr>
            <a:r>
              <a:rPr sz="1550" b="0" i="0">
                <a:solidFill>
                  <a:srgbClr val="B9CAD2"/>
                </a:solidFill>
                <a:latin typeface="Calibri"/>
              </a:rPr>
              <a:t>Turning satellite scars into labels, deciding what the model is allowed to know, and proving it never saw the answer.</a:t>
            </a:r>
          </a:p>
        </p:txBody>
      </p:sp>
      <p:sp>
        <p:nvSpPr>
          <p:cNvPr id="8" name="TextBox 7"/>
          <p:cNvSpPr txBox="1"/>
          <p:nvPr/>
        </p:nvSpPr>
        <p:spPr>
          <a:xfrm>
            <a:off x="822960" y="5257800"/>
            <a:ext cx="7315200" cy="320040"/>
          </a:xfrm>
          <a:prstGeom prst="rect">
            <a:avLst/>
          </a:prstGeom>
          <a:noFill/>
        </p:spPr>
        <p:txBody>
          <a:bodyPr wrap="square" anchor="t" lIns="0" rIns="0" tIns="0" bIns="0">
            <a:spAutoFit/>
          </a:bodyPr>
          <a:lstStyle/>
          <a:p>
            <a:pPr algn="l">
              <a:lnSpc>
                <a:spcPct val="125000"/>
              </a:lnSpc>
              <a:spcAft>
                <a:spcPts val="0"/>
              </a:spcAft>
            </a:pPr>
            <a:r>
              <a:rPr sz="1250" b="1" i="0">
                <a:solidFill>
                  <a:srgbClr val="E0835C"/>
                </a:solidFill>
                <a:latin typeface="Calibri"/>
              </a:rPr>
              <a:t>Saira Zafar</a:t>
            </a:r>
          </a:p>
        </p:txBody>
      </p:sp>
      <p:sp>
        <p:nvSpPr>
          <p:cNvPr id="9" name="TextBox 8"/>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B9CAD2"/>
                </a:solidFill>
                <a:latin typeface="Calibri"/>
              </a:rPr>
              <a:t/>
            </a:r>
          </a:p>
        </p:txBody>
      </p:sp>
      <p:sp>
        <p:nvSpPr>
          <p:cNvPr id="10" name="TextBox 9"/>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B9CAD2"/>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822960" y="310896"/>
            <a:ext cx="106070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C8552F"/>
                </a:solidFill>
                <a:latin typeface="Calibri"/>
              </a:rPr>
              <a:t>LABELLING</a:t>
            </a:r>
          </a:p>
        </p:txBody>
      </p:sp>
      <p:sp>
        <p:nvSpPr>
          <p:cNvPr id="3" name="TextBox 2"/>
          <p:cNvSpPr txBox="1"/>
          <p:nvPr/>
        </p:nvSpPr>
        <p:spPr>
          <a:xfrm>
            <a:off x="822960" y="566928"/>
            <a:ext cx="10607040" cy="914400"/>
          </a:xfrm>
          <a:prstGeom prst="rect">
            <a:avLst/>
          </a:prstGeom>
          <a:noFill/>
        </p:spPr>
        <p:txBody>
          <a:bodyPr wrap="square" anchor="t" lIns="0" rIns="0" tIns="0" bIns="0">
            <a:spAutoFit/>
          </a:bodyPr>
          <a:lstStyle/>
          <a:p>
            <a:pPr algn="l">
              <a:lnSpc>
                <a:spcPct val="105000"/>
              </a:lnSpc>
              <a:spcAft>
                <a:spcPts val="0"/>
              </a:spcAft>
            </a:pPr>
            <a:r>
              <a:rPr sz="3400" b="1" i="0">
                <a:solidFill>
                  <a:srgbClr val="0F2A35"/>
                </a:solidFill>
                <a:latin typeface="Cambria"/>
              </a:rPr>
              <a:t>From burnt pixels to one answer per square.</a:t>
            </a:r>
          </a:p>
        </p:txBody>
      </p:sp>
      <p:sp>
        <p:nvSpPr>
          <p:cNvPr id="4" name="Rounded Rectangle 3"/>
          <p:cNvSpPr/>
          <p:nvPr/>
        </p:nvSpPr>
        <p:spPr>
          <a:xfrm>
            <a:off x="822960" y="1664208"/>
            <a:ext cx="475488" cy="475488"/>
          </a:xfrm>
          <a:prstGeom prst="roundRect">
            <a:avLst>
              <a:gd name="adj" fmla="val 50000"/>
            </a:avLst>
          </a:prstGeom>
          <a:solidFill>
            <a:srgbClr val="0F2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55648"/>
            <a:ext cx="475488" cy="365760"/>
          </a:xfrm>
          <a:prstGeom prst="rect">
            <a:avLst/>
          </a:prstGeom>
          <a:noFill/>
        </p:spPr>
        <p:txBody>
          <a:bodyPr wrap="square" anchor="t" lIns="0" rIns="0" tIns="0" bIns="0">
            <a:spAutoFit/>
          </a:bodyPr>
          <a:lstStyle/>
          <a:p>
            <a:pPr algn="ctr">
              <a:lnSpc>
                <a:spcPct val="125000"/>
              </a:lnSpc>
              <a:spcAft>
                <a:spcPts val="0"/>
              </a:spcAft>
            </a:pPr>
            <a:r>
              <a:rPr sz="1600" b="1" i="0">
                <a:solidFill>
                  <a:srgbClr val="FFFFFF"/>
                </a:solidFill>
                <a:latin typeface="Cambria"/>
              </a:rPr>
              <a:t>1</a:t>
            </a:r>
          </a:p>
        </p:txBody>
      </p:sp>
      <p:sp>
        <p:nvSpPr>
          <p:cNvPr id="6" name="TextBox 5"/>
          <p:cNvSpPr txBox="1"/>
          <p:nvPr/>
        </p:nvSpPr>
        <p:spPr>
          <a:xfrm>
            <a:off x="1572768" y="1682496"/>
            <a:ext cx="3657600" cy="365760"/>
          </a:xfrm>
          <a:prstGeom prst="rect">
            <a:avLst/>
          </a:prstGeom>
          <a:noFill/>
        </p:spPr>
        <p:txBody>
          <a:bodyPr wrap="square" anchor="t" lIns="0" rIns="0" tIns="0" bIns="0">
            <a:spAutoFit/>
          </a:bodyPr>
          <a:lstStyle/>
          <a:p>
            <a:pPr algn="l">
              <a:lnSpc>
                <a:spcPct val="125000"/>
              </a:lnSpc>
              <a:spcAft>
                <a:spcPts val="0"/>
              </a:spcAft>
            </a:pPr>
            <a:r>
              <a:rPr sz="1700" b="1" i="0">
                <a:solidFill>
                  <a:srgbClr val="0F2A35"/>
                </a:solidFill>
                <a:latin typeface="Cambria"/>
              </a:rPr>
              <a:t>Read the scar</a:t>
            </a:r>
          </a:p>
        </p:txBody>
      </p:sp>
      <p:sp>
        <p:nvSpPr>
          <p:cNvPr id="7" name="TextBox 6"/>
          <p:cNvSpPr txBox="1"/>
          <p:nvPr/>
        </p:nvSpPr>
        <p:spPr>
          <a:xfrm>
            <a:off x="1572768" y="2066544"/>
            <a:ext cx="4937760" cy="822960"/>
          </a:xfrm>
          <a:prstGeom prst="rect">
            <a:avLst/>
          </a:prstGeom>
          <a:noFill/>
        </p:spPr>
        <p:txBody>
          <a:bodyPr wrap="square" anchor="t" lIns="0" rIns="0" tIns="0" bIns="0">
            <a:spAutoFit/>
          </a:bodyPr>
          <a:lstStyle/>
          <a:p>
            <a:pPr algn="l">
              <a:lnSpc>
                <a:spcPct val="142000"/>
              </a:lnSpc>
              <a:spcAft>
                <a:spcPts val="0"/>
              </a:spcAft>
            </a:pPr>
            <a:r>
              <a:rPr sz="1300" b="0" i="0">
                <a:solidFill>
                  <a:srgbClr val="0F2A35"/>
                </a:solidFill>
                <a:latin typeface="Calibri"/>
              </a:rPr>
              <a:t>Each NAFI pixel holds the month it burned, 1 to 12, or zero for no fire.</a:t>
            </a:r>
          </a:p>
        </p:txBody>
      </p:sp>
      <p:sp>
        <p:nvSpPr>
          <p:cNvPr id="8" name="Rounded Rectangle 7"/>
          <p:cNvSpPr/>
          <p:nvPr/>
        </p:nvSpPr>
        <p:spPr>
          <a:xfrm>
            <a:off x="822960" y="2980944"/>
            <a:ext cx="475488" cy="475488"/>
          </a:xfrm>
          <a:prstGeom prst="roundRect">
            <a:avLst>
              <a:gd name="adj" fmla="val 50000"/>
            </a:avLst>
          </a:prstGeom>
          <a:solidFill>
            <a:srgbClr val="0F2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60" y="3072384"/>
            <a:ext cx="475488" cy="365760"/>
          </a:xfrm>
          <a:prstGeom prst="rect">
            <a:avLst/>
          </a:prstGeom>
          <a:noFill/>
        </p:spPr>
        <p:txBody>
          <a:bodyPr wrap="square" anchor="t" lIns="0" rIns="0" tIns="0" bIns="0">
            <a:spAutoFit/>
          </a:bodyPr>
          <a:lstStyle/>
          <a:p>
            <a:pPr algn="ctr">
              <a:lnSpc>
                <a:spcPct val="125000"/>
              </a:lnSpc>
              <a:spcAft>
                <a:spcPts val="0"/>
              </a:spcAft>
            </a:pPr>
            <a:r>
              <a:rPr sz="1600" b="1" i="0">
                <a:solidFill>
                  <a:srgbClr val="FFFFFF"/>
                </a:solidFill>
                <a:latin typeface="Cambria"/>
              </a:rPr>
              <a:t>2</a:t>
            </a:r>
          </a:p>
        </p:txBody>
      </p:sp>
      <p:sp>
        <p:nvSpPr>
          <p:cNvPr id="10" name="TextBox 9"/>
          <p:cNvSpPr txBox="1"/>
          <p:nvPr/>
        </p:nvSpPr>
        <p:spPr>
          <a:xfrm>
            <a:off x="1572768" y="2999232"/>
            <a:ext cx="3657600" cy="365760"/>
          </a:xfrm>
          <a:prstGeom prst="rect">
            <a:avLst/>
          </a:prstGeom>
          <a:noFill/>
        </p:spPr>
        <p:txBody>
          <a:bodyPr wrap="square" anchor="t" lIns="0" rIns="0" tIns="0" bIns="0">
            <a:spAutoFit/>
          </a:bodyPr>
          <a:lstStyle/>
          <a:p>
            <a:pPr algn="l">
              <a:lnSpc>
                <a:spcPct val="125000"/>
              </a:lnSpc>
              <a:spcAft>
                <a:spcPts val="0"/>
              </a:spcAft>
            </a:pPr>
            <a:r>
              <a:rPr sz="1700" b="1" i="0">
                <a:solidFill>
                  <a:srgbClr val="0F2A35"/>
                </a:solidFill>
                <a:latin typeface="Cambria"/>
              </a:rPr>
              <a:t>Pool to a square</a:t>
            </a:r>
          </a:p>
        </p:txBody>
      </p:sp>
      <p:sp>
        <p:nvSpPr>
          <p:cNvPr id="11" name="TextBox 10"/>
          <p:cNvSpPr txBox="1"/>
          <p:nvPr/>
        </p:nvSpPr>
        <p:spPr>
          <a:xfrm>
            <a:off x="1572768" y="3383279"/>
            <a:ext cx="4937760" cy="822960"/>
          </a:xfrm>
          <a:prstGeom prst="rect">
            <a:avLst/>
          </a:prstGeom>
          <a:noFill/>
        </p:spPr>
        <p:txBody>
          <a:bodyPr wrap="square" anchor="t" lIns="0" rIns="0" tIns="0" bIns="0">
            <a:spAutoFit/>
          </a:bodyPr>
          <a:lstStyle/>
          <a:p>
            <a:pPr algn="l">
              <a:lnSpc>
                <a:spcPct val="142000"/>
              </a:lnSpc>
              <a:spcAft>
                <a:spcPts val="0"/>
              </a:spcAft>
            </a:pPr>
            <a:r>
              <a:rPr sz="1300" b="0" i="0">
                <a:solidFill>
                  <a:srgbClr val="0F2A35"/>
                </a:solidFill>
                <a:latin typeface="Calibri"/>
              </a:rPr>
              <a:t>Every 20 × 20 block of pixels becomes one 0.05° cell, and we count what fraction burned early and what fraction burned late.</a:t>
            </a:r>
          </a:p>
        </p:txBody>
      </p:sp>
      <p:sp>
        <p:nvSpPr>
          <p:cNvPr id="12" name="Rounded Rectangle 11"/>
          <p:cNvSpPr/>
          <p:nvPr/>
        </p:nvSpPr>
        <p:spPr>
          <a:xfrm>
            <a:off x="822960" y="4297679"/>
            <a:ext cx="475488" cy="475488"/>
          </a:xfrm>
          <a:prstGeom prst="roundRect">
            <a:avLst>
              <a:gd name="adj" fmla="val 50000"/>
            </a:avLst>
          </a:prstGeom>
          <a:solidFill>
            <a:srgbClr val="0F2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60" y="4389119"/>
            <a:ext cx="475488" cy="365760"/>
          </a:xfrm>
          <a:prstGeom prst="rect">
            <a:avLst/>
          </a:prstGeom>
          <a:noFill/>
        </p:spPr>
        <p:txBody>
          <a:bodyPr wrap="square" anchor="t" lIns="0" rIns="0" tIns="0" bIns="0">
            <a:spAutoFit/>
          </a:bodyPr>
          <a:lstStyle/>
          <a:p>
            <a:pPr algn="ctr">
              <a:lnSpc>
                <a:spcPct val="125000"/>
              </a:lnSpc>
              <a:spcAft>
                <a:spcPts val="0"/>
              </a:spcAft>
            </a:pPr>
            <a:r>
              <a:rPr sz="1600" b="1" i="0">
                <a:solidFill>
                  <a:srgbClr val="FFFFFF"/>
                </a:solidFill>
                <a:latin typeface="Cambria"/>
              </a:rPr>
              <a:t>3</a:t>
            </a:r>
          </a:p>
        </p:txBody>
      </p:sp>
      <p:sp>
        <p:nvSpPr>
          <p:cNvPr id="14" name="TextBox 13"/>
          <p:cNvSpPr txBox="1"/>
          <p:nvPr/>
        </p:nvSpPr>
        <p:spPr>
          <a:xfrm>
            <a:off x="1572768" y="4315967"/>
            <a:ext cx="3657600" cy="365760"/>
          </a:xfrm>
          <a:prstGeom prst="rect">
            <a:avLst/>
          </a:prstGeom>
          <a:noFill/>
        </p:spPr>
        <p:txBody>
          <a:bodyPr wrap="square" anchor="t" lIns="0" rIns="0" tIns="0" bIns="0">
            <a:spAutoFit/>
          </a:bodyPr>
          <a:lstStyle/>
          <a:p>
            <a:pPr algn="l">
              <a:lnSpc>
                <a:spcPct val="125000"/>
              </a:lnSpc>
              <a:spcAft>
                <a:spcPts val="0"/>
              </a:spcAft>
            </a:pPr>
            <a:r>
              <a:rPr sz="1700" b="1" i="0">
                <a:solidFill>
                  <a:srgbClr val="0F2A35"/>
                </a:solidFill>
                <a:latin typeface="Cambria"/>
              </a:rPr>
              <a:t>Decide the class</a:t>
            </a:r>
          </a:p>
        </p:txBody>
      </p:sp>
      <p:sp>
        <p:nvSpPr>
          <p:cNvPr id="15" name="TextBox 14"/>
          <p:cNvSpPr txBox="1"/>
          <p:nvPr/>
        </p:nvSpPr>
        <p:spPr>
          <a:xfrm>
            <a:off x="1572768" y="4700016"/>
            <a:ext cx="4937760" cy="822960"/>
          </a:xfrm>
          <a:prstGeom prst="rect">
            <a:avLst/>
          </a:prstGeom>
          <a:noFill/>
        </p:spPr>
        <p:txBody>
          <a:bodyPr wrap="square" anchor="t" lIns="0" rIns="0" tIns="0" bIns="0">
            <a:spAutoFit/>
          </a:bodyPr>
          <a:lstStyle/>
          <a:p>
            <a:pPr algn="l">
              <a:lnSpc>
                <a:spcPct val="142000"/>
              </a:lnSpc>
              <a:spcAft>
                <a:spcPts val="0"/>
              </a:spcAft>
            </a:pPr>
            <a:r>
              <a:rPr sz="1300" b="0" i="0">
                <a:solidFill>
                  <a:srgbClr val="0F2A35"/>
                </a:solidFill>
                <a:latin typeface="Calibri"/>
              </a:rPr>
              <a:t>A square counts as burnt only if at least 5% of it burned, and is only used at all if at least half its pixels were readable. Whichever season holds more of the burnt area names the year.</a:t>
            </a:r>
          </a:p>
        </p:txBody>
      </p:sp>
      <p:sp>
        <p:nvSpPr>
          <p:cNvPr id="16" name="Rounded Rectangle 15"/>
          <p:cNvSpPr/>
          <p:nvPr/>
        </p:nvSpPr>
        <p:spPr>
          <a:xfrm>
            <a:off x="6858000" y="1664208"/>
            <a:ext cx="4526280" cy="32004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242048" y="1956816"/>
            <a:ext cx="3749039" cy="365760"/>
          </a:xfrm>
          <a:prstGeom prst="rect">
            <a:avLst/>
          </a:prstGeom>
          <a:noFill/>
        </p:spPr>
        <p:txBody>
          <a:bodyPr wrap="square" anchor="t" lIns="0" rIns="0" tIns="0" bIns="0">
            <a:spAutoFit/>
          </a:bodyPr>
          <a:lstStyle/>
          <a:p>
            <a:pPr algn="l">
              <a:lnSpc>
                <a:spcPct val="125000"/>
              </a:lnSpc>
              <a:spcAft>
                <a:spcPts val="0"/>
              </a:spcAft>
            </a:pPr>
            <a:r>
              <a:rPr sz="1600" b="1" i="0">
                <a:solidFill>
                  <a:srgbClr val="0F2A35"/>
                </a:solidFill>
                <a:latin typeface="Cambria"/>
              </a:rPr>
              <a:t>The check that mattered</a:t>
            </a:r>
          </a:p>
        </p:txBody>
      </p:sp>
      <p:sp>
        <p:nvSpPr>
          <p:cNvPr id="18" name="TextBox 17"/>
          <p:cNvSpPr txBox="1"/>
          <p:nvPr/>
        </p:nvSpPr>
        <p:spPr>
          <a:xfrm>
            <a:off x="7242048" y="2395728"/>
            <a:ext cx="3794760" cy="2286000"/>
          </a:xfrm>
          <a:prstGeom prst="rect">
            <a:avLst/>
          </a:prstGeom>
          <a:noFill/>
        </p:spPr>
        <p:txBody>
          <a:bodyPr wrap="square" anchor="t" lIns="0" rIns="0" tIns="0" bIns="0">
            <a:spAutoFit/>
          </a:bodyPr>
          <a:lstStyle/>
          <a:p>
            <a:pPr algn="l">
              <a:lnSpc>
                <a:spcPct val="145000"/>
              </a:lnSpc>
              <a:spcAft>
                <a:spcPts val="0"/>
              </a:spcAft>
            </a:pPr>
            <a:r>
              <a:rPr sz="1250" b="0" i="0">
                <a:solidFill>
                  <a:srgbClr val="0F2A35"/>
                </a:solidFill>
                <a:latin typeface="Calibri"/>
              </a:rPr>
              <a:t>Labels are the one thing no metric can catch. So we tested them against fire history the Territory already knows: 2011, the year after the 2010–11 La Niña, comes out as the heaviest on record at 65.7% of the map burnt. 2020 comes out the lightest at 15.9%. Both match the published record. If the labels had been wrong, every number after this would have been wrong too.</a:t>
            </a:r>
          </a:p>
        </p:txBody>
      </p:sp>
      <p:sp>
        <p:nvSpPr>
          <p:cNvPr id="19" name="TextBox 18"/>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6B7C85"/>
                </a:solidFill>
                <a:latin typeface="Calibri"/>
              </a:rPr>
              <a:t>Saira Zafar</a:t>
            </a:r>
          </a:p>
        </p:txBody>
      </p:sp>
      <p:sp>
        <p:nvSpPr>
          <p:cNvPr id="20" name="TextBox 19"/>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6B7C85"/>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822960" y="310896"/>
            <a:ext cx="106070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C8552F"/>
                </a:solidFill>
                <a:latin typeface="Calibri"/>
              </a:rPr>
              <a:t>FEATURES</a:t>
            </a:r>
          </a:p>
        </p:txBody>
      </p:sp>
      <p:sp>
        <p:nvSpPr>
          <p:cNvPr id="3" name="TextBox 2"/>
          <p:cNvSpPr txBox="1"/>
          <p:nvPr/>
        </p:nvSpPr>
        <p:spPr>
          <a:xfrm>
            <a:off x="822960" y="566928"/>
            <a:ext cx="5852160" cy="914400"/>
          </a:xfrm>
          <a:prstGeom prst="rect">
            <a:avLst/>
          </a:prstGeom>
          <a:noFill/>
        </p:spPr>
        <p:txBody>
          <a:bodyPr wrap="square" anchor="t" lIns="0" rIns="0" tIns="0" bIns="0">
            <a:spAutoFit/>
          </a:bodyPr>
          <a:lstStyle/>
          <a:p>
            <a:pPr algn="l">
              <a:lnSpc>
                <a:spcPct val="105000"/>
              </a:lnSpc>
              <a:spcAft>
                <a:spcPts val="0"/>
              </a:spcAft>
            </a:pPr>
            <a:r>
              <a:rPr sz="3400" b="1" i="0">
                <a:solidFill>
                  <a:srgbClr val="0F2A35"/>
                </a:solidFill>
                <a:latin typeface="Cambria"/>
              </a:rPr>
              <a:t>Only what a forecaster could actually know on 30 April.</a:t>
            </a:r>
          </a:p>
        </p:txBody>
      </p:sp>
      <p:sp>
        <p:nvSpPr>
          <p:cNvPr id="4" name="TextBox 3"/>
          <p:cNvSpPr txBox="1"/>
          <p:nvPr/>
        </p:nvSpPr>
        <p:spPr>
          <a:xfrm>
            <a:off x="822960" y="1600200"/>
            <a:ext cx="5760720" cy="914400"/>
          </a:xfrm>
          <a:prstGeom prst="rect">
            <a:avLst/>
          </a:prstGeom>
          <a:noFill/>
        </p:spPr>
        <p:txBody>
          <a:bodyPr wrap="square" anchor="t" lIns="0" rIns="0" tIns="0" bIns="0">
            <a:spAutoFit/>
          </a:bodyPr>
          <a:lstStyle/>
          <a:p>
            <a:pPr algn="l">
              <a:lnSpc>
                <a:spcPct val="150000"/>
              </a:lnSpc>
              <a:spcAft>
                <a:spcPts val="0"/>
              </a:spcAft>
            </a:pPr>
            <a:r>
              <a:rPr sz="1450" b="0" i="0">
                <a:solidFill>
                  <a:srgbClr val="0F2A35"/>
                </a:solidFill>
                <a:latin typeface="Calibri"/>
              </a:rPr>
              <a:t>The forecast has to be useful before the fire season starts, so every one of the 50 features is built from information available by the end of April in the year being predicted — and nothing later.</a:t>
            </a:r>
          </a:p>
        </p:txBody>
      </p:sp>
      <p:sp>
        <p:nvSpPr>
          <p:cNvPr id="5" name="Rounded Rectangle 4"/>
          <p:cNvSpPr/>
          <p:nvPr/>
        </p:nvSpPr>
        <p:spPr>
          <a:xfrm>
            <a:off x="822960" y="2788920"/>
            <a:ext cx="10515600" cy="1005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170432" y="3200400"/>
            <a:ext cx="182880" cy="182880"/>
          </a:xfrm>
          <a:prstGeom prst="roundRect">
            <a:avLst>
              <a:gd name="adj" fmla="val 18000"/>
            </a:avLst>
          </a:prstGeom>
          <a:solidFill>
            <a:srgbClr val="245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517904" y="2971800"/>
            <a:ext cx="2286000" cy="320040"/>
          </a:xfrm>
          <a:prstGeom prst="rect">
            <a:avLst/>
          </a:prstGeom>
          <a:noFill/>
        </p:spPr>
        <p:txBody>
          <a:bodyPr wrap="square" anchor="t" lIns="0" rIns="0" tIns="0" bIns="0">
            <a:spAutoFit/>
          </a:bodyPr>
          <a:lstStyle/>
          <a:p>
            <a:pPr algn="l">
              <a:lnSpc>
                <a:spcPct val="125000"/>
              </a:lnSpc>
              <a:spcAft>
                <a:spcPts val="0"/>
              </a:spcAft>
            </a:pPr>
            <a:r>
              <a:rPr sz="1700" b="1" i="0">
                <a:solidFill>
                  <a:srgbClr val="0F2A35"/>
                </a:solidFill>
                <a:latin typeface="Cambria"/>
              </a:rPr>
              <a:t>Fire history</a:t>
            </a:r>
          </a:p>
        </p:txBody>
      </p:sp>
      <p:sp>
        <p:nvSpPr>
          <p:cNvPr id="8" name="TextBox 7"/>
          <p:cNvSpPr txBox="1"/>
          <p:nvPr/>
        </p:nvSpPr>
        <p:spPr>
          <a:xfrm>
            <a:off x="1517904" y="3355848"/>
            <a:ext cx="2286000" cy="274320"/>
          </a:xfrm>
          <a:prstGeom prst="rect">
            <a:avLst/>
          </a:prstGeom>
          <a:noFill/>
        </p:spPr>
        <p:txBody>
          <a:bodyPr wrap="square" anchor="t" lIns="0" rIns="0" tIns="0" bIns="0">
            <a:spAutoFit/>
          </a:bodyPr>
          <a:lstStyle/>
          <a:p>
            <a:pPr algn="l">
              <a:lnSpc>
                <a:spcPct val="125000"/>
              </a:lnSpc>
              <a:spcAft>
                <a:spcPts val="0"/>
              </a:spcAft>
            </a:pPr>
            <a:r>
              <a:rPr sz="1150" b="0" i="0">
                <a:solidFill>
                  <a:srgbClr val="6B7C85"/>
                </a:solidFill>
                <a:latin typeface="Calibri"/>
              </a:rPr>
              <a:t>22 features</a:t>
            </a:r>
          </a:p>
        </p:txBody>
      </p:sp>
      <p:sp>
        <p:nvSpPr>
          <p:cNvPr id="9" name="TextBox 8"/>
          <p:cNvSpPr txBox="1"/>
          <p:nvPr/>
        </p:nvSpPr>
        <p:spPr>
          <a:xfrm>
            <a:off x="4023360" y="3008376"/>
            <a:ext cx="6949440" cy="685800"/>
          </a:xfrm>
          <a:prstGeom prst="rect">
            <a:avLst/>
          </a:prstGeom>
          <a:noFill/>
        </p:spPr>
        <p:txBody>
          <a:bodyPr wrap="square" anchor="t" lIns="0" rIns="0" tIns="0" bIns="0">
            <a:spAutoFit/>
          </a:bodyPr>
          <a:lstStyle/>
          <a:p>
            <a:pPr algn="l">
              <a:lnSpc>
                <a:spcPct val="140000"/>
              </a:lnSpc>
              <a:spcAft>
                <a:spcPts val="0"/>
              </a:spcAft>
            </a:pPr>
            <a:r>
              <a:rPr sz="1250" b="0" i="0">
                <a:solidFill>
                  <a:srgbClr val="0F2A35"/>
                </a:solidFill>
                <a:latin typeface="Calibri"/>
              </a:rPr>
              <a:t>Years since the last fire and the last late fire, how often it burnt over 3, 5, 10, 15, 20 and 25 years, what it did last year, and what its neighbours did.</a:t>
            </a:r>
          </a:p>
        </p:txBody>
      </p:sp>
      <p:sp>
        <p:nvSpPr>
          <p:cNvPr id="10" name="Rounded Rectangle 9"/>
          <p:cNvSpPr/>
          <p:nvPr/>
        </p:nvSpPr>
        <p:spPr>
          <a:xfrm>
            <a:off x="822960" y="3922776"/>
            <a:ext cx="10515600" cy="1005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1170432" y="4334256"/>
            <a:ext cx="182880" cy="182880"/>
          </a:xfrm>
          <a:prstGeom prst="roundRect">
            <a:avLst>
              <a:gd name="adj" fmla="val 18000"/>
            </a:avLst>
          </a:prstGeom>
          <a:solidFill>
            <a:srgbClr val="C85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517904" y="4105656"/>
            <a:ext cx="2286000" cy="320040"/>
          </a:xfrm>
          <a:prstGeom prst="rect">
            <a:avLst/>
          </a:prstGeom>
          <a:noFill/>
        </p:spPr>
        <p:txBody>
          <a:bodyPr wrap="square" anchor="t" lIns="0" rIns="0" tIns="0" bIns="0">
            <a:spAutoFit/>
          </a:bodyPr>
          <a:lstStyle/>
          <a:p>
            <a:pPr algn="l">
              <a:lnSpc>
                <a:spcPct val="125000"/>
              </a:lnSpc>
              <a:spcAft>
                <a:spcPts val="0"/>
              </a:spcAft>
            </a:pPr>
            <a:r>
              <a:rPr sz="1700" b="1" i="0">
                <a:solidFill>
                  <a:srgbClr val="0F2A35"/>
                </a:solidFill>
                <a:latin typeface="Cambria"/>
              </a:rPr>
              <a:t>Weather</a:t>
            </a:r>
          </a:p>
        </p:txBody>
      </p:sp>
      <p:sp>
        <p:nvSpPr>
          <p:cNvPr id="13" name="TextBox 12"/>
          <p:cNvSpPr txBox="1"/>
          <p:nvPr/>
        </p:nvSpPr>
        <p:spPr>
          <a:xfrm>
            <a:off x="1517904" y="4489704"/>
            <a:ext cx="2286000" cy="274320"/>
          </a:xfrm>
          <a:prstGeom prst="rect">
            <a:avLst/>
          </a:prstGeom>
          <a:noFill/>
        </p:spPr>
        <p:txBody>
          <a:bodyPr wrap="square" anchor="t" lIns="0" rIns="0" tIns="0" bIns="0">
            <a:spAutoFit/>
          </a:bodyPr>
          <a:lstStyle/>
          <a:p>
            <a:pPr algn="l">
              <a:lnSpc>
                <a:spcPct val="125000"/>
              </a:lnSpc>
              <a:spcAft>
                <a:spcPts val="0"/>
              </a:spcAft>
            </a:pPr>
            <a:r>
              <a:rPr sz="1150" b="0" i="0">
                <a:solidFill>
                  <a:srgbClr val="6B7C85"/>
                </a:solidFill>
                <a:latin typeface="Calibri"/>
              </a:rPr>
              <a:t>14 features</a:t>
            </a:r>
          </a:p>
        </p:txBody>
      </p:sp>
      <p:sp>
        <p:nvSpPr>
          <p:cNvPr id="14" name="TextBox 13"/>
          <p:cNvSpPr txBox="1"/>
          <p:nvPr/>
        </p:nvSpPr>
        <p:spPr>
          <a:xfrm>
            <a:off x="4023360" y="4142232"/>
            <a:ext cx="6949440" cy="685800"/>
          </a:xfrm>
          <a:prstGeom prst="rect">
            <a:avLst/>
          </a:prstGeom>
          <a:noFill/>
        </p:spPr>
        <p:txBody>
          <a:bodyPr wrap="square" anchor="t" lIns="0" rIns="0" tIns="0" bIns="0">
            <a:spAutoFit/>
          </a:bodyPr>
          <a:lstStyle/>
          <a:p>
            <a:pPr algn="l">
              <a:lnSpc>
                <a:spcPct val="140000"/>
              </a:lnSpc>
              <a:spcAft>
                <a:spcPts val="0"/>
              </a:spcAft>
            </a:pPr>
            <a:r>
              <a:rPr sz="1250" b="0" i="0">
                <a:solidFill>
                  <a:srgbClr val="0F2A35"/>
                </a:solidFill>
                <a:latin typeface="Calibri"/>
              </a:rPr>
              <a:t>Wet-season rainfall, heat, humidity deficit and sunlight, plus the dry season before it, and how far the wet sat from its own local normal.</a:t>
            </a:r>
          </a:p>
        </p:txBody>
      </p:sp>
      <p:sp>
        <p:nvSpPr>
          <p:cNvPr id="15" name="Rounded Rectangle 14"/>
          <p:cNvSpPr/>
          <p:nvPr/>
        </p:nvSpPr>
        <p:spPr>
          <a:xfrm>
            <a:off x="822960" y="5056632"/>
            <a:ext cx="10515600" cy="1005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1170432" y="5468112"/>
            <a:ext cx="182880" cy="182880"/>
          </a:xfrm>
          <a:prstGeom prst="roundRect">
            <a:avLst>
              <a:gd name="adj" fmla="val 18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517904" y="5239512"/>
            <a:ext cx="2286000" cy="320040"/>
          </a:xfrm>
          <a:prstGeom prst="rect">
            <a:avLst/>
          </a:prstGeom>
          <a:noFill/>
        </p:spPr>
        <p:txBody>
          <a:bodyPr wrap="square" anchor="t" lIns="0" rIns="0" tIns="0" bIns="0">
            <a:spAutoFit/>
          </a:bodyPr>
          <a:lstStyle/>
          <a:p>
            <a:pPr algn="l">
              <a:lnSpc>
                <a:spcPct val="125000"/>
              </a:lnSpc>
              <a:spcAft>
                <a:spcPts val="0"/>
              </a:spcAft>
            </a:pPr>
            <a:r>
              <a:rPr sz="1700" b="1" i="0">
                <a:solidFill>
                  <a:srgbClr val="0F2A35"/>
                </a:solidFill>
                <a:latin typeface="Cambria"/>
              </a:rPr>
              <a:t>Greenness</a:t>
            </a:r>
          </a:p>
        </p:txBody>
      </p:sp>
      <p:sp>
        <p:nvSpPr>
          <p:cNvPr id="18" name="TextBox 17"/>
          <p:cNvSpPr txBox="1"/>
          <p:nvPr/>
        </p:nvSpPr>
        <p:spPr>
          <a:xfrm>
            <a:off x="1517904" y="5623560"/>
            <a:ext cx="2286000" cy="274320"/>
          </a:xfrm>
          <a:prstGeom prst="rect">
            <a:avLst/>
          </a:prstGeom>
          <a:noFill/>
        </p:spPr>
        <p:txBody>
          <a:bodyPr wrap="square" anchor="t" lIns="0" rIns="0" tIns="0" bIns="0">
            <a:spAutoFit/>
          </a:bodyPr>
          <a:lstStyle/>
          <a:p>
            <a:pPr algn="l">
              <a:lnSpc>
                <a:spcPct val="125000"/>
              </a:lnSpc>
              <a:spcAft>
                <a:spcPts val="0"/>
              </a:spcAft>
            </a:pPr>
            <a:r>
              <a:rPr sz="1150" b="0" i="0">
                <a:solidFill>
                  <a:srgbClr val="6B7C85"/>
                </a:solidFill>
                <a:latin typeface="Calibri"/>
              </a:rPr>
              <a:t>8 features</a:t>
            </a:r>
          </a:p>
        </p:txBody>
      </p:sp>
      <p:sp>
        <p:nvSpPr>
          <p:cNvPr id="19" name="TextBox 18"/>
          <p:cNvSpPr txBox="1"/>
          <p:nvPr/>
        </p:nvSpPr>
        <p:spPr>
          <a:xfrm>
            <a:off x="4023360" y="5276088"/>
            <a:ext cx="6949440" cy="685800"/>
          </a:xfrm>
          <a:prstGeom prst="rect">
            <a:avLst/>
          </a:prstGeom>
          <a:noFill/>
        </p:spPr>
        <p:txBody>
          <a:bodyPr wrap="square" anchor="t" lIns="0" rIns="0" tIns="0" bIns="0">
            <a:spAutoFit/>
          </a:bodyPr>
          <a:lstStyle/>
          <a:p>
            <a:pPr algn="l">
              <a:lnSpc>
                <a:spcPct val="140000"/>
              </a:lnSpc>
              <a:spcAft>
                <a:spcPts val="0"/>
              </a:spcAft>
            </a:pPr>
            <a:r>
              <a:rPr sz="1250" b="0" i="0">
                <a:solidFill>
                  <a:srgbClr val="0F2A35"/>
                </a:solidFill>
                <a:latin typeface="Calibri"/>
              </a:rPr>
              <a:t>How green the country got over the wet, where it peaked, how fast it greened up, and how far April sat above or below normal.</a:t>
            </a:r>
          </a:p>
        </p:txBody>
      </p:sp>
      <p:sp>
        <p:nvSpPr>
          <p:cNvPr id="20" name="TextBox 19"/>
          <p:cNvSpPr txBox="1"/>
          <p:nvPr/>
        </p:nvSpPr>
        <p:spPr>
          <a:xfrm>
            <a:off x="6949440" y="1536192"/>
            <a:ext cx="4389120" cy="777240"/>
          </a:xfrm>
          <a:prstGeom prst="rect">
            <a:avLst/>
          </a:prstGeom>
          <a:noFill/>
        </p:spPr>
        <p:txBody>
          <a:bodyPr wrap="square" anchor="t" lIns="0" rIns="0" tIns="0" bIns="0">
            <a:spAutoFit/>
          </a:bodyPr>
          <a:lstStyle/>
          <a:p>
            <a:pPr algn="l">
              <a:lnSpc>
                <a:spcPct val="95000"/>
              </a:lnSpc>
              <a:spcAft>
                <a:spcPts val="0"/>
              </a:spcAft>
            </a:pPr>
            <a:r>
              <a:rPr sz="4000" b="1" i="0">
                <a:solidFill>
                  <a:srgbClr val="C8552F"/>
                </a:solidFill>
                <a:latin typeface="Cambria"/>
              </a:rPr>
              <a:t>30 April</a:t>
            </a:r>
          </a:p>
        </p:txBody>
      </p:sp>
      <p:sp>
        <p:nvSpPr>
          <p:cNvPr id="21" name="TextBox 20"/>
          <p:cNvSpPr txBox="1"/>
          <p:nvPr/>
        </p:nvSpPr>
        <p:spPr>
          <a:xfrm>
            <a:off x="6949440" y="2073656"/>
            <a:ext cx="4389120" cy="640080"/>
          </a:xfrm>
          <a:prstGeom prst="rect">
            <a:avLst/>
          </a:prstGeom>
          <a:noFill/>
        </p:spPr>
        <p:txBody>
          <a:bodyPr wrap="square" anchor="t" lIns="0" rIns="0" tIns="0" bIns="0">
            <a:spAutoFit/>
          </a:bodyPr>
          <a:lstStyle/>
          <a:p>
            <a:pPr algn="l">
              <a:lnSpc>
                <a:spcPct val="120000"/>
              </a:lnSpc>
              <a:spcAft>
                <a:spcPts val="0"/>
              </a:spcAft>
            </a:pPr>
            <a:r>
              <a:rPr sz="1250" b="0" i="0">
                <a:solidFill>
                  <a:srgbClr val="6B7C85"/>
                </a:solidFill>
                <a:latin typeface="Calibri"/>
              </a:rPr>
              <a:t>the cut-off, every feature, every year</a:t>
            </a:r>
          </a:p>
        </p:txBody>
      </p:sp>
      <p:sp>
        <p:nvSpPr>
          <p:cNvPr id="22" name="TextBox 21"/>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6B7C85"/>
                </a:solidFill>
                <a:latin typeface="Calibri"/>
              </a:rPr>
              <a:t>Saira Zafar</a:t>
            </a:r>
          </a:p>
        </p:txBody>
      </p:sp>
      <p:sp>
        <p:nvSpPr>
          <p:cNvPr id="23" name="TextBox 22"/>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6B7C85"/>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822960" y="310896"/>
            <a:ext cx="106070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C8552F"/>
                </a:solidFill>
                <a:latin typeface="Calibri"/>
              </a:rPr>
              <a:t>LEAKAGE</a:t>
            </a:r>
          </a:p>
        </p:txBody>
      </p:sp>
      <p:sp>
        <p:nvSpPr>
          <p:cNvPr id="3" name="TextBox 2"/>
          <p:cNvSpPr txBox="1"/>
          <p:nvPr/>
        </p:nvSpPr>
        <p:spPr>
          <a:xfrm>
            <a:off x="822960" y="566928"/>
            <a:ext cx="10607040" cy="914400"/>
          </a:xfrm>
          <a:prstGeom prst="rect">
            <a:avLst/>
          </a:prstGeom>
          <a:noFill/>
        </p:spPr>
        <p:txBody>
          <a:bodyPr wrap="square" anchor="t" lIns="0" rIns="0" tIns="0" bIns="0">
            <a:spAutoFit/>
          </a:bodyPr>
          <a:lstStyle/>
          <a:p>
            <a:pPr algn="l">
              <a:lnSpc>
                <a:spcPct val="105000"/>
              </a:lnSpc>
              <a:spcAft>
                <a:spcPts val="0"/>
              </a:spcAft>
            </a:pPr>
            <a:r>
              <a:rPr sz="3400" b="1" i="0">
                <a:solidFill>
                  <a:srgbClr val="0F2A35"/>
                </a:solidFill>
                <a:latin typeface="Cambria"/>
              </a:rPr>
              <a:t>Two rules, because a leak would flatter every number after it.</a:t>
            </a:r>
          </a:p>
        </p:txBody>
      </p:sp>
      <p:sp>
        <p:nvSpPr>
          <p:cNvPr id="4" name="TextBox 3"/>
          <p:cNvSpPr txBox="1"/>
          <p:nvPr/>
        </p:nvSpPr>
        <p:spPr>
          <a:xfrm>
            <a:off x="822960" y="1572768"/>
            <a:ext cx="10332720" cy="640080"/>
          </a:xfrm>
          <a:prstGeom prst="rect">
            <a:avLst/>
          </a:prstGeom>
          <a:noFill/>
        </p:spPr>
        <p:txBody>
          <a:bodyPr wrap="square" anchor="t" lIns="0" rIns="0" tIns="0" bIns="0">
            <a:spAutoFit/>
          </a:bodyPr>
          <a:lstStyle/>
          <a:p>
            <a:pPr algn="l">
              <a:lnSpc>
                <a:spcPct val="150000"/>
              </a:lnSpc>
              <a:spcAft>
                <a:spcPts val="0"/>
              </a:spcAft>
            </a:pPr>
            <a:r>
              <a:rPr sz="1450" b="0" i="0">
                <a:solidFill>
                  <a:srgbClr val="0F2A35"/>
                </a:solidFill>
                <a:latin typeface="Calibri"/>
              </a:rPr>
              <a:t>A feature that quietly reads the year it is meant to predict will score beautifully and mean nothing. We did not trust ourselves to avoid that by being careful, so we tested for it twice.</a:t>
            </a:r>
          </a:p>
        </p:txBody>
      </p:sp>
      <p:sp>
        <p:nvSpPr>
          <p:cNvPr id="5" name="Rounded Rectangle 4"/>
          <p:cNvSpPr/>
          <p:nvPr/>
        </p:nvSpPr>
        <p:spPr>
          <a:xfrm>
            <a:off x="822960" y="2487168"/>
            <a:ext cx="4983480" cy="23774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07008" y="2761488"/>
            <a:ext cx="4206240" cy="274320"/>
          </a:xfrm>
          <a:prstGeom prst="rect">
            <a:avLst/>
          </a:prstGeom>
          <a:noFill/>
        </p:spPr>
        <p:txBody>
          <a:bodyPr wrap="square" anchor="t" lIns="0" rIns="0" tIns="0" bIns="0">
            <a:spAutoFit/>
          </a:bodyPr>
          <a:lstStyle/>
          <a:p>
            <a:pPr algn="l">
              <a:lnSpc>
                <a:spcPct val="125000"/>
              </a:lnSpc>
              <a:spcAft>
                <a:spcPts val="0"/>
              </a:spcAft>
            </a:pPr>
            <a:r>
              <a:rPr sz="1050" b="1" i="0">
                <a:solidFill>
                  <a:srgbClr val="C8552F"/>
                </a:solidFill>
                <a:latin typeface="Calibri"/>
              </a:rPr>
              <a:t>RULE ONE</a:t>
            </a:r>
          </a:p>
        </p:txBody>
      </p:sp>
      <p:sp>
        <p:nvSpPr>
          <p:cNvPr id="7" name="TextBox 6"/>
          <p:cNvSpPr txBox="1"/>
          <p:nvPr/>
        </p:nvSpPr>
        <p:spPr>
          <a:xfrm>
            <a:off x="1207008" y="3072384"/>
            <a:ext cx="4206240" cy="411480"/>
          </a:xfrm>
          <a:prstGeom prst="rect">
            <a:avLst/>
          </a:prstGeom>
          <a:noFill/>
        </p:spPr>
        <p:txBody>
          <a:bodyPr wrap="square" anchor="t" lIns="0" rIns="0" tIns="0" bIns="0">
            <a:spAutoFit/>
          </a:bodyPr>
          <a:lstStyle/>
          <a:p>
            <a:pPr algn="l">
              <a:lnSpc>
                <a:spcPct val="125000"/>
              </a:lnSpc>
              <a:spcAft>
                <a:spcPts val="0"/>
              </a:spcAft>
            </a:pPr>
            <a:r>
              <a:rPr sz="2100" b="1" i="0">
                <a:solidFill>
                  <a:srgbClr val="0F2A35"/>
                </a:solidFill>
                <a:latin typeface="Cambria"/>
              </a:rPr>
              <a:t>Recomputation</a:t>
            </a:r>
          </a:p>
        </p:txBody>
      </p:sp>
      <p:sp>
        <p:nvSpPr>
          <p:cNvPr id="8" name="TextBox 7"/>
          <p:cNvSpPr txBox="1"/>
          <p:nvPr/>
        </p:nvSpPr>
        <p:spPr>
          <a:xfrm>
            <a:off x="1207008" y="3602736"/>
            <a:ext cx="4224528" cy="1188720"/>
          </a:xfrm>
          <a:prstGeom prst="rect">
            <a:avLst/>
          </a:prstGeom>
          <a:noFill/>
        </p:spPr>
        <p:txBody>
          <a:bodyPr wrap="square" anchor="t" lIns="0" rIns="0" tIns="0" bIns="0">
            <a:spAutoFit/>
          </a:bodyPr>
          <a:lstStyle/>
          <a:p>
            <a:pPr algn="l">
              <a:lnSpc>
                <a:spcPct val="145000"/>
              </a:lnSpc>
              <a:spcAft>
                <a:spcPts val="0"/>
              </a:spcAft>
            </a:pPr>
            <a:r>
              <a:rPr sz="1250" b="0" i="0">
                <a:solidFill>
                  <a:srgbClr val="0F2A35"/>
                </a:solidFill>
                <a:latin typeface="Calibri"/>
              </a:rPr>
              <a:t>Every fire-history feature is rebuilt from years strictly before the target year, in one function that both the training path and the forecast path call. A second implementation would have drifted, and the drift would have been silent — the forecast has no label to check itself against.</a:t>
            </a:r>
          </a:p>
        </p:txBody>
      </p:sp>
      <p:sp>
        <p:nvSpPr>
          <p:cNvPr id="9" name="Rounded Rectangle 8"/>
          <p:cNvSpPr/>
          <p:nvPr/>
        </p:nvSpPr>
        <p:spPr>
          <a:xfrm>
            <a:off x="6355080" y="2487168"/>
            <a:ext cx="4983480" cy="23774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39128" y="2761488"/>
            <a:ext cx="4206240" cy="274320"/>
          </a:xfrm>
          <a:prstGeom prst="rect">
            <a:avLst/>
          </a:prstGeom>
          <a:noFill/>
        </p:spPr>
        <p:txBody>
          <a:bodyPr wrap="square" anchor="t" lIns="0" rIns="0" tIns="0" bIns="0">
            <a:spAutoFit/>
          </a:bodyPr>
          <a:lstStyle/>
          <a:p>
            <a:pPr algn="l">
              <a:lnSpc>
                <a:spcPct val="125000"/>
              </a:lnSpc>
              <a:spcAft>
                <a:spcPts val="0"/>
              </a:spcAft>
            </a:pPr>
            <a:r>
              <a:rPr sz="1050" b="1" i="0">
                <a:solidFill>
                  <a:srgbClr val="C8552F"/>
                </a:solidFill>
                <a:latin typeface="Calibri"/>
              </a:rPr>
              <a:t>RULE TWO</a:t>
            </a:r>
          </a:p>
        </p:txBody>
      </p:sp>
      <p:sp>
        <p:nvSpPr>
          <p:cNvPr id="11" name="TextBox 10"/>
          <p:cNvSpPr txBox="1"/>
          <p:nvPr/>
        </p:nvSpPr>
        <p:spPr>
          <a:xfrm>
            <a:off x="6739128" y="3072384"/>
            <a:ext cx="4206240" cy="411480"/>
          </a:xfrm>
          <a:prstGeom prst="rect">
            <a:avLst/>
          </a:prstGeom>
          <a:noFill/>
        </p:spPr>
        <p:txBody>
          <a:bodyPr wrap="square" anchor="t" lIns="0" rIns="0" tIns="0" bIns="0">
            <a:spAutoFit/>
          </a:bodyPr>
          <a:lstStyle/>
          <a:p>
            <a:pPr algn="l">
              <a:lnSpc>
                <a:spcPct val="125000"/>
              </a:lnSpc>
              <a:spcAft>
                <a:spcPts val="0"/>
              </a:spcAft>
            </a:pPr>
            <a:r>
              <a:rPr sz="2100" b="1" i="0">
                <a:solidFill>
                  <a:srgbClr val="0F2A35"/>
                </a:solidFill>
                <a:latin typeface="Cambria"/>
              </a:rPr>
              <a:t>Scrambling</a:t>
            </a:r>
          </a:p>
        </p:txBody>
      </p:sp>
      <p:sp>
        <p:nvSpPr>
          <p:cNvPr id="12" name="TextBox 11"/>
          <p:cNvSpPr txBox="1"/>
          <p:nvPr/>
        </p:nvSpPr>
        <p:spPr>
          <a:xfrm>
            <a:off x="6739128" y="3602736"/>
            <a:ext cx="4224528" cy="1188720"/>
          </a:xfrm>
          <a:prstGeom prst="rect">
            <a:avLst/>
          </a:prstGeom>
          <a:noFill/>
        </p:spPr>
        <p:txBody>
          <a:bodyPr wrap="square" anchor="t" lIns="0" rIns="0" tIns="0" bIns="0">
            <a:spAutoFit/>
          </a:bodyPr>
          <a:lstStyle/>
          <a:p>
            <a:pPr algn="l">
              <a:lnSpc>
                <a:spcPct val="145000"/>
              </a:lnSpc>
              <a:spcAft>
                <a:spcPts val="0"/>
              </a:spcAft>
            </a:pPr>
            <a:r>
              <a:rPr sz="1250" b="0" i="0">
                <a:solidFill>
                  <a:srgbClr val="0F2A35"/>
                </a:solidFill>
                <a:latin typeface="Calibri"/>
              </a:rPr>
              <a:t>We shuffled one year's labels and rebuilt the features. If anything were reading the answer, the scores would have collapsed or held suspiciously steady. They moved exactly as much as chance says they should.</a:t>
            </a:r>
          </a:p>
        </p:txBody>
      </p:sp>
      <p:sp>
        <p:nvSpPr>
          <p:cNvPr id="13" name="TextBox 12"/>
          <p:cNvSpPr txBox="1"/>
          <p:nvPr/>
        </p:nvSpPr>
        <p:spPr>
          <a:xfrm>
            <a:off x="822960" y="5175504"/>
            <a:ext cx="10424160" cy="457200"/>
          </a:xfrm>
          <a:prstGeom prst="rect">
            <a:avLst/>
          </a:prstGeom>
          <a:noFill/>
        </p:spPr>
        <p:txBody>
          <a:bodyPr wrap="square" anchor="t" lIns="0" rIns="0" tIns="0" bIns="0">
            <a:spAutoFit/>
          </a:bodyPr>
          <a:lstStyle/>
          <a:p>
            <a:pPr algn="l">
              <a:lnSpc>
                <a:spcPct val="140000"/>
              </a:lnSpc>
              <a:spcAft>
                <a:spcPts val="0"/>
              </a:spcAft>
            </a:pPr>
            <a:r>
              <a:rPr sz="1300" b="0" i="0">
                <a:solidFill>
                  <a:srgbClr val="6B7C85"/>
                </a:solidFill>
                <a:latin typeface="Calibri"/>
              </a:rPr>
              <a:t>Both checks are scripts in the repository, not claims in a slide.</a:t>
            </a:r>
          </a:p>
        </p:txBody>
      </p:sp>
      <p:sp>
        <p:nvSpPr>
          <p:cNvPr id="14" name="TextBox 13"/>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6B7C85"/>
                </a:solidFill>
                <a:latin typeface="Calibri"/>
              </a:rPr>
              <a:t>Saira Zafar</a:t>
            </a:r>
          </a:p>
        </p:txBody>
      </p:sp>
      <p:sp>
        <p:nvSpPr>
          <p:cNvPr id="15" name="TextBox 14"/>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6B7C85"/>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822960" y="310896"/>
            <a:ext cx="106070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C8552F"/>
                </a:solidFill>
                <a:latin typeface="Calibri"/>
              </a:rPr>
              <a:t>VALIDATION</a:t>
            </a:r>
          </a:p>
        </p:txBody>
      </p:sp>
      <p:sp>
        <p:nvSpPr>
          <p:cNvPr id="3" name="TextBox 2"/>
          <p:cNvSpPr txBox="1"/>
          <p:nvPr/>
        </p:nvSpPr>
        <p:spPr>
          <a:xfrm>
            <a:off x="822960" y="566928"/>
            <a:ext cx="10607040" cy="914400"/>
          </a:xfrm>
          <a:prstGeom prst="rect">
            <a:avLst/>
          </a:prstGeom>
          <a:noFill/>
        </p:spPr>
        <p:txBody>
          <a:bodyPr wrap="square" anchor="t" lIns="0" rIns="0" tIns="0" bIns="0">
            <a:spAutoFit/>
          </a:bodyPr>
          <a:lstStyle/>
          <a:p>
            <a:pPr algn="l">
              <a:lnSpc>
                <a:spcPct val="105000"/>
              </a:lnSpc>
              <a:spcAft>
                <a:spcPts val="0"/>
              </a:spcAft>
            </a:pPr>
            <a:r>
              <a:rPr sz="3400" b="1" i="0">
                <a:solidFill>
                  <a:srgbClr val="0F2A35"/>
                </a:solidFill>
                <a:latin typeface="Cambria"/>
              </a:rPr>
              <a:t>Split by time, never at random.</a:t>
            </a:r>
          </a:p>
        </p:txBody>
      </p:sp>
      <p:sp>
        <p:nvSpPr>
          <p:cNvPr id="4" name="TextBox 3"/>
          <p:cNvSpPr txBox="1"/>
          <p:nvPr/>
        </p:nvSpPr>
        <p:spPr>
          <a:xfrm>
            <a:off x="822960" y="1572768"/>
            <a:ext cx="10332720" cy="685800"/>
          </a:xfrm>
          <a:prstGeom prst="rect">
            <a:avLst/>
          </a:prstGeom>
          <a:noFill/>
        </p:spPr>
        <p:txBody>
          <a:bodyPr wrap="square" anchor="t" lIns="0" rIns="0" tIns="0" bIns="0">
            <a:spAutoFit/>
          </a:bodyPr>
          <a:lstStyle/>
          <a:p>
            <a:pPr algn="l">
              <a:lnSpc>
                <a:spcPct val="150000"/>
              </a:lnSpc>
              <a:spcAft>
                <a:spcPts val="0"/>
              </a:spcAft>
            </a:pPr>
            <a:r>
              <a:rPr sz="1450" b="0" i="0">
                <a:solidFill>
                  <a:srgbClr val="0F2A35"/>
                </a:solidFill>
                <a:latin typeface="Calibri"/>
              </a:rPr>
              <a:t>Fire years are not independent draws. A random shuffle would put 2024 in training and 2023 in test, and the model would be reading its own future. So the record is cut in chronological order and the last three years are never touched until the end.</a:t>
            </a:r>
          </a:p>
        </p:txBody>
      </p:sp>
      <p:sp>
        <p:nvSpPr>
          <p:cNvPr id="5" name="Rounded Rectangle 4"/>
          <p:cNvSpPr/>
          <p:nvPr/>
        </p:nvSpPr>
        <p:spPr>
          <a:xfrm>
            <a:off x="822960" y="2743200"/>
            <a:ext cx="5989320" cy="1170432"/>
          </a:xfrm>
          <a:prstGeom prst="roundRect">
            <a:avLst>
              <a:gd name="adj" fmla="val 4000"/>
            </a:avLst>
          </a:prstGeom>
          <a:solidFill>
            <a:srgbClr val="245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33856" y="2944368"/>
            <a:ext cx="5440680" cy="365760"/>
          </a:xfrm>
          <a:prstGeom prst="rect">
            <a:avLst/>
          </a:prstGeom>
          <a:noFill/>
        </p:spPr>
        <p:txBody>
          <a:bodyPr wrap="square" anchor="t" lIns="0" rIns="0" tIns="0" bIns="0">
            <a:spAutoFit/>
          </a:bodyPr>
          <a:lstStyle/>
          <a:p>
            <a:pPr algn="l">
              <a:lnSpc>
                <a:spcPct val="125000"/>
              </a:lnSpc>
              <a:spcAft>
                <a:spcPts val="0"/>
              </a:spcAft>
            </a:pPr>
            <a:r>
              <a:rPr sz="1900" b="1" i="0">
                <a:solidFill>
                  <a:srgbClr val="FFFFFF"/>
                </a:solidFill>
                <a:latin typeface="Cambria"/>
              </a:rPr>
              <a:t>Train</a:t>
            </a:r>
          </a:p>
        </p:txBody>
      </p:sp>
      <p:sp>
        <p:nvSpPr>
          <p:cNvPr id="7" name="TextBox 6"/>
          <p:cNvSpPr txBox="1"/>
          <p:nvPr/>
        </p:nvSpPr>
        <p:spPr>
          <a:xfrm>
            <a:off x="1133856" y="3346704"/>
            <a:ext cx="5440680" cy="320040"/>
          </a:xfrm>
          <a:prstGeom prst="rect">
            <a:avLst/>
          </a:prstGeom>
          <a:noFill/>
        </p:spPr>
        <p:txBody>
          <a:bodyPr wrap="square" anchor="t" lIns="0" rIns="0" tIns="0" bIns="0">
            <a:spAutoFit/>
          </a:bodyPr>
          <a:lstStyle/>
          <a:p>
            <a:pPr algn="l">
              <a:lnSpc>
                <a:spcPct val="125000"/>
              </a:lnSpc>
              <a:spcAft>
                <a:spcPts val="0"/>
              </a:spcAft>
            </a:pPr>
            <a:r>
              <a:rPr sz="1400" b="0" i="0">
                <a:solidFill>
                  <a:srgbClr val="FFFFFF"/>
                </a:solidFill>
                <a:latin typeface="Calibri"/>
              </a:rPr>
              <a:t>2005 – 2019</a:t>
            </a:r>
          </a:p>
        </p:txBody>
      </p:sp>
      <p:sp>
        <p:nvSpPr>
          <p:cNvPr id="8" name="TextBox 7"/>
          <p:cNvSpPr txBox="1"/>
          <p:nvPr/>
        </p:nvSpPr>
        <p:spPr>
          <a:xfrm>
            <a:off x="1133856" y="3639312"/>
            <a:ext cx="5440680" cy="274320"/>
          </a:xfrm>
          <a:prstGeom prst="rect">
            <a:avLst/>
          </a:prstGeom>
          <a:noFill/>
        </p:spPr>
        <p:txBody>
          <a:bodyPr wrap="square" anchor="t" lIns="0" rIns="0" tIns="0" bIns="0">
            <a:spAutoFit/>
          </a:bodyPr>
          <a:lstStyle/>
          <a:p>
            <a:pPr algn="l">
              <a:lnSpc>
                <a:spcPct val="125000"/>
              </a:lnSpc>
              <a:spcAft>
                <a:spcPts val="0"/>
              </a:spcAft>
            </a:pPr>
            <a:r>
              <a:rPr sz="1050" b="0" i="0">
                <a:solidFill>
                  <a:srgbClr val="E4EEF2"/>
                </a:solidFill>
                <a:latin typeface="Calibri"/>
              </a:rPr>
              <a:t>fifteen years</a:t>
            </a:r>
          </a:p>
        </p:txBody>
      </p:sp>
      <p:sp>
        <p:nvSpPr>
          <p:cNvPr id="9" name="Rounded Rectangle 8"/>
          <p:cNvSpPr/>
          <p:nvPr/>
        </p:nvSpPr>
        <p:spPr>
          <a:xfrm>
            <a:off x="6967728" y="2743200"/>
            <a:ext cx="1600200" cy="1170432"/>
          </a:xfrm>
          <a:prstGeom prst="roundRect">
            <a:avLst>
              <a:gd name="adj" fmla="val 4000"/>
            </a:avLst>
          </a:prstGeom>
          <a:solidFill>
            <a:srgbClr val="4A9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278624" y="2944368"/>
            <a:ext cx="1051560" cy="365760"/>
          </a:xfrm>
          <a:prstGeom prst="rect">
            <a:avLst/>
          </a:prstGeom>
          <a:noFill/>
        </p:spPr>
        <p:txBody>
          <a:bodyPr wrap="square" anchor="t" lIns="0" rIns="0" tIns="0" bIns="0">
            <a:spAutoFit/>
          </a:bodyPr>
          <a:lstStyle/>
          <a:p>
            <a:pPr algn="l">
              <a:lnSpc>
                <a:spcPct val="125000"/>
              </a:lnSpc>
              <a:spcAft>
                <a:spcPts val="0"/>
              </a:spcAft>
            </a:pPr>
            <a:r>
              <a:rPr sz="1900" b="1" i="0">
                <a:solidFill>
                  <a:srgbClr val="FFFFFF"/>
                </a:solidFill>
                <a:latin typeface="Cambria"/>
              </a:rPr>
              <a:t>Tune</a:t>
            </a:r>
          </a:p>
        </p:txBody>
      </p:sp>
      <p:sp>
        <p:nvSpPr>
          <p:cNvPr id="11" name="TextBox 10"/>
          <p:cNvSpPr txBox="1"/>
          <p:nvPr/>
        </p:nvSpPr>
        <p:spPr>
          <a:xfrm>
            <a:off x="7278624" y="3346704"/>
            <a:ext cx="1051560" cy="320040"/>
          </a:xfrm>
          <a:prstGeom prst="rect">
            <a:avLst/>
          </a:prstGeom>
          <a:noFill/>
        </p:spPr>
        <p:txBody>
          <a:bodyPr wrap="square" anchor="t" lIns="0" rIns="0" tIns="0" bIns="0">
            <a:spAutoFit/>
          </a:bodyPr>
          <a:lstStyle/>
          <a:p>
            <a:pPr algn="l">
              <a:lnSpc>
                <a:spcPct val="125000"/>
              </a:lnSpc>
              <a:spcAft>
                <a:spcPts val="0"/>
              </a:spcAft>
            </a:pPr>
            <a:r>
              <a:rPr sz="1400" b="0" i="0">
                <a:solidFill>
                  <a:srgbClr val="FFFFFF"/>
                </a:solidFill>
                <a:latin typeface="Calibri"/>
              </a:rPr>
              <a:t>2020 – 2022</a:t>
            </a:r>
          </a:p>
        </p:txBody>
      </p:sp>
      <p:sp>
        <p:nvSpPr>
          <p:cNvPr id="12" name="TextBox 11"/>
          <p:cNvSpPr txBox="1"/>
          <p:nvPr/>
        </p:nvSpPr>
        <p:spPr>
          <a:xfrm>
            <a:off x="7278624" y="3639312"/>
            <a:ext cx="1051560" cy="274320"/>
          </a:xfrm>
          <a:prstGeom prst="rect">
            <a:avLst/>
          </a:prstGeom>
          <a:noFill/>
        </p:spPr>
        <p:txBody>
          <a:bodyPr wrap="square" anchor="t" lIns="0" rIns="0" tIns="0" bIns="0">
            <a:spAutoFit/>
          </a:bodyPr>
          <a:lstStyle/>
          <a:p>
            <a:pPr algn="l">
              <a:lnSpc>
                <a:spcPct val="125000"/>
              </a:lnSpc>
              <a:spcAft>
                <a:spcPts val="0"/>
              </a:spcAft>
            </a:pPr>
            <a:r>
              <a:rPr sz="1050" b="0" i="0">
                <a:solidFill>
                  <a:srgbClr val="E4EEF2"/>
                </a:solidFill>
                <a:latin typeface="Calibri"/>
              </a:rPr>
              <a:t>three years</a:t>
            </a:r>
          </a:p>
        </p:txBody>
      </p:sp>
      <p:sp>
        <p:nvSpPr>
          <p:cNvPr id="13" name="Rounded Rectangle 12"/>
          <p:cNvSpPr/>
          <p:nvPr/>
        </p:nvSpPr>
        <p:spPr>
          <a:xfrm>
            <a:off x="8705088" y="2743200"/>
            <a:ext cx="2651760" cy="1170432"/>
          </a:xfrm>
          <a:prstGeom prst="roundRect">
            <a:avLst>
              <a:gd name="adj" fmla="val 4000"/>
            </a:avLst>
          </a:prstGeom>
          <a:solidFill>
            <a:srgbClr val="C85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015984" y="2944368"/>
            <a:ext cx="2103120" cy="365760"/>
          </a:xfrm>
          <a:prstGeom prst="rect">
            <a:avLst/>
          </a:prstGeom>
          <a:noFill/>
        </p:spPr>
        <p:txBody>
          <a:bodyPr wrap="square" anchor="t" lIns="0" rIns="0" tIns="0" bIns="0">
            <a:spAutoFit/>
          </a:bodyPr>
          <a:lstStyle/>
          <a:p>
            <a:pPr algn="l">
              <a:lnSpc>
                <a:spcPct val="125000"/>
              </a:lnSpc>
              <a:spcAft>
                <a:spcPts val="0"/>
              </a:spcAft>
            </a:pPr>
            <a:r>
              <a:rPr sz="1900" b="1" i="0">
                <a:solidFill>
                  <a:srgbClr val="FFFFFF"/>
                </a:solidFill>
                <a:latin typeface="Cambria"/>
              </a:rPr>
              <a:t>Test</a:t>
            </a:r>
          </a:p>
        </p:txBody>
      </p:sp>
      <p:sp>
        <p:nvSpPr>
          <p:cNvPr id="15" name="TextBox 14"/>
          <p:cNvSpPr txBox="1"/>
          <p:nvPr/>
        </p:nvSpPr>
        <p:spPr>
          <a:xfrm>
            <a:off x="9015984" y="3346704"/>
            <a:ext cx="2103120" cy="320040"/>
          </a:xfrm>
          <a:prstGeom prst="rect">
            <a:avLst/>
          </a:prstGeom>
          <a:noFill/>
        </p:spPr>
        <p:txBody>
          <a:bodyPr wrap="square" anchor="t" lIns="0" rIns="0" tIns="0" bIns="0">
            <a:spAutoFit/>
          </a:bodyPr>
          <a:lstStyle/>
          <a:p>
            <a:pPr algn="l">
              <a:lnSpc>
                <a:spcPct val="125000"/>
              </a:lnSpc>
              <a:spcAft>
                <a:spcPts val="0"/>
              </a:spcAft>
            </a:pPr>
            <a:r>
              <a:rPr sz="1400" b="0" i="0">
                <a:solidFill>
                  <a:srgbClr val="FFFFFF"/>
                </a:solidFill>
                <a:latin typeface="Calibri"/>
              </a:rPr>
              <a:t>2023 – 2025</a:t>
            </a:r>
          </a:p>
        </p:txBody>
      </p:sp>
      <p:sp>
        <p:nvSpPr>
          <p:cNvPr id="16" name="TextBox 15"/>
          <p:cNvSpPr txBox="1"/>
          <p:nvPr/>
        </p:nvSpPr>
        <p:spPr>
          <a:xfrm>
            <a:off x="9015984" y="3639312"/>
            <a:ext cx="2103120" cy="274320"/>
          </a:xfrm>
          <a:prstGeom prst="rect">
            <a:avLst/>
          </a:prstGeom>
          <a:noFill/>
        </p:spPr>
        <p:txBody>
          <a:bodyPr wrap="square" anchor="t" lIns="0" rIns="0" tIns="0" bIns="0">
            <a:spAutoFit/>
          </a:bodyPr>
          <a:lstStyle/>
          <a:p>
            <a:pPr algn="l">
              <a:lnSpc>
                <a:spcPct val="125000"/>
              </a:lnSpc>
              <a:spcAft>
                <a:spcPts val="0"/>
              </a:spcAft>
            </a:pPr>
            <a:r>
              <a:rPr sz="1050" b="0" i="0">
                <a:solidFill>
                  <a:srgbClr val="E4EEF2"/>
                </a:solidFill>
                <a:latin typeface="Calibri"/>
              </a:rPr>
              <a:t>three years, seen once</a:t>
            </a:r>
          </a:p>
        </p:txBody>
      </p:sp>
      <p:sp>
        <p:nvSpPr>
          <p:cNvPr id="17" name="TextBox 16"/>
          <p:cNvSpPr txBox="1"/>
          <p:nvPr/>
        </p:nvSpPr>
        <p:spPr>
          <a:xfrm>
            <a:off x="822960" y="4133087"/>
            <a:ext cx="10515600" cy="320040"/>
          </a:xfrm>
          <a:prstGeom prst="rect">
            <a:avLst/>
          </a:prstGeom>
          <a:noFill/>
        </p:spPr>
        <p:txBody>
          <a:bodyPr wrap="square" anchor="t" lIns="0" rIns="0" tIns="0" bIns="0">
            <a:spAutoFit/>
          </a:bodyPr>
          <a:lstStyle/>
          <a:p>
            <a:pPr algn="l">
              <a:lnSpc>
                <a:spcPct val="125000"/>
              </a:lnSpc>
              <a:spcAft>
                <a:spcPts val="0"/>
              </a:spcAft>
            </a:pPr>
            <a:r>
              <a:rPr sz="1100" b="0" i="0">
                <a:solidFill>
                  <a:srgbClr val="6B7C85"/>
                </a:solidFill>
                <a:latin typeface="Calibri"/>
              </a:rPr>
              <a:t>2005</a:t>
            </a:r>
          </a:p>
        </p:txBody>
      </p:sp>
      <p:sp>
        <p:nvSpPr>
          <p:cNvPr id="18" name="TextBox 17"/>
          <p:cNvSpPr txBox="1"/>
          <p:nvPr/>
        </p:nvSpPr>
        <p:spPr>
          <a:xfrm>
            <a:off x="822960" y="4133087"/>
            <a:ext cx="10515600" cy="320040"/>
          </a:xfrm>
          <a:prstGeom prst="rect">
            <a:avLst/>
          </a:prstGeom>
          <a:noFill/>
        </p:spPr>
        <p:txBody>
          <a:bodyPr wrap="square" anchor="t" lIns="0" rIns="0" tIns="0" bIns="0">
            <a:spAutoFit/>
          </a:bodyPr>
          <a:lstStyle/>
          <a:p>
            <a:pPr algn="r">
              <a:lnSpc>
                <a:spcPct val="125000"/>
              </a:lnSpc>
              <a:spcAft>
                <a:spcPts val="0"/>
              </a:spcAft>
            </a:pPr>
            <a:r>
              <a:rPr sz="1100" b="0" i="0">
                <a:solidFill>
                  <a:srgbClr val="6B7C85"/>
                </a:solidFill>
                <a:latin typeface="Calibri"/>
              </a:rPr>
              <a:t>2025</a:t>
            </a:r>
          </a:p>
        </p:txBody>
      </p:sp>
      <p:sp>
        <p:nvSpPr>
          <p:cNvPr id="19" name="Rounded Rectangle 18"/>
          <p:cNvSpPr/>
          <p:nvPr/>
        </p:nvSpPr>
        <p:spPr>
          <a:xfrm>
            <a:off x="822960" y="4800600"/>
            <a:ext cx="10515600" cy="111556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188720" y="5047488"/>
            <a:ext cx="9875520" cy="685800"/>
          </a:xfrm>
          <a:prstGeom prst="rect">
            <a:avLst/>
          </a:prstGeom>
          <a:noFill/>
        </p:spPr>
        <p:txBody>
          <a:bodyPr wrap="square" anchor="t" lIns="0" rIns="0" tIns="0" bIns="0">
            <a:spAutoFit/>
          </a:bodyPr>
          <a:lstStyle/>
          <a:p>
            <a:pPr algn="l">
              <a:lnSpc>
                <a:spcPct val="145000"/>
              </a:lnSpc>
              <a:spcAft>
                <a:spcPts val="0"/>
              </a:spcAft>
            </a:pPr>
            <a:r>
              <a:rPr sz="1300" b="1" i="0">
                <a:solidFill>
                  <a:srgbClr val="0F2A35"/>
                </a:solidFill>
                <a:latin typeface="Calibri"/>
              </a:rPr>
              <a:t>And once was once. </a:t>
            </a:r>
            <a:r>
              <a:rPr sz="1300" b="0" i="0">
                <a:solidFill>
                  <a:srgbClr val="0F2A35"/>
                </a:solidFill>
                <a:latin typeface="Calibri"/>
              </a:rPr>
              <a:t>The test years were scored a single time, at the end, after every decision about features and models had already been made. Tuning against them would have turned the held-out years into another training set.</a:t>
            </a:r>
          </a:p>
        </p:txBody>
      </p:sp>
      <p:sp>
        <p:nvSpPr>
          <p:cNvPr id="21" name="TextBox 20"/>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6B7C85"/>
                </a:solidFill>
                <a:latin typeface="Calibri"/>
              </a:rPr>
              <a:t>Saira Zafar</a:t>
            </a:r>
          </a:p>
        </p:txBody>
      </p:sp>
      <p:sp>
        <p:nvSpPr>
          <p:cNvPr id="22" name="TextBox 21"/>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6B7C85"/>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822960" y="310896"/>
            <a:ext cx="106070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C8552F"/>
                </a:solidFill>
                <a:latin typeface="Calibri"/>
              </a:rPr>
              <a:t>THE MODELS</a:t>
            </a:r>
          </a:p>
        </p:txBody>
      </p:sp>
      <p:sp>
        <p:nvSpPr>
          <p:cNvPr id="3" name="TextBox 2"/>
          <p:cNvSpPr txBox="1"/>
          <p:nvPr/>
        </p:nvSpPr>
        <p:spPr>
          <a:xfrm>
            <a:off x="822960" y="566928"/>
            <a:ext cx="10607040" cy="914400"/>
          </a:xfrm>
          <a:prstGeom prst="rect">
            <a:avLst/>
          </a:prstGeom>
          <a:noFill/>
        </p:spPr>
        <p:txBody>
          <a:bodyPr wrap="square" anchor="t" lIns="0" rIns="0" tIns="0" bIns="0">
            <a:spAutoFit/>
          </a:bodyPr>
          <a:lstStyle/>
          <a:p>
            <a:pPr algn="l">
              <a:lnSpc>
                <a:spcPct val="105000"/>
              </a:lnSpc>
              <a:spcAft>
                <a:spcPts val="0"/>
              </a:spcAft>
            </a:pPr>
            <a:r>
              <a:rPr sz="3400" b="1" i="0">
                <a:solidFill>
                  <a:srgbClr val="0F2A35"/>
                </a:solidFill>
                <a:latin typeface="Cambria"/>
              </a:rPr>
              <a:t>Six models, two baselines, and one correction for imbalance.</a:t>
            </a:r>
          </a:p>
        </p:txBody>
      </p:sp>
      <p:sp>
        <p:nvSpPr>
          <p:cNvPr id="4" name="Rounded Rectangle 3"/>
          <p:cNvSpPr/>
          <p:nvPr/>
        </p:nvSpPr>
        <p:spPr>
          <a:xfrm>
            <a:off x="822960" y="1700784"/>
            <a:ext cx="128016" cy="292608"/>
          </a:xfrm>
          <a:prstGeom prst="roundRect">
            <a:avLst>
              <a:gd name="adj" fmla="val 30000"/>
            </a:avLst>
          </a:prstGeom>
          <a:solidFill>
            <a:srgbClr val="245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70432" y="1682496"/>
            <a:ext cx="2743200" cy="320040"/>
          </a:xfrm>
          <a:prstGeom prst="rect">
            <a:avLst/>
          </a:prstGeom>
          <a:noFill/>
        </p:spPr>
        <p:txBody>
          <a:bodyPr wrap="square" anchor="t" lIns="0" rIns="0" tIns="0" bIns="0">
            <a:spAutoFit/>
          </a:bodyPr>
          <a:lstStyle/>
          <a:p>
            <a:pPr algn="l">
              <a:lnSpc>
                <a:spcPct val="125000"/>
              </a:lnSpc>
              <a:spcAft>
                <a:spcPts val="0"/>
              </a:spcAft>
            </a:pPr>
            <a:r>
              <a:rPr sz="1500" b="1" i="0">
                <a:solidFill>
                  <a:srgbClr val="0F2A35"/>
                </a:solidFill>
                <a:latin typeface="Calibri"/>
              </a:rPr>
              <a:t>Decision tree</a:t>
            </a:r>
          </a:p>
        </p:txBody>
      </p:sp>
      <p:sp>
        <p:nvSpPr>
          <p:cNvPr id="6" name="TextBox 5"/>
          <p:cNvSpPr txBox="1"/>
          <p:nvPr/>
        </p:nvSpPr>
        <p:spPr>
          <a:xfrm>
            <a:off x="3840480" y="1700784"/>
            <a:ext cx="2377440" cy="292608"/>
          </a:xfrm>
          <a:prstGeom prst="rect">
            <a:avLst/>
          </a:prstGeom>
          <a:noFill/>
        </p:spPr>
        <p:txBody>
          <a:bodyPr wrap="square" anchor="t" lIns="0" rIns="0" tIns="0" bIns="0">
            <a:spAutoFit/>
          </a:bodyPr>
          <a:lstStyle/>
          <a:p>
            <a:pPr algn="l">
              <a:lnSpc>
                <a:spcPct val="125000"/>
              </a:lnSpc>
              <a:spcAft>
                <a:spcPts val="0"/>
              </a:spcAft>
            </a:pPr>
            <a:r>
              <a:rPr sz="1200" b="0" i="0">
                <a:solidFill>
                  <a:srgbClr val="6B7C85"/>
                </a:solidFill>
                <a:latin typeface="Calibri"/>
              </a:rPr>
              <a:t>the readable one</a:t>
            </a:r>
          </a:p>
        </p:txBody>
      </p:sp>
      <p:sp>
        <p:nvSpPr>
          <p:cNvPr id="7" name="Rounded Rectangle 6"/>
          <p:cNvSpPr/>
          <p:nvPr/>
        </p:nvSpPr>
        <p:spPr>
          <a:xfrm>
            <a:off x="822960" y="2212848"/>
            <a:ext cx="128016" cy="292608"/>
          </a:xfrm>
          <a:prstGeom prst="roundRect">
            <a:avLst>
              <a:gd name="adj" fmla="val 30000"/>
            </a:avLst>
          </a:prstGeom>
          <a:solidFill>
            <a:srgbClr val="245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70432" y="2194560"/>
            <a:ext cx="2743200" cy="320040"/>
          </a:xfrm>
          <a:prstGeom prst="rect">
            <a:avLst/>
          </a:prstGeom>
          <a:noFill/>
        </p:spPr>
        <p:txBody>
          <a:bodyPr wrap="square" anchor="t" lIns="0" rIns="0" tIns="0" bIns="0">
            <a:spAutoFit/>
          </a:bodyPr>
          <a:lstStyle/>
          <a:p>
            <a:pPr algn="l">
              <a:lnSpc>
                <a:spcPct val="125000"/>
              </a:lnSpc>
              <a:spcAft>
                <a:spcPts val="0"/>
              </a:spcAft>
            </a:pPr>
            <a:r>
              <a:rPr sz="1500" b="1" i="0">
                <a:solidFill>
                  <a:srgbClr val="0F2A35"/>
                </a:solidFill>
                <a:latin typeface="Calibri"/>
              </a:rPr>
              <a:t>Random forest</a:t>
            </a:r>
          </a:p>
        </p:txBody>
      </p:sp>
      <p:sp>
        <p:nvSpPr>
          <p:cNvPr id="9" name="TextBox 8"/>
          <p:cNvSpPr txBox="1"/>
          <p:nvPr/>
        </p:nvSpPr>
        <p:spPr>
          <a:xfrm>
            <a:off x="3840480" y="2212848"/>
            <a:ext cx="2377440" cy="292608"/>
          </a:xfrm>
          <a:prstGeom prst="rect">
            <a:avLst/>
          </a:prstGeom>
          <a:noFill/>
        </p:spPr>
        <p:txBody>
          <a:bodyPr wrap="square" anchor="t" lIns="0" rIns="0" tIns="0" bIns="0">
            <a:spAutoFit/>
          </a:bodyPr>
          <a:lstStyle/>
          <a:p>
            <a:pPr algn="l">
              <a:lnSpc>
                <a:spcPct val="125000"/>
              </a:lnSpc>
              <a:spcAft>
                <a:spcPts val="0"/>
              </a:spcAft>
            </a:pPr>
            <a:r>
              <a:rPr sz="1200" b="0" i="0">
                <a:solidFill>
                  <a:srgbClr val="6B7C85"/>
                </a:solidFill>
                <a:latin typeface="Calibri"/>
              </a:rPr>
              <a:t>many trees, voting</a:t>
            </a:r>
          </a:p>
        </p:txBody>
      </p:sp>
      <p:sp>
        <p:nvSpPr>
          <p:cNvPr id="10" name="Rounded Rectangle 9"/>
          <p:cNvSpPr/>
          <p:nvPr/>
        </p:nvSpPr>
        <p:spPr>
          <a:xfrm>
            <a:off x="822960" y="2724912"/>
            <a:ext cx="128016" cy="292608"/>
          </a:xfrm>
          <a:prstGeom prst="roundRect">
            <a:avLst>
              <a:gd name="adj" fmla="val 30000"/>
            </a:avLst>
          </a:prstGeom>
          <a:solidFill>
            <a:srgbClr val="245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170432" y="2706624"/>
            <a:ext cx="2743200" cy="320040"/>
          </a:xfrm>
          <a:prstGeom prst="rect">
            <a:avLst/>
          </a:prstGeom>
          <a:noFill/>
        </p:spPr>
        <p:txBody>
          <a:bodyPr wrap="square" anchor="t" lIns="0" rIns="0" tIns="0" bIns="0">
            <a:spAutoFit/>
          </a:bodyPr>
          <a:lstStyle/>
          <a:p>
            <a:pPr algn="l">
              <a:lnSpc>
                <a:spcPct val="125000"/>
              </a:lnSpc>
              <a:spcAft>
                <a:spcPts val="0"/>
              </a:spcAft>
            </a:pPr>
            <a:r>
              <a:rPr sz="1500" b="1" i="0">
                <a:solidFill>
                  <a:srgbClr val="0F2A35"/>
                </a:solidFill>
                <a:latin typeface="Calibri"/>
              </a:rPr>
              <a:t>Naive Bayes</a:t>
            </a:r>
          </a:p>
        </p:txBody>
      </p:sp>
      <p:sp>
        <p:nvSpPr>
          <p:cNvPr id="12" name="TextBox 11"/>
          <p:cNvSpPr txBox="1"/>
          <p:nvPr/>
        </p:nvSpPr>
        <p:spPr>
          <a:xfrm>
            <a:off x="3840480" y="2724912"/>
            <a:ext cx="2377440" cy="292608"/>
          </a:xfrm>
          <a:prstGeom prst="rect">
            <a:avLst/>
          </a:prstGeom>
          <a:noFill/>
        </p:spPr>
        <p:txBody>
          <a:bodyPr wrap="square" anchor="t" lIns="0" rIns="0" tIns="0" bIns="0">
            <a:spAutoFit/>
          </a:bodyPr>
          <a:lstStyle/>
          <a:p>
            <a:pPr algn="l">
              <a:lnSpc>
                <a:spcPct val="125000"/>
              </a:lnSpc>
              <a:spcAft>
                <a:spcPts val="0"/>
              </a:spcAft>
            </a:pPr>
            <a:r>
              <a:rPr sz="1200" b="0" i="0">
                <a:solidFill>
                  <a:srgbClr val="6B7C85"/>
                </a:solidFill>
                <a:latin typeface="Calibri"/>
              </a:rPr>
              <a:t>the probabilistic floor</a:t>
            </a:r>
          </a:p>
        </p:txBody>
      </p:sp>
      <p:sp>
        <p:nvSpPr>
          <p:cNvPr id="13" name="Rounded Rectangle 12"/>
          <p:cNvSpPr/>
          <p:nvPr/>
        </p:nvSpPr>
        <p:spPr>
          <a:xfrm>
            <a:off x="822960" y="3236976"/>
            <a:ext cx="128016" cy="292608"/>
          </a:xfrm>
          <a:prstGeom prst="roundRect">
            <a:avLst>
              <a:gd name="adj" fmla="val 30000"/>
            </a:avLst>
          </a:prstGeom>
          <a:solidFill>
            <a:srgbClr val="245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170432" y="3218688"/>
            <a:ext cx="2743200" cy="320040"/>
          </a:xfrm>
          <a:prstGeom prst="rect">
            <a:avLst/>
          </a:prstGeom>
          <a:noFill/>
        </p:spPr>
        <p:txBody>
          <a:bodyPr wrap="square" anchor="t" lIns="0" rIns="0" tIns="0" bIns="0">
            <a:spAutoFit/>
          </a:bodyPr>
          <a:lstStyle/>
          <a:p>
            <a:pPr algn="l">
              <a:lnSpc>
                <a:spcPct val="125000"/>
              </a:lnSpc>
              <a:spcAft>
                <a:spcPts val="0"/>
              </a:spcAft>
            </a:pPr>
            <a:r>
              <a:rPr sz="1500" b="1" i="0">
                <a:solidFill>
                  <a:srgbClr val="0F2A35"/>
                </a:solidFill>
                <a:latin typeface="Calibri"/>
              </a:rPr>
              <a:t>Multilayer ANN</a:t>
            </a:r>
          </a:p>
        </p:txBody>
      </p:sp>
      <p:sp>
        <p:nvSpPr>
          <p:cNvPr id="15" name="TextBox 14"/>
          <p:cNvSpPr txBox="1"/>
          <p:nvPr/>
        </p:nvSpPr>
        <p:spPr>
          <a:xfrm>
            <a:off x="3840480" y="3236976"/>
            <a:ext cx="2377440" cy="292608"/>
          </a:xfrm>
          <a:prstGeom prst="rect">
            <a:avLst/>
          </a:prstGeom>
          <a:noFill/>
        </p:spPr>
        <p:txBody>
          <a:bodyPr wrap="square" anchor="t" lIns="0" rIns="0" tIns="0" bIns="0">
            <a:spAutoFit/>
          </a:bodyPr>
          <a:lstStyle/>
          <a:p>
            <a:pPr algn="l">
              <a:lnSpc>
                <a:spcPct val="125000"/>
              </a:lnSpc>
              <a:spcAft>
                <a:spcPts val="0"/>
              </a:spcAft>
            </a:pPr>
            <a:r>
              <a:rPr sz="1200" b="0" i="0">
                <a:solidFill>
                  <a:srgbClr val="6B7C85"/>
                </a:solidFill>
                <a:latin typeface="Calibri"/>
              </a:rPr>
              <a:t>a dense network</a:t>
            </a:r>
          </a:p>
        </p:txBody>
      </p:sp>
      <p:sp>
        <p:nvSpPr>
          <p:cNvPr id="16" name="Rounded Rectangle 15"/>
          <p:cNvSpPr/>
          <p:nvPr/>
        </p:nvSpPr>
        <p:spPr>
          <a:xfrm>
            <a:off x="822960" y="3749039"/>
            <a:ext cx="128016" cy="292608"/>
          </a:xfrm>
          <a:prstGeom prst="roundRect">
            <a:avLst>
              <a:gd name="adj" fmla="val 30000"/>
            </a:avLst>
          </a:prstGeom>
          <a:solidFill>
            <a:srgbClr val="245F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170432" y="3730752"/>
            <a:ext cx="2743200" cy="320040"/>
          </a:xfrm>
          <a:prstGeom prst="rect">
            <a:avLst/>
          </a:prstGeom>
          <a:noFill/>
        </p:spPr>
        <p:txBody>
          <a:bodyPr wrap="square" anchor="t" lIns="0" rIns="0" tIns="0" bIns="0">
            <a:spAutoFit/>
          </a:bodyPr>
          <a:lstStyle/>
          <a:p>
            <a:pPr algn="l">
              <a:lnSpc>
                <a:spcPct val="125000"/>
              </a:lnSpc>
              <a:spcAft>
                <a:spcPts val="0"/>
              </a:spcAft>
            </a:pPr>
            <a:r>
              <a:rPr sz="1500" b="1" i="0">
                <a:solidFill>
                  <a:srgbClr val="0F2A35"/>
                </a:solidFill>
                <a:latin typeface="Calibri"/>
              </a:rPr>
              <a:t>LSTM</a:t>
            </a:r>
          </a:p>
        </p:txBody>
      </p:sp>
      <p:sp>
        <p:nvSpPr>
          <p:cNvPr id="18" name="TextBox 17"/>
          <p:cNvSpPr txBox="1"/>
          <p:nvPr/>
        </p:nvSpPr>
        <p:spPr>
          <a:xfrm>
            <a:off x="3840480" y="3749039"/>
            <a:ext cx="2377440" cy="292608"/>
          </a:xfrm>
          <a:prstGeom prst="rect">
            <a:avLst/>
          </a:prstGeom>
          <a:noFill/>
        </p:spPr>
        <p:txBody>
          <a:bodyPr wrap="square" anchor="t" lIns="0" rIns="0" tIns="0" bIns="0">
            <a:spAutoFit/>
          </a:bodyPr>
          <a:lstStyle/>
          <a:p>
            <a:pPr algn="l">
              <a:lnSpc>
                <a:spcPct val="125000"/>
              </a:lnSpc>
              <a:spcAft>
                <a:spcPts val="0"/>
              </a:spcAft>
            </a:pPr>
            <a:r>
              <a:rPr sz="1200" b="0" i="0">
                <a:solidFill>
                  <a:srgbClr val="6B7C85"/>
                </a:solidFill>
                <a:latin typeface="Calibri"/>
              </a:rPr>
              <a:t>reads the 26-year sequence</a:t>
            </a:r>
          </a:p>
        </p:txBody>
      </p:sp>
      <p:sp>
        <p:nvSpPr>
          <p:cNvPr id="19" name="Rounded Rectangle 18"/>
          <p:cNvSpPr/>
          <p:nvPr/>
        </p:nvSpPr>
        <p:spPr>
          <a:xfrm>
            <a:off x="822960" y="4261104"/>
            <a:ext cx="128016" cy="292608"/>
          </a:xfrm>
          <a:prstGeom prst="roundRect">
            <a:avLst>
              <a:gd name="adj" fmla="val 30000"/>
            </a:avLst>
          </a:prstGeom>
          <a:solidFill>
            <a:srgbClr val="C85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170432" y="4242816"/>
            <a:ext cx="2743200" cy="320040"/>
          </a:xfrm>
          <a:prstGeom prst="rect">
            <a:avLst/>
          </a:prstGeom>
          <a:noFill/>
        </p:spPr>
        <p:txBody>
          <a:bodyPr wrap="square" anchor="t" lIns="0" rIns="0" tIns="0" bIns="0">
            <a:spAutoFit/>
          </a:bodyPr>
          <a:lstStyle/>
          <a:p>
            <a:pPr algn="l">
              <a:lnSpc>
                <a:spcPct val="125000"/>
              </a:lnSpc>
              <a:spcAft>
                <a:spcPts val="0"/>
              </a:spcAft>
            </a:pPr>
            <a:r>
              <a:rPr sz="1500" b="1" i="0">
                <a:solidFill>
                  <a:srgbClr val="0F2A35"/>
                </a:solidFill>
                <a:latin typeface="Calibri"/>
              </a:rPr>
              <a:t>Gradient boosting</a:t>
            </a:r>
          </a:p>
        </p:txBody>
      </p:sp>
      <p:sp>
        <p:nvSpPr>
          <p:cNvPr id="21" name="TextBox 20"/>
          <p:cNvSpPr txBox="1"/>
          <p:nvPr/>
        </p:nvSpPr>
        <p:spPr>
          <a:xfrm>
            <a:off x="3840480" y="4261104"/>
            <a:ext cx="2377440" cy="292608"/>
          </a:xfrm>
          <a:prstGeom prst="rect">
            <a:avLst/>
          </a:prstGeom>
          <a:noFill/>
        </p:spPr>
        <p:txBody>
          <a:bodyPr wrap="square" anchor="t" lIns="0" rIns="0" tIns="0" bIns="0">
            <a:spAutoFit/>
          </a:bodyPr>
          <a:lstStyle/>
          <a:p>
            <a:pPr algn="l">
              <a:lnSpc>
                <a:spcPct val="125000"/>
              </a:lnSpc>
              <a:spcAft>
                <a:spcPts val="0"/>
              </a:spcAft>
            </a:pPr>
            <a:r>
              <a:rPr sz="1200" b="0" i="0">
                <a:solidFill>
                  <a:srgbClr val="6B7C85"/>
                </a:solidFill>
                <a:latin typeface="Calibri"/>
              </a:rPr>
              <a:t>trees that correct each other</a:t>
            </a:r>
          </a:p>
        </p:txBody>
      </p:sp>
      <p:sp>
        <p:nvSpPr>
          <p:cNvPr id="22" name="TextBox 21"/>
          <p:cNvSpPr txBox="1"/>
          <p:nvPr/>
        </p:nvSpPr>
        <p:spPr>
          <a:xfrm>
            <a:off x="822960" y="4901184"/>
            <a:ext cx="5669280" cy="822960"/>
          </a:xfrm>
          <a:prstGeom prst="rect">
            <a:avLst/>
          </a:prstGeom>
          <a:noFill/>
        </p:spPr>
        <p:txBody>
          <a:bodyPr wrap="square" anchor="t" lIns="0" rIns="0" tIns="0" bIns="0">
            <a:spAutoFit/>
          </a:bodyPr>
          <a:lstStyle/>
          <a:p>
            <a:pPr algn="l">
              <a:lnSpc>
                <a:spcPct val="145000"/>
              </a:lnSpc>
              <a:spcAft>
                <a:spcPts val="0"/>
              </a:spcAft>
            </a:pPr>
            <a:r>
              <a:rPr sz="1300" b="1" i="0">
                <a:solidFill>
                  <a:srgbClr val="0F2A35"/>
                </a:solidFill>
                <a:latin typeface="Calibri"/>
              </a:rPr>
              <a:t>Against two baselines: </a:t>
            </a:r>
            <a:r>
              <a:rPr sz="1300" b="0" i="0">
                <a:solidFill>
                  <a:srgbClr val="0F2A35"/>
                </a:solidFill>
                <a:latin typeface="Calibri"/>
              </a:rPr>
              <a:t>"whatever happened last year" and "always say unburnt". A model that cannot beat those has learned nothing worth having.</a:t>
            </a:r>
          </a:p>
        </p:txBody>
      </p:sp>
      <p:sp>
        <p:nvSpPr>
          <p:cNvPr id="23" name="Rounded Rectangle 22"/>
          <p:cNvSpPr/>
          <p:nvPr/>
        </p:nvSpPr>
        <p:spPr>
          <a:xfrm>
            <a:off x="6858000" y="1664208"/>
            <a:ext cx="4526280" cy="374903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260336" y="1956816"/>
            <a:ext cx="3749039" cy="411480"/>
          </a:xfrm>
          <a:prstGeom prst="rect">
            <a:avLst/>
          </a:prstGeom>
          <a:noFill/>
        </p:spPr>
        <p:txBody>
          <a:bodyPr wrap="square" anchor="t" lIns="0" rIns="0" tIns="0" bIns="0">
            <a:spAutoFit/>
          </a:bodyPr>
          <a:lstStyle/>
          <a:p>
            <a:pPr algn="l">
              <a:lnSpc>
                <a:spcPct val="125000"/>
              </a:lnSpc>
              <a:spcAft>
                <a:spcPts val="0"/>
              </a:spcAft>
            </a:pPr>
            <a:r>
              <a:rPr sz="1900" b="1" i="0">
                <a:solidFill>
                  <a:srgbClr val="0F2A35"/>
                </a:solidFill>
                <a:latin typeface="Cambria"/>
              </a:rPr>
              <a:t>Why class weighting</a:t>
            </a:r>
          </a:p>
        </p:txBody>
      </p:sp>
      <p:sp>
        <p:nvSpPr>
          <p:cNvPr id="25" name="TextBox 24"/>
          <p:cNvSpPr txBox="1"/>
          <p:nvPr/>
        </p:nvSpPr>
        <p:spPr>
          <a:xfrm>
            <a:off x="7260336" y="2487168"/>
            <a:ext cx="3794760" cy="1371600"/>
          </a:xfrm>
          <a:prstGeom prst="rect">
            <a:avLst/>
          </a:prstGeom>
          <a:noFill/>
        </p:spPr>
        <p:txBody>
          <a:bodyPr wrap="square" anchor="t" lIns="0" rIns="0" tIns="0" bIns="0">
            <a:spAutoFit/>
          </a:bodyPr>
          <a:lstStyle/>
          <a:p>
            <a:pPr algn="l">
              <a:lnSpc>
                <a:spcPct val="145000"/>
              </a:lnSpc>
              <a:spcAft>
                <a:spcPts val="0"/>
              </a:spcAft>
            </a:pPr>
            <a:r>
              <a:rPr sz="1250" b="0" i="0">
                <a:solidFill>
                  <a:srgbClr val="0F2A35"/>
                </a:solidFill>
                <a:latin typeface="Calibri"/>
              </a:rPr>
              <a:t>Late fires are the ones that matter and the rarest thing on the map. Left unweighted, every model quietly stopped predicting them — it is cheaper to be right about the common answer. Weighting the classes makes that trade expensive.</a:t>
            </a:r>
          </a:p>
        </p:txBody>
      </p:sp>
      <p:sp>
        <p:nvSpPr>
          <p:cNvPr id="26" name="TextBox 25"/>
          <p:cNvSpPr txBox="1"/>
          <p:nvPr/>
        </p:nvSpPr>
        <p:spPr>
          <a:xfrm>
            <a:off x="7260336" y="4041648"/>
            <a:ext cx="3749039" cy="274320"/>
          </a:xfrm>
          <a:prstGeom prst="rect">
            <a:avLst/>
          </a:prstGeom>
          <a:noFill/>
        </p:spPr>
        <p:txBody>
          <a:bodyPr wrap="square" anchor="t" lIns="0" rIns="0" tIns="0" bIns="0">
            <a:spAutoFit/>
          </a:bodyPr>
          <a:lstStyle/>
          <a:p>
            <a:pPr algn="l">
              <a:lnSpc>
                <a:spcPct val="125000"/>
              </a:lnSpc>
              <a:spcAft>
                <a:spcPts val="0"/>
              </a:spcAft>
            </a:pPr>
            <a:r>
              <a:rPr sz="950" b="1" i="0">
                <a:solidFill>
                  <a:srgbClr val="6B7C85"/>
                </a:solidFill>
                <a:latin typeface="Calibri"/>
              </a:rPr>
              <a:t>GRADIENT BOOSTING, F1 ON LATE FIRES</a:t>
            </a:r>
          </a:p>
        </p:txBody>
      </p:sp>
      <p:sp>
        <p:nvSpPr>
          <p:cNvPr id="27" name="TextBox 26"/>
          <p:cNvSpPr txBox="1"/>
          <p:nvPr/>
        </p:nvSpPr>
        <p:spPr>
          <a:xfrm>
            <a:off x="7260336" y="4370832"/>
            <a:ext cx="1828800" cy="548640"/>
          </a:xfrm>
          <a:prstGeom prst="rect">
            <a:avLst/>
          </a:prstGeom>
          <a:noFill/>
        </p:spPr>
        <p:txBody>
          <a:bodyPr wrap="square" anchor="t" lIns="0" rIns="0" tIns="0" bIns="0">
            <a:spAutoFit/>
          </a:bodyPr>
          <a:lstStyle/>
          <a:p>
            <a:pPr algn="l">
              <a:lnSpc>
                <a:spcPct val="125000"/>
              </a:lnSpc>
              <a:spcAft>
                <a:spcPts val="0"/>
              </a:spcAft>
            </a:pPr>
            <a:r>
              <a:rPr sz="3000" b="1" i="0">
                <a:solidFill>
                  <a:srgbClr val="9AA8AE"/>
                </a:solidFill>
                <a:latin typeface="Cambria"/>
              </a:rPr>
              <a:t>0.420</a:t>
            </a:r>
          </a:p>
        </p:txBody>
      </p:sp>
      <p:sp>
        <p:nvSpPr>
          <p:cNvPr id="28" name="TextBox 27"/>
          <p:cNvSpPr txBox="1"/>
          <p:nvPr/>
        </p:nvSpPr>
        <p:spPr>
          <a:xfrm>
            <a:off x="7260336" y="4864608"/>
            <a:ext cx="1828800" cy="274320"/>
          </a:xfrm>
          <a:prstGeom prst="rect">
            <a:avLst/>
          </a:prstGeom>
          <a:noFill/>
        </p:spPr>
        <p:txBody>
          <a:bodyPr wrap="square" anchor="t" lIns="0" rIns="0" tIns="0" bIns="0">
            <a:spAutoFit/>
          </a:bodyPr>
          <a:lstStyle/>
          <a:p>
            <a:pPr algn="l">
              <a:lnSpc>
                <a:spcPct val="125000"/>
              </a:lnSpc>
              <a:spcAft>
                <a:spcPts val="0"/>
              </a:spcAft>
            </a:pPr>
            <a:r>
              <a:rPr sz="1100" b="0" i="0">
                <a:solidFill>
                  <a:srgbClr val="6B7C85"/>
                </a:solidFill>
                <a:latin typeface="Calibri"/>
              </a:rPr>
              <a:t>unweighted</a:t>
            </a:r>
          </a:p>
        </p:txBody>
      </p:sp>
      <p:sp>
        <p:nvSpPr>
          <p:cNvPr id="29" name="TextBox 28"/>
          <p:cNvSpPr txBox="1"/>
          <p:nvPr/>
        </p:nvSpPr>
        <p:spPr>
          <a:xfrm>
            <a:off x="9326880" y="4370832"/>
            <a:ext cx="1828800" cy="548640"/>
          </a:xfrm>
          <a:prstGeom prst="rect">
            <a:avLst/>
          </a:prstGeom>
          <a:noFill/>
        </p:spPr>
        <p:txBody>
          <a:bodyPr wrap="square" anchor="t" lIns="0" rIns="0" tIns="0" bIns="0">
            <a:spAutoFit/>
          </a:bodyPr>
          <a:lstStyle/>
          <a:p>
            <a:pPr algn="l">
              <a:lnSpc>
                <a:spcPct val="125000"/>
              </a:lnSpc>
              <a:spcAft>
                <a:spcPts val="0"/>
              </a:spcAft>
            </a:pPr>
            <a:r>
              <a:rPr sz="3000" b="1" i="0">
                <a:solidFill>
                  <a:srgbClr val="C8552F"/>
                </a:solidFill>
                <a:latin typeface="Cambria"/>
              </a:rPr>
              <a:t>0.553</a:t>
            </a:r>
          </a:p>
        </p:txBody>
      </p:sp>
      <p:sp>
        <p:nvSpPr>
          <p:cNvPr id="30" name="TextBox 29"/>
          <p:cNvSpPr txBox="1"/>
          <p:nvPr/>
        </p:nvSpPr>
        <p:spPr>
          <a:xfrm>
            <a:off x="9326880" y="4864608"/>
            <a:ext cx="1828800" cy="274320"/>
          </a:xfrm>
          <a:prstGeom prst="rect">
            <a:avLst/>
          </a:prstGeom>
          <a:noFill/>
        </p:spPr>
        <p:txBody>
          <a:bodyPr wrap="square" anchor="t" lIns="0" rIns="0" tIns="0" bIns="0">
            <a:spAutoFit/>
          </a:bodyPr>
          <a:lstStyle/>
          <a:p>
            <a:pPr algn="l">
              <a:lnSpc>
                <a:spcPct val="125000"/>
              </a:lnSpc>
              <a:spcAft>
                <a:spcPts val="0"/>
              </a:spcAft>
            </a:pPr>
            <a:r>
              <a:rPr sz="1100" b="0" i="0">
                <a:solidFill>
                  <a:srgbClr val="6B7C85"/>
                </a:solidFill>
                <a:latin typeface="Calibri"/>
              </a:rPr>
              <a:t>weighted</a:t>
            </a:r>
          </a:p>
        </p:txBody>
      </p:sp>
      <p:sp>
        <p:nvSpPr>
          <p:cNvPr id="31" name="TextBox 30"/>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6B7C85"/>
                </a:solidFill>
                <a:latin typeface="Calibri"/>
              </a:rPr>
              <a:t>Saira Zafar</a:t>
            </a:r>
          </a:p>
        </p:txBody>
      </p:sp>
      <p:sp>
        <p:nvSpPr>
          <p:cNvPr id="32" name="TextBox 31"/>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6B7C85"/>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2A35"/>
        </a:solidFill>
        <a:effectLst/>
      </p:bgPr>
    </p:bg>
    <p:spTree>
      <p:nvGrpSpPr>
        <p:cNvPr id="1" name=""/>
        <p:cNvGrpSpPr/>
        <p:nvPr/>
      </p:nvGrpSpPr>
      <p:grpSpPr/>
      <p:sp>
        <p:nvSpPr>
          <p:cNvPr id="2" name="Rounded Rectangle 1"/>
          <p:cNvSpPr/>
          <p:nvPr/>
        </p:nvSpPr>
        <p:spPr>
          <a:xfrm>
            <a:off x="822960" y="2084831"/>
            <a:ext cx="155448" cy="155448"/>
          </a:xfrm>
          <a:prstGeom prst="roundRect">
            <a:avLst>
              <a:gd name="adj" fmla="val 18000"/>
            </a:avLst>
          </a:prstGeom>
          <a:solidFill>
            <a:srgbClr val="9AA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1046988" y="2084831"/>
            <a:ext cx="155448" cy="155448"/>
          </a:xfrm>
          <a:prstGeom prst="roundRect">
            <a:avLst>
              <a:gd name="adj" fmla="val 18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1271016" y="2084831"/>
            <a:ext cx="155448" cy="155448"/>
          </a:xfrm>
          <a:prstGeom prst="roundRect">
            <a:avLst>
              <a:gd name="adj" fmla="val 18000"/>
            </a:avLst>
          </a:prstGeom>
          <a:solidFill>
            <a:srgbClr val="C85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2514600"/>
            <a:ext cx="106070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E0835C"/>
                </a:solidFill>
                <a:latin typeface="Calibri"/>
              </a:rPr>
              <a:t>ACT THREE</a:t>
            </a:r>
          </a:p>
        </p:txBody>
      </p:sp>
      <p:sp>
        <p:nvSpPr>
          <p:cNvPr id="6" name="TextBox 5"/>
          <p:cNvSpPr txBox="1"/>
          <p:nvPr/>
        </p:nvSpPr>
        <p:spPr>
          <a:xfrm>
            <a:off x="822960" y="2788920"/>
            <a:ext cx="9601200" cy="1280160"/>
          </a:xfrm>
          <a:prstGeom prst="rect">
            <a:avLst/>
          </a:prstGeom>
          <a:noFill/>
        </p:spPr>
        <p:txBody>
          <a:bodyPr wrap="square" anchor="t" lIns="0" rIns="0" tIns="0" bIns="0">
            <a:spAutoFit/>
          </a:bodyPr>
          <a:lstStyle/>
          <a:p>
            <a:pPr algn="l">
              <a:lnSpc>
                <a:spcPct val="102000"/>
              </a:lnSpc>
              <a:spcAft>
                <a:spcPts val="0"/>
              </a:spcAft>
            </a:pPr>
            <a:r>
              <a:rPr sz="4400" b="1" i="0">
                <a:solidFill>
                  <a:srgbClr val="FFFFFF"/>
                </a:solidFill>
                <a:latin typeface="Cambria"/>
              </a:rPr>
              <a:t>Does it actually work?</a:t>
            </a:r>
          </a:p>
        </p:txBody>
      </p:sp>
      <p:sp>
        <p:nvSpPr>
          <p:cNvPr id="7" name="TextBox 6"/>
          <p:cNvSpPr txBox="1"/>
          <p:nvPr/>
        </p:nvSpPr>
        <p:spPr>
          <a:xfrm>
            <a:off x="822960" y="4160520"/>
            <a:ext cx="7863840" cy="822960"/>
          </a:xfrm>
          <a:prstGeom prst="rect">
            <a:avLst/>
          </a:prstGeom>
          <a:noFill/>
        </p:spPr>
        <p:txBody>
          <a:bodyPr wrap="square" anchor="t" lIns="0" rIns="0" tIns="0" bIns="0">
            <a:spAutoFit/>
          </a:bodyPr>
          <a:lstStyle/>
          <a:p>
            <a:pPr algn="l">
              <a:lnSpc>
                <a:spcPct val="140000"/>
              </a:lnSpc>
              <a:spcAft>
                <a:spcPts val="0"/>
              </a:spcAft>
            </a:pPr>
            <a:r>
              <a:rPr sz="1550" b="0" i="0">
                <a:solidFill>
                  <a:srgbClr val="B9CAD2"/>
                </a:solidFill>
                <a:latin typeface="Calibri"/>
              </a:rPr>
              <a:t>Scores on years the models never saw, sixty-six separate re-tests, and the twenty-three experiments behind the one we kept.</a:t>
            </a:r>
          </a:p>
        </p:txBody>
      </p:sp>
      <p:sp>
        <p:nvSpPr>
          <p:cNvPr id="8" name="TextBox 7"/>
          <p:cNvSpPr txBox="1"/>
          <p:nvPr/>
        </p:nvSpPr>
        <p:spPr>
          <a:xfrm>
            <a:off x="822960" y="5257800"/>
            <a:ext cx="7315200" cy="320040"/>
          </a:xfrm>
          <a:prstGeom prst="rect">
            <a:avLst/>
          </a:prstGeom>
          <a:noFill/>
        </p:spPr>
        <p:txBody>
          <a:bodyPr wrap="square" anchor="t" lIns="0" rIns="0" tIns="0" bIns="0">
            <a:spAutoFit/>
          </a:bodyPr>
          <a:lstStyle/>
          <a:p>
            <a:pPr algn="l">
              <a:lnSpc>
                <a:spcPct val="125000"/>
              </a:lnSpc>
              <a:spcAft>
                <a:spcPts val="0"/>
              </a:spcAft>
            </a:pPr>
            <a:r>
              <a:rPr sz="1250" b="1" i="0">
                <a:solidFill>
                  <a:srgbClr val="E0835C"/>
                </a:solidFill>
                <a:latin typeface="Calibri"/>
              </a:rPr>
              <a:t>Tharushi Wimalachandra</a:t>
            </a:r>
          </a:p>
        </p:txBody>
      </p:sp>
      <p:sp>
        <p:nvSpPr>
          <p:cNvPr id="9" name="TextBox 8"/>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B9CAD2"/>
                </a:solidFill>
                <a:latin typeface="Calibri"/>
              </a:rPr>
              <a:t/>
            </a:r>
          </a:p>
        </p:txBody>
      </p:sp>
      <p:sp>
        <p:nvSpPr>
          <p:cNvPr id="10" name="TextBox 9"/>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B9CAD2"/>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822960" y="310896"/>
            <a:ext cx="106070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C8552F"/>
                </a:solidFill>
                <a:latin typeface="Calibri"/>
              </a:rPr>
              <a:t>RESULTS</a:t>
            </a:r>
          </a:p>
        </p:txBody>
      </p:sp>
      <p:sp>
        <p:nvSpPr>
          <p:cNvPr id="3" name="TextBox 2"/>
          <p:cNvSpPr txBox="1"/>
          <p:nvPr/>
        </p:nvSpPr>
        <p:spPr>
          <a:xfrm>
            <a:off x="822960" y="566928"/>
            <a:ext cx="10607040" cy="914400"/>
          </a:xfrm>
          <a:prstGeom prst="rect">
            <a:avLst/>
          </a:prstGeom>
          <a:noFill/>
        </p:spPr>
        <p:txBody>
          <a:bodyPr wrap="square" anchor="t" lIns="0" rIns="0" tIns="0" bIns="0">
            <a:spAutoFit/>
          </a:bodyPr>
          <a:lstStyle/>
          <a:p>
            <a:pPr algn="l">
              <a:lnSpc>
                <a:spcPct val="105000"/>
              </a:lnSpc>
              <a:spcAft>
                <a:spcPts val="0"/>
              </a:spcAft>
            </a:pPr>
            <a:r>
              <a:rPr sz="3400" b="1" i="0">
                <a:solidFill>
                  <a:srgbClr val="0F2A35"/>
                </a:solidFill>
                <a:latin typeface="Cambria"/>
              </a:rPr>
              <a:t>Gradient boosting wins, and every model beats the baselines.</a:t>
            </a:r>
          </a:p>
        </p:txBody>
      </p:sp>
      <p:pic>
        <p:nvPicPr>
          <p:cNvPr id="4" name="Picture 3" descr="deck_models.png"/>
          <p:cNvPicPr>
            <a:picLocks noChangeAspect="1"/>
          </p:cNvPicPr>
          <p:nvPr/>
        </p:nvPicPr>
        <p:blipFill>
          <a:blip r:embed="rId3"/>
          <a:stretch>
            <a:fillRect/>
          </a:stretch>
        </p:blipFill>
        <p:spPr>
          <a:xfrm>
            <a:off x="658368" y="1664208"/>
            <a:ext cx="7040880" cy="4018146"/>
          </a:xfrm>
          <a:prstGeom prst="rect">
            <a:avLst/>
          </a:prstGeom>
        </p:spPr>
      </p:pic>
      <p:sp>
        <p:nvSpPr>
          <p:cNvPr id="5" name="Rounded Rectangle 4"/>
          <p:cNvSpPr/>
          <p:nvPr/>
        </p:nvSpPr>
        <p:spPr>
          <a:xfrm>
            <a:off x="8001000" y="1700784"/>
            <a:ext cx="3383280" cy="4315968"/>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339327" y="1975104"/>
            <a:ext cx="2743200" cy="365760"/>
          </a:xfrm>
          <a:prstGeom prst="rect">
            <a:avLst/>
          </a:prstGeom>
          <a:noFill/>
        </p:spPr>
        <p:txBody>
          <a:bodyPr wrap="square" anchor="t" lIns="0" rIns="0" tIns="0" bIns="0">
            <a:spAutoFit/>
          </a:bodyPr>
          <a:lstStyle/>
          <a:p>
            <a:pPr algn="l">
              <a:lnSpc>
                <a:spcPct val="125000"/>
              </a:lnSpc>
              <a:spcAft>
                <a:spcPts val="0"/>
              </a:spcAft>
            </a:pPr>
            <a:r>
              <a:rPr sz="1700" b="1" i="0">
                <a:solidFill>
                  <a:srgbClr val="0F2A35"/>
                </a:solidFill>
                <a:latin typeface="Cambria"/>
              </a:rPr>
              <a:t>Read it this way</a:t>
            </a:r>
          </a:p>
        </p:txBody>
      </p:sp>
      <p:sp>
        <p:nvSpPr>
          <p:cNvPr id="7" name="TextBox 6"/>
          <p:cNvSpPr txBox="1"/>
          <p:nvPr/>
        </p:nvSpPr>
        <p:spPr>
          <a:xfrm>
            <a:off x="8339327" y="2432304"/>
            <a:ext cx="2788920" cy="2743200"/>
          </a:xfrm>
          <a:prstGeom prst="rect">
            <a:avLst/>
          </a:prstGeom>
          <a:noFill/>
        </p:spPr>
        <p:txBody>
          <a:bodyPr wrap="square" anchor="t" lIns="0" rIns="0" tIns="0" bIns="0">
            <a:spAutoFit/>
          </a:bodyPr>
          <a:lstStyle/>
          <a:p>
            <a:pPr algn="l">
              <a:lnSpc>
                <a:spcPct val="145000"/>
              </a:lnSpc>
              <a:spcAft>
                <a:spcPts val="0"/>
              </a:spcAft>
            </a:pPr>
            <a:r>
              <a:rPr sz="1250" b="0" i="0">
                <a:solidFill>
                  <a:srgbClr val="0F2A35"/>
                </a:solidFill>
                <a:latin typeface="Calibri"/>
              </a:rPr>
              <a:t>Balanced F1 treats all three answers as equally important, so a model cannot score well by ignoring the rare ones.</a:t>
            </a:r>
          </a:p>
          <a:p>
            <a:pPr algn="l">
              <a:lnSpc>
                <a:spcPct val="145000"/>
              </a:lnSpc>
              <a:spcAft>
                <a:spcPts val="0"/>
              </a:spcAft>
            </a:pPr>
            <a:r>
              <a:rPr sz="1250" b="0" i="0">
                <a:solidFill>
                  <a:srgbClr val="0F2A35"/>
                </a:solidFill>
                <a:latin typeface="Calibri"/>
              </a:rPr>
              <a:t/>
            </a:r>
          </a:p>
          <a:p>
            <a:pPr algn="l">
              <a:lnSpc>
                <a:spcPct val="145000"/>
              </a:lnSpc>
              <a:spcAft>
                <a:spcPts val="0"/>
              </a:spcAft>
            </a:pPr>
            <a:r>
              <a:rPr sz="1250" b="0" i="0">
                <a:solidFill>
                  <a:srgbClr val="0F2A35"/>
                </a:solidFill>
                <a:latin typeface="Calibri"/>
              </a:rPr>
              <a:t>The number to watch is the gap to "same as last year" at 0.506. That is what a fire officer already knows without us. Gradient boosting adds 0.178 on top of it.</a:t>
            </a:r>
          </a:p>
          <a:p>
            <a:pPr algn="l">
              <a:lnSpc>
                <a:spcPct val="145000"/>
              </a:lnSpc>
              <a:spcAft>
                <a:spcPts val="0"/>
              </a:spcAft>
            </a:pPr>
            <a:r>
              <a:rPr sz="1250" b="0" i="0">
                <a:solidFill>
                  <a:srgbClr val="0F2A35"/>
                </a:solidFill>
                <a:latin typeface="Calibri"/>
              </a:rPr>
              <a:t/>
            </a:r>
          </a:p>
          <a:p>
            <a:pPr algn="l">
              <a:lnSpc>
                <a:spcPct val="145000"/>
              </a:lnSpc>
              <a:spcAft>
                <a:spcPts val="0"/>
              </a:spcAft>
            </a:pPr>
            <a:r>
              <a:rPr sz="1250" b="0" i="0">
                <a:solidFill>
                  <a:srgbClr val="0F2A35"/>
                </a:solidFill>
                <a:latin typeface="Calibri"/>
              </a:rPr>
              <a:t>Accuracy on the same years is 0.725.</a:t>
            </a:r>
          </a:p>
        </p:txBody>
      </p:sp>
      <p:sp>
        <p:nvSpPr>
          <p:cNvPr id="8" name="TextBox 7"/>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6B7C85"/>
                </a:solidFill>
                <a:latin typeface="Calibri"/>
              </a:rPr>
              <a:t>Tharushi Wimalachandra</a:t>
            </a:r>
          </a:p>
        </p:txBody>
      </p:sp>
      <p:sp>
        <p:nvSpPr>
          <p:cNvPr id="9" name="TextBox 8"/>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6B7C85"/>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822960" y="310896"/>
            <a:ext cx="106070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C8552F"/>
                </a:solidFill>
                <a:latin typeface="Calibri"/>
              </a:rPr>
              <a:t>WHAT THE DATA BOUGHT</a:t>
            </a:r>
          </a:p>
        </p:txBody>
      </p:sp>
      <p:sp>
        <p:nvSpPr>
          <p:cNvPr id="3" name="TextBox 2"/>
          <p:cNvSpPr txBox="1"/>
          <p:nvPr/>
        </p:nvSpPr>
        <p:spPr>
          <a:xfrm>
            <a:off x="822960" y="566928"/>
            <a:ext cx="10607040" cy="914400"/>
          </a:xfrm>
          <a:prstGeom prst="rect">
            <a:avLst/>
          </a:prstGeom>
          <a:noFill/>
        </p:spPr>
        <p:txBody>
          <a:bodyPr wrap="square" anchor="t" lIns="0" rIns="0" tIns="0" bIns="0">
            <a:spAutoFit/>
          </a:bodyPr>
          <a:lstStyle/>
          <a:p>
            <a:pPr algn="l">
              <a:lnSpc>
                <a:spcPct val="105000"/>
              </a:lnSpc>
              <a:spcAft>
                <a:spcPts val="0"/>
              </a:spcAft>
            </a:pPr>
            <a:r>
              <a:rPr sz="3400" b="1" i="0">
                <a:solidFill>
                  <a:srgbClr val="0F2A35"/>
                </a:solidFill>
                <a:latin typeface="Cambria"/>
              </a:rPr>
              <a:t>Weather earned its place. Greenness earned less, and we said so.</a:t>
            </a:r>
          </a:p>
        </p:txBody>
      </p:sp>
      <p:pic>
        <p:nvPicPr>
          <p:cNvPr id="4" name="Picture 3" descr="deck_layers.png"/>
          <p:cNvPicPr>
            <a:picLocks noChangeAspect="1"/>
          </p:cNvPicPr>
          <p:nvPr/>
        </p:nvPicPr>
        <p:blipFill>
          <a:blip r:embed="rId3"/>
          <a:stretch>
            <a:fillRect/>
          </a:stretch>
        </p:blipFill>
        <p:spPr>
          <a:xfrm>
            <a:off x="731520" y="1828800"/>
            <a:ext cx="5809350" cy="3657600"/>
          </a:xfrm>
          <a:prstGeom prst="rect">
            <a:avLst/>
          </a:prstGeom>
        </p:spPr>
      </p:pic>
      <p:sp>
        <p:nvSpPr>
          <p:cNvPr id="5" name="TextBox 4"/>
          <p:cNvSpPr txBox="1"/>
          <p:nvPr/>
        </p:nvSpPr>
        <p:spPr>
          <a:xfrm>
            <a:off x="7863840" y="1883664"/>
            <a:ext cx="3566160" cy="3108960"/>
          </a:xfrm>
          <a:prstGeom prst="rect">
            <a:avLst/>
          </a:prstGeom>
          <a:noFill/>
        </p:spPr>
        <p:txBody>
          <a:bodyPr wrap="square" anchor="t" lIns="0" rIns="0" tIns="0" bIns="0">
            <a:spAutoFit/>
          </a:bodyPr>
          <a:lstStyle/>
          <a:p>
            <a:pPr algn="l">
              <a:lnSpc>
                <a:spcPct val="145000"/>
              </a:lnSpc>
              <a:spcAft>
                <a:spcPts val="1000"/>
              </a:spcAft>
            </a:pPr>
            <a:r>
              <a:rPr sz="1280" b="0" i="0">
                <a:solidFill>
                  <a:srgbClr val="0F2A35"/>
                </a:solidFill>
                <a:latin typeface="Calibri"/>
              </a:rPr>
              <a:t>Adding the weather was the single biggest step in the project — +0.035, from knowing how wet the wet season was.</a:t>
            </a:r>
          </a:p>
          <a:p>
            <a:pPr algn="l">
              <a:lnSpc>
                <a:spcPct val="145000"/>
              </a:lnSpc>
              <a:spcAft>
                <a:spcPts val="1000"/>
              </a:spcAft>
            </a:pPr>
            <a:r>
              <a:rPr sz="1280" b="0" i="0">
                <a:solidFill>
                  <a:srgbClr val="0F2A35"/>
                </a:solidFill>
                <a:latin typeface="Calibri"/>
              </a:rPr>
              <a:t>Satellite greenness added +0.010 on top of that. Small, real, and expensive: the Earth Engine extraction took ten minutes a run against sixty seconds for the rest.</a:t>
            </a:r>
          </a:p>
          <a:p>
            <a:pPr algn="l">
              <a:lnSpc>
                <a:spcPct val="145000"/>
              </a:lnSpc>
              <a:spcAft>
                <a:spcPts val="1000"/>
              </a:spcAft>
            </a:pPr>
            <a:r>
              <a:rPr sz="1280" b="1" i="0">
                <a:solidFill>
                  <a:srgbClr val="0F2A35"/>
                </a:solidFill>
                <a:latin typeface="Calibri"/>
              </a:rPr>
              <a:t>We kept it, because it holds up on years the model never saw and because two of the model's five strongest inputs turn out to be greenness. But we are not going to call a 0.010 gain a breakthrough.</a:t>
            </a:r>
          </a:p>
        </p:txBody>
      </p:sp>
      <p:sp>
        <p:nvSpPr>
          <p:cNvPr id="6" name="TextBox 5"/>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6B7C85"/>
                </a:solidFill>
                <a:latin typeface="Calibri"/>
              </a:rPr>
              <a:t>Tharushi Wimalachandra</a:t>
            </a:r>
          </a:p>
        </p:txBody>
      </p:sp>
      <p:sp>
        <p:nvSpPr>
          <p:cNvPr id="7" name="TextBox 6"/>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6B7C85"/>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822960" y="310896"/>
            <a:ext cx="106070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C8552F"/>
                </a:solidFill>
                <a:latin typeface="Calibri"/>
              </a:rPr>
              <a:t>WALK-FORWARD TESTING</a:t>
            </a:r>
          </a:p>
        </p:txBody>
      </p:sp>
      <p:sp>
        <p:nvSpPr>
          <p:cNvPr id="3" name="TextBox 2"/>
          <p:cNvSpPr txBox="1"/>
          <p:nvPr/>
        </p:nvSpPr>
        <p:spPr>
          <a:xfrm>
            <a:off x="822960" y="566928"/>
            <a:ext cx="10607040" cy="914400"/>
          </a:xfrm>
          <a:prstGeom prst="rect">
            <a:avLst/>
          </a:prstGeom>
          <a:noFill/>
        </p:spPr>
        <p:txBody>
          <a:bodyPr wrap="square" anchor="t" lIns="0" rIns="0" tIns="0" bIns="0">
            <a:spAutoFit/>
          </a:bodyPr>
          <a:lstStyle/>
          <a:p>
            <a:pPr algn="l">
              <a:lnSpc>
                <a:spcPct val="105000"/>
              </a:lnSpc>
              <a:spcAft>
                <a:spcPts val="0"/>
              </a:spcAft>
            </a:pPr>
            <a:r>
              <a:rPr sz="3400" b="1" i="0">
                <a:solidFill>
                  <a:srgbClr val="0F2A35"/>
                </a:solidFill>
                <a:latin typeface="Cambria"/>
              </a:rPr>
              <a:t>One good year could be luck. So we did it sixty-six times.</a:t>
            </a:r>
          </a:p>
        </p:txBody>
      </p:sp>
      <p:sp>
        <p:nvSpPr>
          <p:cNvPr id="4" name="TextBox 3"/>
          <p:cNvSpPr txBox="1"/>
          <p:nvPr/>
        </p:nvSpPr>
        <p:spPr>
          <a:xfrm>
            <a:off x="822960" y="1572768"/>
            <a:ext cx="10424160" cy="548640"/>
          </a:xfrm>
          <a:prstGeom prst="rect">
            <a:avLst/>
          </a:prstGeom>
          <a:noFill/>
        </p:spPr>
        <p:txBody>
          <a:bodyPr wrap="square" anchor="t" lIns="0" rIns="0" tIns="0" bIns="0">
            <a:spAutoFit/>
          </a:bodyPr>
          <a:lstStyle/>
          <a:p>
            <a:pPr algn="l">
              <a:lnSpc>
                <a:spcPct val="145000"/>
              </a:lnSpc>
              <a:spcAft>
                <a:spcPts val="0"/>
              </a:spcAft>
            </a:pPr>
            <a:r>
              <a:rPr sz="1400" b="0" i="0">
                <a:solidFill>
                  <a:srgbClr val="0F2A35"/>
                </a:solidFill>
                <a:latin typeface="Calibri"/>
              </a:rPr>
              <a:t>We cut the record at each year from 2014 to 2024, let the model learn only what came before the cut, and scored it on every year after — 66 separate tests.</a:t>
            </a:r>
          </a:p>
        </p:txBody>
      </p:sp>
      <p:pic>
        <p:nvPicPr>
          <p:cNvPr id="5" name="Picture 4" descr="deck_walk.png"/>
          <p:cNvPicPr>
            <a:picLocks noChangeAspect="1"/>
          </p:cNvPicPr>
          <p:nvPr/>
        </p:nvPicPr>
        <p:blipFill>
          <a:blip r:embed="rId3"/>
          <a:stretch>
            <a:fillRect/>
          </a:stretch>
        </p:blipFill>
        <p:spPr>
          <a:xfrm>
            <a:off x="658368" y="2304288"/>
            <a:ext cx="6688620" cy="3383280"/>
          </a:xfrm>
          <a:prstGeom prst="rect">
            <a:avLst/>
          </a:prstGeom>
        </p:spPr>
      </p:pic>
      <p:sp>
        <p:nvSpPr>
          <p:cNvPr id="6" name="Rounded Rectangle 5"/>
          <p:cNvSpPr/>
          <p:nvPr/>
        </p:nvSpPr>
        <p:spPr>
          <a:xfrm>
            <a:off x="8001000" y="2331720"/>
            <a:ext cx="3383280" cy="30632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339327" y="2606040"/>
            <a:ext cx="2834640" cy="365760"/>
          </a:xfrm>
          <a:prstGeom prst="rect">
            <a:avLst/>
          </a:prstGeom>
          <a:noFill/>
        </p:spPr>
        <p:txBody>
          <a:bodyPr wrap="square" anchor="t" lIns="0" rIns="0" tIns="0" bIns="0">
            <a:spAutoFit/>
          </a:bodyPr>
          <a:lstStyle/>
          <a:p>
            <a:pPr algn="l">
              <a:lnSpc>
                <a:spcPct val="125000"/>
              </a:lnSpc>
              <a:spcAft>
                <a:spcPts val="0"/>
              </a:spcAft>
            </a:pPr>
            <a:r>
              <a:rPr sz="1700" b="1" i="0">
                <a:solidFill>
                  <a:srgbClr val="0F2A35"/>
                </a:solidFill>
                <a:latin typeface="Cambria"/>
              </a:rPr>
              <a:t>The surprise</a:t>
            </a:r>
          </a:p>
        </p:txBody>
      </p:sp>
      <p:sp>
        <p:nvSpPr>
          <p:cNvPr id="8" name="TextBox 7"/>
          <p:cNvSpPr txBox="1"/>
          <p:nvPr/>
        </p:nvSpPr>
        <p:spPr>
          <a:xfrm>
            <a:off x="8339327" y="3063240"/>
            <a:ext cx="2788920" cy="2194560"/>
          </a:xfrm>
          <a:prstGeom prst="rect">
            <a:avLst/>
          </a:prstGeom>
          <a:noFill/>
        </p:spPr>
        <p:txBody>
          <a:bodyPr wrap="square" anchor="t" lIns="0" rIns="0" tIns="0" bIns="0">
            <a:spAutoFit/>
          </a:bodyPr>
          <a:lstStyle/>
          <a:p>
            <a:pPr algn="l">
              <a:lnSpc>
                <a:spcPct val="145000"/>
              </a:lnSpc>
              <a:spcAft>
                <a:spcPts val="0"/>
              </a:spcAft>
            </a:pPr>
            <a:r>
              <a:rPr sz="1250" b="0" i="0">
                <a:solidFill>
                  <a:srgbClr val="0F2A35"/>
                </a:solidFill>
                <a:latin typeface="Calibri"/>
              </a:rPr>
              <a:t>Skill does not fade with distance. Guessing one year ahead scores 0.635; eleven years ahead it still scores 0.604.</a:t>
            </a:r>
          </a:p>
          <a:p>
            <a:pPr algn="l">
              <a:lnSpc>
                <a:spcPct val="145000"/>
              </a:lnSpc>
              <a:spcAft>
                <a:spcPts val="0"/>
              </a:spcAft>
            </a:pPr>
            <a:r>
              <a:rPr sz="1250" b="0" i="0">
                <a:solidFill>
                  <a:srgbClr val="0F2A35"/>
                </a:solidFill>
                <a:latin typeface="Calibri"/>
              </a:rPr>
              <a:t/>
            </a:r>
          </a:p>
          <a:p>
            <a:pPr algn="l">
              <a:lnSpc>
                <a:spcPct val="145000"/>
              </a:lnSpc>
              <a:spcAft>
                <a:spcPts val="0"/>
              </a:spcAft>
            </a:pPr>
            <a:r>
              <a:rPr sz="1250" b="0" i="0">
                <a:solidFill>
                  <a:srgbClr val="0F2A35"/>
                </a:solidFill>
                <a:latin typeface="Calibri"/>
              </a:rPr>
              <a:t>That is not the model being clever. It is telling us the strongest clue is the wet season just gone, which is known by the end of April however old the fire history is.</a:t>
            </a:r>
          </a:p>
        </p:txBody>
      </p:sp>
      <p:sp>
        <p:nvSpPr>
          <p:cNvPr id="9" name="TextBox 8"/>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6B7C85"/>
                </a:solidFill>
                <a:latin typeface="Calibri"/>
              </a:rPr>
              <a:t>Tharushi Wimalachandra</a:t>
            </a:r>
          </a:p>
        </p:txBody>
      </p:sp>
      <p:sp>
        <p:nvSpPr>
          <p:cNvPr id="10" name="TextBox 9"/>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6B7C85"/>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822960" y="310896"/>
            <a:ext cx="106070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C8552F"/>
                </a:solidFill>
                <a:latin typeface="Calibri"/>
              </a:rPr>
              <a:t>THE LEDGER</a:t>
            </a:r>
          </a:p>
        </p:txBody>
      </p:sp>
      <p:sp>
        <p:nvSpPr>
          <p:cNvPr id="3" name="TextBox 2"/>
          <p:cNvSpPr txBox="1"/>
          <p:nvPr/>
        </p:nvSpPr>
        <p:spPr>
          <a:xfrm>
            <a:off x="822960" y="566928"/>
            <a:ext cx="10607040" cy="914400"/>
          </a:xfrm>
          <a:prstGeom prst="rect">
            <a:avLst/>
          </a:prstGeom>
          <a:noFill/>
        </p:spPr>
        <p:txBody>
          <a:bodyPr wrap="square" anchor="t" lIns="0" rIns="0" tIns="0" bIns="0">
            <a:spAutoFit/>
          </a:bodyPr>
          <a:lstStyle/>
          <a:p>
            <a:pPr algn="l">
              <a:lnSpc>
                <a:spcPct val="105000"/>
              </a:lnSpc>
              <a:spcAft>
                <a:spcPts val="0"/>
              </a:spcAft>
            </a:pPr>
            <a:r>
              <a:rPr sz="3400" b="1" i="0">
                <a:solidFill>
                  <a:srgbClr val="0F2A35"/>
                </a:solidFill>
                <a:latin typeface="Cambria"/>
              </a:rPr>
              <a:t>Twenty-three experiments against a fixed benchmark. One was kept.</a:t>
            </a:r>
          </a:p>
        </p:txBody>
      </p:sp>
      <p:pic>
        <p:nvPicPr>
          <p:cNvPr id="4" name="Picture 3" descr="deck_experiments.png"/>
          <p:cNvPicPr>
            <a:picLocks noChangeAspect="1"/>
          </p:cNvPicPr>
          <p:nvPr/>
        </p:nvPicPr>
        <p:blipFill>
          <a:blip r:embed="rId3"/>
          <a:stretch>
            <a:fillRect/>
          </a:stretch>
        </p:blipFill>
        <p:spPr>
          <a:xfrm>
            <a:off x="658368" y="1737360"/>
            <a:ext cx="7315200" cy="3743196"/>
          </a:xfrm>
          <a:prstGeom prst="rect">
            <a:avLst/>
          </a:prstGeom>
        </p:spPr>
      </p:pic>
      <p:sp>
        <p:nvSpPr>
          <p:cNvPr id="5" name="Rounded Rectangle 4"/>
          <p:cNvSpPr/>
          <p:nvPr/>
        </p:nvSpPr>
        <p:spPr>
          <a:xfrm>
            <a:off x="8138160" y="1773936"/>
            <a:ext cx="3246120" cy="402336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467344" y="2048256"/>
            <a:ext cx="2743200" cy="365760"/>
          </a:xfrm>
          <a:prstGeom prst="rect">
            <a:avLst/>
          </a:prstGeom>
          <a:noFill/>
        </p:spPr>
        <p:txBody>
          <a:bodyPr wrap="square" anchor="t" lIns="0" rIns="0" tIns="0" bIns="0">
            <a:spAutoFit/>
          </a:bodyPr>
          <a:lstStyle/>
          <a:p>
            <a:pPr algn="l">
              <a:lnSpc>
                <a:spcPct val="125000"/>
              </a:lnSpc>
              <a:spcAft>
                <a:spcPts val="0"/>
              </a:spcAft>
            </a:pPr>
            <a:r>
              <a:rPr sz="1600" b="1" i="0">
                <a:solidFill>
                  <a:srgbClr val="0F2A35"/>
                </a:solidFill>
                <a:latin typeface="Cambria"/>
              </a:rPr>
              <a:t>Including the one that failed</a:t>
            </a:r>
          </a:p>
        </p:txBody>
      </p:sp>
      <p:sp>
        <p:nvSpPr>
          <p:cNvPr id="7" name="TextBox 6"/>
          <p:cNvSpPr txBox="1"/>
          <p:nvPr/>
        </p:nvSpPr>
        <p:spPr>
          <a:xfrm>
            <a:off x="8467344" y="2615184"/>
            <a:ext cx="2697480" cy="2651760"/>
          </a:xfrm>
          <a:prstGeom prst="rect">
            <a:avLst/>
          </a:prstGeom>
          <a:noFill/>
        </p:spPr>
        <p:txBody>
          <a:bodyPr wrap="square" anchor="t" lIns="0" rIns="0" tIns="0" bIns="0">
            <a:spAutoFit/>
          </a:bodyPr>
          <a:lstStyle/>
          <a:p>
            <a:pPr algn="l">
              <a:lnSpc>
                <a:spcPct val="142000"/>
              </a:lnSpc>
              <a:spcAft>
                <a:spcPts val="0"/>
              </a:spcAft>
            </a:pPr>
            <a:r>
              <a:rPr sz="1230" b="0" i="0">
                <a:solidFill>
                  <a:srgbClr val="0F2A35"/>
                </a:solidFill>
                <a:latin typeface="Calibri"/>
              </a:rPr>
              <a:t>We built a U-Net over the whole grid to let a convolutional network read fire as a picture rather than a table of numbers.</a:t>
            </a:r>
          </a:p>
          <a:p>
            <a:pPr algn="l">
              <a:lnSpc>
                <a:spcPct val="142000"/>
              </a:lnSpc>
              <a:spcAft>
                <a:spcPts val="0"/>
              </a:spcAft>
            </a:pPr>
            <a:r>
              <a:rPr sz="1230" b="0" i="0">
                <a:solidFill>
                  <a:srgbClr val="0F2A35"/>
                </a:solidFill>
                <a:latin typeface="Calibri"/>
              </a:rPr>
              <a:t/>
            </a:r>
          </a:p>
          <a:p>
            <a:pPr algn="l">
              <a:lnSpc>
                <a:spcPct val="142000"/>
              </a:lnSpc>
              <a:spcAft>
                <a:spcPts val="0"/>
              </a:spcAft>
            </a:pPr>
            <a:r>
              <a:rPr sz="1230" b="0" i="0">
                <a:solidFill>
                  <a:srgbClr val="0F2A35"/>
                </a:solidFill>
                <a:latin typeface="Calibri"/>
              </a:rPr>
              <a:t>It scored 0.588 — 0.086 below the benchmark — so it went in the ledger as a reverted run and stayed out of the final model.</a:t>
            </a:r>
          </a:p>
          <a:p>
            <a:pPr algn="l">
              <a:lnSpc>
                <a:spcPct val="142000"/>
              </a:lnSpc>
              <a:spcAft>
                <a:spcPts val="0"/>
              </a:spcAft>
            </a:pPr>
            <a:r>
              <a:rPr sz="1230" b="0" i="0">
                <a:solidFill>
                  <a:srgbClr val="0F2A35"/>
                </a:solidFill>
                <a:latin typeface="Calibri"/>
              </a:rPr>
              <a:t/>
            </a:r>
          </a:p>
          <a:p>
            <a:pPr algn="l">
              <a:lnSpc>
                <a:spcPct val="142000"/>
              </a:lnSpc>
              <a:spcAft>
                <a:spcPts val="0"/>
              </a:spcAft>
            </a:pPr>
            <a:r>
              <a:rPr sz="1230" b="0" i="0">
                <a:solidFill>
                  <a:srgbClr val="0F2A35"/>
                </a:solidFill>
                <a:latin typeface="Calibri"/>
              </a:rPr>
              <a:t>Every run was scored the same way, against the same fixed benchmark, and recorded whether it helped or not.</a:t>
            </a:r>
          </a:p>
        </p:txBody>
      </p:sp>
      <p:sp>
        <p:nvSpPr>
          <p:cNvPr id="8" name="TextBox 7"/>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6B7C85"/>
                </a:solidFill>
                <a:latin typeface="Calibri"/>
              </a:rPr>
              <a:t>Tharushi Wimalachandra</a:t>
            </a:r>
          </a:p>
        </p:txBody>
      </p:sp>
      <p:sp>
        <p:nvSpPr>
          <p:cNvPr id="9" name="TextBox 8"/>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6B7C85"/>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822960" y="310896"/>
            <a:ext cx="106070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C8552F"/>
                </a:solidFill>
                <a:latin typeface="Calibri"/>
              </a:rPr>
              <a:t>WHAT IT LEANS ON</a:t>
            </a:r>
          </a:p>
        </p:txBody>
      </p:sp>
      <p:sp>
        <p:nvSpPr>
          <p:cNvPr id="3" name="TextBox 2"/>
          <p:cNvSpPr txBox="1"/>
          <p:nvPr/>
        </p:nvSpPr>
        <p:spPr>
          <a:xfrm>
            <a:off x="822960" y="566928"/>
            <a:ext cx="10607040" cy="914400"/>
          </a:xfrm>
          <a:prstGeom prst="rect">
            <a:avLst/>
          </a:prstGeom>
          <a:noFill/>
        </p:spPr>
        <p:txBody>
          <a:bodyPr wrap="square" anchor="t" lIns="0" rIns="0" tIns="0" bIns="0">
            <a:spAutoFit/>
          </a:bodyPr>
          <a:lstStyle/>
          <a:p>
            <a:pPr algn="l">
              <a:lnSpc>
                <a:spcPct val="105000"/>
              </a:lnSpc>
              <a:spcAft>
                <a:spcPts val="0"/>
              </a:spcAft>
            </a:pPr>
            <a:r>
              <a:rPr sz="3400" b="1" i="0">
                <a:solidFill>
                  <a:srgbClr val="0F2A35"/>
                </a:solidFill>
                <a:latin typeface="Cambria"/>
              </a:rPr>
              <a:t>The model rediscovered what land managers already knew.</a:t>
            </a:r>
          </a:p>
        </p:txBody>
      </p:sp>
      <p:pic>
        <p:nvPicPr>
          <p:cNvPr id="4" name="Picture 3" descr="deck_importance.png"/>
          <p:cNvPicPr>
            <a:picLocks noChangeAspect="1"/>
          </p:cNvPicPr>
          <p:nvPr/>
        </p:nvPicPr>
        <p:blipFill>
          <a:blip r:embed="rId3"/>
          <a:stretch>
            <a:fillRect/>
          </a:stretch>
        </p:blipFill>
        <p:spPr>
          <a:xfrm>
            <a:off x="658368" y="1773936"/>
            <a:ext cx="7406640" cy="3401797"/>
          </a:xfrm>
          <a:prstGeom prst="rect">
            <a:avLst/>
          </a:prstGeom>
        </p:spPr>
      </p:pic>
      <p:sp>
        <p:nvSpPr>
          <p:cNvPr id="5" name="TextBox 4"/>
          <p:cNvSpPr txBox="1"/>
          <p:nvPr/>
        </p:nvSpPr>
        <p:spPr>
          <a:xfrm>
            <a:off x="8229600" y="1920240"/>
            <a:ext cx="3200400" cy="3291840"/>
          </a:xfrm>
          <a:prstGeom prst="rect">
            <a:avLst/>
          </a:prstGeom>
          <a:noFill/>
        </p:spPr>
        <p:txBody>
          <a:bodyPr wrap="square" anchor="t" lIns="0" rIns="0" tIns="0" bIns="0">
            <a:spAutoFit/>
          </a:bodyPr>
          <a:lstStyle/>
          <a:p>
            <a:pPr algn="l">
              <a:lnSpc>
                <a:spcPct val="145000"/>
              </a:lnSpc>
              <a:spcAft>
                <a:spcPts val="1000"/>
              </a:spcAft>
            </a:pPr>
            <a:r>
              <a:rPr sz="1260" b="0" i="0">
                <a:solidFill>
                  <a:srgbClr val="0F2A35"/>
                </a:solidFill>
                <a:latin typeface="Calibri"/>
              </a:rPr>
              <a:t>Nobody told it that a wet, hot wet season grows the grass that carries an October fire. It found that in the data.</a:t>
            </a:r>
          </a:p>
          <a:p>
            <a:pPr algn="l">
              <a:lnSpc>
                <a:spcPct val="145000"/>
              </a:lnSpc>
              <a:spcAft>
                <a:spcPts val="1000"/>
              </a:spcAft>
            </a:pPr>
            <a:r>
              <a:rPr sz="1260" b="0" i="0">
                <a:solidFill>
                  <a:srgbClr val="0F2A35"/>
                </a:solidFill>
                <a:latin typeface="Calibri"/>
              </a:rPr>
              <a:t>The top five inputs are the dryness of the air, average greenness, wet-season rainfall, what the neighbouring country did last year, and the lowest greenness of the wet.</a:t>
            </a:r>
          </a:p>
          <a:p>
            <a:pPr algn="l">
              <a:lnSpc>
                <a:spcPct val="145000"/>
              </a:lnSpc>
              <a:spcAft>
                <a:spcPts val="1000"/>
              </a:spcAft>
            </a:pPr>
            <a:r>
              <a:rPr sz="1260" b="1" i="0">
                <a:solidFill>
                  <a:srgbClr val="0F2A35"/>
                </a:solidFill>
                <a:latin typeface="Calibri"/>
              </a:rPr>
              <a:t>That it lands where fire ecology already sits is the best evidence we have that it learned the problem rather than the dataset.</a:t>
            </a:r>
          </a:p>
        </p:txBody>
      </p:sp>
      <p:sp>
        <p:nvSpPr>
          <p:cNvPr id="6" name="TextBox 5"/>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6B7C85"/>
                </a:solidFill>
                <a:latin typeface="Calibri"/>
              </a:rPr>
              <a:t>Tharushi Wimalachandra</a:t>
            </a:r>
          </a:p>
        </p:txBody>
      </p:sp>
      <p:sp>
        <p:nvSpPr>
          <p:cNvPr id="7" name="TextBox 6"/>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6B7C85"/>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822960" y="310896"/>
            <a:ext cx="106070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C8552F"/>
                </a:solidFill>
                <a:latin typeface="Calibri"/>
              </a:rPr>
              <a:t>LIMITATIONS</a:t>
            </a:r>
          </a:p>
        </p:txBody>
      </p:sp>
      <p:sp>
        <p:nvSpPr>
          <p:cNvPr id="3" name="TextBox 2"/>
          <p:cNvSpPr txBox="1"/>
          <p:nvPr/>
        </p:nvSpPr>
        <p:spPr>
          <a:xfrm>
            <a:off x="822960" y="566928"/>
            <a:ext cx="10607040" cy="914400"/>
          </a:xfrm>
          <a:prstGeom prst="rect">
            <a:avLst/>
          </a:prstGeom>
          <a:noFill/>
        </p:spPr>
        <p:txBody>
          <a:bodyPr wrap="square" anchor="t" lIns="0" rIns="0" tIns="0" bIns="0">
            <a:spAutoFit/>
          </a:bodyPr>
          <a:lstStyle/>
          <a:p>
            <a:pPr algn="l">
              <a:lnSpc>
                <a:spcPct val="105000"/>
              </a:lnSpc>
              <a:spcAft>
                <a:spcPts val="0"/>
              </a:spcAft>
            </a:pPr>
            <a:r>
              <a:rPr sz="3400" b="1" i="0">
                <a:solidFill>
                  <a:srgbClr val="0F2A35"/>
                </a:solidFill>
                <a:latin typeface="Cambria"/>
              </a:rPr>
              <a:t>What this does not do.</a:t>
            </a:r>
          </a:p>
        </p:txBody>
      </p:sp>
      <p:sp>
        <p:nvSpPr>
          <p:cNvPr id="4" name="Rounded Rectangle 3"/>
          <p:cNvSpPr/>
          <p:nvPr/>
        </p:nvSpPr>
        <p:spPr>
          <a:xfrm>
            <a:off x="822960" y="1682496"/>
            <a:ext cx="10515600" cy="987552"/>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88720" y="1865376"/>
            <a:ext cx="4206240" cy="320040"/>
          </a:xfrm>
          <a:prstGeom prst="rect">
            <a:avLst/>
          </a:prstGeom>
          <a:noFill/>
        </p:spPr>
        <p:txBody>
          <a:bodyPr wrap="square" anchor="t" lIns="0" rIns="0" tIns="0" bIns="0">
            <a:spAutoFit/>
          </a:bodyPr>
          <a:lstStyle/>
          <a:p>
            <a:pPr algn="l">
              <a:lnSpc>
                <a:spcPct val="125000"/>
              </a:lnSpc>
              <a:spcAft>
                <a:spcPts val="0"/>
              </a:spcAft>
            </a:pPr>
            <a:r>
              <a:rPr sz="1550" b="1" i="0">
                <a:solidFill>
                  <a:srgbClr val="0F2A35"/>
                </a:solidFill>
                <a:latin typeface="Cambria"/>
              </a:rPr>
              <a:t>Late fires are still the hardest call</a:t>
            </a:r>
          </a:p>
        </p:txBody>
      </p:sp>
      <p:sp>
        <p:nvSpPr>
          <p:cNvPr id="6" name="TextBox 5"/>
          <p:cNvSpPr txBox="1"/>
          <p:nvPr/>
        </p:nvSpPr>
        <p:spPr>
          <a:xfrm>
            <a:off x="1188720" y="2231136"/>
            <a:ext cx="4206240" cy="320040"/>
          </a:xfrm>
          <a:prstGeom prst="rect">
            <a:avLst/>
          </a:prstGeom>
          <a:noFill/>
        </p:spPr>
        <p:txBody>
          <a:bodyPr wrap="square" anchor="t" lIns="0" rIns="0" tIns="0" bIns="0">
            <a:spAutoFit/>
          </a:bodyPr>
          <a:lstStyle/>
          <a:p>
            <a:pPr algn="l">
              <a:lnSpc>
                <a:spcPct val="125000"/>
              </a:lnSpc>
              <a:spcAft>
                <a:spcPts val="0"/>
              </a:spcAft>
            </a:pPr>
            <a:r>
              <a:rPr sz="1100" b="1" i="0">
                <a:solidFill>
                  <a:srgbClr val="C8552F"/>
                </a:solidFill>
                <a:latin typeface="Calibri"/>
              </a:rPr>
              <a:t>balanced F1 0.553</a:t>
            </a:r>
          </a:p>
        </p:txBody>
      </p:sp>
      <p:sp>
        <p:nvSpPr>
          <p:cNvPr id="7" name="TextBox 6"/>
          <p:cNvSpPr txBox="1"/>
          <p:nvPr/>
        </p:nvSpPr>
        <p:spPr>
          <a:xfrm>
            <a:off x="5852160" y="1901952"/>
            <a:ext cx="5120640" cy="658368"/>
          </a:xfrm>
          <a:prstGeom prst="rect">
            <a:avLst/>
          </a:prstGeom>
          <a:noFill/>
        </p:spPr>
        <p:txBody>
          <a:bodyPr wrap="square" anchor="t" lIns="0" rIns="0" tIns="0" bIns="0">
            <a:spAutoFit/>
          </a:bodyPr>
          <a:lstStyle/>
          <a:p>
            <a:pPr algn="l">
              <a:lnSpc>
                <a:spcPct val="140000"/>
              </a:lnSpc>
              <a:spcAft>
                <a:spcPts val="0"/>
              </a:spcAft>
            </a:pPr>
            <a:r>
              <a:rPr sz="1230" b="0" i="0">
                <a:solidFill>
                  <a:srgbClr val="0F2A35"/>
                </a:solidFill>
                <a:latin typeface="Calibri"/>
              </a:rPr>
              <a:t>The class that matters most is the one we predict worst. It is the rarest and the most weather-driven, and a year's weather after April is exactly what we refuse to look at.</a:t>
            </a:r>
          </a:p>
        </p:txBody>
      </p:sp>
      <p:sp>
        <p:nvSpPr>
          <p:cNvPr id="8" name="Rounded Rectangle 7"/>
          <p:cNvSpPr/>
          <p:nvPr/>
        </p:nvSpPr>
        <p:spPr>
          <a:xfrm>
            <a:off x="822960" y="2779776"/>
            <a:ext cx="10515600" cy="987552"/>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88720" y="2962656"/>
            <a:ext cx="4206240" cy="320040"/>
          </a:xfrm>
          <a:prstGeom prst="rect">
            <a:avLst/>
          </a:prstGeom>
          <a:noFill/>
        </p:spPr>
        <p:txBody>
          <a:bodyPr wrap="square" anchor="t" lIns="0" rIns="0" tIns="0" bIns="0">
            <a:spAutoFit/>
          </a:bodyPr>
          <a:lstStyle/>
          <a:p>
            <a:pPr algn="l">
              <a:lnSpc>
                <a:spcPct val="125000"/>
              </a:lnSpc>
              <a:spcAft>
                <a:spcPts val="0"/>
              </a:spcAft>
            </a:pPr>
            <a:r>
              <a:rPr sz="1550" b="1" i="0">
                <a:solidFill>
                  <a:srgbClr val="0F2A35"/>
                </a:solidFill>
                <a:latin typeface="Cambria"/>
              </a:rPr>
              <a:t>A season, not a day</a:t>
            </a:r>
          </a:p>
        </p:txBody>
      </p:sp>
      <p:sp>
        <p:nvSpPr>
          <p:cNvPr id="10" name="TextBox 9"/>
          <p:cNvSpPr txBox="1"/>
          <p:nvPr/>
        </p:nvSpPr>
        <p:spPr>
          <a:xfrm>
            <a:off x="1188720" y="3328416"/>
            <a:ext cx="4206240" cy="320040"/>
          </a:xfrm>
          <a:prstGeom prst="rect">
            <a:avLst/>
          </a:prstGeom>
          <a:noFill/>
        </p:spPr>
        <p:txBody>
          <a:bodyPr wrap="square" anchor="t" lIns="0" rIns="0" tIns="0" bIns="0">
            <a:spAutoFit/>
          </a:bodyPr>
          <a:lstStyle/>
          <a:p>
            <a:pPr algn="l">
              <a:lnSpc>
                <a:spcPct val="125000"/>
              </a:lnSpc>
              <a:spcAft>
                <a:spcPts val="0"/>
              </a:spcAft>
            </a:pPr>
            <a:r>
              <a:rPr sz="1100" b="1" i="0">
                <a:solidFill>
                  <a:srgbClr val="C8552F"/>
                </a:solidFill>
                <a:latin typeface="Calibri"/>
              </a:rPr>
              <a:t/>
            </a:r>
          </a:p>
        </p:txBody>
      </p:sp>
      <p:sp>
        <p:nvSpPr>
          <p:cNvPr id="11" name="TextBox 10"/>
          <p:cNvSpPr txBox="1"/>
          <p:nvPr/>
        </p:nvSpPr>
        <p:spPr>
          <a:xfrm>
            <a:off x="5852160" y="2999232"/>
            <a:ext cx="5120640" cy="658368"/>
          </a:xfrm>
          <a:prstGeom prst="rect">
            <a:avLst/>
          </a:prstGeom>
          <a:noFill/>
        </p:spPr>
        <p:txBody>
          <a:bodyPr wrap="square" anchor="t" lIns="0" rIns="0" tIns="0" bIns="0">
            <a:spAutoFit/>
          </a:bodyPr>
          <a:lstStyle/>
          <a:p>
            <a:pPr algn="l">
              <a:lnSpc>
                <a:spcPct val="140000"/>
              </a:lnSpc>
              <a:spcAft>
                <a:spcPts val="0"/>
              </a:spcAft>
            </a:pPr>
            <a:r>
              <a:rPr sz="1230" b="0" i="0">
                <a:solidFill>
                  <a:srgbClr val="0F2A35"/>
                </a:solidFill>
                <a:latin typeface="Calibri"/>
              </a:rPr>
              <a:t>This says which squares are likely to burn and roughly when. It does not say which Tuesday, and it is not a fire-danger rating.</a:t>
            </a:r>
          </a:p>
        </p:txBody>
      </p:sp>
      <p:sp>
        <p:nvSpPr>
          <p:cNvPr id="12" name="Rounded Rectangle 11"/>
          <p:cNvSpPr/>
          <p:nvPr/>
        </p:nvSpPr>
        <p:spPr>
          <a:xfrm>
            <a:off x="822960" y="3877056"/>
            <a:ext cx="10515600" cy="987552"/>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188720" y="4059936"/>
            <a:ext cx="4206240" cy="320040"/>
          </a:xfrm>
          <a:prstGeom prst="rect">
            <a:avLst/>
          </a:prstGeom>
          <a:noFill/>
        </p:spPr>
        <p:txBody>
          <a:bodyPr wrap="square" anchor="t" lIns="0" rIns="0" tIns="0" bIns="0">
            <a:spAutoFit/>
          </a:bodyPr>
          <a:lstStyle/>
          <a:p>
            <a:pPr algn="l">
              <a:lnSpc>
                <a:spcPct val="125000"/>
              </a:lnSpc>
              <a:spcAft>
                <a:spcPts val="0"/>
              </a:spcAft>
            </a:pPr>
            <a:r>
              <a:rPr sz="1550" b="1" i="0">
                <a:solidFill>
                  <a:srgbClr val="0F2A35"/>
                </a:solidFill>
                <a:latin typeface="Cambria"/>
              </a:rPr>
              <a:t>2026 is unverified</a:t>
            </a:r>
          </a:p>
        </p:txBody>
      </p:sp>
      <p:sp>
        <p:nvSpPr>
          <p:cNvPr id="14" name="TextBox 13"/>
          <p:cNvSpPr txBox="1"/>
          <p:nvPr/>
        </p:nvSpPr>
        <p:spPr>
          <a:xfrm>
            <a:off x="1188720" y="4425696"/>
            <a:ext cx="4206240" cy="320040"/>
          </a:xfrm>
          <a:prstGeom prst="rect">
            <a:avLst/>
          </a:prstGeom>
          <a:noFill/>
        </p:spPr>
        <p:txBody>
          <a:bodyPr wrap="square" anchor="t" lIns="0" rIns="0" tIns="0" bIns="0">
            <a:spAutoFit/>
          </a:bodyPr>
          <a:lstStyle/>
          <a:p>
            <a:pPr algn="l">
              <a:lnSpc>
                <a:spcPct val="125000"/>
              </a:lnSpc>
              <a:spcAft>
                <a:spcPts val="0"/>
              </a:spcAft>
            </a:pPr>
            <a:r>
              <a:rPr sz="1100" b="1" i="0">
                <a:solidFill>
                  <a:srgbClr val="C8552F"/>
                </a:solidFill>
                <a:latin typeface="Calibri"/>
              </a:rPr>
              <a:t/>
            </a:r>
          </a:p>
        </p:txBody>
      </p:sp>
      <p:sp>
        <p:nvSpPr>
          <p:cNvPr id="15" name="TextBox 14"/>
          <p:cNvSpPr txBox="1"/>
          <p:nvPr/>
        </p:nvSpPr>
        <p:spPr>
          <a:xfrm>
            <a:off x="5852160" y="4096512"/>
            <a:ext cx="5120640" cy="658368"/>
          </a:xfrm>
          <a:prstGeom prst="rect">
            <a:avLst/>
          </a:prstGeom>
          <a:noFill/>
        </p:spPr>
        <p:txBody>
          <a:bodyPr wrap="square" anchor="t" lIns="0" rIns="0" tIns="0" bIns="0">
            <a:spAutoFit/>
          </a:bodyPr>
          <a:lstStyle/>
          <a:p>
            <a:pPr algn="l">
              <a:lnSpc>
                <a:spcPct val="140000"/>
              </a:lnSpc>
              <a:spcAft>
                <a:spcPts val="0"/>
              </a:spcAft>
            </a:pPr>
            <a:r>
              <a:rPr sz="1230" b="0" i="0">
                <a:solidFill>
                  <a:srgbClr val="0F2A35"/>
                </a:solidFill>
                <a:latin typeface="Calibri"/>
              </a:rPr>
              <a:t>No burnt-area record exists for a year still running. The forecast is published as a claim that can be checked in 2027, not as a result.</a:t>
            </a:r>
          </a:p>
        </p:txBody>
      </p:sp>
      <p:sp>
        <p:nvSpPr>
          <p:cNvPr id="16" name="Rounded Rectangle 15"/>
          <p:cNvSpPr/>
          <p:nvPr/>
        </p:nvSpPr>
        <p:spPr>
          <a:xfrm>
            <a:off x="822960" y="4974336"/>
            <a:ext cx="10515600" cy="987552"/>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188720" y="5157216"/>
            <a:ext cx="4206240" cy="320040"/>
          </a:xfrm>
          <a:prstGeom prst="rect">
            <a:avLst/>
          </a:prstGeom>
          <a:noFill/>
        </p:spPr>
        <p:txBody>
          <a:bodyPr wrap="square" anchor="t" lIns="0" rIns="0" tIns="0" bIns="0">
            <a:spAutoFit/>
          </a:bodyPr>
          <a:lstStyle/>
          <a:p>
            <a:pPr algn="l">
              <a:lnSpc>
                <a:spcPct val="125000"/>
              </a:lnSpc>
              <a:spcAft>
                <a:spcPts val="0"/>
              </a:spcAft>
            </a:pPr>
            <a:r>
              <a:rPr sz="1550" b="1" i="0">
                <a:solidFill>
                  <a:srgbClr val="0F2A35"/>
                </a:solidFill>
                <a:latin typeface="Cambria"/>
              </a:rPr>
              <a:t>One Territory, one grid</a:t>
            </a:r>
          </a:p>
        </p:txBody>
      </p:sp>
      <p:sp>
        <p:nvSpPr>
          <p:cNvPr id="18" name="TextBox 17"/>
          <p:cNvSpPr txBox="1"/>
          <p:nvPr/>
        </p:nvSpPr>
        <p:spPr>
          <a:xfrm>
            <a:off x="1188720" y="5522976"/>
            <a:ext cx="4206240" cy="320040"/>
          </a:xfrm>
          <a:prstGeom prst="rect">
            <a:avLst/>
          </a:prstGeom>
          <a:noFill/>
        </p:spPr>
        <p:txBody>
          <a:bodyPr wrap="square" anchor="t" lIns="0" rIns="0" tIns="0" bIns="0">
            <a:spAutoFit/>
          </a:bodyPr>
          <a:lstStyle/>
          <a:p>
            <a:pPr algn="l">
              <a:lnSpc>
                <a:spcPct val="125000"/>
              </a:lnSpc>
              <a:spcAft>
                <a:spcPts val="0"/>
              </a:spcAft>
            </a:pPr>
            <a:r>
              <a:rPr sz="1100" b="1" i="0">
                <a:solidFill>
                  <a:srgbClr val="C8552F"/>
                </a:solidFill>
                <a:latin typeface="Calibri"/>
              </a:rPr>
              <a:t/>
            </a:r>
          </a:p>
        </p:txBody>
      </p:sp>
      <p:sp>
        <p:nvSpPr>
          <p:cNvPr id="19" name="TextBox 18"/>
          <p:cNvSpPr txBox="1"/>
          <p:nvPr/>
        </p:nvSpPr>
        <p:spPr>
          <a:xfrm>
            <a:off x="5852160" y="5193792"/>
            <a:ext cx="5120640" cy="658368"/>
          </a:xfrm>
          <a:prstGeom prst="rect">
            <a:avLst/>
          </a:prstGeom>
          <a:noFill/>
        </p:spPr>
        <p:txBody>
          <a:bodyPr wrap="square" anchor="t" lIns="0" rIns="0" tIns="0" bIns="0">
            <a:spAutoFit/>
          </a:bodyPr>
          <a:lstStyle/>
          <a:p>
            <a:pPr algn="l">
              <a:lnSpc>
                <a:spcPct val="140000"/>
              </a:lnSpc>
              <a:spcAft>
                <a:spcPts val="0"/>
              </a:spcAft>
            </a:pPr>
            <a:r>
              <a:rPr sz="1230" b="0" i="0">
                <a:solidFill>
                  <a:srgbClr val="0F2A35"/>
                </a:solidFill>
                <a:latin typeface="Calibri"/>
              </a:rPr>
              <a:t>Everything is fitted to the NT at 0.05°. Whether it transfers to the Kimberley or Cape York is an open question, not an assumption.</a:t>
            </a:r>
          </a:p>
        </p:txBody>
      </p:sp>
      <p:sp>
        <p:nvSpPr>
          <p:cNvPr id="20" name="TextBox 19"/>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6B7C85"/>
                </a:solidFill>
                <a:latin typeface="Calibri"/>
              </a:rPr>
              <a:t>Tharushi Wimalachandra</a:t>
            </a:r>
          </a:p>
        </p:txBody>
      </p:sp>
      <p:sp>
        <p:nvSpPr>
          <p:cNvPr id="21" name="TextBox 20"/>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6B7C85"/>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2A35"/>
        </a:solidFill>
        <a:effectLst/>
      </p:bgPr>
    </p:bg>
    <p:spTree>
      <p:nvGrpSpPr>
        <p:cNvPr id="1" name=""/>
        <p:cNvGrpSpPr/>
        <p:nvPr/>
      </p:nvGrpSpPr>
      <p:grpSpPr/>
      <p:sp>
        <p:nvSpPr>
          <p:cNvPr id="2" name="Rounded Rectangle 1"/>
          <p:cNvSpPr/>
          <p:nvPr/>
        </p:nvSpPr>
        <p:spPr>
          <a:xfrm>
            <a:off x="822960" y="2084831"/>
            <a:ext cx="155448" cy="155448"/>
          </a:xfrm>
          <a:prstGeom prst="roundRect">
            <a:avLst>
              <a:gd name="adj" fmla="val 18000"/>
            </a:avLst>
          </a:prstGeom>
          <a:solidFill>
            <a:srgbClr val="9AA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1046988" y="2084831"/>
            <a:ext cx="155448" cy="155448"/>
          </a:xfrm>
          <a:prstGeom prst="roundRect">
            <a:avLst>
              <a:gd name="adj" fmla="val 18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1271016" y="2084831"/>
            <a:ext cx="155448" cy="155448"/>
          </a:xfrm>
          <a:prstGeom prst="roundRect">
            <a:avLst>
              <a:gd name="adj" fmla="val 18000"/>
            </a:avLst>
          </a:prstGeom>
          <a:solidFill>
            <a:srgbClr val="C85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2514600"/>
            <a:ext cx="106070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E0835C"/>
                </a:solidFill>
                <a:latin typeface="Calibri"/>
              </a:rPr>
              <a:t>ACT FOUR</a:t>
            </a:r>
          </a:p>
        </p:txBody>
      </p:sp>
      <p:sp>
        <p:nvSpPr>
          <p:cNvPr id="6" name="TextBox 5"/>
          <p:cNvSpPr txBox="1"/>
          <p:nvPr/>
        </p:nvSpPr>
        <p:spPr>
          <a:xfrm>
            <a:off x="822960" y="2788920"/>
            <a:ext cx="9601200" cy="1280160"/>
          </a:xfrm>
          <a:prstGeom prst="rect">
            <a:avLst/>
          </a:prstGeom>
          <a:noFill/>
        </p:spPr>
        <p:txBody>
          <a:bodyPr wrap="square" anchor="t" lIns="0" rIns="0" tIns="0" bIns="0">
            <a:spAutoFit/>
          </a:bodyPr>
          <a:lstStyle/>
          <a:p>
            <a:pPr algn="l">
              <a:lnSpc>
                <a:spcPct val="102000"/>
              </a:lnSpc>
              <a:spcAft>
                <a:spcPts val="0"/>
              </a:spcAft>
            </a:pPr>
            <a:r>
              <a:rPr sz="4400" b="1" i="0">
                <a:solidFill>
                  <a:srgbClr val="FFFFFF"/>
                </a:solidFill>
                <a:latin typeface="Cambria"/>
              </a:rPr>
              <a:t>What it says about 2026</a:t>
            </a:r>
          </a:p>
        </p:txBody>
      </p:sp>
      <p:sp>
        <p:nvSpPr>
          <p:cNvPr id="7" name="TextBox 6"/>
          <p:cNvSpPr txBox="1"/>
          <p:nvPr/>
        </p:nvSpPr>
        <p:spPr>
          <a:xfrm>
            <a:off x="822960" y="4160520"/>
            <a:ext cx="7863840" cy="822960"/>
          </a:xfrm>
          <a:prstGeom prst="rect">
            <a:avLst/>
          </a:prstGeom>
          <a:noFill/>
        </p:spPr>
        <p:txBody>
          <a:bodyPr wrap="square" anchor="t" lIns="0" rIns="0" tIns="0" bIns="0">
            <a:spAutoFit/>
          </a:bodyPr>
          <a:lstStyle/>
          <a:p>
            <a:pPr algn="l">
              <a:lnSpc>
                <a:spcPct val="140000"/>
              </a:lnSpc>
              <a:spcAft>
                <a:spcPts val="0"/>
              </a:spcAft>
            </a:pPr>
            <a:r>
              <a:rPr sz="1550" b="0" i="0">
                <a:solidFill>
                  <a:srgbClr val="B9CAD2"/>
                </a:solidFill>
                <a:latin typeface="Calibri"/>
              </a:rPr>
              <a:t>A forecast that can be checked next year, and the product that puts it in front of someone who is not a data scientist.</a:t>
            </a:r>
          </a:p>
        </p:txBody>
      </p:sp>
      <p:sp>
        <p:nvSpPr>
          <p:cNvPr id="8" name="TextBox 7"/>
          <p:cNvSpPr txBox="1"/>
          <p:nvPr/>
        </p:nvSpPr>
        <p:spPr>
          <a:xfrm>
            <a:off x="822960" y="5257800"/>
            <a:ext cx="7315200" cy="320040"/>
          </a:xfrm>
          <a:prstGeom prst="rect">
            <a:avLst/>
          </a:prstGeom>
          <a:noFill/>
        </p:spPr>
        <p:txBody>
          <a:bodyPr wrap="square" anchor="t" lIns="0" rIns="0" tIns="0" bIns="0">
            <a:spAutoFit/>
          </a:bodyPr>
          <a:lstStyle/>
          <a:p>
            <a:pPr algn="l">
              <a:lnSpc>
                <a:spcPct val="125000"/>
              </a:lnSpc>
              <a:spcAft>
                <a:spcPts val="0"/>
              </a:spcAft>
            </a:pPr>
            <a:r>
              <a:rPr sz="1250" b="1" i="0">
                <a:solidFill>
                  <a:srgbClr val="E0835C"/>
                </a:solidFill>
                <a:latin typeface="Calibri"/>
              </a:rPr>
              <a:t>Harsh Rastogi</a:t>
            </a:r>
          </a:p>
        </p:txBody>
      </p:sp>
      <p:sp>
        <p:nvSpPr>
          <p:cNvPr id="9" name="TextBox 8"/>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B9CAD2"/>
                </a:solidFill>
                <a:latin typeface="Calibri"/>
              </a:rPr>
              <a:t/>
            </a:r>
          </a:p>
        </p:txBody>
      </p:sp>
      <p:sp>
        <p:nvSpPr>
          <p:cNvPr id="10" name="TextBox 9"/>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B9CAD2"/>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822960" y="310896"/>
            <a:ext cx="106070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C8552F"/>
                </a:solidFill>
                <a:latin typeface="Calibri"/>
              </a:rPr>
              <a:t>THE FORECAST</a:t>
            </a:r>
          </a:p>
        </p:txBody>
      </p:sp>
      <p:sp>
        <p:nvSpPr>
          <p:cNvPr id="3" name="TextBox 2"/>
          <p:cNvSpPr txBox="1"/>
          <p:nvPr/>
        </p:nvSpPr>
        <p:spPr>
          <a:xfrm>
            <a:off x="822960" y="566928"/>
            <a:ext cx="10607040" cy="914400"/>
          </a:xfrm>
          <a:prstGeom prst="rect">
            <a:avLst/>
          </a:prstGeom>
          <a:noFill/>
        </p:spPr>
        <p:txBody>
          <a:bodyPr wrap="square" anchor="t" lIns="0" rIns="0" tIns="0" bIns="0">
            <a:spAutoFit/>
          </a:bodyPr>
          <a:lstStyle/>
          <a:p>
            <a:pPr algn="l">
              <a:lnSpc>
                <a:spcPct val="105000"/>
              </a:lnSpc>
              <a:spcAft>
                <a:spcPts val="0"/>
              </a:spcAft>
            </a:pPr>
            <a:r>
              <a:rPr sz="3400" b="1" i="0">
                <a:solidFill>
                  <a:srgbClr val="0F2A35"/>
                </a:solidFill>
                <a:latin typeface="Cambria"/>
              </a:rPr>
              <a:t>2026 is running heavy, and most of what is left will burn late.</a:t>
            </a:r>
          </a:p>
        </p:txBody>
      </p:sp>
      <p:pic>
        <p:nvPicPr>
          <p:cNvPr id="4" name="Picture 3" descr="deck_forecast.png"/>
          <p:cNvPicPr>
            <a:picLocks noChangeAspect="1"/>
          </p:cNvPicPr>
          <p:nvPr/>
        </p:nvPicPr>
        <p:blipFill>
          <a:blip r:embed="rId3"/>
          <a:stretch>
            <a:fillRect/>
          </a:stretch>
        </p:blipFill>
        <p:spPr>
          <a:xfrm>
            <a:off x="685800" y="2148840"/>
            <a:ext cx="7315200" cy="3346393"/>
          </a:xfrm>
          <a:prstGeom prst="rect">
            <a:avLst/>
          </a:prstGeom>
        </p:spPr>
      </p:pic>
      <p:sp>
        <p:nvSpPr>
          <p:cNvPr id="5" name="TextBox 4"/>
          <p:cNvSpPr txBox="1"/>
          <p:nvPr/>
        </p:nvSpPr>
        <p:spPr>
          <a:xfrm>
            <a:off x="8138160" y="1737360"/>
            <a:ext cx="3291840" cy="777240"/>
          </a:xfrm>
          <a:prstGeom prst="rect">
            <a:avLst/>
          </a:prstGeom>
          <a:noFill/>
        </p:spPr>
        <p:txBody>
          <a:bodyPr wrap="square" anchor="t" lIns="0" rIns="0" tIns="0" bIns="0">
            <a:spAutoFit/>
          </a:bodyPr>
          <a:lstStyle/>
          <a:p>
            <a:pPr algn="l">
              <a:lnSpc>
                <a:spcPct val="95000"/>
              </a:lnSpc>
              <a:spcAft>
                <a:spcPts val="0"/>
              </a:spcAft>
            </a:pPr>
            <a:r>
              <a:rPr sz="5800" b="1" i="0">
                <a:solidFill>
                  <a:srgbClr val="C8552F"/>
                </a:solidFill>
                <a:latin typeface="Cambria"/>
              </a:rPr>
              <a:t>51%</a:t>
            </a:r>
          </a:p>
        </p:txBody>
      </p:sp>
      <p:sp>
        <p:nvSpPr>
          <p:cNvPr id="6" name="TextBox 5"/>
          <p:cNvSpPr txBox="1"/>
          <p:nvPr/>
        </p:nvSpPr>
        <p:spPr>
          <a:xfrm>
            <a:off x="8138160" y="2491994"/>
            <a:ext cx="3291840" cy="640080"/>
          </a:xfrm>
          <a:prstGeom prst="rect">
            <a:avLst/>
          </a:prstGeom>
          <a:noFill/>
        </p:spPr>
        <p:txBody>
          <a:bodyPr wrap="square" anchor="t" lIns="0" rIns="0" tIns="0" bIns="0">
            <a:spAutoFit/>
          </a:bodyPr>
          <a:lstStyle/>
          <a:p>
            <a:pPr algn="l">
              <a:lnSpc>
                <a:spcPct val="120000"/>
              </a:lnSpc>
              <a:spcAft>
                <a:spcPts val="0"/>
              </a:spcAft>
            </a:pPr>
            <a:r>
              <a:rPr sz="1250" b="0" i="0">
                <a:solidFill>
                  <a:srgbClr val="6B7C85"/>
                </a:solidFill>
                <a:latin typeface="Calibri"/>
              </a:rPr>
              <a:t>of the Territory forecast to burn in 2026, against a 26-year average of 33%</a:t>
            </a:r>
          </a:p>
        </p:txBody>
      </p:sp>
      <p:sp>
        <p:nvSpPr>
          <p:cNvPr id="7" name="TextBox 6"/>
          <p:cNvSpPr txBox="1"/>
          <p:nvPr/>
        </p:nvSpPr>
        <p:spPr>
          <a:xfrm>
            <a:off x="8138160" y="3493008"/>
            <a:ext cx="3291840" cy="2514600"/>
          </a:xfrm>
          <a:prstGeom prst="rect">
            <a:avLst/>
          </a:prstGeom>
          <a:noFill/>
        </p:spPr>
        <p:txBody>
          <a:bodyPr wrap="square" anchor="t" lIns="0" rIns="0" tIns="0" bIns="0">
            <a:spAutoFit/>
          </a:bodyPr>
          <a:lstStyle/>
          <a:p>
            <a:pPr algn="l">
              <a:lnSpc>
                <a:spcPct val="142000"/>
              </a:lnSpc>
              <a:spcAft>
                <a:spcPts val="900"/>
              </a:spcAft>
            </a:pPr>
            <a:r>
              <a:rPr sz="1240" b="0" i="0">
                <a:solidFill>
                  <a:srgbClr val="0F2A35"/>
                </a:solidFill>
                <a:latin typeface="Calibri"/>
              </a:rPr>
              <a:t>The model reads a wet season that delivered 783 mm — 45% above the 2005 to 2019 average and the second wettest in 22 years — and the greenest April on record at 0.46.</a:t>
            </a:r>
          </a:p>
          <a:p>
            <a:pPr algn="l">
              <a:lnSpc>
                <a:spcPct val="142000"/>
              </a:lnSpc>
              <a:spcAft>
                <a:spcPts val="900"/>
              </a:spcAft>
            </a:pPr>
            <a:r>
              <a:rPr sz="1240" b="1" i="0">
                <a:solidFill>
                  <a:srgbClr val="0F2A35"/>
                </a:solidFill>
                <a:latin typeface="Calibri"/>
              </a:rPr>
              <a:t>More water grew more grass. More grass is more fuel.</a:t>
            </a:r>
          </a:p>
          <a:p>
            <a:pPr algn="l">
              <a:lnSpc>
                <a:spcPct val="142000"/>
              </a:lnSpc>
              <a:spcAft>
                <a:spcPts val="900"/>
              </a:spcAft>
            </a:pPr>
            <a:r>
              <a:rPr sz="1180" b="0" i="0">
                <a:solidFill>
                  <a:srgbClr val="6B7C85"/>
                </a:solidFill>
                <a:latin typeface="Calibri"/>
              </a:rPr>
              <a:t>Mean confidence across the map is 0.733. No fire scars exist for 2026 yet, so this is a claim we can be held to in 2027.</a:t>
            </a:r>
          </a:p>
        </p:txBody>
      </p:sp>
      <p:sp>
        <p:nvSpPr>
          <p:cNvPr id="8" name="TextBox 7"/>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6B7C85"/>
                </a:solidFill>
                <a:latin typeface="Calibri"/>
              </a:rPr>
              <a:t>Harsh Rastogi</a:t>
            </a:r>
          </a:p>
        </p:txBody>
      </p:sp>
      <p:sp>
        <p:nvSpPr>
          <p:cNvPr id="9" name="TextBox 8"/>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6B7C85"/>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822960" y="310896"/>
            <a:ext cx="106070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C8552F"/>
                </a:solidFill>
                <a:latin typeface="Calibri"/>
              </a:rPr>
              <a:t>THE PRODUCT</a:t>
            </a:r>
          </a:p>
        </p:txBody>
      </p:sp>
      <p:sp>
        <p:nvSpPr>
          <p:cNvPr id="3" name="TextBox 2"/>
          <p:cNvSpPr txBox="1"/>
          <p:nvPr/>
        </p:nvSpPr>
        <p:spPr>
          <a:xfrm>
            <a:off x="822960" y="566928"/>
            <a:ext cx="10607040" cy="914400"/>
          </a:xfrm>
          <a:prstGeom prst="rect">
            <a:avLst/>
          </a:prstGeom>
          <a:noFill/>
        </p:spPr>
        <p:txBody>
          <a:bodyPr wrap="square" anchor="t" lIns="0" rIns="0" tIns="0" bIns="0">
            <a:spAutoFit/>
          </a:bodyPr>
          <a:lstStyle/>
          <a:p>
            <a:pPr algn="l">
              <a:lnSpc>
                <a:spcPct val="105000"/>
              </a:lnSpc>
              <a:spcAft>
                <a:spcPts val="0"/>
              </a:spcAft>
            </a:pPr>
            <a:r>
              <a:rPr sz="3400" b="1" i="0">
                <a:solidFill>
                  <a:srgbClr val="0F2A35"/>
                </a:solidFill>
                <a:latin typeface="Cambria"/>
              </a:rPr>
              <a:t>A model in a notebook helps nobody.</a:t>
            </a:r>
          </a:p>
        </p:txBody>
      </p:sp>
      <p:sp>
        <p:nvSpPr>
          <p:cNvPr id="4" name="TextBox 3"/>
          <p:cNvSpPr txBox="1"/>
          <p:nvPr/>
        </p:nvSpPr>
        <p:spPr>
          <a:xfrm>
            <a:off x="822960" y="1536192"/>
            <a:ext cx="10424160" cy="457200"/>
          </a:xfrm>
          <a:prstGeom prst="rect">
            <a:avLst/>
          </a:prstGeom>
          <a:noFill/>
        </p:spPr>
        <p:txBody>
          <a:bodyPr wrap="square" anchor="t" lIns="0" rIns="0" tIns="0" bIns="0">
            <a:spAutoFit/>
          </a:bodyPr>
          <a:lstStyle/>
          <a:p>
            <a:pPr algn="l">
              <a:lnSpc>
                <a:spcPct val="145000"/>
              </a:lnSpc>
              <a:spcAft>
                <a:spcPts val="0"/>
              </a:spcAft>
            </a:pPr>
            <a:r>
              <a:rPr sz="1400" b="0" i="0">
                <a:solidFill>
                  <a:srgbClr val="0F2A35"/>
                </a:solidFill>
                <a:latin typeface="Calibri"/>
              </a:rPr>
              <a:t>So we shipped it: a public site that answers the question in plain English first, and shows the map, the record and the evidence underneath.</a:t>
            </a:r>
          </a:p>
        </p:txBody>
      </p:sp>
      <p:sp>
        <p:nvSpPr>
          <p:cNvPr id="5" name="Rounded Rectangle 4"/>
          <p:cNvSpPr/>
          <p:nvPr/>
        </p:nvSpPr>
        <p:spPr>
          <a:xfrm>
            <a:off x="626363" y="2103691"/>
            <a:ext cx="5413248" cy="3555873"/>
          </a:xfrm>
          <a:prstGeom prst="roundRect">
            <a:avLst>
              <a:gd name="adj" fmla="val 2000"/>
            </a:avLst>
          </a:prstGeom>
          <a:solidFill>
            <a:srgbClr val="DCD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outlook.png"/>
          <p:cNvPicPr>
            <a:picLocks noChangeAspect="1"/>
          </p:cNvPicPr>
          <p:nvPr/>
        </p:nvPicPr>
        <p:blipFill>
          <a:blip r:embed="rId3"/>
          <a:stretch>
            <a:fillRect/>
          </a:stretch>
        </p:blipFill>
        <p:spPr>
          <a:xfrm>
            <a:off x="658367" y="2135695"/>
            <a:ext cx="5349240" cy="3491865"/>
          </a:xfrm>
          <a:prstGeom prst="rect">
            <a:avLst/>
          </a:prstGeom>
        </p:spPr>
      </p:pic>
      <p:sp>
        <p:nvSpPr>
          <p:cNvPr id="7" name="TextBox 6"/>
          <p:cNvSpPr txBox="1"/>
          <p:nvPr/>
        </p:nvSpPr>
        <p:spPr>
          <a:xfrm>
            <a:off x="658367" y="5755576"/>
            <a:ext cx="5349240" cy="274320"/>
          </a:xfrm>
          <a:prstGeom prst="rect">
            <a:avLst/>
          </a:prstGeom>
          <a:noFill/>
        </p:spPr>
        <p:txBody>
          <a:bodyPr wrap="square" anchor="t" lIns="0" rIns="0" tIns="0" bIns="0">
            <a:spAutoFit/>
          </a:bodyPr>
          <a:lstStyle/>
          <a:p>
            <a:pPr algn="ctr">
              <a:lnSpc>
                <a:spcPct val="125000"/>
              </a:lnSpc>
              <a:spcAft>
                <a:spcPts val="0"/>
              </a:spcAft>
            </a:pPr>
            <a:r>
              <a:rPr sz="1150" b="0" i="0">
                <a:solidFill>
                  <a:srgbClr val="6B7C85"/>
                </a:solidFill>
                <a:latin typeface="Calibri"/>
              </a:rPr>
              <a:t>This year — the forecast for any town or square</a:t>
            </a:r>
          </a:p>
        </p:txBody>
      </p:sp>
      <p:sp>
        <p:nvSpPr>
          <p:cNvPr id="8" name="Rounded Rectangle 7"/>
          <p:cNvSpPr/>
          <p:nvPr/>
        </p:nvSpPr>
        <p:spPr>
          <a:xfrm>
            <a:off x="6231636" y="2103691"/>
            <a:ext cx="5413248" cy="3555873"/>
          </a:xfrm>
          <a:prstGeom prst="roundRect">
            <a:avLst>
              <a:gd name="adj" fmla="val 2000"/>
            </a:avLst>
          </a:prstGeom>
          <a:solidFill>
            <a:srgbClr val="DCD8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quality_models.png"/>
          <p:cNvPicPr>
            <a:picLocks noChangeAspect="1"/>
          </p:cNvPicPr>
          <p:nvPr/>
        </p:nvPicPr>
        <p:blipFill>
          <a:blip r:embed="rId4"/>
          <a:stretch>
            <a:fillRect/>
          </a:stretch>
        </p:blipFill>
        <p:spPr>
          <a:xfrm>
            <a:off x="6263640" y="2135695"/>
            <a:ext cx="5349240" cy="3491865"/>
          </a:xfrm>
          <a:prstGeom prst="rect">
            <a:avLst/>
          </a:prstGeom>
        </p:spPr>
      </p:pic>
      <p:sp>
        <p:nvSpPr>
          <p:cNvPr id="10" name="TextBox 9"/>
          <p:cNvSpPr txBox="1"/>
          <p:nvPr/>
        </p:nvSpPr>
        <p:spPr>
          <a:xfrm>
            <a:off x="6263640" y="5755576"/>
            <a:ext cx="5349240" cy="274320"/>
          </a:xfrm>
          <a:prstGeom prst="rect">
            <a:avLst/>
          </a:prstGeom>
          <a:noFill/>
        </p:spPr>
        <p:txBody>
          <a:bodyPr wrap="square" anchor="t" lIns="0" rIns="0" tIns="0" bIns="0">
            <a:spAutoFit/>
          </a:bodyPr>
          <a:lstStyle/>
          <a:p>
            <a:pPr algn="ctr">
              <a:lnSpc>
                <a:spcPct val="125000"/>
              </a:lnSpc>
              <a:spcAft>
                <a:spcPts val="0"/>
              </a:spcAft>
            </a:pPr>
            <a:r>
              <a:rPr sz="1150" b="0" i="0">
                <a:solidFill>
                  <a:srgbClr val="6B7C85"/>
                </a:solidFill>
                <a:latin typeface="Calibri"/>
              </a:rPr>
              <a:t>How good is it — every model, scored on years it never saw</a:t>
            </a:r>
          </a:p>
        </p:txBody>
      </p:sp>
      <p:sp>
        <p:nvSpPr>
          <p:cNvPr id="11" name="TextBox 10"/>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6B7C85"/>
                </a:solidFill>
                <a:latin typeface="Calibri"/>
              </a:rPr>
              <a:t>Harsh Rastogi</a:t>
            </a:r>
          </a:p>
        </p:txBody>
      </p:sp>
      <p:sp>
        <p:nvSpPr>
          <p:cNvPr id="12" name="TextBox 11"/>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6B7C85"/>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F2A35"/>
        </a:solidFill>
        <a:effectLst/>
      </p:bgPr>
    </p:bg>
    <p:spTree>
      <p:nvGrpSpPr>
        <p:cNvPr id="1" name=""/>
        <p:cNvGrpSpPr/>
        <p:nvPr/>
      </p:nvGrpSpPr>
      <p:grpSpPr/>
      <p:sp>
        <p:nvSpPr>
          <p:cNvPr id="2" name="Rounded Rectangle 1"/>
          <p:cNvSpPr/>
          <p:nvPr/>
        </p:nvSpPr>
        <p:spPr>
          <a:xfrm>
            <a:off x="822960" y="1463040"/>
            <a:ext cx="201168" cy="201168"/>
          </a:xfrm>
          <a:prstGeom prst="roundRect">
            <a:avLst>
              <a:gd name="adj" fmla="val 18000"/>
            </a:avLst>
          </a:prstGeom>
          <a:solidFill>
            <a:srgbClr val="9AA8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ounded Rectangle 2"/>
          <p:cNvSpPr/>
          <p:nvPr/>
        </p:nvSpPr>
        <p:spPr>
          <a:xfrm>
            <a:off x="1115568" y="1463040"/>
            <a:ext cx="201168" cy="201168"/>
          </a:xfrm>
          <a:prstGeom prst="roundRect">
            <a:avLst>
              <a:gd name="adj" fmla="val 18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1408176" y="1463040"/>
            <a:ext cx="201168" cy="201168"/>
          </a:xfrm>
          <a:prstGeom prst="roundRect">
            <a:avLst>
              <a:gd name="adj" fmla="val 18000"/>
            </a:avLst>
          </a:prstGeom>
          <a:solidFill>
            <a:srgbClr val="C855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975104"/>
            <a:ext cx="9875520" cy="1280160"/>
          </a:xfrm>
          <a:prstGeom prst="rect">
            <a:avLst/>
          </a:prstGeom>
          <a:noFill/>
        </p:spPr>
        <p:txBody>
          <a:bodyPr wrap="square" anchor="t" lIns="0" rIns="0" tIns="0" bIns="0">
            <a:spAutoFit/>
          </a:bodyPr>
          <a:lstStyle/>
          <a:p>
            <a:pPr algn="l">
              <a:lnSpc>
                <a:spcPct val="110000"/>
              </a:lnSpc>
              <a:spcAft>
                <a:spcPts val="0"/>
              </a:spcAft>
            </a:pPr>
            <a:r>
              <a:rPr sz="3600" b="1" i="0">
                <a:solidFill>
                  <a:srgbClr val="FFFFFF"/>
                </a:solidFill>
                <a:latin typeface="Cambria"/>
              </a:rPr>
              <a:t>Every square, every year, and an honest number on how often it is right.</a:t>
            </a:r>
          </a:p>
        </p:txBody>
      </p:sp>
      <p:sp>
        <p:nvSpPr>
          <p:cNvPr id="6" name="TextBox 5"/>
          <p:cNvSpPr txBox="1"/>
          <p:nvPr/>
        </p:nvSpPr>
        <p:spPr>
          <a:xfrm>
            <a:off x="822960" y="3529584"/>
            <a:ext cx="6766560" cy="1371600"/>
          </a:xfrm>
          <a:prstGeom prst="rect">
            <a:avLst/>
          </a:prstGeom>
          <a:noFill/>
        </p:spPr>
        <p:txBody>
          <a:bodyPr wrap="square" anchor="t" lIns="0" rIns="0" tIns="0" bIns="0">
            <a:spAutoFit/>
          </a:bodyPr>
          <a:lstStyle/>
          <a:p>
            <a:pPr algn="l">
              <a:lnSpc>
                <a:spcPct val="150000"/>
              </a:lnSpc>
              <a:spcAft>
                <a:spcPts val="0"/>
              </a:spcAft>
            </a:pPr>
            <a:r>
              <a:rPr sz="1500" b="0" i="0">
                <a:solidFill>
                  <a:srgbClr val="B9CAD2"/>
                </a:solidFill>
                <a:latin typeface="Calibri"/>
              </a:rPr>
              <a:t>Fire in the Territory is not going to stop. Knowing in April which country is likely to carry an October fire is how a burning programme gets planned while there is still time to plan it.</a:t>
            </a:r>
          </a:p>
        </p:txBody>
      </p:sp>
      <p:sp>
        <p:nvSpPr>
          <p:cNvPr id="7" name="TextBox 6"/>
          <p:cNvSpPr txBox="1"/>
          <p:nvPr/>
        </p:nvSpPr>
        <p:spPr>
          <a:xfrm>
            <a:off x="822960" y="5029200"/>
            <a:ext cx="3017520" cy="777240"/>
          </a:xfrm>
          <a:prstGeom prst="rect">
            <a:avLst/>
          </a:prstGeom>
          <a:noFill/>
        </p:spPr>
        <p:txBody>
          <a:bodyPr wrap="square" anchor="t" lIns="0" rIns="0" tIns="0" bIns="0">
            <a:spAutoFit/>
          </a:bodyPr>
          <a:lstStyle/>
          <a:p>
            <a:pPr algn="l">
              <a:lnSpc>
                <a:spcPct val="95000"/>
              </a:lnSpc>
              <a:spcAft>
                <a:spcPts val="0"/>
              </a:spcAft>
            </a:pPr>
            <a:r>
              <a:rPr sz="3400" b="1" i="0">
                <a:solidFill>
                  <a:srgbClr val="E0835C"/>
                </a:solidFill>
                <a:latin typeface="Cambria"/>
              </a:rPr>
              <a:t>0.684</a:t>
            </a:r>
          </a:p>
        </p:txBody>
      </p:sp>
      <p:sp>
        <p:nvSpPr>
          <p:cNvPr id="8" name="TextBox 7"/>
          <p:cNvSpPr txBox="1"/>
          <p:nvPr/>
        </p:nvSpPr>
        <p:spPr>
          <a:xfrm>
            <a:off x="822960" y="5494274"/>
            <a:ext cx="3017520" cy="640080"/>
          </a:xfrm>
          <a:prstGeom prst="rect">
            <a:avLst/>
          </a:prstGeom>
          <a:noFill/>
        </p:spPr>
        <p:txBody>
          <a:bodyPr wrap="square" anchor="t" lIns="0" rIns="0" tIns="0" bIns="0">
            <a:spAutoFit/>
          </a:bodyPr>
          <a:lstStyle/>
          <a:p>
            <a:pPr algn="l">
              <a:lnSpc>
                <a:spcPct val="120000"/>
              </a:lnSpc>
              <a:spcAft>
                <a:spcPts val="0"/>
              </a:spcAft>
            </a:pPr>
            <a:r>
              <a:rPr sz="1250" b="0" i="0">
                <a:solidFill>
                  <a:srgbClr val="B9CAD2"/>
                </a:solidFill>
                <a:latin typeface="Calibri"/>
              </a:rPr>
              <a:t>balanced F1, years never seen</a:t>
            </a:r>
          </a:p>
        </p:txBody>
      </p:sp>
      <p:sp>
        <p:nvSpPr>
          <p:cNvPr id="9" name="TextBox 8"/>
          <p:cNvSpPr txBox="1"/>
          <p:nvPr/>
        </p:nvSpPr>
        <p:spPr>
          <a:xfrm>
            <a:off x="4114800" y="5029200"/>
            <a:ext cx="3017520" cy="777240"/>
          </a:xfrm>
          <a:prstGeom prst="rect">
            <a:avLst/>
          </a:prstGeom>
          <a:noFill/>
        </p:spPr>
        <p:txBody>
          <a:bodyPr wrap="square" anchor="t" lIns="0" rIns="0" tIns="0" bIns="0">
            <a:spAutoFit/>
          </a:bodyPr>
          <a:lstStyle/>
          <a:p>
            <a:pPr algn="l">
              <a:lnSpc>
                <a:spcPct val="95000"/>
              </a:lnSpc>
              <a:spcAft>
                <a:spcPts val="0"/>
              </a:spcAft>
            </a:pPr>
            <a:r>
              <a:rPr sz="3400" b="1" i="0">
                <a:solidFill>
                  <a:srgbClr val="E0835C"/>
                </a:solidFill>
                <a:latin typeface="Cambria"/>
              </a:rPr>
              <a:t>66</a:t>
            </a:r>
          </a:p>
        </p:txBody>
      </p:sp>
      <p:sp>
        <p:nvSpPr>
          <p:cNvPr id="10" name="TextBox 9"/>
          <p:cNvSpPr txBox="1"/>
          <p:nvPr/>
        </p:nvSpPr>
        <p:spPr>
          <a:xfrm>
            <a:off x="4114800" y="5494274"/>
            <a:ext cx="3017520" cy="640080"/>
          </a:xfrm>
          <a:prstGeom prst="rect">
            <a:avLst/>
          </a:prstGeom>
          <a:noFill/>
        </p:spPr>
        <p:txBody>
          <a:bodyPr wrap="square" anchor="t" lIns="0" rIns="0" tIns="0" bIns="0">
            <a:spAutoFit/>
          </a:bodyPr>
          <a:lstStyle/>
          <a:p>
            <a:pPr algn="l">
              <a:lnSpc>
                <a:spcPct val="120000"/>
              </a:lnSpc>
              <a:spcAft>
                <a:spcPts val="0"/>
              </a:spcAft>
            </a:pPr>
            <a:r>
              <a:rPr sz="1250" b="0" i="0">
                <a:solidFill>
                  <a:srgbClr val="B9CAD2"/>
                </a:solidFill>
                <a:latin typeface="Calibri"/>
              </a:rPr>
              <a:t>independent re-tests</a:t>
            </a:r>
          </a:p>
        </p:txBody>
      </p:sp>
      <p:sp>
        <p:nvSpPr>
          <p:cNvPr id="11" name="TextBox 10"/>
          <p:cNvSpPr txBox="1"/>
          <p:nvPr/>
        </p:nvSpPr>
        <p:spPr>
          <a:xfrm>
            <a:off x="7406640" y="5029200"/>
            <a:ext cx="3017520" cy="777240"/>
          </a:xfrm>
          <a:prstGeom prst="rect">
            <a:avLst/>
          </a:prstGeom>
          <a:noFill/>
        </p:spPr>
        <p:txBody>
          <a:bodyPr wrap="square" anchor="t" lIns="0" rIns="0" tIns="0" bIns="0">
            <a:spAutoFit/>
          </a:bodyPr>
          <a:lstStyle/>
          <a:p>
            <a:pPr algn="l">
              <a:lnSpc>
                <a:spcPct val="95000"/>
              </a:lnSpc>
              <a:spcAft>
                <a:spcPts val="0"/>
              </a:spcAft>
            </a:pPr>
            <a:r>
              <a:rPr sz="3400" b="1" i="0">
                <a:solidFill>
                  <a:srgbClr val="E0835C"/>
                </a:solidFill>
                <a:latin typeface="Cambria"/>
              </a:rPr>
              <a:t>51%</a:t>
            </a:r>
          </a:p>
        </p:txBody>
      </p:sp>
      <p:sp>
        <p:nvSpPr>
          <p:cNvPr id="12" name="TextBox 11"/>
          <p:cNvSpPr txBox="1"/>
          <p:nvPr/>
        </p:nvSpPr>
        <p:spPr>
          <a:xfrm>
            <a:off x="7406640" y="5494274"/>
            <a:ext cx="3017520" cy="640080"/>
          </a:xfrm>
          <a:prstGeom prst="rect">
            <a:avLst/>
          </a:prstGeom>
          <a:noFill/>
        </p:spPr>
        <p:txBody>
          <a:bodyPr wrap="square" anchor="t" lIns="0" rIns="0" tIns="0" bIns="0">
            <a:spAutoFit/>
          </a:bodyPr>
          <a:lstStyle/>
          <a:p>
            <a:pPr algn="l">
              <a:lnSpc>
                <a:spcPct val="120000"/>
              </a:lnSpc>
              <a:spcAft>
                <a:spcPts val="0"/>
              </a:spcAft>
            </a:pPr>
            <a:r>
              <a:rPr sz="1250" b="0" i="0">
                <a:solidFill>
                  <a:srgbClr val="B9CAD2"/>
                </a:solidFill>
                <a:latin typeface="Calibri"/>
              </a:rPr>
              <a:t>forecast to burn in 2026</a:t>
            </a:r>
          </a:p>
        </p:txBody>
      </p:sp>
      <p:sp>
        <p:nvSpPr>
          <p:cNvPr id="13" name="TextBox 12"/>
          <p:cNvSpPr txBox="1"/>
          <p:nvPr/>
        </p:nvSpPr>
        <p:spPr>
          <a:xfrm>
            <a:off x="7955279" y="3493008"/>
            <a:ext cx="3429000" cy="1554480"/>
          </a:xfrm>
          <a:prstGeom prst="rect">
            <a:avLst/>
          </a:prstGeom>
          <a:noFill/>
        </p:spPr>
        <p:txBody>
          <a:bodyPr wrap="square" anchor="t" lIns="0" rIns="0" tIns="0" bIns="0">
            <a:spAutoFit/>
          </a:bodyPr>
          <a:lstStyle/>
          <a:p>
            <a:pPr algn="l">
              <a:lnSpc>
                <a:spcPct val="150000"/>
              </a:lnSpc>
              <a:spcAft>
                <a:spcPts val="700"/>
              </a:spcAft>
            </a:pPr>
            <a:r>
              <a:rPr sz="1400" b="1" i="0">
                <a:solidFill>
                  <a:srgbClr val="FFFFFF"/>
                </a:solidFill>
                <a:latin typeface="Calibri"/>
              </a:rPr>
              <a:t>pyrantis.harshlabs.workers.dev</a:t>
            </a:r>
          </a:p>
          <a:p>
            <a:pPr algn="l">
              <a:lnSpc>
                <a:spcPct val="150000"/>
              </a:lnSpc>
              <a:spcAft>
                <a:spcPts val="700"/>
              </a:spcAft>
            </a:pPr>
            <a:r>
              <a:rPr sz="1250" b="0" i="0">
                <a:solidFill>
                  <a:srgbClr val="B9CAD2"/>
                </a:solidFill>
                <a:latin typeface="Calibri"/>
              </a:rPr>
              <a:t>github.com/harshrastogii/PYRANTIS</a:t>
            </a:r>
          </a:p>
          <a:p>
            <a:pPr algn="l">
              <a:lnSpc>
                <a:spcPct val="150000"/>
              </a:lnSpc>
              <a:spcAft>
                <a:spcPts val="700"/>
              </a:spcAft>
            </a:pPr>
            <a:r>
              <a:rPr sz="1150" b="0" i="0">
                <a:solidFill>
                  <a:srgbClr val="B9CAD2"/>
                </a:solidFill>
                <a:latin typeface="Calibri"/>
              </a:rPr>
              <a:t>Every figure in this deck is generated from the repository, not typed in.</a:t>
            </a:r>
          </a:p>
        </p:txBody>
      </p:sp>
      <p:sp>
        <p:nvSpPr>
          <p:cNvPr id="14" name="TextBox 13"/>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B9CAD2"/>
                </a:solidFill>
                <a:latin typeface="Calibri"/>
              </a:rPr>
              <a:t/>
            </a:r>
          </a:p>
        </p:txBody>
      </p:sp>
      <p:sp>
        <p:nvSpPr>
          <p:cNvPr id="15" name="TextBox 14"/>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B9CAD2"/>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822960" y="310896"/>
            <a:ext cx="106070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C8552F"/>
                </a:solidFill>
                <a:latin typeface="Calibri"/>
              </a:rPr>
              <a:t>REFERENCES</a:t>
            </a:r>
          </a:p>
        </p:txBody>
      </p:sp>
      <p:sp>
        <p:nvSpPr>
          <p:cNvPr id="3" name="TextBox 2"/>
          <p:cNvSpPr txBox="1"/>
          <p:nvPr/>
        </p:nvSpPr>
        <p:spPr>
          <a:xfrm>
            <a:off x="822960" y="566928"/>
            <a:ext cx="10607040" cy="914400"/>
          </a:xfrm>
          <a:prstGeom prst="rect">
            <a:avLst/>
          </a:prstGeom>
          <a:noFill/>
        </p:spPr>
        <p:txBody>
          <a:bodyPr wrap="square" anchor="t" lIns="0" rIns="0" tIns="0" bIns="0">
            <a:spAutoFit/>
          </a:bodyPr>
          <a:lstStyle/>
          <a:p>
            <a:pPr algn="l">
              <a:lnSpc>
                <a:spcPct val="105000"/>
              </a:lnSpc>
              <a:spcAft>
                <a:spcPts val="0"/>
              </a:spcAft>
            </a:pPr>
            <a:r>
              <a:rPr sz="3400" b="1" i="0">
                <a:solidFill>
                  <a:srgbClr val="0F2A35"/>
                </a:solidFill>
                <a:latin typeface="Cambria"/>
              </a:rPr>
              <a:t>References (1 of 2)</a:t>
            </a:r>
          </a:p>
        </p:txBody>
      </p:sp>
      <p:sp>
        <p:nvSpPr>
          <p:cNvPr id="4" name="TextBox 3"/>
          <p:cNvSpPr txBox="1"/>
          <p:nvPr/>
        </p:nvSpPr>
        <p:spPr>
          <a:xfrm>
            <a:off x="822960" y="1572768"/>
            <a:ext cx="10515600" cy="292608"/>
          </a:xfrm>
          <a:prstGeom prst="rect">
            <a:avLst/>
          </a:prstGeom>
          <a:noFill/>
        </p:spPr>
        <p:txBody>
          <a:bodyPr wrap="square" anchor="t" lIns="0" rIns="0" tIns="0" bIns="0">
            <a:spAutoFit/>
          </a:bodyPr>
          <a:lstStyle/>
          <a:p>
            <a:pPr algn="l">
              <a:lnSpc>
                <a:spcPct val="125000"/>
              </a:lnSpc>
              <a:spcAft>
                <a:spcPts val="0"/>
              </a:spcAft>
            </a:pPr>
            <a:r>
              <a:rPr sz="1150" b="0" i="0">
                <a:solidFill>
                  <a:srgbClr val="6B7C85"/>
                </a:solidFill>
                <a:latin typeface="Calibri"/>
              </a:rPr>
              <a:t>American Psychological Association, 7th edition</a:t>
            </a:r>
          </a:p>
        </p:txBody>
      </p:sp>
      <p:sp>
        <p:nvSpPr>
          <p:cNvPr id="5" name="TextBox 4"/>
          <p:cNvSpPr txBox="1"/>
          <p:nvPr/>
        </p:nvSpPr>
        <p:spPr>
          <a:xfrm>
            <a:off x="822960" y="2029968"/>
            <a:ext cx="10515600" cy="4023360"/>
          </a:xfrm>
          <a:prstGeom prst="rect">
            <a:avLst/>
          </a:prstGeom>
          <a:noFill/>
        </p:spPr>
        <p:txBody>
          <a:bodyPr wrap="square" anchor="t" lIns="0" rIns="0" tIns="0" bIns="0">
            <a:spAutoFit/>
          </a:bodyPr>
          <a:lstStyle/>
          <a:p>
            <a:pPr algn="l" marL="274320" indent="-274320">
              <a:lnSpc>
                <a:spcPct val="132000"/>
              </a:lnSpc>
              <a:spcAft>
                <a:spcPts val="1200"/>
              </a:spcAft>
            </a:pPr>
            <a:r>
              <a:rPr sz="1220" b="0" i="0">
                <a:solidFill>
                  <a:srgbClr val="0F2A35"/>
                </a:solidFill>
                <a:latin typeface="Calibri"/>
              </a:rPr>
              <a:t>Breiman, L. (2001). Random forests. Machine Learning, 45(1), 5–32. https://doi.org/10.1023/A:1010933404324</a:t>
            </a:r>
          </a:p>
          <a:p>
            <a:pPr algn="l" marL="274320" indent="-274320">
              <a:lnSpc>
                <a:spcPct val="132000"/>
              </a:lnSpc>
              <a:spcAft>
                <a:spcPts val="1200"/>
              </a:spcAft>
            </a:pPr>
            <a:r>
              <a:rPr sz="1220" b="0" i="0">
                <a:solidFill>
                  <a:srgbClr val="0F2A35"/>
                </a:solidFill>
                <a:latin typeface="Calibri"/>
              </a:rPr>
              <a:t>Chollet, F., &amp; others. (2015). Keras [Computer software]. https://keras.io</a:t>
            </a:r>
          </a:p>
          <a:p>
            <a:pPr algn="l" marL="274320" indent="-274320">
              <a:lnSpc>
                <a:spcPct val="132000"/>
              </a:lnSpc>
              <a:spcAft>
                <a:spcPts val="1200"/>
              </a:spcAft>
            </a:pPr>
            <a:r>
              <a:rPr sz="1220" b="0" i="0">
                <a:solidFill>
                  <a:srgbClr val="0F2A35"/>
                </a:solidFill>
                <a:latin typeface="Calibri"/>
              </a:rPr>
              <a:t>Didan, K. (2021). MODIS/Terra vegetation indices 16-day L3 global 250 m SIN grid V061 [Data set]. NASA EOSDIS Land Processes Distributed Active Archive Center. https://doi.org/10.5067/MODIS/MOD13Q1.061</a:t>
            </a:r>
          </a:p>
          <a:p>
            <a:pPr algn="l" marL="274320" indent="-274320">
              <a:lnSpc>
                <a:spcPct val="132000"/>
              </a:lnSpc>
              <a:spcAft>
                <a:spcPts val="1200"/>
              </a:spcAft>
            </a:pPr>
            <a:r>
              <a:rPr sz="1220" b="0" i="0">
                <a:solidFill>
                  <a:srgbClr val="0F2A35"/>
                </a:solidFill>
                <a:latin typeface="Calibri"/>
              </a:rPr>
              <a:t>Friedman, J. H. (2001). Greedy function approximation: A gradient boosting machine. The Annals of Statistics, 29(5), 1189–1232. https://doi.org/10.1214/aos/1013203451</a:t>
            </a:r>
          </a:p>
          <a:p>
            <a:pPr algn="l" marL="274320" indent="-274320">
              <a:lnSpc>
                <a:spcPct val="132000"/>
              </a:lnSpc>
              <a:spcAft>
                <a:spcPts val="1200"/>
              </a:spcAft>
            </a:pPr>
            <a:r>
              <a:rPr sz="1220" b="0" i="0">
                <a:solidFill>
                  <a:srgbClr val="0F2A35"/>
                </a:solidFill>
                <a:latin typeface="Calibri"/>
              </a:rPr>
              <a:t>Gorelick, N., Hancher, M., Dixon, M., Ilyushchenko, S., Thau, D., &amp; Moore, R. (2017). Google Earth Engine: Planetary-scale geospatial analysis for everyone. Remote Sensing of Environment, 202, 18–27. https://doi.org/10.1016/j.rse.2017.06.031</a:t>
            </a:r>
          </a:p>
          <a:p>
            <a:pPr algn="l" marL="274320" indent="-274320">
              <a:lnSpc>
                <a:spcPct val="132000"/>
              </a:lnSpc>
              <a:spcAft>
                <a:spcPts val="1200"/>
              </a:spcAft>
            </a:pPr>
            <a:r>
              <a:rPr sz="1220" b="0" i="0">
                <a:solidFill>
                  <a:srgbClr val="0F2A35"/>
                </a:solidFill>
                <a:latin typeface="Calibri"/>
              </a:rPr>
              <a:t>Harris, C. R., Millman, K. J., van der Walt, S. J., Gommers, R., Virtanen, P., Cournapeau, D., … Oliphant, T. E. (2020). Array programming with NumPy. Nature, 585(7825), 357–362. https://doi.org/10.1038/s41586-020-2649-2</a:t>
            </a:r>
          </a:p>
          <a:p>
            <a:pPr algn="l" marL="274320" indent="-274320">
              <a:lnSpc>
                <a:spcPct val="132000"/>
              </a:lnSpc>
              <a:spcAft>
                <a:spcPts val="1200"/>
              </a:spcAft>
            </a:pPr>
            <a:r>
              <a:rPr sz="1220" b="0" i="0">
                <a:solidFill>
                  <a:srgbClr val="0F2A35"/>
                </a:solidFill>
                <a:latin typeface="Calibri"/>
              </a:rPr>
              <a:t>Hochreiter, S., &amp; Schmidhuber, J. (1997). Long short-term memory. Neural Computation, 9(8), 1735–1780. https://doi.org/10.1162/neco.1997.9.8.1735</a:t>
            </a:r>
          </a:p>
          <a:p>
            <a:pPr algn="l" marL="274320" indent="-274320">
              <a:lnSpc>
                <a:spcPct val="132000"/>
              </a:lnSpc>
              <a:spcAft>
                <a:spcPts val="1200"/>
              </a:spcAft>
            </a:pPr>
            <a:r>
              <a:rPr sz="1220" b="0" i="0">
                <a:solidFill>
                  <a:srgbClr val="0F2A35"/>
                </a:solidFill>
                <a:latin typeface="Calibri"/>
              </a:rPr>
              <a:t>Hunter, J. D. (2007). Matplotlib: A 2D graphics environment. Computing in Science &amp; Engineering, 9(3), 90–95. https://doi.org/10.1109/MCSE.2007.55</a:t>
            </a:r>
          </a:p>
        </p:txBody>
      </p:sp>
      <p:sp>
        <p:nvSpPr>
          <p:cNvPr id="6" name="TextBox 5"/>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6B7C85"/>
                </a:solidFill>
                <a:latin typeface="Calibri"/>
              </a:rPr>
              <a:t/>
            </a:r>
          </a:p>
        </p:txBody>
      </p:sp>
      <p:sp>
        <p:nvSpPr>
          <p:cNvPr id="7" name="TextBox 6"/>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6B7C85"/>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822960" y="310896"/>
            <a:ext cx="10607040" cy="274320"/>
          </a:xfrm>
          <a:prstGeom prst="rect">
            <a:avLst/>
          </a:prstGeom>
          <a:noFill/>
        </p:spPr>
        <p:txBody>
          <a:bodyPr wrap="square" anchor="t" lIns="0" rIns="0" tIns="0" bIns="0">
            <a:spAutoFit/>
          </a:bodyPr>
          <a:lstStyle/>
          <a:p>
            <a:pPr algn="l">
              <a:lnSpc>
                <a:spcPct val="100000"/>
              </a:lnSpc>
              <a:spcAft>
                <a:spcPts val="0"/>
              </a:spcAft>
            </a:pPr>
            <a:r>
              <a:rPr sz="1100" b="1" i="0">
                <a:solidFill>
                  <a:srgbClr val="C8552F"/>
                </a:solidFill>
                <a:latin typeface="Calibri"/>
              </a:rPr>
              <a:t>REFERENCES</a:t>
            </a:r>
          </a:p>
        </p:txBody>
      </p:sp>
      <p:sp>
        <p:nvSpPr>
          <p:cNvPr id="3" name="TextBox 2"/>
          <p:cNvSpPr txBox="1"/>
          <p:nvPr/>
        </p:nvSpPr>
        <p:spPr>
          <a:xfrm>
            <a:off x="822960" y="566928"/>
            <a:ext cx="10607040" cy="914400"/>
          </a:xfrm>
          <a:prstGeom prst="rect">
            <a:avLst/>
          </a:prstGeom>
          <a:noFill/>
        </p:spPr>
        <p:txBody>
          <a:bodyPr wrap="square" anchor="t" lIns="0" rIns="0" tIns="0" bIns="0">
            <a:spAutoFit/>
          </a:bodyPr>
          <a:lstStyle/>
          <a:p>
            <a:pPr algn="l">
              <a:lnSpc>
                <a:spcPct val="105000"/>
              </a:lnSpc>
              <a:spcAft>
                <a:spcPts val="0"/>
              </a:spcAft>
            </a:pPr>
            <a:r>
              <a:rPr sz="3400" b="1" i="0">
                <a:solidFill>
                  <a:srgbClr val="0F2A35"/>
                </a:solidFill>
                <a:latin typeface="Cambria"/>
              </a:rPr>
              <a:t>References (2 of 2)</a:t>
            </a:r>
          </a:p>
        </p:txBody>
      </p:sp>
      <p:sp>
        <p:nvSpPr>
          <p:cNvPr id="4" name="TextBox 3"/>
          <p:cNvSpPr txBox="1"/>
          <p:nvPr/>
        </p:nvSpPr>
        <p:spPr>
          <a:xfrm>
            <a:off x="822960" y="1572768"/>
            <a:ext cx="10515600" cy="292608"/>
          </a:xfrm>
          <a:prstGeom prst="rect">
            <a:avLst/>
          </a:prstGeom>
          <a:noFill/>
        </p:spPr>
        <p:txBody>
          <a:bodyPr wrap="square" anchor="t" lIns="0" rIns="0" tIns="0" bIns="0">
            <a:spAutoFit/>
          </a:bodyPr>
          <a:lstStyle/>
          <a:p>
            <a:pPr algn="l">
              <a:lnSpc>
                <a:spcPct val="125000"/>
              </a:lnSpc>
              <a:spcAft>
                <a:spcPts val="0"/>
              </a:spcAft>
            </a:pPr>
            <a:r>
              <a:rPr sz="1150" b="0" i="0">
                <a:solidFill>
                  <a:srgbClr val="6B7C85"/>
                </a:solidFill>
                <a:latin typeface="Calibri"/>
              </a:rPr>
              <a:t>American Psychological Association, 7th edition</a:t>
            </a:r>
          </a:p>
        </p:txBody>
      </p:sp>
      <p:sp>
        <p:nvSpPr>
          <p:cNvPr id="5" name="TextBox 4"/>
          <p:cNvSpPr txBox="1"/>
          <p:nvPr/>
        </p:nvSpPr>
        <p:spPr>
          <a:xfrm>
            <a:off x="822960" y="2029968"/>
            <a:ext cx="10515600" cy="4023360"/>
          </a:xfrm>
          <a:prstGeom prst="rect">
            <a:avLst/>
          </a:prstGeom>
          <a:noFill/>
        </p:spPr>
        <p:txBody>
          <a:bodyPr wrap="square" anchor="t" lIns="0" rIns="0" tIns="0" bIns="0">
            <a:spAutoFit/>
          </a:bodyPr>
          <a:lstStyle/>
          <a:p>
            <a:pPr algn="l" marL="274320" indent="-274320">
              <a:lnSpc>
                <a:spcPct val="132000"/>
              </a:lnSpc>
              <a:spcAft>
                <a:spcPts val="1200"/>
              </a:spcAft>
            </a:pPr>
            <a:r>
              <a:rPr sz="1220" b="0" i="0">
                <a:solidFill>
                  <a:srgbClr val="0F2A35"/>
                </a:solidFill>
                <a:latin typeface="Calibri"/>
              </a:rPr>
              <a:t>Jeffrey, S. J., Carter, J. O., Moodie, K. B., &amp; Beswick, A. R. (2001). Using spatial interpolation to construct a comprehensive archive of Australian climate data. Environmental Modelling &amp; Software, 16(4), 309–330. https://doi.org/10.1016/S1364-8152(01)00008-1</a:t>
            </a:r>
          </a:p>
          <a:p>
            <a:pPr algn="l" marL="274320" indent="-274320">
              <a:lnSpc>
                <a:spcPct val="132000"/>
              </a:lnSpc>
              <a:spcAft>
                <a:spcPts val="1200"/>
              </a:spcAft>
            </a:pPr>
            <a:r>
              <a:rPr sz="1220" b="0" i="0">
                <a:solidFill>
                  <a:srgbClr val="0F2A35"/>
                </a:solidFill>
                <a:latin typeface="Calibri"/>
              </a:rPr>
              <a:t>North Australian Fire Information. (2026). Northern Territory fire scar mapping [Data set]. Darwin Centre for Bushfire Research, Charles Darwin University. https://firenorth.org.au</a:t>
            </a:r>
          </a:p>
          <a:p>
            <a:pPr algn="l" marL="274320" indent="-274320">
              <a:lnSpc>
                <a:spcPct val="132000"/>
              </a:lnSpc>
              <a:spcAft>
                <a:spcPts val="1200"/>
              </a:spcAft>
            </a:pPr>
            <a:r>
              <a:rPr sz="1220" b="0" i="0">
                <a:solidFill>
                  <a:srgbClr val="0F2A35"/>
                </a:solidFill>
                <a:latin typeface="Calibri"/>
              </a:rPr>
              <a:t>Pedregosa, F., Varoquaux, G., Gramfort, A., Michel, V., Thirion, B., Grisel, O., … Duchesnay, É. (2011). Scikit-learn: Machine learning in Python. Journal of Machine Learning Research, 12, 2825–2830.</a:t>
            </a:r>
          </a:p>
          <a:p>
            <a:pPr algn="l" marL="274320" indent="-274320">
              <a:lnSpc>
                <a:spcPct val="132000"/>
              </a:lnSpc>
              <a:spcAft>
                <a:spcPts val="1200"/>
              </a:spcAft>
            </a:pPr>
            <a:r>
              <a:rPr sz="1220" b="0" i="0">
                <a:solidFill>
                  <a:srgbClr val="0F2A35"/>
                </a:solidFill>
                <a:latin typeface="Calibri"/>
              </a:rPr>
              <a:t>Queensland Government. (2026). SILO climate data: Data Drill [Data set]. Long Paddock. https://www.longpaddock.qld.gov.au/silo/</a:t>
            </a:r>
          </a:p>
          <a:p>
            <a:pPr algn="l" marL="274320" indent="-274320">
              <a:lnSpc>
                <a:spcPct val="132000"/>
              </a:lnSpc>
              <a:spcAft>
                <a:spcPts val="1200"/>
              </a:spcAft>
            </a:pPr>
            <a:r>
              <a:rPr sz="1220" b="0" i="0">
                <a:solidFill>
                  <a:srgbClr val="0F2A35"/>
                </a:solidFill>
                <a:latin typeface="Calibri"/>
              </a:rPr>
              <a:t>Ronneberger, O., Fischer, P., &amp; Brox, T. (2015). U-Net: Convolutional networks for biomedical image segmentation. In N. Navab, J. Hornegger, W. M. Wells, &amp; A. F. Frangi (Eds.), Medical image computing and computer-assisted intervention – MICCAI 2015 (pp. 234–241). Springer. https://doi.org/10.1007/978-3-319-24574-4_28</a:t>
            </a:r>
          </a:p>
          <a:p>
            <a:pPr algn="l" marL="274320" indent="-274320">
              <a:lnSpc>
                <a:spcPct val="132000"/>
              </a:lnSpc>
              <a:spcAft>
                <a:spcPts val="1200"/>
              </a:spcAft>
            </a:pPr>
            <a:r>
              <a:rPr sz="1220" b="0" i="0">
                <a:solidFill>
                  <a:srgbClr val="0F2A35"/>
                </a:solidFill>
                <a:latin typeface="Calibri"/>
              </a:rPr>
              <a:t>Russell-Smith, J., Yates, C. P., Whitehead, P. J., Smith, R., Craig, R., Allan, G. E., Thackway, R., Frakes, I., Cridland, S., Meyer, M. C. P., &amp; Gill, A. M. (2007). Bushfires 'down under': Patterns and implications of contemporary Australian landscape burning. International Journal of Wildland Fire, 16(4), 361–377. https://doi.org/10.1071/WF07018</a:t>
            </a:r>
          </a:p>
        </p:txBody>
      </p:sp>
      <p:sp>
        <p:nvSpPr>
          <p:cNvPr id="6" name="TextBox 5"/>
          <p:cNvSpPr txBox="1"/>
          <p:nvPr/>
        </p:nvSpPr>
        <p:spPr>
          <a:xfrm>
            <a:off x="822960" y="6327648"/>
            <a:ext cx="5486400" cy="274320"/>
          </a:xfrm>
          <a:prstGeom prst="rect">
            <a:avLst/>
          </a:prstGeom>
          <a:noFill/>
        </p:spPr>
        <p:txBody>
          <a:bodyPr wrap="square" anchor="t" lIns="0" rIns="0" tIns="0" bIns="0">
            <a:spAutoFit/>
          </a:bodyPr>
          <a:lstStyle/>
          <a:p>
            <a:pPr algn="l">
              <a:lnSpc>
                <a:spcPct val="125000"/>
              </a:lnSpc>
              <a:spcAft>
                <a:spcPts val="0"/>
              </a:spcAft>
            </a:pPr>
            <a:r>
              <a:rPr sz="1000" b="0" i="0">
                <a:solidFill>
                  <a:srgbClr val="6B7C85"/>
                </a:solidFill>
                <a:latin typeface="Calibri"/>
              </a:rPr>
              <a:t/>
            </a:r>
          </a:p>
        </p:txBody>
      </p:sp>
      <p:sp>
        <p:nvSpPr>
          <p:cNvPr id="7" name="TextBox 6"/>
          <p:cNvSpPr txBox="1"/>
          <p:nvPr/>
        </p:nvSpPr>
        <p:spPr>
          <a:xfrm>
            <a:off x="9601200" y="6327648"/>
            <a:ext cx="1828800" cy="274320"/>
          </a:xfrm>
          <a:prstGeom prst="rect">
            <a:avLst/>
          </a:prstGeom>
          <a:noFill/>
        </p:spPr>
        <p:txBody>
          <a:bodyPr wrap="square" anchor="t" lIns="0" rIns="0" tIns="0" bIns="0">
            <a:spAutoFit/>
          </a:bodyPr>
          <a:lstStyle/>
          <a:p>
            <a:pPr algn="r">
              <a:lnSpc>
                <a:spcPct val="125000"/>
              </a:lnSpc>
              <a:spcAft>
                <a:spcPts val="0"/>
              </a:spcAft>
            </a:pPr>
            <a:r>
              <a:rPr sz="1000" b="0" i="0">
                <a:solidFill>
                  <a:srgbClr val="6B7C85"/>
                </a:solidFill>
                <a:latin typeface="Calibri"/>
              </a:rPr>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
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pic>
        <p:nvPicPr>
          <p:cNvPr id="2" name="Picture 1" descr="cover_grid.png"/>
          <p:cNvPicPr>
            <a:picLocks noChangeAspect="1"/>
          </p:cNvPicPr>
          <p:nvPr/>
        </p:nvPicPr>
        <p:blipFill>
          <a:blip r:embed="rId2"/>
          <a:stretch>
            <a:fillRect/>
          </a:stretch>
        </p:blipFill>
        <p:spPr>
          <a:xfrm>
            <a:off x="7967441" y="-201168"/>
            <a:ext cx="4224528" cy="7260336"/>
          </a:xfrm>
          <a:prstGeom prst="rect">
            <a:avLst/>
          </a:prstGeom>
        </p:spPr>
      </p:pic>
      <p:cxnSp>
        <p:nvCxnSpPr>
          <p:cNvPr id="3" name="Connector 2"/>
          <p:cNvCxnSpPr/>
          <p:nvPr/>
        </p:nvCxnSpPr>
        <p:spPr>
          <a:xfrm>
            <a:off x="7967441" y="0"/>
            <a:ext cx="0" cy="6858000"/>
          </a:xfrm>
          <a:prstGeom prst="line">
            <a:avLst/>
          </a:prstGeom>
          <a:ln w="12700">
            <a:solidFill>
              <a:srgbClr val="4A423C"/>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967441" y="0"/>
            <a:ext cx="20116" cy="6858000"/>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658368"/>
            <a:ext cx="6035040" cy="201168"/>
          </a:xfrm>
          <a:prstGeom prst="rect">
            <a:avLst/>
          </a:prstGeom>
          <a:noFill/>
        </p:spPr>
        <p:txBody>
          <a:bodyPr wrap="square" lIns="0" rIns="0" tIns="0" bIns="0" anchor="t">
            <a:noAutofit/>
          </a:bodyPr>
          <a:lstStyle/>
          <a:p>
            <a:pPr algn="l">
              <a:lnSpc>
                <a:spcPct val="100000"/>
              </a:lnSpc>
            </a:pPr>
            <a:r>
              <a:rPr sz="900" b="0" spc="200">
                <a:solidFill>
                  <a:srgbClr val="8A8078"/>
                </a:solidFill>
                <a:latin typeface="Consolas"/>
              </a:rPr>
              <a:t>CHARLES DARWIN UNIVERSITY</a:t>
            </a:r>
          </a:p>
        </p:txBody>
      </p:sp>
      <p:sp>
        <p:nvSpPr>
          <p:cNvPr id="6" name="TextBox 5"/>
          <p:cNvSpPr txBox="1"/>
          <p:nvPr/>
        </p:nvSpPr>
        <p:spPr>
          <a:xfrm>
            <a:off x="749808" y="1170432"/>
            <a:ext cx="6766560" cy="1188720"/>
          </a:xfrm>
          <a:prstGeom prst="rect">
            <a:avLst/>
          </a:prstGeom>
          <a:noFill/>
        </p:spPr>
        <p:txBody>
          <a:bodyPr wrap="square" lIns="0" rIns="0" tIns="0" bIns="0" anchor="t">
            <a:noAutofit/>
          </a:bodyPr>
          <a:lstStyle/>
          <a:p>
            <a:pPr algn="l">
              <a:lnSpc>
                <a:spcPct val="95000"/>
              </a:lnSpc>
            </a:pPr>
            <a:r>
              <a:rPr sz="7800" b="0" spc="-120">
                <a:solidFill>
                  <a:srgbClr val="F4EFE9"/>
                </a:solidFill>
                <a:latin typeface="Franklin Gothic Demi"/>
              </a:rPr>
              <a:t>PYRANTIS</a:t>
            </a:r>
          </a:p>
        </p:txBody>
      </p:sp>
      <p:sp>
        <p:nvSpPr>
          <p:cNvPr id="7" name="Rectangle 6"/>
          <p:cNvSpPr/>
          <p:nvPr/>
        </p:nvSpPr>
        <p:spPr>
          <a:xfrm>
            <a:off x="749808" y="2377440"/>
            <a:ext cx="566928" cy="41148"/>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749808" y="2395728"/>
            <a:ext cx="640080" cy="0"/>
          </a:xfrm>
          <a:prstGeom prst="line">
            <a:avLst/>
          </a:prstGeom>
          <a:ln w="27940">
            <a:solidFill>
              <a:srgbClr val="FF5A1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9808" y="2615184"/>
            <a:ext cx="6583680" cy="914400"/>
          </a:xfrm>
          <a:prstGeom prst="rect">
            <a:avLst/>
          </a:prstGeom>
          <a:noFill/>
        </p:spPr>
        <p:txBody>
          <a:bodyPr wrap="square" lIns="0" rIns="0" tIns="0" bIns="0" anchor="t">
            <a:noAutofit/>
          </a:bodyPr>
          <a:lstStyle/>
          <a:p>
            <a:pPr algn="l">
              <a:lnSpc>
                <a:spcPct val="120000"/>
              </a:lnSpc>
            </a:pPr>
            <a:r>
              <a:rPr sz="2100" b="0">
                <a:solidFill>
                  <a:srgbClr val="BDB4AB"/>
                </a:solidFill>
                <a:latin typeface="Franklin Gothic Medium"/>
              </a:rPr>
              <a:t>Which country burns in the Northern Territory, and when</a:t>
            </a:r>
          </a:p>
        </p:txBody>
      </p:sp>
      <p:sp>
        <p:nvSpPr>
          <p:cNvPr id="10" name="TextBox 9"/>
          <p:cNvSpPr txBox="1"/>
          <p:nvPr/>
        </p:nvSpPr>
        <p:spPr>
          <a:xfrm>
            <a:off x="749808" y="3529584"/>
            <a:ext cx="6492240" cy="640080"/>
          </a:xfrm>
          <a:prstGeom prst="rect">
            <a:avLst/>
          </a:prstGeom>
          <a:noFill/>
        </p:spPr>
        <p:txBody>
          <a:bodyPr wrap="square" lIns="0" rIns="0" tIns="0" bIns="0" anchor="t">
            <a:noAutofit/>
          </a:bodyPr>
          <a:lstStyle/>
          <a:p>
            <a:pPr algn="l">
              <a:lnSpc>
                <a:spcPct val="140000"/>
              </a:lnSpc>
            </a:pPr>
            <a:r>
              <a:rPr sz="1200" b="0">
                <a:solidFill>
                  <a:srgbClr val="8A8078"/>
                </a:solidFill>
                <a:latin typeface="Franklin Gothic Book"/>
              </a:rPr>
              <a:t>Multi-class classification of 46,445 map squares across 26 fire years, and a forecast for 2026.</a:t>
            </a:r>
          </a:p>
        </p:txBody>
      </p:sp>
      <p:sp>
        <p:nvSpPr>
          <p:cNvPr id="11" name="TextBox 10"/>
          <p:cNvSpPr txBox="1"/>
          <p:nvPr/>
        </p:nvSpPr>
        <p:spPr>
          <a:xfrm>
            <a:off x="749808" y="4407408"/>
            <a:ext cx="1234440" cy="201168"/>
          </a:xfrm>
          <a:prstGeom prst="rect">
            <a:avLst/>
          </a:prstGeom>
          <a:noFill/>
        </p:spPr>
        <p:txBody>
          <a:bodyPr wrap="square" lIns="0" rIns="0" tIns="0" bIns="0" anchor="t">
            <a:noAutofit/>
          </a:bodyPr>
          <a:lstStyle/>
          <a:p>
            <a:pPr algn="l">
              <a:lnSpc>
                <a:spcPct val="100000"/>
              </a:lnSpc>
            </a:pPr>
            <a:r>
              <a:rPr sz="850" b="0" spc="100">
                <a:solidFill>
                  <a:srgbClr val="5C554F"/>
                </a:solidFill>
                <a:latin typeface="Consolas"/>
              </a:rPr>
              <a:t>UNIT</a:t>
            </a:r>
          </a:p>
        </p:txBody>
      </p:sp>
      <p:sp>
        <p:nvSpPr>
          <p:cNvPr id="12" name="TextBox 11"/>
          <p:cNvSpPr txBox="1"/>
          <p:nvPr/>
        </p:nvSpPr>
        <p:spPr>
          <a:xfrm>
            <a:off x="2075688" y="4384548"/>
            <a:ext cx="4937760" cy="219456"/>
          </a:xfrm>
          <a:prstGeom prst="rect">
            <a:avLst/>
          </a:prstGeom>
          <a:noFill/>
        </p:spPr>
        <p:txBody>
          <a:bodyPr wrap="square" lIns="0" rIns="0" tIns="0" bIns="0" anchor="t">
            <a:noAutofit/>
          </a:bodyPr>
          <a:lstStyle/>
          <a:p>
            <a:pPr algn="l">
              <a:lnSpc>
                <a:spcPct val="100000"/>
              </a:lnSpc>
            </a:pPr>
            <a:r>
              <a:rPr sz="1100" b="0">
                <a:solidFill>
                  <a:srgbClr val="BDB4AB"/>
                </a:solidFill>
                <a:latin typeface="Franklin Gothic Book"/>
              </a:rPr>
              <a:t>Machine Learning, Artificial Intelligence and Algorithms</a:t>
            </a:r>
          </a:p>
        </p:txBody>
      </p:sp>
      <p:sp>
        <p:nvSpPr>
          <p:cNvPr id="13" name="TextBox 12"/>
          <p:cNvSpPr txBox="1"/>
          <p:nvPr/>
        </p:nvSpPr>
        <p:spPr>
          <a:xfrm>
            <a:off x="749808" y="4750308"/>
            <a:ext cx="1234440" cy="201168"/>
          </a:xfrm>
          <a:prstGeom prst="rect">
            <a:avLst/>
          </a:prstGeom>
          <a:noFill/>
        </p:spPr>
        <p:txBody>
          <a:bodyPr wrap="square" lIns="0" rIns="0" tIns="0" bIns="0" anchor="t">
            <a:noAutofit/>
          </a:bodyPr>
          <a:lstStyle/>
          <a:p>
            <a:pPr algn="l">
              <a:lnSpc>
                <a:spcPct val="100000"/>
              </a:lnSpc>
            </a:pPr>
            <a:r>
              <a:rPr sz="850" b="0" spc="100">
                <a:solidFill>
                  <a:srgbClr val="5C554F"/>
                </a:solidFill>
                <a:latin typeface="Consolas"/>
              </a:rPr>
              <a:t>UNIT CODE</a:t>
            </a:r>
          </a:p>
        </p:txBody>
      </p:sp>
      <p:sp>
        <p:nvSpPr>
          <p:cNvPr id="14" name="TextBox 13"/>
          <p:cNvSpPr txBox="1"/>
          <p:nvPr/>
        </p:nvSpPr>
        <p:spPr>
          <a:xfrm>
            <a:off x="2075688" y="4727448"/>
            <a:ext cx="4937760" cy="219456"/>
          </a:xfrm>
          <a:prstGeom prst="rect">
            <a:avLst/>
          </a:prstGeom>
          <a:noFill/>
        </p:spPr>
        <p:txBody>
          <a:bodyPr wrap="square" lIns="0" rIns="0" tIns="0" bIns="0" anchor="t">
            <a:noAutofit/>
          </a:bodyPr>
          <a:lstStyle/>
          <a:p>
            <a:pPr algn="l">
              <a:lnSpc>
                <a:spcPct val="100000"/>
              </a:lnSpc>
            </a:pPr>
            <a:r>
              <a:rPr sz="1100" b="0">
                <a:solidFill>
                  <a:srgbClr val="BDB4AB"/>
                </a:solidFill>
                <a:latin typeface="Franklin Gothic Book"/>
              </a:rPr>
              <a:t>PRT565</a:t>
            </a:r>
          </a:p>
        </p:txBody>
      </p:sp>
      <p:sp>
        <p:nvSpPr>
          <p:cNvPr id="15" name="TextBox 14"/>
          <p:cNvSpPr txBox="1"/>
          <p:nvPr/>
        </p:nvSpPr>
        <p:spPr>
          <a:xfrm>
            <a:off x="749808" y="5093208"/>
            <a:ext cx="1234440" cy="201168"/>
          </a:xfrm>
          <a:prstGeom prst="rect">
            <a:avLst/>
          </a:prstGeom>
          <a:noFill/>
        </p:spPr>
        <p:txBody>
          <a:bodyPr wrap="square" lIns="0" rIns="0" tIns="0" bIns="0" anchor="t">
            <a:noAutofit/>
          </a:bodyPr>
          <a:lstStyle/>
          <a:p>
            <a:pPr algn="l">
              <a:lnSpc>
                <a:spcPct val="100000"/>
              </a:lnSpc>
            </a:pPr>
            <a:r>
              <a:rPr sz="850" b="0" spc="100">
                <a:solidFill>
                  <a:srgbClr val="5C554F"/>
                </a:solidFill>
                <a:latin typeface="Consolas"/>
              </a:rPr>
              <a:t>ASSESSMENT</a:t>
            </a:r>
          </a:p>
        </p:txBody>
      </p:sp>
      <p:sp>
        <p:nvSpPr>
          <p:cNvPr id="16" name="TextBox 15"/>
          <p:cNvSpPr txBox="1"/>
          <p:nvPr/>
        </p:nvSpPr>
        <p:spPr>
          <a:xfrm>
            <a:off x="2075688" y="5070348"/>
            <a:ext cx="4937760" cy="219456"/>
          </a:xfrm>
          <a:prstGeom prst="rect">
            <a:avLst/>
          </a:prstGeom>
          <a:noFill/>
        </p:spPr>
        <p:txBody>
          <a:bodyPr wrap="square" lIns="0" rIns="0" tIns="0" bIns="0" anchor="t">
            <a:noAutofit/>
          </a:bodyPr>
          <a:lstStyle/>
          <a:p>
            <a:pPr algn="l">
              <a:lnSpc>
                <a:spcPct val="100000"/>
              </a:lnSpc>
            </a:pPr>
            <a:r>
              <a:rPr sz="1100" b="0">
                <a:solidFill>
                  <a:srgbClr val="BDB4AB"/>
                </a:solidFill>
                <a:latin typeface="Franklin Gothic Book"/>
              </a:rPr>
              <a:t>Assessment 3 — Presentation</a:t>
            </a:r>
          </a:p>
        </p:txBody>
      </p:sp>
      <p:sp>
        <p:nvSpPr>
          <p:cNvPr id="17" name="TextBox 16"/>
          <p:cNvSpPr txBox="1"/>
          <p:nvPr/>
        </p:nvSpPr>
        <p:spPr>
          <a:xfrm>
            <a:off x="749808" y="5436108"/>
            <a:ext cx="1234440" cy="201168"/>
          </a:xfrm>
          <a:prstGeom prst="rect">
            <a:avLst/>
          </a:prstGeom>
          <a:noFill/>
        </p:spPr>
        <p:txBody>
          <a:bodyPr wrap="square" lIns="0" rIns="0" tIns="0" bIns="0" anchor="t">
            <a:noAutofit/>
          </a:bodyPr>
          <a:lstStyle/>
          <a:p>
            <a:pPr algn="l">
              <a:lnSpc>
                <a:spcPct val="100000"/>
              </a:lnSpc>
            </a:pPr>
            <a:r>
              <a:rPr sz="850" b="0" spc="100">
                <a:solidFill>
                  <a:srgbClr val="5C554F"/>
                </a:solidFill>
                <a:latin typeface="Consolas"/>
              </a:rPr>
              <a:t>GROUP</a:t>
            </a:r>
          </a:p>
        </p:txBody>
      </p:sp>
      <p:sp>
        <p:nvSpPr>
          <p:cNvPr id="18" name="TextBox 17"/>
          <p:cNvSpPr txBox="1"/>
          <p:nvPr/>
        </p:nvSpPr>
        <p:spPr>
          <a:xfrm>
            <a:off x="2075688" y="5413248"/>
            <a:ext cx="4937760" cy="219456"/>
          </a:xfrm>
          <a:prstGeom prst="rect">
            <a:avLst/>
          </a:prstGeom>
          <a:noFill/>
        </p:spPr>
        <p:txBody>
          <a:bodyPr wrap="square" lIns="0" rIns="0" tIns="0" bIns="0" anchor="t">
            <a:noAutofit/>
          </a:bodyPr>
          <a:lstStyle/>
          <a:p>
            <a:pPr algn="l">
              <a:lnSpc>
                <a:spcPct val="100000"/>
              </a:lnSpc>
            </a:pPr>
            <a:r>
              <a:rPr sz="1100" b="0">
                <a:solidFill>
                  <a:srgbClr val="BDB4AB"/>
                </a:solidFill>
                <a:latin typeface="Franklin Gothic Book"/>
              </a:rPr>
              <a:t>Group 85</a:t>
            </a:r>
          </a:p>
        </p:txBody>
      </p:sp>
      <p:sp>
        <p:nvSpPr>
          <p:cNvPr id="19" name="TextBox 18"/>
          <p:cNvSpPr txBox="1"/>
          <p:nvPr/>
        </p:nvSpPr>
        <p:spPr>
          <a:xfrm>
            <a:off x="749808" y="5897880"/>
            <a:ext cx="2743200" cy="201168"/>
          </a:xfrm>
          <a:prstGeom prst="rect">
            <a:avLst/>
          </a:prstGeom>
          <a:noFill/>
        </p:spPr>
        <p:txBody>
          <a:bodyPr wrap="square" lIns="0" rIns="0" tIns="0" bIns="0" anchor="t">
            <a:noAutofit/>
          </a:bodyPr>
          <a:lstStyle/>
          <a:p>
            <a:pPr algn="l">
              <a:lnSpc>
                <a:spcPct val="100000"/>
              </a:lnSpc>
            </a:pPr>
            <a:r>
              <a:rPr sz="850" b="0" spc="100">
                <a:solidFill>
                  <a:srgbClr val="5C554F"/>
                </a:solidFill>
                <a:latin typeface="Consolas"/>
              </a:rPr>
              <a:t>RECORDING (UNLISTED)</a:t>
            </a:r>
          </a:p>
        </p:txBody>
      </p:sp>
      <p:sp>
        <p:nvSpPr>
          <p:cNvPr id="20" name="TextBox 19"/>
          <p:cNvSpPr txBox="1"/>
          <p:nvPr/>
        </p:nvSpPr>
        <p:spPr>
          <a:xfrm>
            <a:off x="749808" y="6126480"/>
            <a:ext cx="4572000" cy="219456"/>
          </a:xfrm>
          <a:prstGeom prst="rect">
            <a:avLst/>
          </a:prstGeom>
          <a:noFill/>
        </p:spPr>
        <p:txBody>
          <a:bodyPr wrap="square" lIns="0" rIns="0" tIns="0" bIns="0" anchor="t">
            <a:noAutofit/>
          </a:bodyPr>
          <a:lstStyle/>
          <a:p>
            <a:pPr algn="l">
              <a:lnSpc>
                <a:spcPct val="100000"/>
              </a:lnSpc>
            </a:pPr>
            <a:r>
              <a:rPr sz="950" b="0">
                <a:solidFill>
                  <a:srgbClr val="FF5A1E"/>
                </a:solidFill>
                <a:latin typeface="Consolas"/>
              </a:rPr>
              <a:t>[ paste the unlisted video link here ]</a:t>
            </a:r>
          </a:p>
        </p:txBody>
      </p:sp>
      <p:sp>
        <p:nvSpPr>
          <p:cNvPr id="21" name="TextBox 20"/>
          <p:cNvSpPr txBox="1"/>
          <p:nvPr/>
        </p:nvSpPr>
        <p:spPr>
          <a:xfrm>
            <a:off x="749808" y="6400800"/>
            <a:ext cx="4572000" cy="219456"/>
          </a:xfrm>
          <a:prstGeom prst="rect">
            <a:avLst/>
          </a:prstGeom>
          <a:noFill/>
        </p:spPr>
        <p:txBody>
          <a:bodyPr wrap="square" lIns="0" rIns="0" tIns="0" bIns="0" anchor="t">
            <a:noAutofit/>
          </a:bodyPr>
          <a:lstStyle/>
          <a:p>
            <a:pPr algn="l">
              <a:lnSpc>
                <a:spcPct val="100000"/>
              </a:lnSpc>
            </a:pPr>
            <a:r>
              <a:rPr sz="950" b="0">
                <a:solidFill>
                  <a:srgbClr val="8A8078"/>
                </a:solidFill>
                <a:latin typeface="Consolas"/>
              </a:rPr>
              <a:t>pyrantis.harshlabs.workers.dev</a:t>
            </a:r>
          </a:p>
        </p:txBody>
      </p:sp>
      <p:sp>
        <p:nvSpPr>
          <p:cNvPr id="22" name="Rectangle 21"/>
          <p:cNvSpPr/>
          <p:nvPr/>
        </p:nvSpPr>
        <p:spPr>
          <a:xfrm>
            <a:off x="8168609" y="4224528"/>
            <a:ext cx="3566160" cy="1517904"/>
          </a:xfrm>
          <a:prstGeom prst="rect">
            <a:avLst/>
          </a:prstGeom>
          <a:solidFill>
            <a:srgbClr val="0C0B0A"/>
          </a:solidFill>
          <a:ln w="9525">
            <a:solidFill>
              <a:srgbClr val="4A4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1489" y="4407408"/>
            <a:ext cx="3108960" cy="201168"/>
          </a:xfrm>
          <a:prstGeom prst="rect">
            <a:avLst/>
          </a:prstGeom>
          <a:noFill/>
        </p:spPr>
        <p:txBody>
          <a:bodyPr wrap="square" lIns="0" rIns="0" tIns="0" bIns="0" anchor="t">
            <a:noAutofit/>
          </a:bodyPr>
          <a:lstStyle/>
          <a:p>
            <a:pPr algn="l">
              <a:lnSpc>
                <a:spcPct val="100000"/>
              </a:lnSpc>
            </a:pPr>
            <a:r>
              <a:rPr sz="850" b="0" spc="120">
                <a:solidFill>
                  <a:srgbClr val="5C554F"/>
                </a:solidFill>
                <a:latin typeface="Consolas"/>
              </a:rPr>
              <a:t>TEAM</a:t>
            </a:r>
          </a:p>
        </p:txBody>
      </p:sp>
      <p:sp>
        <p:nvSpPr>
          <p:cNvPr id="24" name="TextBox 23"/>
          <p:cNvSpPr txBox="1"/>
          <p:nvPr/>
        </p:nvSpPr>
        <p:spPr>
          <a:xfrm>
            <a:off x="8351489" y="4754880"/>
            <a:ext cx="2468880" cy="219456"/>
          </a:xfrm>
          <a:prstGeom prst="rect">
            <a:avLst/>
          </a:prstGeom>
          <a:noFill/>
        </p:spPr>
        <p:txBody>
          <a:bodyPr wrap="square" lIns="0" rIns="0" tIns="0" bIns="0" anchor="t">
            <a:noAutofit/>
          </a:bodyPr>
          <a:lstStyle/>
          <a:p>
            <a:pPr algn="l">
              <a:lnSpc>
                <a:spcPct val="100000"/>
              </a:lnSpc>
            </a:pPr>
            <a:r>
              <a:rPr sz="1050" b="0">
                <a:solidFill>
                  <a:srgbClr val="BDB4AB"/>
                </a:solidFill>
                <a:latin typeface="Franklin Gothic Book"/>
              </a:rPr>
              <a:t>Harsh Rastogi</a:t>
            </a:r>
          </a:p>
        </p:txBody>
      </p:sp>
      <p:sp>
        <p:nvSpPr>
          <p:cNvPr id="25" name="TextBox 24"/>
          <p:cNvSpPr txBox="1"/>
          <p:nvPr/>
        </p:nvSpPr>
        <p:spPr>
          <a:xfrm>
            <a:off x="10838657" y="4754880"/>
            <a:ext cx="868680" cy="219456"/>
          </a:xfrm>
          <a:prstGeom prst="rect">
            <a:avLst/>
          </a:prstGeom>
          <a:noFill/>
        </p:spPr>
        <p:txBody>
          <a:bodyPr wrap="square" lIns="0" rIns="0" tIns="0" bIns="0" anchor="t">
            <a:noAutofit/>
          </a:bodyPr>
          <a:lstStyle/>
          <a:p>
            <a:pPr algn="r">
              <a:lnSpc>
                <a:spcPct val="100000"/>
              </a:lnSpc>
            </a:pPr>
            <a:r>
              <a:rPr sz="950" b="0">
                <a:solidFill>
                  <a:srgbClr val="5C554F"/>
                </a:solidFill>
                <a:latin typeface="Consolas"/>
              </a:rPr>
              <a:t>386401</a:t>
            </a:r>
          </a:p>
        </p:txBody>
      </p:sp>
      <p:sp>
        <p:nvSpPr>
          <p:cNvPr id="26" name="TextBox 25"/>
          <p:cNvSpPr txBox="1"/>
          <p:nvPr/>
        </p:nvSpPr>
        <p:spPr>
          <a:xfrm>
            <a:off x="8351489" y="5061204"/>
            <a:ext cx="2468880" cy="219456"/>
          </a:xfrm>
          <a:prstGeom prst="rect">
            <a:avLst/>
          </a:prstGeom>
          <a:noFill/>
        </p:spPr>
        <p:txBody>
          <a:bodyPr wrap="square" lIns="0" rIns="0" tIns="0" bIns="0" anchor="t">
            <a:noAutofit/>
          </a:bodyPr>
          <a:lstStyle/>
          <a:p>
            <a:pPr algn="l">
              <a:lnSpc>
                <a:spcPct val="100000"/>
              </a:lnSpc>
            </a:pPr>
            <a:r>
              <a:rPr sz="1050" b="0">
                <a:solidFill>
                  <a:srgbClr val="BDB4AB"/>
                </a:solidFill>
                <a:latin typeface="Franklin Gothic Book"/>
              </a:rPr>
              <a:t>Saira Zafar</a:t>
            </a:r>
          </a:p>
        </p:txBody>
      </p:sp>
      <p:sp>
        <p:nvSpPr>
          <p:cNvPr id="27" name="TextBox 26"/>
          <p:cNvSpPr txBox="1"/>
          <p:nvPr/>
        </p:nvSpPr>
        <p:spPr>
          <a:xfrm>
            <a:off x="10838657" y="5061204"/>
            <a:ext cx="868680" cy="219456"/>
          </a:xfrm>
          <a:prstGeom prst="rect">
            <a:avLst/>
          </a:prstGeom>
          <a:noFill/>
        </p:spPr>
        <p:txBody>
          <a:bodyPr wrap="square" lIns="0" rIns="0" tIns="0" bIns="0" anchor="t">
            <a:noAutofit/>
          </a:bodyPr>
          <a:lstStyle/>
          <a:p>
            <a:pPr algn="r">
              <a:lnSpc>
                <a:spcPct val="100000"/>
              </a:lnSpc>
            </a:pPr>
            <a:r>
              <a:rPr sz="950" b="0">
                <a:solidFill>
                  <a:srgbClr val="5C554F"/>
                </a:solidFill>
                <a:latin typeface="Consolas"/>
              </a:rPr>
              <a:t>407193</a:t>
            </a:r>
          </a:p>
        </p:txBody>
      </p:sp>
      <p:sp>
        <p:nvSpPr>
          <p:cNvPr id="28" name="TextBox 27"/>
          <p:cNvSpPr txBox="1"/>
          <p:nvPr/>
        </p:nvSpPr>
        <p:spPr>
          <a:xfrm>
            <a:off x="8351489" y="5367528"/>
            <a:ext cx="2468880" cy="219456"/>
          </a:xfrm>
          <a:prstGeom prst="rect">
            <a:avLst/>
          </a:prstGeom>
          <a:noFill/>
        </p:spPr>
        <p:txBody>
          <a:bodyPr wrap="square" lIns="0" rIns="0" tIns="0" bIns="0" anchor="t">
            <a:noAutofit/>
          </a:bodyPr>
          <a:lstStyle/>
          <a:p>
            <a:pPr algn="l">
              <a:lnSpc>
                <a:spcPct val="100000"/>
              </a:lnSpc>
            </a:pPr>
            <a:r>
              <a:rPr sz="1050" b="0">
                <a:solidFill>
                  <a:srgbClr val="BDB4AB"/>
                </a:solidFill>
                <a:latin typeface="Franklin Gothic Book"/>
              </a:rPr>
              <a:t>Tharushi Wimalachandra</a:t>
            </a:r>
          </a:p>
        </p:txBody>
      </p:sp>
      <p:sp>
        <p:nvSpPr>
          <p:cNvPr id="29" name="TextBox 28"/>
          <p:cNvSpPr txBox="1"/>
          <p:nvPr/>
        </p:nvSpPr>
        <p:spPr>
          <a:xfrm>
            <a:off x="10838657" y="5367528"/>
            <a:ext cx="868680" cy="219456"/>
          </a:xfrm>
          <a:prstGeom prst="rect">
            <a:avLst/>
          </a:prstGeom>
          <a:noFill/>
        </p:spPr>
        <p:txBody>
          <a:bodyPr wrap="square" lIns="0" rIns="0" tIns="0" bIns="0" anchor="t">
            <a:noAutofit/>
          </a:bodyPr>
          <a:lstStyle/>
          <a:p>
            <a:pPr algn="r">
              <a:lnSpc>
                <a:spcPct val="100000"/>
              </a:lnSpc>
            </a:pPr>
            <a:r>
              <a:rPr sz="950" b="0">
                <a:solidFill>
                  <a:srgbClr val="5C554F"/>
                </a:solidFill>
                <a:latin typeface="Consolas"/>
              </a:rPr>
              <a:t>386594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SETTING</a:t>
            </a:r>
          </a:p>
        </p:txBody>
      </p:sp>
      <p:sp>
        <p:nvSpPr>
          <p:cNvPr id="4" name="TextBox 3"/>
          <p:cNvSpPr txBox="1"/>
          <p:nvPr/>
        </p:nvSpPr>
        <p:spPr>
          <a:xfrm>
            <a:off x="749808" y="713232"/>
            <a:ext cx="6176246" cy="960120"/>
          </a:xfrm>
          <a:prstGeom prst="rect">
            <a:avLst/>
          </a:prstGeom>
          <a:noFill/>
        </p:spPr>
        <p:txBody>
          <a:bodyPr wrap="square" lIns="0" rIns="0" tIns="0" bIns="0" anchor="t">
            <a:noAutofit/>
          </a:bodyPr>
          <a:lstStyle/>
          <a:p>
            <a:pPr algn="l">
              <a:lnSpc>
                <a:spcPct val="106000"/>
              </a:lnSpc>
            </a:pPr>
            <a:r>
              <a:rPr sz="3100" b="0" spc="-20">
                <a:solidFill>
                  <a:srgbClr val="F4EFE9"/>
                </a:solidFill>
                <a:latin typeface="Franklin Gothic Demi"/>
              </a:rPr>
              <a:t>Most of the Territory burns.
The question is when.</a:t>
            </a:r>
          </a:p>
        </p:txBody>
      </p:sp>
      <p:sp>
        <p:nvSpPr>
          <p:cNvPr id="5" name="TextBox 4"/>
          <p:cNvSpPr txBox="1"/>
          <p:nvPr/>
        </p:nvSpPr>
        <p:spPr>
          <a:xfrm>
            <a:off x="749808" y="1920240"/>
            <a:ext cx="5273024" cy="1463040"/>
          </a:xfrm>
          <a:prstGeom prst="rect">
            <a:avLst/>
          </a:prstGeom>
          <a:noFill/>
        </p:spPr>
        <p:txBody>
          <a:bodyPr wrap="square" lIns="0" rIns="0" tIns="0" bIns="0" anchor="t">
            <a:noAutofit/>
          </a:bodyPr>
          <a:lstStyle/>
          <a:p>
            <a:pPr algn="l">
              <a:lnSpc>
                <a:spcPct val="152000"/>
              </a:lnSpc>
            </a:pPr>
            <a:r>
              <a:rPr sz="1300" b="0">
                <a:solidFill>
                  <a:srgbClr val="BDB4AB"/>
                </a:solidFill>
                <a:latin typeface="Franklin Gothic Book"/>
              </a:rPr>
              <a:t>Across 2000 to 2025, roughly a third of the Northern Territory carried a fire in any given year. Nearly a million square-years of record say the same thing: burning is not the exception here, it is the season.</a:t>
            </a:r>
          </a:p>
        </p:txBody>
      </p:sp>
      <p:cxnSp>
        <p:nvCxnSpPr>
          <p:cNvPr id="6" name="Connector 5"/>
          <p:cNvCxnSpPr/>
          <p:nvPr/>
        </p:nvCxnSpPr>
        <p:spPr>
          <a:xfrm>
            <a:off x="6999206" y="731520"/>
            <a:ext cx="0" cy="2331719"/>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072358" y="786384"/>
            <a:ext cx="4369803" cy="566928"/>
          </a:xfrm>
          <a:prstGeom prst="rect">
            <a:avLst/>
          </a:prstGeom>
          <a:noFill/>
        </p:spPr>
        <p:txBody>
          <a:bodyPr wrap="square" lIns="0" rIns="0" tIns="0" bIns="0" anchor="t">
            <a:noAutofit/>
          </a:bodyPr>
          <a:lstStyle/>
          <a:p>
            <a:pPr algn="l">
              <a:lnSpc>
                <a:spcPct val="100000"/>
              </a:lnSpc>
            </a:pPr>
            <a:r>
              <a:rPr sz="4000" b="0" spc="-60">
                <a:solidFill>
                  <a:srgbClr val="F4EFE9"/>
                </a:solidFill>
                <a:latin typeface="Franklin Gothic Demi"/>
              </a:rPr>
              <a:t>1,207,570</a:t>
            </a:r>
          </a:p>
        </p:txBody>
      </p:sp>
      <p:sp>
        <p:nvSpPr>
          <p:cNvPr id="8" name="TextBox 7"/>
          <p:cNvSpPr txBox="1"/>
          <p:nvPr/>
        </p:nvSpPr>
        <p:spPr>
          <a:xfrm>
            <a:off x="7072358" y="1375663"/>
            <a:ext cx="4369803"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square-years of fire record</a:t>
            </a:r>
          </a:p>
        </p:txBody>
      </p:sp>
      <p:sp>
        <p:nvSpPr>
          <p:cNvPr id="9" name="TextBox 8"/>
          <p:cNvSpPr txBox="1"/>
          <p:nvPr/>
        </p:nvSpPr>
        <p:spPr>
          <a:xfrm>
            <a:off x="7072358" y="1920240"/>
            <a:ext cx="4369803" cy="566928"/>
          </a:xfrm>
          <a:prstGeom prst="rect">
            <a:avLst/>
          </a:prstGeom>
          <a:noFill/>
        </p:spPr>
        <p:txBody>
          <a:bodyPr wrap="square" lIns="0" rIns="0" tIns="0" bIns="0" anchor="t">
            <a:noAutofit/>
          </a:bodyPr>
          <a:lstStyle/>
          <a:p>
            <a:pPr algn="l">
              <a:lnSpc>
                <a:spcPct val="100000"/>
              </a:lnSpc>
            </a:pPr>
            <a:r>
              <a:rPr sz="4000" b="0" spc="-60">
                <a:solidFill>
                  <a:srgbClr val="F4EFE9"/>
                </a:solidFill>
                <a:latin typeface="Franklin Gothic Demi"/>
              </a:rPr>
              <a:t>46,445</a:t>
            </a:r>
          </a:p>
        </p:txBody>
      </p:sp>
      <p:sp>
        <p:nvSpPr>
          <p:cNvPr id="10" name="TextBox 9"/>
          <p:cNvSpPr txBox="1"/>
          <p:nvPr/>
        </p:nvSpPr>
        <p:spPr>
          <a:xfrm>
            <a:off x="7072358" y="2509520"/>
            <a:ext cx="4369803"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map squares, five kilometres across</a:t>
            </a:r>
          </a:p>
        </p:txBody>
      </p:sp>
      <p:cxnSp>
        <p:nvCxnSpPr>
          <p:cNvPr id="11" name="Connector 10"/>
          <p:cNvCxnSpPr/>
          <p:nvPr/>
        </p:nvCxnSpPr>
        <p:spPr>
          <a:xfrm>
            <a:off x="749808" y="3675887"/>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3822191"/>
            <a:ext cx="5486400" cy="182880"/>
          </a:xfrm>
          <a:prstGeom prst="rect">
            <a:avLst/>
          </a:prstGeom>
          <a:noFill/>
        </p:spPr>
        <p:txBody>
          <a:bodyPr wrap="square" lIns="0" rIns="0" tIns="0" bIns="0" anchor="t">
            <a:noAutofit/>
          </a:bodyPr>
          <a:lstStyle/>
          <a:p>
            <a:pPr algn="l">
              <a:lnSpc>
                <a:spcPct val="100000"/>
              </a:lnSpc>
            </a:pPr>
            <a:r>
              <a:rPr sz="850" b="0" spc="140">
                <a:solidFill>
                  <a:srgbClr val="8A8078"/>
                </a:solidFill>
                <a:latin typeface="Consolas"/>
              </a:rPr>
              <a:t>EVERY SQUARE, EVERY YEAR, 2005 TO 2025</a:t>
            </a:r>
          </a:p>
        </p:txBody>
      </p:sp>
      <p:pic>
        <p:nvPicPr>
          <p:cNvPr id="13" name="Picture 12" descr="balance.png"/>
          <p:cNvPicPr>
            <a:picLocks noChangeAspect="1"/>
          </p:cNvPicPr>
          <p:nvPr/>
        </p:nvPicPr>
        <p:blipFill>
          <a:blip r:embed="rId2"/>
          <a:stretch>
            <a:fillRect/>
          </a:stretch>
        </p:blipFill>
        <p:spPr>
          <a:xfrm>
            <a:off x="621792" y="4096512"/>
            <a:ext cx="10948385" cy="2244648"/>
          </a:xfrm>
          <a:prstGeom prst="rect">
            <a:avLst/>
          </a:prstGeom>
        </p:spPr>
      </p:pic>
      <p:cxnSp>
        <p:nvCxnSpPr>
          <p:cNvPr id="14" name="Connector 13"/>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9808" y="6345936"/>
            <a:ext cx="891029"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17" name="TextBox 16"/>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02/24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WHY IT MATTERS</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A fire in June and a fire in October are different events.</a:t>
            </a:r>
          </a:p>
        </p:txBody>
      </p:sp>
      <p:sp>
        <p:nvSpPr>
          <p:cNvPr id="5" name="Rectangle 4"/>
          <p:cNvSpPr/>
          <p:nvPr/>
        </p:nvSpPr>
        <p:spPr>
          <a:xfrm>
            <a:off x="749808" y="1847088"/>
            <a:ext cx="4369803" cy="1481328"/>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49808" y="1847088"/>
            <a:ext cx="32004" cy="1481328"/>
          </a:xfrm>
          <a:prstGeom prst="rect">
            <a:avLst/>
          </a:prstGeom>
          <a:solidFill>
            <a:srgbClr val="3DB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0704" y="2066543"/>
            <a:ext cx="3748011" cy="274320"/>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Before August</a:t>
            </a:r>
          </a:p>
        </p:txBody>
      </p:sp>
      <p:sp>
        <p:nvSpPr>
          <p:cNvPr id="8" name="TextBox 7"/>
          <p:cNvSpPr txBox="1"/>
          <p:nvPr/>
        </p:nvSpPr>
        <p:spPr>
          <a:xfrm>
            <a:off x="1060704" y="2432304"/>
            <a:ext cx="3748011" cy="822960"/>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The country is still damp from the wet. Fires are cool, they creep, and they leave a patchwork. Rangers light these deliberately to break up the fuel.</a:t>
            </a:r>
          </a:p>
        </p:txBody>
      </p:sp>
      <p:sp>
        <p:nvSpPr>
          <p:cNvPr id="9" name="Rectangle 8"/>
          <p:cNvSpPr/>
          <p:nvPr/>
        </p:nvSpPr>
        <p:spPr>
          <a:xfrm>
            <a:off x="6169136" y="1847088"/>
            <a:ext cx="4369803" cy="1481328"/>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9136" y="1847088"/>
            <a:ext cx="32004" cy="1481328"/>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0032" y="2066543"/>
            <a:ext cx="3748011" cy="274320"/>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After July</a:t>
            </a:r>
          </a:p>
        </p:txBody>
      </p:sp>
      <p:sp>
        <p:nvSpPr>
          <p:cNvPr id="12" name="TextBox 11"/>
          <p:cNvSpPr txBox="1"/>
          <p:nvPr/>
        </p:nvSpPr>
        <p:spPr>
          <a:xfrm>
            <a:off x="6480032" y="2432304"/>
            <a:ext cx="3748011" cy="822960"/>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The grass has cured. Fires run with the wind, burn hot enough to kill canopy, and take out fences, stock and country in a single afternoon.</a:t>
            </a:r>
          </a:p>
        </p:txBody>
      </p:sp>
      <p:pic>
        <p:nvPicPr>
          <p:cNvPr id="13" name="Picture 12" descr="suppression.png"/>
          <p:cNvPicPr>
            <a:picLocks noChangeAspect="1"/>
          </p:cNvPicPr>
          <p:nvPr/>
        </p:nvPicPr>
        <p:blipFill>
          <a:blip r:embed="rId2"/>
          <a:stretch>
            <a:fillRect/>
          </a:stretch>
        </p:blipFill>
        <p:spPr>
          <a:xfrm>
            <a:off x="621792" y="3621024"/>
            <a:ext cx="5669280" cy="2677251"/>
          </a:xfrm>
          <a:prstGeom prst="rect">
            <a:avLst/>
          </a:prstGeom>
        </p:spPr>
      </p:pic>
      <p:cxnSp>
        <p:nvCxnSpPr>
          <p:cNvPr id="14" name="Connector 13"/>
          <p:cNvCxnSpPr/>
          <p:nvPr/>
        </p:nvCxnSpPr>
        <p:spPr>
          <a:xfrm>
            <a:off x="7072358" y="3675887"/>
            <a:ext cx="4369803" cy="0"/>
          </a:xfrm>
          <a:prstGeom prst="line">
            <a:avLst/>
          </a:prstGeom>
          <a:ln w="22860">
            <a:solidFill>
              <a:srgbClr val="FF5A1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72358" y="3858768"/>
            <a:ext cx="4369803" cy="292608"/>
          </a:xfrm>
          <a:prstGeom prst="rect">
            <a:avLst/>
          </a:prstGeom>
          <a:noFill/>
        </p:spPr>
        <p:txBody>
          <a:bodyPr wrap="square" lIns="0" rIns="0" tIns="0" bIns="0" anchor="t">
            <a:noAutofit/>
          </a:bodyPr>
          <a:lstStyle/>
          <a:p>
            <a:pPr algn="l">
              <a:lnSpc>
                <a:spcPct val="100000"/>
              </a:lnSpc>
            </a:pPr>
            <a:r>
              <a:rPr sz="1500" b="0">
                <a:solidFill>
                  <a:srgbClr val="F4EFE9"/>
                </a:solidFill>
                <a:latin typeface="Franklin Gothic Demi"/>
              </a:rPr>
              <a:t>And it compounds.</a:t>
            </a:r>
          </a:p>
        </p:txBody>
      </p:sp>
      <p:sp>
        <p:nvSpPr>
          <p:cNvPr id="16" name="TextBox 15"/>
          <p:cNvSpPr txBox="1"/>
          <p:nvPr/>
        </p:nvSpPr>
        <p:spPr>
          <a:xfrm>
            <a:off x="7072358" y="4224528"/>
            <a:ext cx="4369803" cy="1828800"/>
          </a:xfrm>
          <a:prstGeom prst="rect">
            <a:avLst/>
          </a:prstGeom>
          <a:noFill/>
        </p:spPr>
        <p:txBody>
          <a:bodyPr wrap="square" lIns="0" rIns="0" tIns="0" bIns="0" anchor="t">
            <a:noAutofit/>
          </a:bodyPr>
          <a:lstStyle/>
          <a:p>
            <a:pPr algn="l">
              <a:lnSpc>
                <a:spcPct val="148000"/>
              </a:lnSpc>
            </a:pPr>
            <a:r>
              <a:rPr sz="1150" b="0">
                <a:solidFill>
                  <a:srgbClr val="BDB4AB"/>
                </a:solidFill>
                <a:latin typeface="Franklin Gothic Book"/>
              </a:rPr>
              <a:t>In the Top End, country burned early is far less likely to carry a late fire the next year — 20.1% against 31.9% for country left alone. Territory-wide the comparison reverses, because the arid south burns on a different clock. One number for the whole map would have hidden both facts.</a:t>
            </a:r>
          </a:p>
        </p:txBody>
      </p:sp>
      <p:cxnSp>
        <p:nvCxnSpPr>
          <p:cNvPr id="17" name="Connector 16"/>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9808" y="6345936"/>
            <a:ext cx="1336544"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20" name="TextBox 19"/>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03/24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QUESTION WE SET</a:t>
            </a:r>
          </a:p>
        </p:txBody>
      </p:sp>
      <p:sp>
        <p:nvSpPr>
          <p:cNvPr id="4" name="TextBox 3"/>
          <p:cNvSpPr txBox="1"/>
          <p:nvPr/>
        </p:nvSpPr>
        <p:spPr>
          <a:xfrm>
            <a:off x="749808" y="1188720"/>
            <a:ext cx="9789132" cy="960120"/>
          </a:xfrm>
          <a:prstGeom prst="rect">
            <a:avLst/>
          </a:prstGeom>
          <a:noFill/>
        </p:spPr>
        <p:txBody>
          <a:bodyPr wrap="square" lIns="0" rIns="0" tIns="0" bIns="0" anchor="t">
            <a:noAutofit/>
          </a:bodyPr>
          <a:lstStyle/>
          <a:p>
            <a:pPr algn="l">
              <a:lnSpc>
                <a:spcPct val="106000"/>
              </a:lnSpc>
            </a:pPr>
            <a:r>
              <a:rPr sz="3400" b="0" spc="-20">
                <a:solidFill>
                  <a:srgbClr val="F4EFE9"/>
                </a:solidFill>
                <a:latin typeface="Franklin Gothic Demi"/>
              </a:rPr>
              <a:t>For every square, for every year:
which of three?</a:t>
            </a:r>
          </a:p>
        </p:txBody>
      </p:sp>
      <p:cxnSp>
        <p:nvCxnSpPr>
          <p:cNvPr id="5" name="Connector 4"/>
          <p:cNvCxnSpPr/>
          <p:nvPr/>
        </p:nvCxnSpPr>
        <p:spPr>
          <a:xfrm>
            <a:off x="749808" y="2743200"/>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49808" y="3017520"/>
            <a:ext cx="201168" cy="201168"/>
          </a:xfrm>
          <a:prstGeom prst="rect">
            <a:avLst/>
          </a:prstGeom>
          <a:solidFill>
            <a:srgbClr val="8C9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25295" y="2926080"/>
            <a:ext cx="2560320" cy="411480"/>
          </a:xfrm>
          <a:prstGeom prst="rect">
            <a:avLst/>
          </a:prstGeom>
          <a:noFill/>
        </p:spPr>
        <p:txBody>
          <a:bodyPr wrap="square" lIns="0" rIns="0" tIns="0" bIns="0" anchor="t">
            <a:noAutofit/>
          </a:bodyPr>
          <a:lstStyle/>
          <a:p>
            <a:pPr algn="l">
              <a:lnSpc>
                <a:spcPct val="100000"/>
              </a:lnSpc>
            </a:pPr>
            <a:r>
              <a:rPr sz="2500" b="0">
                <a:solidFill>
                  <a:srgbClr val="F4EFE9"/>
                </a:solidFill>
                <a:latin typeface="Franklin Gothic Demi"/>
              </a:rPr>
              <a:t>unburnt</a:t>
            </a:r>
          </a:p>
        </p:txBody>
      </p:sp>
      <p:sp>
        <p:nvSpPr>
          <p:cNvPr id="8" name="TextBox 7"/>
          <p:cNvSpPr txBox="1"/>
          <p:nvPr/>
        </p:nvSpPr>
        <p:spPr>
          <a:xfrm>
            <a:off x="3459472" y="3017520"/>
            <a:ext cx="6176246" cy="320040"/>
          </a:xfrm>
          <a:prstGeom prst="rect">
            <a:avLst/>
          </a:prstGeom>
          <a:noFill/>
        </p:spPr>
        <p:txBody>
          <a:bodyPr wrap="square" lIns="0" rIns="0" tIns="0" bIns="0" anchor="t">
            <a:noAutofit/>
          </a:bodyPr>
          <a:lstStyle/>
          <a:p>
            <a:pPr algn="l">
              <a:lnSpc>
                <a:spcPct val="100000"/>
              </a:lnSpc>
            </a:pPr>
            <a:r>
              <a:rPr sz="1400" b="0">
                <a:solidFill>
                  <a:srgbClr val="BDB4AB"/>
                </a:solidFill>
                <a:latin typeface="Franklin Gothic Book"/>
              </a:rPr>
              <a:t>no fire detected that year</a:t>
            </a:r>
          </a:p>
        </p:txBody>
      </p:sp>
      <p:cxnSp>
        <p:nvCxnSpPr>
          <p:cNvPr id="9" name="Connector 8"/>
          <p:cNvCxnSpPr/>
          <p:nvPr/>
        </p:nvCxnSpPr>
        <p:spPr>
          <a:xfrm>
            <a:off x="749808" y="3584448"/>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49808" y="3858768"/>
            <a:ext cx="201168" cy="201168"/>
          </a:xfrm>
          <a:prstGeom prst="rect">
            <a:avLst/>
          </a:prstGeom>
          <a:solidFill>
            <a:srgbClr val="3DB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25295" y="3767328"/>
            <a:ext cx="2560320" cy="411480"/>
          </a:xfrm>
          <a:prstGeom prst="rect">
            <a:avLst/>
          </a:prstGeom>
          <a:noFill/>
        </p:spPr>
        <p:txBody>
          <a:bodyPr wrap="square" lIns="0" rIns="0" tIns="0" bIns="0" anchor="t">
            <a:noAutofit/>
          </a:bodyPr>
          <a:lstStyle/>
          <a:p>
            <a:pPr algn="l">
              <a:lnSpc>
                <a:spcPct val="100000"/>
              </a:lnSpc>
            </a:pPr>
            <a:r>
              <a:rPr sz="2500" b="0">
                <a:solidFill>
                  <a:srgbClr val="F4EFE9"/>
                </a:solidFill>
                <a:latin typeface="Franklin Gothic Demi"/>
              </a:rPr>
              <a:t>early</a:t>
            </a:r>
          </a:p>
        </p:txBody>
      </p:sp>
      <p:sp>
        <p:nvSpPr>
          <p:cNvPr id="12" name="TextBox 11"/>
          <p:cNvSpPr txBox="1"/>
          <p:nvPr/>
        </p:nvSpPr>
        <p:spPr>
          <a:xfrm>
            <a:off x="3459472" y="3858768"/>
            <a:ext cx="6176246" cy="320040"/>
          </a:xfrm>
          <a:prstGeom prst="rect">
            <a:avLst/>
          </a:prstGeom>
          <a:noFill/>
        </p:spPr>
        <p:txBody>
          <a:bodyPr wrap="square" lIns="0" rIns="0" tIns="0" bIns="0" anchor="t">
            <a:noAutofit/>
          </a:bodyPr>
          <a:lstStyle/>
          <a:p>
            <a:pPr algn="l">
              <a:lnSpc>
                <a:spcPct val="100000"/>
              </a:lnSpc>
            </a:pPr>
            <a:r>
              <a:rPr sz="1400" b="0">
                <a:solidFill>
                  <a:srgbClr val="BDB4AB"/>
                </a:solidFill>
                <a:latin typeface="Franklin Gothic Book"/>
              </a:rPr>
              <a:t>first detected on or before 31 July</a:t>
            </a:r>
          </a:p>
        </p:txBody>
      </p:sp>
      <p:cxnSp>
        <p:nvCxnSpPr>
          <p:cNvPr id="13" name="Connector 12"/>
          <p:cNvCxnSpPr/>
          <p:nvPr/>
        </p:nvCxnSpPr>
        <p:spPr>
          <a:xfrm>
            <a:off x="749808" y="442569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49808" y="4700016"/>
            <a:ext cx="201168" cy="201168"/>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5" y="4608576"/>
            <a:ext cx="2560320" cy="411480"/>
          </a:xfrm>
          <a:prstGeom prst="rect">
            <a:avLst/>
          </a:prstGeom>
          <a:noFill/>
        </p:spPr>
        <p:txBody>
          <a:bodyPr wrap="square" lIns="0" rIns="0" tIns="0" bIns="0" anchor="t">
            <a:noAutofit/>
          </a:bodyPr>
          <a:lstStyle/>
          <a:p>
            <a:pPr algn="l">
              <a:lnSpc>
                <a:spcPct val="100000"/>
              </a:lnSpc>
            </a:pPr>
            <a:r>
              <a:rPr sz="2500" b="0">
                <a:solidFill>
                  <a:srgbClr val="F4EFE9"/>
                </a:solidFill>
                <a:latin typeface="Franklin Gothic Demi"/>
              </a:rPr>
              <a:t>late</a:t>
            </a:r>
          </a:p>
        </p:txBody>
      </p:sp>
      <p:sp>
        <p:nvSpPr>
          <p:cNvPr id="16" name="TextBox 15"/>
          <p:cNvSpPr txBox="1"/>
          <p:nvPr/>
        </p:nvSpPr>
        <p:spPr>
          <a:xfrm>
            <a:off x="3459472" y="4700016"/>
            <a:ext cx="6176246" cy="320040"/>
          </a:xfrm>
          <a:prstGeom prst="rect">
            <a:avLst/>
          </a:prstGeom>
          <a:noFill/>
        </p:spPr>
        <p:txBody>
          <a:bodyPr wrap="square" lIns="0" rIns="0" tIns="0" bIns="0" anchor="t">
            <a:noAutofit/>
          </a:bodyPr>
          <a:lstStyle/>
          <a:p>
            <a:pPr algn="l">
              <a:lnSpc>
                <a:spcPct val="100000"/>
              </a:lnSpc>
            </a:pPr>
            <a:r>
              <a:rPr sz="1400" b="0">
                <a:solidFill>
                  <a:srgbClr val="BDB4AB"/>
                </a:solidFill>
                <a:latin typeface="Franklin Gothic Book"/>
              </a:rPr>
              <a:t>first detected after 31 July</a:t>
            </a:r>
          </a:p>
        </p:txBody>
      </p:sp>
      <p:cxnSp>
        <p:nvCxnSpPr>
          <p:cNvPr id="17" name="Connector 16"/>
          <p:cNvCxnSpPr/>
          <p:nvPr/>
        </p:nvCxnSpPr>
        <p:spPr>
          <a:xfrm>
            <a:off x="749808" y="5266944"/>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8" y="5596128"/>
            <a:ext cx="7982689" cy="548640"/>
          </a:xfrm>
          <a:prstGeom prst="rect">
            <a:avLst/>
          </a:prstGeom>
          <a:noFill/>
        </p:spPr>
        <p:txBody>
          <a:bodyPr wrap="square" lIns="0" rIns="0" tIns="0" bIns="0" anchor="t">
            <a:noAutofit/>
          </a:bodyPr>
          <a:lstStyle/>
          <a:p>
            <a:pPr algn="l">
              <a:lnSpc>
                <a:spcPct val="142000"/>
              </a:lnSpc>
            </a:pPr>
            <a:r>
              <a:rPr sz="1200" b="0">
                <a:solidFill>
                  <a:srgbClr val="8A8078"/>
                </a:solidFill>
                <a:latin typeface="Franklin Gothic Book"/>
              </a:rPr>
              <a:t>The 31 July line is the one the Territory's own fire management uses, so the classes mean something to the people who would act on them.</a:t>
            </a:r>
          </a:p>
        </p:txBody>
      </p:sp>
      <p:cxnSp>
        <p:nvCxnSpPr>
          <p:cNvPr id="19" name="Connector 18"/>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9808" y="6345936"/>
            <a:ext cx="1782058"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22" name="TextBox 21"/>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04/24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DATA</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Three public sources, joined on one grid.</a:t>
            </a:r>
          </a:p>
        </p:txBody>
      </p:sp>
      <p:cxnSp>
        <p:nvCxnSpPr>
          <p:cNvPr id="5" name="Connector 4"/>
          <p:cNvCxnSpPr/>
          <p:nvPr/>
        </p:nvCxnSpPr>
        <p:spPr>
          <a:xfrm>
            <a:off x="749808" y="1828800"/>
            <a:ext cx="3375141" cy="0"/>
          </a:xfrm>
          <a:prstGeom prst="line">
            <a:avLst/>
          </a:prstGeom>
          <a:ln w="25400">
            <a:solidFill>
              <a:srgbClr val="FF5A1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029968"/>
            <a:ext cx="3375141" cy="384048"/>
          </a:xfrm>
          <a:prstGeom prst="rect">
            <a:avLst/>
          </a:prstGeom>
          <a:noFill/>
        </p:spPr>
        <p:txBody>
          <a:bodyPr wrap="square" lIns="0" rIns="0" tIns="0" bIns="0" anchor="t">
            <a:noAutofit/>
          </a:bodyPr>
          <a:lstStyle/>
          <a:p>
            <a:pPr algn="l">
              <a:lnSpc>
                <a:spcPct val="100000"/>
              </a:lnSpc>
            </a:pPr>
            <a:r>
              <a:rPr sz="2300" b="0">
                <a:solidFill>
                  <a:srgbClr val="F4EFE9"/>
                </a:solidFill>
                <a:latin typeface="Franklin Gothic Demi"/>
              </a:rPr>
              <a:t>NAFI</a:t>
            </a:r>
          </a:p>
        </p:txBody>
      </p:sp>
      <p:sp>
        <p:nvSpPr>
          <p:cNvPr id="7" name="TextBox 6"/>
          <p:cNvSpPr txBox="1"/>
          <p:nvPr/>
        </p:nvSpPr>
        <p:spPr>
          <a:xfrm>
            <a:off x="749808" y="2432304"/>
            <a:ext cx="3375141" cy="274320"/>
          </a:xfrm>
          <a:prstGeom prst="rect">
            <a:avLst/>
          </a:prstGeom>
          <a:noFill/>
        </p:spPr>
        <p:txBody>
          <a:bodyPr wrap="square" lIns="0" rIns="0" tIns="0" bIns="0" anchor="t">
            <a:noAutofit/>
          </a:bodyPr>
          <a:lstStyle/>
          <a:p>
            <a:pPr algn="l">
              <a:lnSpc>
                <a:spcPct val="125000"/>
              </a:lnSpc>
            </a:pPr>
            <a:r>
              <a:rPr sz="850" b="0" spc="60">
                <a:solidFill>
                  <a:srgbClr val="8A8078"/>
                </a:solidFill>
                <a:latin typeface="Consolas"/>
              </a:rPr>
              <a:t>North Australian Fire Information</a:t>
            </a:r>
          </a:p>
        </p:txBody>
      </p:sp>
      <p:sp>
        <p:nvSpPr>
          <p:cNvPr id="8" name="TextBox 7"/>
          <p:cNvSpPr txBox="1"/>
          <p:nvPr/>
        </p:nvSpPr>
        <p:spPr>
          <a:xfrm>
            <a:off x="749808" y="2816352"/>
            <a:ext cx="3375141" cy="1188720"/>
          </a:xfrm>
          <a:prstGeom prst="rect">
            <a:avLst/>
          </a:prstGeom>
          <a:noFill/>
        </p:spPr>
        <p:txBody>
          <a:bodyPr wrap="square" lIns="0" rIns="0" tIns="0" bIns="0" anchor="t">
            <a:noAutofit/>
          </a:bodyPr>
          <a:lstStyle/>
          <a:p>
            <a:pPr algn="l">
              <a:lnSpc>
                <a:spcPct val="146000"/>
              </a:lnSpc>
            </a:pPr>
            <a:r>
              <a:rPr sz="1150" b="0">
                <a:solidFill>
                  <a:srgbClr val="BDB4AB"/>
                </a:solidFill>
                <a:latin typeface="Franklin Gothic Book"/>
              </a:rPr>
              <a:t>250 m burnt-area rasters, 2000 to 2025. Each pixel carries the month it was detected — which is what makes an early/late label possible at all.</a:t>
            </a:r>
          </a:p>
        </p:txBody>
      </p:sp>
      <p:cxnSp>
        <p:nvCxnSpPr>
          <p:cNvPr id="9" name="Connector 8"/>
          <p:cNvCxnSpPr/>
          <p:nvPr/>
        </p:nvCxnSpPr>
        <p:spPr>
          <a:xfrm>
            <a:off x="4362693" y="1828800"/>
            <a:ext cx="3375142" cy="0"/>
          </a:xfrm>
          <a:prstGeom prst="line">
            <a:avLst/>
          </a:prstGeom>
          <a:ln w="25400">
            <a:solidFill>
              <a:srgbClr val="FF5A1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362693" y="2029968"/>
            <a:ext cx="3375141" cy="384048"/>
          </a:xfrm>
          <a:prstGeom prst="rect">
            <a:avLst/>
          </a:prstGeom>
          <a:noFill/>
        </p:spPr>
        <p:txBody>
          <a:bodyPr wrap="square" lIns="0" rIns="0" tIns="0" bIns="0" anchor="t">
            <a:noAutofit/>
          </a:bodyPr>
          <a:lstStyle/>
          <a:p>
            <a:pPr algn="l">
              <a:lnSpc>
                <a:spcPct val="100000"/>
              </a:lnSpc>
            </a:pPr>
            <a:r>
              <a:rPr sz="2300" b="0">
                <a:solidFill>
                  <a:srgbClr val="F4EFE9"/>
                </a:solidFill>
                <a:latin typeface="Franklin Gothic Demi"/>
              </a:rPr>
              <a:t>SILO</a:t>
            </a:r>
          </a:p>
        </p:txBody>
      </p:sp>
      <p:sp>
        <p:nvSpPr>
          <p:cNvPr id="11" name="TextBox 10"/>
          <p:cNvSpPr txBox="1"/>
          <p:nvPr/>
        </p:nvSpPr>
        <p:spPr>
          <a:xfrm>
            <a:off x="4362693" y="2432304"/>
            <a:ext cx="3375141" cy="274320"/>
          </a:xfrm>
          <a:prstGeom prst="rect">
            <a:avLst/>
          </a:prstGeom>
          <a:noFill/>
        </p:spPr>
        <p:txBody>
          <a:bodyPr wrap="square" lIns="0" rIns="0" tIns="0" bIns="0" anchor="t">
            <a:noAutofit/>
          </a:bodyPr>
          <a:lstStyle/>
          <a:p>
            <a:pPr algn="l">
              <a:lnSpc>
                <a:spcPct val="125000"/>
              </a:lnSpc>
            </a:pPr>
            <a:r>
              <a:rPr sz="850" b="0" spc="60">
                <a:solidFill>
                  <a:srgbClr val="8A8078"/>
                </a:solidFill>
                <a:latin typeface="Consolas"/>
              </a:rPr>
              <a:t>Queensland Government Data Drill</a:t>
            </a:r>
          </a:p>
        </p:txBody>
      </p:sp>
      <p:sp>
        <p:nvSpPr>
          <p:cNvPr id="12" name="TextBox 11"/>
          <p:cNvSpPr txBox="1"/>
          <p:nvPr/>
        </p:nvSpPr>
        <p:spPr>
          <a:xfrm>
            <a:off x="4362693" y="2816352"/>
            <a:ext cx="3375141" cy="1188720"/>
          </a:xfrm>
          <a:prstGeom prst="rect">
            <a:avLst/>
          </a:prstGeom>
          <a:noFill/>
        </p:spPr>
        <p:txBody>
          <a:bodyPr wrap="square" lIns="0" rIns="0" tIns="0" bIns="0" anchor="t">
            <a:noAutofit/>
          </a:bodyPr>
          <a:lstStyle/>
          <a:p>
            <a:pPr algn="l">
              <a:lnSpc>
                <a:spcPct val="146000"/>
              </a:lnSpc>
            </a:pPr>
            <a:r>
              <a:rPr sz="1150" b="0">
                <a:solidFill>
                  <a:srgbClr val="BDB4AB"/>
                </a:solidFill>
                <a:latin typeface="Franklin Gothic Book"/>
              </a:rPr>
              <a:t>Daily rainfall, temperature, humidity and radiation, interpolated from Bureau of Meteorology stations to the same 0.05° grid.</a:t>
            </a:r>
          </a:p>
        </p:txBody>
      </p:sp>
      <p:cxnSp>
        <p:nvCxnSpPr>
          <p:cNvPr id="13" name="Connector 12"/>
          <p:cNvCxnSpPr/>
          <p:nvPr/>
        </p:nvCxnSpPr>
        <p:spPr>
          <a:xfrm>
            <a:off x="7975579" y="1828800"/>
            <a:ext cx="3466582" cy="0"/>
          </a:xfrm>
          <a:prstGeom prst="line">
            <a:avLst/>
          </a:prstGeom>
          <a:ln w="25400">
            <a:solidFill>
              <a:srgbClr val="FF5A1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75579" y="2029968"/>
            <a:ext cx="3466581" cy="384048"/>
          </a:xfrm>
          <a:prstGeom prst="rect">
            <a:avLst/>
          </a:prstGeom>
          <a:noFill/>
        </p:spPr>
        <p:txBody>
          <a:bodyPr wrap="square" lIns="0" rIns="0" tIns="0" bIns="0" anchor="t">
            <a:noAutofit/>
          </a:bodyPr>
          <a:lstStyle/>
          <a:p>
            <a:pPr algn="l">
              <a:lnSpc>
                <a:spcPct val="100000"/>
              </a:lnSpc>
            </a:pPr>
            <a:r>
              <a:rPr sz="2300" b="0">
                <a:solidFill>
                  <a:srgbClr val="F4EFE9"/>
                </a:solidFill>
                <a:latin typeface="Franklin Gothic Demi"/>
              </a:rPr>
              <a:t>MODIS</a:t>
            </a:r>
          </a:p>
        </p:txBody>
      </p:sp>
      <p:sp>
        <p:nvSpPr>
          <p:cNvPr id="15" name="TextBox 14"/>
          <p:cNvSpPr txBox="1"/>
          <p:nvPr/>
        </p:nvSpPr>
        <p:spPr>
          <a:xfrm>
            <a:off x="7975579" y="2432304"/>
            <a:ext cx="3466581" cy="274320"/>
          </a:xfrm>
          <a:prstGeom prst="rect">
            <a:avLst/>
          </a:prstGeom>
          <a:noFill/>
        </p:spPr>
        <p:txBody>
          <a:bodyPr wrap="square" lIns="0" rIns="0" tIns="0" bIns="0" anchor="t">
            <a:noAutofit/>
          </a:bodyPr>
          <a:lstStyle/>
          <a:p>
            <a:pPr algn="l">
              <a:lnSpc>
                <a:spcPct val="125000"/>
              </a:lnSpc>
            </a:pPr>
            <a:r>
              <a:rPr sz="850" b="0" spc="60">
                <a:solidFill>
                  <a:srgbClr val="8A8078"/>
                </a:solidFill>
                <a:latin typeface="Consolas"/>
              </a:rPr>
              <a:t>MOD13Q1 via Google Earth Engine</a:t>
            </a:r>
          </a:p>
        </p:txBody>
      </p:sp>
      <p:sp>
        <p:nvSpPr>
          <p:cNvPr id="16" name="TextBox 15"/>
          <p:cNvSpPr txBox="1"/>
          <p:nvPr/>
        </p:nvSpPr>
        <p:spPr>
          <a:xfrm>
            <a:off x="7975579" y="2816352"/>
            <a:ext cx="3466581" cy="1188720"/>
          </a:xfrm>
          <a:prstGeom prst="rect">
            <a:avLst/>
          </a:prstGeom>
          <a:noFill/>
        </p:spPr>
        <p:txBody>
          <a:bodyPr wrap="square" lIns="0" rIns="0" tIns="0" bIns="0" anchor="t">
            <a:noAutofit/>
          </a:bodyPr>
          <a:lstStyle/>
          <a:p>
            <a:pPr algn="l">
              <a:lnSpc>
                <a:spcPct val="146000"/>
              </a:lnSpc>
            </a:pPr>
            <a:r>
              <a:rPr sz="1150" b="0">
                <a:solidFill>
                  <a:srgbClr val="BDB4AB"/>
                </a:solidFill>
                <a:latin typeface="Franklin Gothic Book"/>
              </a:rPr>
              <a:t>Sixteen-day vegetation index. How green the country got over the wet season is how much fuel is standing when the dry arrives.</a:t>
            </a:r>
          </a:p>
        </p:txBody>
      </p:sp>
      <p:cxnSp>
        <p:nvCxnSpPr>
          <p:cNvPr id="17" name="Connector 16"/>
          <p:cNvCxnSpPr/>
          <p:nvPr/>
        </p:nvCxnSpPr>
        <p:spPr>
          <a:xfrm>
            <a:off x="749808" y="4133087"/>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9808" y="4297680"/>
            <a:ext cx="9789132" cy="365760"/>
          </a:xfrm>
          <a:prstGeom prst="rect">
            <a:avLst/>
          </a:prstGeom>
          <a:noFill/>
        </p:spPr>
        <p:txBody>
          <a:bodyPr wrap="square" lIns="0" rIns="0" tIns="0" bIns="0" anchor="t">
            <a:noAutofit/>
          </a:bodyPr>
          <a:lstStyle/>
          <a:p>
            <a:pPr algn="l">
              <a:lnSpc>
                <a:spcPct val="135000"/>
              </a:lnSpc>
            </a:pPr>
            <a:r>
              <a:rPr sz="1250" b="0">
                <a:solidFill>
                  <a:srgbClr val="8A8078"/>
                </a:solidFill>
                <a:latin typeface="Franklin Gothic Book"/>
              </a:rPr>
              <a:t>All three are open data, used under their own licences and cited in the report. Nothing in this project sits behind a login.</a:t>
            </a:r>
          </a:p>
        </p:txBody>
      </p:sp>
      <p:sp>
        <p:nvSpPr>
          <p:cNvPr id="19" name="TextBox 18"/>
          <p:cNvSpPr txBox="1"/>
          <p:nvPr/>
        </p:nvSpPr>
        <p:spPr>
          <a:xfrm>
            <a:off x="749808" y="4919472"/>
            <a:ext cx="2380480" cy="566928"/>
          </a:xfrm>
          <a:prstGeom prst="rect">
            <a:avLst/>
          </a:prstGeom>
          <a:noFill/>
        </p:spPr>
        <p:txBody>
          <a:bodyPr wrap="square" lIns="0" rIns="0" tIns="0" bIns="0" anchor="t">
            <a:noAutofit/>
          </a:bodyPr>
          <a:lstStyle/>
          <a:p>
            <a:pPr algn="l">
              <a:lnSpc>
                <a:spcPct val="100000"/>
              </a:lnSpc>
            </a:pPr>
            <a:r>
              <a:rPr sz="2700" b="0" spc="-60">
                <a:solidFill>
                  <a:srgbClr val="F4EFE9"/>
                </a:solidFill>
                <a:latin typeface="Franklin Gothic Demi"/>
              </a:rPr>
              <a:t>0.05°</a:t>
            </a:r>
          </a:p>
        </p:txBody>
      </p:sp>
      <p:sp>
        <p:nvSpPr>
          <p:cNvPr id="20" name="TextBox 19"/>
          <p:cNvSpPr txBox="1"/>
          <p:nvPr/>
        </p:nvSpPr>
        <p:spPr>
          <a:xfrm>
            <a:off x="749808" y="5317236"/>
            <a:ext cx="2380480"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grid cell, about 5 km</a:t>
            </a:r>
          </a:p>
        </p:txBody>
      </p:sp>
      <p:cxnSp>
        <p:nvCxnSpPr>
          <p:cNvPr id="21" name="Connector 20"/>
          <p:cNvCxnSpPr/>
          <p:nvPr/>
        </p:nvCxnSpPr>
        <p:spPr>
          <a:xfrm>
            <a:off x="3368032" y="4919472"/>
            <a:ext cx="0" cy="84124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459472" y="4919472"/>
            <a:ext cx="2380480" cy="566928"/>
          </a:xfrm>
          <a:prstGeom prst="rect">
            <a:avLst/>
          </a:prstGeom>
          <a:noFill/>
        </p:spPr>
        <p:txBody>
          <a:bodyPr wrap="square" lIns="0" rIns="0" tIns="0" bIns="0" anchor="t">
            <a:noAutofit/>
          </a:bodyPr>
          <a:lstStyle/>
          <a:p>
            <a:pPr algn="l">
              <a:lnSpc>
                <a:spcPct val="100000"/>
              </a:lnSpc>
            </a:pPr>
            <a:r>
              <a:rPr sz="2700" b="0" spc="-60">
                <a:solidFill>
                  <a:srgbClr val="F4EFE9"/>
                </a:solidFill>
                <a:latin typeface="Franklin Gothic Demi"/>
              </a:rPr>
              <a:t>2000–2025</a:t>
            </a:r>
          </a:p>
        </p:txBody>
      </p:sp>
      <p:sp>
        <p:nvSpPr>
          <p:cNvPr id="23" name="TextBox 22"/>
          <p:cNvSpPr txBox="1"/>
          <p:nvPr/>
        </p:nvSpPr>
        <p:spPr>
          <a:xfrm>
            <a:off x="3459472" y="5317236"/>
            <a:ext cx="2380480"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years of fire record</a:t>
            </a:r>
          </a:p>
        </p:txBody>
      </p:sp>
      <p:cxnSp>
        <p:nvCxnSpPr>
          <p:cNvPr id="24" name="Connector 23"/>
          <p:cNvCxnSpPr/>
          <p:nvPr/>
        </p:nvCxnSpPr>
        <p:spPr>
          <a:xfrm>
            <a:off x="6077696" y="4919472"/>
            <a:ext cx="0" cy="84124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69136" y="4919472"/>
            <a:ext cx="2380480" cy="566928"/>
          </a:xfrm>
          <a:prstGeom prst="rect">
            <a:avLst/>
          </a:prstGeom>
          <a:noFill/>
        </p:spPr>
        <p:txBody>
          <a:bodyPr wrap="square" lIns="0" rIns="0" tIns="0" bIns="0" anchor="t">
            <a:noAutofit/>
          </a:bodyPr>
          <a:lstStyle/>
          <a:p>
            <a:pPr algn="l">
              <a:lnSpc>
                <a:spcPct val="100000"/>
              </a:lnSpc>
            </a:pPr>
            <a:r>
              <a:rPr sz="2700" b="0" spc="-60">
                <a:solidFill>
                  <a:srgbClr val="F4EFE9"/>
                </a:solidFill>
                <a:latin typeface="Franklin Gothic Demi"/>
              </a:rPr>
              <a:t>50</a:t>
            </a:r>
          </a:p>
        </p:txBody>
      </p:sp>
      <p:sp>
        <p:nvSpPr>
          <p:cNvPr id="26" name="TextBox 25"/>
          <p:cNvSpPr txBox="1"/>
          <p:nvPr/>
        </p:nvSpPr>
        <p:spPr>
          <a:xfrm>
            <a:off x="6169136" y="5317236"/>
            <a:ext cx="2380480"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features per square-year</a:t>
            </a:r>
          </a:p>
        </p:txBody>
      </p:sp>
      <p:cxnSp>
        <p:nvCxnSpPr>
          <p:cNvPr id="27" name="Connector 26"/>
          <p:cNvCxnSpPr/>
          <p:nvPr/>
        </p:nvCxnSpPr>
        <p:spPr>
          <a:xfrm>
            <a:off x="8787361" y="4919472"/>
            <a:ext cx="0" cy="84124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878801" y="4919472"/>
            <a:ext cx="2380480" cy="566928"/>
          </a:xfrm>
          <a:prstGeom prst="rect">
            <a:avLst/>
          </a:prstGeom>
          <a:noFill/>
        </p:spPr>
        <p:txBody>
          <a:bodyPr wrap="square" lIns="0" rIns="0" tIns="0" bIns="0" anchor="t">
            <a:noAutofit/>
          </a:bodyPr>
          <a:lstStyle/>
          <a:p>
            <a:pPr algn="l">
              <a:lnSpc>
                <a:spcPct val="100000"/>
              </a:lnSpc>
            </a:pPr>
            <a:r>
              <a:rPr sz="2700" b="0" spc="-60">
                <a:solidFill>
                  <a:srgbClr val="F4EFE9"/>
                </a:solidFill>
                <a:latin typeface="Franklin Gothic Demi"/>
              </a:rPr>
              <a:t>966,819</a:t>
            </a:r>
          </a:p>
        </p:txBody>
      </p:sp>
      <p:sp>
        <p:nvSpPr>
          <p:cNvPr id="29" name="TextBox 28"/>
          <p:cNvSpPr txBox="1"/>
          <p:nvPr/>
        </p:nvSpPr>
        <p:spPr>
          <a:xfrm>
            <a:off x="8878801" y="5317236"/>
            <a:ext cx="2380480"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rows used for modelling</a:t>
            </a:r>
          </a:p>
        </p:txBody>
      </p:sp>
      <p:cxnSp>
        <p:nvCxnSpPr>
          <p:cNvPr id="30" name="Connector 2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808" y="6345936"/>
            <a:ext cx="2227573"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33" name="TextBox 32"/>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05/24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pic>
        <p:nvPicPr>
          <p:cNvPr id="2" name="Picture 1" descr="grid_dim.png"/>
          <p:cNvPicPr>
            <a:picLocks noChangeAspect="1"/>
          </p:cNvPicPr>
          <p:nvPr/>
        </p:nvPicPr>
        <p:blipFill>
          <a:blip r:embed="rId2"/>
          <a:stretch>
            <a:fillRect/>
          </a:stretch>
        </p:blipFill>
        <p:spPr>
          <a:xfrm>
            <a:off x="8260049" y="-201168"/>
            <a:ext cx="3931920" cy="7260336"/>
          </a:xfrm>
          <a:prstGeom prst="rect">
            <a:avLst/>
          </a:prstGeom>
        </p:spPr>
      </p:pic>
      <p:cxnSp>
        <p:nvCxnSpPr>
          <p:cNvPr id="3" name="Connector 2"/>
          <p:cNvCxnSpPr/>
          <p:nvPr/>
        </p:nvCxnSpPr>
        <p:spPr>
          <a:xfrm>
            <a:off x="8260049" y="0"/>
            <a:ext cx="0" cy="6858000"/>
          </a:xfrm>
          <a:prstGeom prst="line">
            <a:avLst/>
          </a:prstGeom>
          <a:ln w="12700">
            <a:solidFill>
              <a:srgbClr val="332E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011680" y="960120"/>
            <a:ext cx="5577840" cy="3291840"/>
          </a:xfrm>
          <a:prstGeom prst="rect">
            <a:avLst/>
          </a:prstGeom>
          <a:noFill/>
        </p:spPr>
        <p:txBody>
          <a:bodyPr wrap="square" lIns="0" rIns="0" tIns="0" bIns="0" anchor="t">
            <a:noAutofit/>
          </a:bodyPr>
          <a:lstStyle/>
          <a:p>
            <a:pPr algn="r">
              <a:lnSpc>
                <a:spcPct val="88000"/>
              </a:lnSpc>
            </a:pPr>
            <a:r>
              <a:rPr sz="19600" b="0" spc="-400">
                <a:solidFill>
                  <a:srgbClr val="1F1B18"/>
                </a:solidFill>
                <a:latin typeface="Franklin Gothic Demi"/>
              </a:rPr>
              <a:t>02</a:t>
            </a:r>
          </a:p>
        </p:txBody>
      </p:sp>
      <p:cxnSp>
        <p:nvCxnSpPr>
          <p:cNvPr id="5" name="Connector 4"/>
          <p:cNvCxnSpPr/>
          <p:nvPr/>
        </p:nvCxnSpPr>
        <p:spPr>
          <a:xfrm>
            <a:off x="749808" y="2304288"/>
            <a:ext cx="1188720" cy="0"/>
          </a:xfrm>
          <a:prstGeom prst="line">
            <a:avLst/>
          </a:prstGeom>
          <a:ln w="33020">
            <a:solidFill>
              <a:srgbClr val="FF5A1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523744"/>
            <a:ext cx="5273024" cy="219456"/>
          </a:xfrm>
          <a:prstGeom prst="rect">
            <a:avLst/>
          </a:prstGeom>
          <a:noFill/>
        </p:spPr>
        <p:txBody>
          <a:bodyPr wrap="square" lIns="0" rIns="0" tIns="0" bIns="0" anchor="t">
            <a:noAutofit/>
          </a:bodyPr>
          <a:lstStyle/>
          <a:p>
            <a:pPr algn="l">
              <a:lnSpc>
                <a:spcPct val="100000"/>
              </a:lnSpc>
            </a:pPr>
            <a:r>
              <a:rPr sz="900" b="0" spc="240">
                <a:solidFill>
                  <a:srgbClr val="8A8078"/>
                </a:solidFill>
                <a:latin typeface="Consolas"/>
              </a:rPr>
              <a:t>ACT TWO</a:t>
            </a:r>
          </a:p>
        </p:txBody>
      </p:sp>
      <p:sp>
        <p:nvSpPr>
          <p:cNvPr id="7" name="TextBox 6"/>
          <p:cNvSpPr txBox="1"/>
          <p:nvPr/>
        </p:nvSpPr>
        <p:spPr>
          <a:xfrm>
            <a:off x="749808" y="2834640"/>
            <a:ext cx="5273024" cy="1280160"/>
          </a:xfrm>
          <a:prstGeom prst="rect">
            <a:avLst/>
          </a:prstGeom>
          <a:noFill/>
        </p:spPr>
        <p:txBody>
          <a:bodyPr wrap="square" lIns="0" rIns="0" tIns="0" bIns="0" anchor="t">
            <a:noAutofit/>
          </a:bodyPr>
          <a:lstStyle/>
          <a:p>
            <a:pPr algn="l">
              <a:lnSpc>
                <a:spcPct val="104000"/>
              </a:lnSpc>
            </a:pPr>
            <a:r>
              <a:rPr sz="4400" b="0" spc="-80">
                <a:solidFill>
                  <a:srgbClr val="F4EFE9"/>
                </a:solidFill>
                <a:latin typeface="Franklin Gothic Demi"/>
              </a:rPr>
              <a:t>How we built it</a:t>
            </a:r>
          </a:p>
        </p:txBody>
      </p:sp>
      <p:sp>
        <p:nvSpPr>
          <p:cNvPr id="8" name="TextBox 7"/>
          <p:cNvSpPr txBox="1"/>
          <p:nvPr/>
        </p:nvSpPr>
        <p:spPr>
          <a:xfrm>
            <a:off x="749808" y="4352544"/>
            <a:ext cx="4998704" cy="1005840"/>
          </a:xfrm>
          <a:prstGeom prst="rect">
            <a:avLst/>
          </a:prstGeom>
          <a:noFill/>
        </p:spPr>
        <p:txBody>
          <a:bodyPr wrap="square" lIns="0" rIns="0" tIns="0" bIns="0" anchor="t">
            <a:noAutofit/>
          </a:bodyPr>
          <a:lstStyle/>
          <a:p>
            <a:pPr algn="l">
              <a:lnSpc>
                <a:spcPct val="152000"/>
              </a:lnSpc>
            </a:pPr>
            <a:r>
              <a:rPr sz="1350" b="0">
                <a:solidFill>
                  <a:srgbClr val="BDB4AB"/>
                </a:solidFill>
                <a:latin typeface="Franklin Gothic Book"/>
              </a:rPr>
              <a:t>Turning satellite scars into labels, deciding what the model is allowed to know, and proving it never saw the answer.</a:t>
            </a:r>
          </a:p>
        </p:txBody>
      </p:sp>
      <p:sp>
        <p:nvSpPr>
          <p:cNvPr id="9" name="TextBox 8"/>
          <p:cNvSpPr txBox="1"/>
          <p:nvPr/>
        </p:nvSpPr>
        <p:spPr>
          <a:xfrm>
            <a:off x="749808" y="5522976"/>
            <a:ext cx="5273024" cy="274320"/>
          </a:xfrm>
          <a:prstGeom prst="rect">
            <a:avLst/>
          </a:prstGeom>
          <a:noFill/>
        </p:spPr>
        <p:txBody>
          <a:bodyPr wrap="square" lIns="0" rIns="0" tIns="0" bIns="0" anchor="t">
            <a:noAutofit/>
          </a:bodyPr>
          <a:lstStyle/>
          <a:p>
            <a:pPr algn="l">
              <a:lnSpc>
                <a:spcPct val="100000"/>
              </a:lnSpc>
            </a:pPr>
            <a:r>
              <a:rPr sz="1000" b="0" spc="80">
                <a:solidFill>
                  <a:srgbClr val="FF5A1E"/>
                </a:solidFill>
                <a:latin typeface="Consolas"/>
              </a:rPr>
              <a:t>Saira Zafar</a:t>
            </a:r>
          </a:p>
        </p:txBody>
      </p:sp>
      <p:cxnSp>
        <p:nvCxnSpPr>
          <p:cNvPr id="10" name="Connector 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2673088"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06/24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LABELLING</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From burnt pixels to one answer per square.</a:t>
            </a:r>
          </a:p>
        </p:txBody>
      </p:sp>
      <p:cxnSp>
        <p:nvCxnSpPr>
          <p:cNvPr id="5" name="Connector 4"/>
          <p:cNvCxnSpPr/>
          <p:nvPr/>
        </p:nvCxnSpPr>
        <p:spPr>
          <a:xfrm>
            <a:off x="749808" y="1792224"/>
            <a:ext cx="5273024"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1993392"/>
            <a:ext cx="457200" cy="365760"/>
          </a:xfrm>
          <a:prstGeom prst="rect">
            <a:avLst/>
          </a:prstGeom>
          <a:noFill/>
        </p:spPr>
        <p:txBody>
          <a:bodyPr wrap="square" lIns="0" rIns="0" tIns="0" bIns="0" anchor="t">
            <a:noAutofit/>
          </a:bodyPr>
          <a:lstStyle/>
          <a:p>
            <a:pPr algn="l">
              <a:lnSpc>
                <a:spcPct val="100000"/>
              </a:lnSpc>
            </a:pPr>
            <a:r>
              <a:rPr sz="1700" b="0">
                <a:solidFill>
                  <a:srgbClr val="FF5A1E"/>
                </a:solidFill>
                <a:latin typeface="Consolas"/>
              </a:rPr>
              <a:t>1</a:t>
            </a:r>
          </a:p>
        </p:txBody>
      </p:sp>
      <p:sp>
        <p:nvSpPr>
          <p:cNvPr id="7" name="TextBox 6"/>
          <p:cNvSpPr txBox="1"/>
          <p:nvPr/>
        </p:nvSpPr>
        <p:spPr>
          <a:xfrm>
            <a:off x="1353312" y="1975104"/>
            <a:ext cx="4369803" cy="292608"/>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Read the scar</a:t>
            </a:r>
          </a:p>
        </p:txBody>
      </p:sp>
      <p:sp>
        <p:nvSpPr>
          <p:cNvPr id="8" name="TextBox 7"/>
          <p:cNvSpPr txBox="1"/>
          <p:nvPr/>
        </p:nvSpPr>
        <p:spPr>
          <a:xfrm>
            <a:off x="1353312" y="2322576"/>
            <a:ext cx="4278363" cy="91440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Each NAFI pixel holds the month it burned, 1 to 12, or zero for no fire.</a:t>
            </a:r>
          </a:p>
        </p:txBody>
      </p:sp>
      <p:cxnSp>
        <p:nvCxnSpPr>
          <p:cNvPr id="9" name="Connector 8"/>
          <p:cNvCxnSpPr/>
          <p:nvPr/>
        </p:nvCxnSpPr>
        <p:spPr>
          <a:xfrm>
            <a:off x="749808" y="3182112"/>
            <a:ext cx="5273024"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3383280"/>
            <a:ext cx="457200" cy="365760"/>
          </a:xfrm>
          <a:prstGeom prst="rect">
            <a:avLst/>
          </a:prstGeom>
          <a:noFill/>
        </p:spPr>
        <p:txBody>
          <a:bodyPr wrap="square" lIns="0" rIns="0" tIns="0" bIns="0" anchor="t">
            <a:noAutofit/>
          </a:bodyPr>
          <a:lstStyle/>
          <a:p>
            <a:pPr algn="l">
              <a:lnSpc>
                <a:spcPct val="100000"/>
              </a:lnSpc>
            </a:pPr>
            <a:r>
              <a:rPr sz="1700" b="0">
                <a:solidFill>
                  <a:srgbClr val="FF5A1E"/>
                </a:solidFill>
                <a:latin typeface="Consolas"/>
              </a:rPr>
              <a:t>2</a:t>
            </a:r>
          </a:p>
        </p:txBody>
      </p:sp>
      <p:sp>
        <p:nvSpPr>
          <p:cNvPr id="11" name="TextBox 10"/>
          <p:cNvSpPr txBox="1"/>
          <p:nvPr/>
        </p:nvSpPr>
        <p:spPr>
          <a:xfrm>
            <a:off x="1353312" y="3364992"/>
            <a:ext cx="4369803" cy="292608"/>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Pool to a square</a:t>
            </a:r>
          </a:p>
        </p:txBody>
      </p:sp>
      <p:sp>
        <p:nvSpPr>
          <p:cNvPr id="12" name="TextBox 11"/>
          <p:cNvSpPr txBox="1"/>
          <p:nvPr/>
        </p:nvSpPr>
        <p:spPr>
          <a:xfrm>
            <a:off x="1353312" y="3712463"/>
            <a:ext cx="4278363" cy="91440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Every 20 × 20 block of pixels becomes one 0.05° cell, and we count what fraction burned early and what fraction burned late.</a:t>
            </a:r>
          </a:p>
        </p:txBody>
      </p:sp>
      <p:cxnSp>
        <p:nvCxnSpPr>
          <p:cNvPr id="13" name="Connector 12"/>
          <p:cNvCxnSpPr/>
          <p:nvPr/>
        </p:nvCxnSpPr>
        <p:spPr>
          <a:xfrm>
            <a:off x="749808" y="4572000"/>
            <a:ext cx="5273024"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9808" y="4773168"/>
            <a:ext cx="457200" cy="365760"/>
          </a:xfrm>
          <a:prstGeom prst="rect">
            <a:avLst/>
          </a:prstGeom>
          <a:noFill/>
        </p:spPr>
        <p:txBody>
          <a:bodyPr wrap="square" lIns="0" rIns="0" tIns="0" bIns="0" anchor="t">
            <a:noAutofit/>
          </a:bodyPr>
          <a:lstStyle/>
          <a:p>
            <a:pPr algn="l">
              <a:lnSpc>
                <a:spcPct val="100000"/>
              </a:lnSpc>
            </a:pPr>
            <a:r>
              <a:rPr sz="1700" b="0">
                <a:solidFill>
                  <a:srgbClr val="FF5A1E"/>
                </a:solidFill>
                <a:latin typeface="Consolas"/>
              </a:rPr>
              <a:t>3</a:t>
            </a:r>
          </a:p>
        </p:txBody>
      </p:sp>
      <p:sp>
        <p:nvSpPr>
          <p:cNvPr id="15" name="TextBox 14"/>
          <p:cNvSpPr txBox="1"/>
          <p:nvPr/>
        </p:nvSpPr>
        <p:spPr>
          <a:xfrm>
            <a:off x="1353312" y="4754880"/>
            <a:ext cx="4369803" cy="292608"/>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Decide the class</a:t>
            </a:r>
          </a:p>
        </p:txBody>
      </p:sp>
      <p:sp>
        <p:nvSpPr>
          <p:cNvPr id="16" name="TextBox 15"/>
          <p:cNvSpPr txBox="1"/>
          <p:nvPr/>
        </p:nvSpPr>
        <p:spPr>
          <a:xfrm>
            <a:off x="1353312" y="5102352"/>
            <a:ext cx="4278363" cy="91440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A square counts as burnt only if at least 5% of it burned, and is only used at all if at least half its pixels were readable. Whichever season holds more of the burnt area names the year.</a:t>
            </a:r>
          </a:p>
        </p:txBody>
      </p:sp>
      <p:sp>
        <p:nvSpPr>
          <p:cNvPr id="17" name="Rectangle 16"/>
          <p:cNvSpPr/>
          <p:nvPr/>
        </p:nvSpPr>
        <p:spPr>
          <a:xfrm>
            <a:off x="7072358" y="1792224"/>
            <a:ext cx="4369803" cy="3291840"/>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072358" y="1792224"/>
            <a:ext cx="32004" cy="3291840"/>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38118" y="2066543"/>
            <a:ext cx="3638283" cy="310896"/>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The check that mattered</a:t>
            </a:r>
          </a:p>
        </p:txBody>
      </p:sp>
      <p:sp>
        <p:nvSpPr>
          <p:cNvPr id="20" name="TextBox 19"/>
          <p:cNvSpPr txBox="1"/>
          <p:nvPr/>
        </p:nvSpPr>
        <p:spPr>
          <a:xfrm>
            <a:off x="7438118" y="2505456"/>
            <a:ext cx="3638283" cy="2377440"/>
          </a:xfrm>
          <a:prstGeom prst="rect">
            <a:avLst/>
          </a:prstGeom>
          <a:noFill/>
        </p:spPr>
        <p:txBody>
          <a:bodyPr wrap="square" lIns="0" rIns="0" tIns="0" bIns="0" anchor="t">
            <a:noAutofit/>
          </a:bodyPr>
          <a:lstStyle/>
          <a:p>
            <a:pPr algn="l">
              <a:lnSpc>
                <a:spcPct val="148000"/>
              </a:lnSpc>
            </a:pPr>
            <a:r>
              <a:rPr sz="1150" b="0">
                <a:solidFill>
                  <a:srgbClr val="BDB4AB"/>
                </a:solidFill>
                <a:latin typeface="Franklin Gothic Book"/>
              </a:rPr>
              <a:t>Labels are the one thing no metric can catch. So we tested them against fire history the Territory already knows: 2011, the year after the 2010–11 La Niña, comes out as the heaviest on record at 65.7% of the map burnt. 2020 comes out the lightest at 15.9%. Both match the published record. If the labels had been wrong, every number after this would have been wrong too.</a:t>
            </a:r>
          </a:p>
        </p:txBody>
      </p:sp>
      <p:cxnSp>
        <p:nvCxnSpPr>
          <p:cNvPr id="21" name="Connector 20"/>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9808" y="6345936"/>
            <a:ext cx="3118603"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Saira Zafar</a:t>
            </a:r>
          </a:p>
        </p:txBody>
      </p:sp>
      <p:sp>
        <p:nvSpPr>
          <p:cNvPr id="24" name="TextBox 23"/>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07/24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FEATURES</a:t>
            </a:r>
          </a:p>
        </p:txBody>
      </p:sp>
      <p:sp>
        <p:nvSpPr>
          <p:cNvPr id="4" name="TextBox 3"/>
          <p:cNvSpPr txBox="1"/>
          <p:nvPr/>
        </p:nvSpPr>
        <p:spPr>
          <a:xfrm>
            <a:off x="749808" y="713232"/>
            <a:ext cx="6176246" cy="960120"/>
          </a:xfrm>
          <a:prstGeom prst="rect">
            <a:avLst/>
          </a:prstGeom>
          <a:noFill/>
        </p:spPr>
        <p:txBody>
          <a:bodyPr wrap="square" lIns="0" rIns="0" tIns="0" bIns="0" anchor="t">
            <a:noAutofit/>
          </a:bodyPr>
          <a:lstStyle/>
          <a:p>
            <a:pPr algn="l">
              <a:lnSpc>
                <a:spcPct val="106000"/>
              </a:lnSpc>
            </a:pPr>
            <a:r>
              <a:rPr sz="2900" b="0" spc="-20">
                <a:solidFill>
                  <a:srgbClr val="F4EFE9"/>
                </a:solidFill>
                <a:latin typeface="Franklin Gothic Demi"/>
              </a:rPr>
              <a:t>Only what a forecaster could
actually know on 30 April.</a:t>
            </a:r>
          </a:p>
        </p:txBody>
      </p:sp>
      <p:sp>
        <p:nvSpPr>
          <p:cNvPr id="5" name="TextBox 4"/>
          <p:cNvSpPr txBox="1"/>
          <p:nvPr/>
        </p:nvSpPr>
        <p:spPr>
          <a:xfrm>
            <a:off x="749808" y="1847088"/>
            <a:ext cx="5273024" cy="822960"/>
          </a:xfrm>
          <a:prstGeom prst="rect">
            <a:avLst/>
          </a:prstGeom>
          <a:noFill/>
        </p:spPr>
        <p:txBody>
          <a:bodyPr wrap="square" lIns="0" rIns="0" tIns="0" bIns="0" anchor="t">
            <a:noAutofit/>
          </a:bodyPr>
          <a:lstStyle/>
          <a:p>
            <a:pPr algn="l">
              <a:lnSpc>
                <a:spcPct val="146000"/>
              </a:lnSpc>
            </a:pPr>
            <a:r>
              <a:rPr sz="1250" b="0">
                <a:solidFill>
                  <a:srgbClr val="8A8078"/>
                </a:solidFill>
                <a:latin typeface="Franklin Gothic Book"/>
              </a:rPr>
              <a:t>The forecast has to be useful before the fire season starts, so every one of the 50 features is built from information available by the end of April in the year being predicted — and nothing later.</a:t>
            </a:r>
          </a:p>
        </p:txBody>
      </p:sp>
      <p:cxnSp>
        <p:nvCxnSpPr>
          <p:cNvPr id="6" name="Connector 5"/>
          <p:cNvCxnSpPr/>
          <p:nvPr/>
        </p:nvCxnSpPr>
        <p:spPr>
          <a:xfrm>
            <a:off x="7902427" y="731520"/>
            <a:ext cx="0" cy="173736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975579" y="786384"/>
            <a:ext cx="3466581" cy="566928"/>
          </a:xfrm>
          <a:prstGeom prst="rect">
            <a:avLst/>
          </a:prstGeom>
          <a:noFill/>
        </p:spPr>
        <p:txBody>
          <a:bodyPr wrap="square" lIns="0" rIns="0" tIns="0" bIns="0" anchor="t">
            <a:noAutofit/>
          </a:bodyPr>
          <a:lstStyle/>
          <a:p>
            <a:pPr algn="l">
              <a:lnSpc>
                <a:spcPct val="100000"/>
              </a:lnSpc>
            </a:pPr>
            <a:r>
              <a:rPr sz="4000" b="0" spc="-60">
                <a:solidFill>
                  <a:srgbClr val="FF5A1E"/>
                </a:solidFill>
                <a:latin typeface="Franklin Gothic Demi"/>
              </a:rPr>
              <a:t>30 April</a:t>
            </a:r>
          </a:p>
        </p:txBody>
      </p:sp>
      <p:sp>
        <p:nvSpPr>
          <p:cNvPr id="8" name="TextBox 7"/>
          <p:cNvSpPr txBox="1"/>
          <p:nvPr/>
        </p:nvSpPr>
        <p:spPr>
          <a:xfrm>
            <a:off x="7975579" y="1375663"/>
            <a:ext cx="3466581"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the cut-off, every feature, every year</a:t>
            </a:r>
          </a:p>
        </p:txBody>
      </p:sp>
      <p:cxnSp>
        <p:nvCxnSpPr>
          <p:cNvPr id="9" name="Connector 8"/>
          <p:cNvCxnSpPr/>
          <p:nvPr/>
        </p:nvCxnSpPr>
        <p:spPr>
          <a:xfrm>
            <a:off x="749808" y="2926080"/>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49808" y="2926080"/>
            <a:ext cx="1645920" cy="2011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145536"/>
            <a:ext cx="2194560" cy="274320"/>
          </a:xfrm>
          <a:prstGeom prst="rect">
            <a:avLst/>
          </a:prstGeom>
          <a:noFill/>
        </p:spPr>
        <p:txBody>
          <a:bodyPr wrap="square" lIns="0" rIns="0" tIns="0" bIns="0" anchor="t">
            <a:noAutofit/>
          </a:bodyPr>
          <a:lstStyle/>
          <a:p>
            <a:pPr algn="l">
              <a:lnSpc>
                <a:spcPct val="100000"/>
              </a:lnSpc>
            </a:pPr>
            <a:r>
              <a:rPr sz="1550" b="0">
                <a:solidFill>
                  <a:srgbClr val="F4EFE9"/>
                </a:solidFill>
                <a:latin typeface="Franklin Gothic Demi"/>
              </a:rPr>
              <a:t>Fire history</a:t>
            </a:r>
          </a:p>
        </p:txBody>
      </p:sp>
      <p:sp>
        <p:nvSpPr>
          <p:cNvPr id="12" name="TextBox 11"/>
          <p:cNvSpPr txBox="1"/>
          <p:nvPr/>
        </p:nvSpPr>
        <p:spPr>
          <a:xfrm>
            <a:off x="749808" y="3456432"/>
            <a:ext cx="2194560" cy="219456"/>
          </a:xfrm>
          <a:prstGeom prst="rect">
            <a:avLst/>
          </a:prstGeom>
          <a:noFill/>
        </p:spPr>
        <p:txBody>
          <a:bodyPr wrap="square" lIns="0" rIns="0" tIns="0" bIns="0" anchor="t">
            <a:noAutofit/>
          </a:bodyPr>
          <a:lstStyle/>
          <a:p>
            <a:pPr algn="l">
              <a:lnSpc>
                <a:spcPct val="100000"/>
              </a:lnSpc>
            </a:pPr>
            <a:r>
              <a:rPr sz="900" b="0">
                <a:solidFill>
                  <a:srgbClr val="FF5A1E"/>
                </a:solidFill>
                <a:latin typeface="Consolas"/>
              </a:rPr>
              <a:t>26 features</a:t>
            </a:r>
          </a:p>
        </p:txBody>
      </p:sp>
      <p:sp>
        <p:nvSpPr>
          <p:cNvPr id="13" name="TextBox 12"/>
          <p:cNvSpPr txBox="1"/>
          <p:nvPr/>
        </p:nvSpPr>
        <p:spPr>
          <a:xfrm>
            <a:off x="3459472" y="3145536"/>
            <a:ext cx="7982689" cy="585216"/>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Years since the last fire and the last late fire, how often it burnt over 3, 5, 10, 15, 20 and 25 years, what it did last year, and what its neighbours did.</a:t>
            </a:r>
          </a:p>
        </p:txBody>
      </p:sp>
      <p:cxnSp>
        <p:nvCxnSpPr>
          <p:cNvPr id="14" name="Connector 13"/>
          <p:cNvCxnSpPr/>
          <p:nvPr/>
        </p:nvCxnSpPr>
        <p:spPr>
          <a:xfrm>
            <a:off x="749808" y="3767328"/>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808" y="3767328"/>
            <a:ext cx="1645920" cy="20116"/>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986784"/>
            <a:ext cx="2194560" cy="274320"/>
          </a:xfrm>
          <a:prstGeom prst="rect">
            <a:avLst/>
          </a:prstGeom>
          <a:noFill/>
        </p:spPr>
        <p:txBody>
          <a:bodyPr wrap="square" lIns="0" rIns="0" tIns="0" bIns="0" anchor="t">
            <a:noAutofit/>
          </a:bodyPr>
          <a:lstStyle/>
          <a:p>
            <a:pPr algn="l">
              <a:lnSpc>
                <a:spcPct val="100000"/>
              </a:lnSpc>
            </a:pPr>
            <a:r>
              <a:rPr sz="1550" b="0">
                <a:solidFill>
                  <a:srgbClr val="F4EFE9"/>
                </a:solidFill>
                <a:latin typeface="Franklin Gothic Demi"/>
              </a:rPr>
              <a:t>Weather</a:t>
            </a:r>
          </a:p>
        </p:txBody>
      </p:sp>
      <p:sp>
        <p:nvSpPr>
          <p:cNvPr id="17" name="TextBox 16"/>
          <p:cNvSpPr txBox="1"/>
          <p:nvPr/>
        </p:nvSpPr>
        <p:spPr>
          <a:xfrm>
            <a:off x="749808" y="4297680"/>
            <a:ext cx="2194560" cy="219456"/>
          </a:xfrm>
          <a:prstGeom prst="rect">
            <a:avLst/>
          </a:prstGeom>
          <a:noFill/>
        </p:spPr>
        <p:txBody>
          <a:bodyPr wrap="square" lIns="0" rIns="0" tIns="0" bIns="0" anchor="t">
            <a:noAutofit/>
          </a:bodyPr>
          <a:lstStyle/>
          <a:p>
            <a:pPr algn="l">
              <a:lnSpc>
                <a:spcPct val="100000"/>
              </a:lnSpc>
            </a:pPr>
            <a:r>
              <a:rPr sz="900" b="0">
                <a:solidFill>
                  <a:srgbClr val="347FB0"/>
                </a:solidFill>
                <a:latin typeface="Consolas"/>
              </a:rPr>
              <a:t>14 features</a:t>
            </a:r>
          </a:p>
        </p:txBody>
      </p:sp>
      <p:sp>
        <p:nvSpPr>
          <p:cNvPr id="18" name="TextBox 17"/>
          <p:cNvSpPr txBox="1"/>
          <p:nvPr/>
        </p:nvSpPr>
        <p:spPr>
          <a:xfrm>
            <a:off x="3459472" y="3986784"/>
            <a:ext cx="7982689" cy="585216"/>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Wet-season rainfall, heat, humidity deficit and sunlight, plus the dry season before it, and how far the wet sat from its own local normal.</a:t>
            </a:r>
          </a:p>
        </p:txBody>
      </p:sp>
      <p:cxnSp>
        <p:nvCxnSpPr>
          <p:cNvPr id="19" name="Connector 18"/>
          <p:cNvCxnSpPr/>
          <p:nvPr/>
        </p:nvCxnSpPr>
        <p:spPr>
          <a:xfrm>
            <a:off x="749808" y="460857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49808" y="4608576"/>
            <a:ext cx="1645920" cy="20116"/>
          </a:xfrm>
          <a:prstGeom prst="rect">
            <a:avLst/>
          </a:prstGeom>
          <a:solidFill>
            <a:srgbClr val="3DB7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828032"/>
            <a:ext cx="2194560" cy="274320"/>
          </a:xfrm>
          <a:prstGeom prst="rect">
            <a:avLst/>
          </a:prstGeom>
          <a:noFill/>
        </p:spPr>
        <p:txBody>
          <a:bodyPr wrap="square" lIns="0" rIns="0" tIns="0" bIns="0" anchor="t">
            <a:noAutofit/>
          </a:bodyPr>
          <a:lstStyle/>
          <a:p>
            <a:pPr algn="l">
              <a:lnSpc>
                <a:spcPct val="100000"/>
              </a:lnSpc>
            </a:pPr>
            <a:r>
              <a:rPr sz="1550" b="0">
                <a:solidFill>
                  <a:srgbClr val="F4EFE9"/>
                </a:solidFill>
                <a:latin typeface="Franklin Gothic Demi"/>
              </a:rPr>
              <a:t>Greenness</a:t>
            </a:r>
          </a:p>
        </p:txBody>
      </p:sp>
      <p:sp>
        <p:nvSpPr>
          <p:cNvPr id="22" name="TextBox 21"/>
          <p:cNvSpPr txBox="1"/>
          <p:nvPr/>
        </p:nvSpPr>
        <p:spPr>
          <a:xfrm>
            <a:off x="749808" y="5138928"/>
            <a:ext cx="2194560" cy="219456"/>
          </a:xfrm>
          <a:prstGeom prst="rect">
            <a:avLst/>
          </a:prstGeom>
          <a:noFill/>
        </p:spPr>
        <p:txBody>
          <a:bodyPr wrap="square" lIns="0" rIns="0" tIns="0" bIns="0" anchor="t">
            <a:noAutofit/>
          </a:bodyPr>
          <a:lstStyle/>
          <a:p>
            <a:pPr algn="l">
              <a:lnSpc>
                <a:spcPct val="100000"/>
              </a:lnSpc>
            </a:pPr>
            <a:r>
              <a:rPr sz="900" b="0">
                <a:solidFill>
                  <a:srgbClr val="3DB77A"/>
                </a:solidFill>
                <a:latin typeface="Consolas"/>
              </a:rPr>
              <a:t>7 features</a:t>
            </a:r>
          </a:p>
        </p:txBody>
      </p:sp>
      <p:sp>
        <p:nvSpPr>
          <p:cNvPr id="23" name="TextBox 22"/>
          <p:cNvSpPr txBox="1"/>
          <p:nvPr/>
        </p:nvSpPr>
        <p:spPr>
          <a:xfrm>
            <a:off x="3459472" y="4828032"/>
            <a:ext cx="7982689" cy="585216"/>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How green the country got over the wet, where it peaked, how fast it greened up, and how far April sat above or below normal.</a:t>
            </a:r>
          </a:p>
        </p:txBody>
      </p:sp>
      <p:cxnSp>
        <p:nvCxnSpPr>
          <p:cNvPr id="24" name="Connector 23"/>
          <p:cNvCxnSpPr/>
          <p:nvPr/>
        </p:nvCxnSpPr>
        <p:spPr>
          <a:xfrm>
            <a:off x="749808" y="5449824"/>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49808" y="5449824"/>
            <a:ext cx="1645920" cy="20116"/>
          </a:xfrm>
          <a:prstGeom prst="rect">
            <a:avLst/>
          </a:prstGeom>
          <a:solidFill>
            <a:srgbClr val="8C9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669280"/>
            <a:ext cx="2194560" cy="274320"/>
          </a:xfrm>
          <a:prstGeom prst="rect">
            <a:avLst/>
          </a:prstGeom>
          <a:noFill/>
        </p:spPr>
        <p:txBody>
          <a:bodyPr wrap="square" lIns="0" rIns="0" tIns="0" bIns="0" anchor="t">
            <a:noAutofit/>
          </a:bodyPr>
          <a:lstStyle/>
          <a:p>
            <a:pPr algn="l">
              <a:lnSpc>
                <a:spcPct val="100000"/>
              </a:lnSpc>
            </a:pPr>
            <a:r>
              <a:rPr sz="1550" b="0">
                <a:solidFill>
                  <a:srgbClr val="F4EFE9"/>
                </a:solidFill>
                <a:latin typeface="Franklin Gothic Demi"/>
              </a:rPr>
              <a:t>Place</a:t>
            </a:r>
          </a:p>
        </p:txBody>
      </p:sp>
      <p:sp>
        <p:nvSpPr>
          <p:cNvPr id="27" name="TextBox 26"/>
          <p:cNvSpPr txBox="1"/>
          <p:nvPr/>
        </p:nvSpPr>
        <p:spPr>
          <a:xfrm>
            <a:off x="749808" y="5980176"/>
            <a:ext cx="2194560" cy="219456"/>
          </a:xfrm>
          <a:prstGeom prst="rect">
            <a:avLst/>
          </a:prstGeom>
          <a:noFill/>
        </p:spPr>
        <p:txBody>
          <a:bodyPr wrap="square" lIns="0" rIns="0" tIns="0" bIns="0" anchor="t">
            <a:noAutofit/>
          </a:bodyPr>
          <a:lstStyle/>
          <a:p>
            <a:pPr algn="l">
              <a:lnSpc>
                <a:spcPct val="100000"/>
              </a:lnSpc>
            </a:pPr>
            <a:r>
              <a:rPr sz="900" b="0">
                <a:solidFill>
                  <a:srgbClr val="8C9BA3"/>
                </a:solidFill>
                <a:latin typeface="Consolas"/>
              </a:rPr>
              <a:t>3 features</a:t>
            </a:r>
          </a:p>
        </p:txBody>
      </p:sp>
      <p:sp>
        <p:nvSpPr>
          <p:cNvPr id="28" name="TextBox 27"/>
          <p:cNvSpPr txBox="1"/>
          <p:nvPr/>
        </p:nvSpPr>
        <p:spPr>
          <a:xfrm>
            <a:off x="3459472" y="5669280"/>
            <a:ext cx="7982689" cy="585216"/>
          </a:xfrm>
          <a:prstGeom prst="rect">
            <a:avLst/>
          </a:prstGeom>
          <a:noFill/>
        </p:spPr>
        <p:txBody>
          <a:bodyPr wrap="square" lIns="0" rIns="0" tIns="0" bIns="0" anchor="t">
            <a:noAutofit/>
          </a:bodyPr>
          <a:lstStyle/>
          <a:p>
            <a:pPr algn="l">
              <a:lnSpc>
                <a:spcPct val="142000"/>
              </a:lnSpc>
            </a:pPr>
            <a:r>
              <a:rPr sz="1150" b="0">
                <a:solidFill>
                  <a:srgbClr val="BDB4AB"/>
                </a:solidFill>
                <a:latin typeface="Franklin Gothic Book"/>
              </a:rPr>
              <a:t>Longitude, latitude and elevation, so the model can tell the Top End from the arid south without being handed the regions.</a:t>
            </a:r>
          </a:p>
        </p:txBody>
      </p:sp>
      <p:cxnSp>
        <p:nvCxnSpPr>
          <p:cNvPr id="29" name="Connector 28"/>
          <p:cNvCxnSpPr/>
          <p:nvPr/>
        </p:nvCxnSpPr>
        <p:spPr>
          <a:xfrm>
            <a:off x="749808" y="6291072"/>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49808" y="6345936"/>
            <a:ext cx="3564117"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Saira Zafar</a:t>
            </a:r>
          </a:p>
        </p:txBody>
      </p:sp>
      <p:sp>
        <p:nvSpPr>
          <p:cNvPr id="33" name="TextBox 32"/>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08/24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LEAKAGE</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Two rules, because a leak would flatter every number after it.</a:t>
            </a:r>
          </a:p>
        </p:txBody>
      </p:sp>
      <p:sp>
        <p:nvSpPr>
          <p:cNvPr id="5" name="TextBox 4"/>
          <p:cNvSpPr txBox="1"/>
          <p:nvPr/>
        </p:nvSpPr>
        <p:spPr>
          <a:xfrm>
            <a:off x="749808" y="1847088"/>
            <a:ext cx="9789132" cy="603504"/>
          </a:xfrm>
          <a:prstGeom prst="rect">
            <a:avLst/>
          </a:prstGeom>
          <a:noFill/>
        </p:spPr>
        <p:txBody>
          <a:bodyPr wrap="square" lIns="0" rIns="0" tIns="0" bIns="0" anchor="t">
            <a:noAutofit/>
          </a:bodyPr>
          <a:lstStyle/>
          <a:p>
            <a:pPr algn="l">
              <a:lnSpc>
                <a:spcPct val="146000"/>
              </a:lnSpc>
            </a:pPr>
            <a:r>
              <a:rPr sz="1300" b="0">
                <a:solidFill>
                  <a:srgbClr val="8A8078"/>
                </a:solidFill>
                <a:latin typeface="Franklin Gothic Book"/>
              </a:rPr>
              <a:t>A feature that quietly reads the year it is meant to predict will score beautifully and mean nothing. We did not trust ourselves to avoid that by being careful, so we tested for it twice.</a:t>
            </a:r>
          </a:p>
        </p:txBody>
      </p:sp>
      <p:sp>
        <p:nvSpPr>
          <p:cNvPr id="6" name="Rectangle 5"/>
          <p:cNvSpPr/>
          <p:nvPr/>
        </p:nvSpPr>
        <p:spPr>
          <a:xfrm>
            <a:off x="749808" y="2670048"/>
            <a:ext cx="4369803" cy="2615184"/>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670048"/>
            <a:ext cx="32004" cy="261518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 y="2907792"/>
            <a:ext cx="3638283" cy="201168"/>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RULE ONE</a:t>
            </a:r>
          </a:p>
        </p:txBody>
      </p:sp>
      <p:sp>
        <p:nvSpPr>
          <p:cNvPr id="9" name="TextBox 8"/>
          <p:cNvSpPr txBox="1"/>
          <p:nvPr/>
        </p:nvSpPr>
        <p:spPr>
          <a:xfrm>
            <a:off x="1115568" y="3200400"/>
            <a:ext cx="3638283" cy="365760"/>
          </a:xfrm>
          <a:prstGeom prst="rect">
            <a:avLst/>
          </a:prstGeom>
          <a:noFill/>
        </p:spPr>
        <p:txBody>
          <a:bodyPr wrap="square" lIns="0" rIns="0" tIns="0" bIns="0" anchor="t">
            <a:noAutofit/>
          </a:bodyPr>
          <a:lstStyle/>
          <a:p>
            <a:pPr algn="l">
              <a:lnSpc>
                <a:spcPct val="100000"/>
              </a:lnSpc>
            </a:pPr>
            <a:r>
              <a:rPr sz="2100" b="0">
                <a:solidFill>
                  <a:srgbClr val="F4EFE9"/>
                </a:solidFill>
                <a:latin typeface="Franklin Gothic Demi"/>
              </a:rPr>
              <a:t>Recomputation</a:t>
            </a:r>
          </a:p>
        </p:txBody>
      </p:sp>
      <p:sp>
        <p:nvSpPr>
          <p:cNvPr id="10" name="TextBox 9"/>
          <p:cNvSpPr txBox="1"/>
          <p:nvPr/>
        </p:nvSpPr>
        <p:spPr>
          <a:xfrm>
            <a:off x="1115568" y="3675887"/>
            <a:ext cx="3638283" cy="1481328"/>
          </a:xfrm>
          <a:prstGeom prst="rect">
            <a:avLst/>
          </a:prstGeom>
          <a:noFill/>
        </p:spPr>
        <p:txBody>
          <a:bodyPr wrap="square" lIns="0" rIns="0" tIns="0" bIns="0" anchor="t">
            <a:noAutofit/>
          </a:bodyPr>
          <a:lstStyle/>
          <a:p>
            <a:pPr algn="l">
              <a:lnSpc>
                <a:spcPct val="146000"/>
              </a:lnSpc>
            </a:pPr>
            <a:r>
              <a:rPr sz="1120" b="0">
                <a:solidFill>
                  <a:srgbClr val="BDB4AB"/>
                </a:solidFill>
                <a:latin typeface="Franklin Gothic Book"/>
              </a:rPr>
              <a:t>Every fire-history feature is rebuilt from years strictly before the target year, in one function that both the training path and the forecast path call. A second implementation would have drifted, and the drift would have been silent — the forecast has no label to check itself against.</a:t>
            </a:r>
          </a:p>
        </p:txBody>
      </p:sp>
      <p:sp>
        <p:nvSpPr>
          <p:cNvPr id="11" name="Rectangle 10"/>
          <p:cNvSpPr/>
          <p:nvPr/>
        </p:nvSpPr>
        <p:spPr>
          <a:xfrm>
            <a:off x="6169136" y="2670048"/>
            <a:ext cx="4369803" cy="2615184"/>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9136" y="2670048"/>
            <a:ext cx="32004" cy="261518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4896" y="2907792"/>
            <a:ext cx="3638283" cy="201168"/>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RULE TWO</a:t>
            </a:r>
          </a:p>
        </p:txBody>
      </p:sp>
      <p:sp>
        <p:nvSpPr>
          <p:cNvPr id="14" name="TextBox 13"/>
          <p:cNvSpPr txBox="1"/>
          <p:nvPr/>
        </p:nvSpPr>
        <p:spPr>
          <a:xfrm>
            <a:off x="6534896" y="3200400"/>
            <a:ext cx="3638283" cy="365760"/>
          </a:xfrm>
          <a:prstGeom prst="rect">
            <a:avLst/>
          </a:prstGeom>
          <a:noFill/>
        </p:spPr>
        <p:txBody>
          <a:bodyPr wrap="square" lIns="0" rIns="0" tIns="0" bIns="0" anchor="t">
            <a:noAutofit/>
          </a:bodyPr>
          <a:lstStyle/>
          <a:p>
            <a:pPr algn="l">
              <a:lnSpc>
                <a:spcPct val="100000"/>
              </a:lnSpc>
            </a:pPr>
            <a:r>
              <a:rPr sz="2100" b="0">
                <a:solidFill>
                  <a:srgbClr val="F4EFE9"/>
                </a:solidFill>
                <a:latin typeface="Franklin Gothic Demi"/>
              </a:rPr>
              <a:t>Scrambling</a:t>
            </a:r>
          </a:p>
        </p:txBody>
      </p:sp>
      <p:sp>
        <p:nvSpPr>
          <p:cNvPr id="15" name="TextBox 14"/>
          <p:cNvSpPr txBox="1"/>
          <p:nvPr/>
        </p:nvSpPr>
        <p:spPr>
          <a:xfrm>
            <a:off x="6534896" y="3675887"/>
            <a:ext cx="3638283" cy="1481328"/>
          </a:xfrm>
          <a:prstGeom prst="rect">
            <a:avLst/>
          </a:prstGeom>
          <a:noFill/>
        </p:spPr>
        <p:txBody>
          <a:bodyPr wrap="square" lIns="0" rIns="0" tIns="0" bIns="0" anchor="t">
            <a:noAutofit/>
          </a:bodyPr>
          <a:lstStyle/>
          <a:p>
            <a:pPr algn="l">
              <a:lnSpc>
                <a:spcPct val="146000"/>
              </a:lnSpc>
            </a:pPr>
            <a:r>
              <a:rPr sz="1120" b="0">
                <a:solidFill>
                  <a:srgbClr val="BDB4AB"/>
                </a:solidFill>
                <a:latin typeface="Franklin Gothic Book"/>
              </a:rPr>
              <a:t>We shuffled one year's labels and rebuilt the features. If anything were reading the answer, the scores would have collapsed or held suspiciously steady. They moved exactly as much as chance says they should.</a:t>
            </a:r>
          </a:p>
        </p:txBody>
      </p:sp>
      <p:cxnSp>
        <p:nvCxnSpPr>
          <p:cNvPr id="16" name="Connector 15"/>
          <p:cNvCxnSpPr/>
          <p:nvPr/>
        </p:nvCxnSpPr>
        <p:spPr>
          <a:xfrm>
            <a:off x="749808" y="5541264"/>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49808" y="5705856"/>
            <a:ext cx="9789132" cy="310896"/>
          </a:xfrm>
          <a:prstGeom prst="rect">
            <a:avLst/>
          </a:prstGeom>
          <a:noFill/>
        </p:spPr>
        <p:txBody>
          <a:bodyPr wrap="square" lIns="0" rIns="0" tIns="0" bIns="0" anchor="t">
            <a:noAutofit/>
          </a:bodyPr>
          <a:lstStyle/>
          <a:p>
            <a:pPr algn="l">
              <a:lnSpc>
                <a:spcPct val="120000"/>
              </a:lnSpc>
            </a:pPr>
            <a:r>
              <a:rPr sz="1250" b="0">
                <a:solidFill>
                  <a:srgbClr val="FF5A1E"/>
                </a:solidFill>
                <a:latin typeface="Franklin Gothic Medium"/>
              </a:rPr>
              <a:t>Both checks are scripts in the repository, not claims in a slide.</a:t>
            </a:r>
          </a:p>
        </p:txBody>
      </p:sp>
      <p:cxnSp>
        <p:nvCxnSpPr>
          <p:cNvPr id="18" name="Connector 17"/>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49808" y="6345936"/>
            <a:ext cx="4009632"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Saira Zafar</a:t>
            </a:r>
          </a:p>
        </p:txBody>
      </p:sp>
      <p:sp>
        <p:nvSpPr>
          <p:cNvPr id="21" name="TextBox 20"/>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09/24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VALIDATION</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Split by time, never at random.</a:t>
            </a:r>
          </a:p>
        </p:txBody>
      </p:sp>
      <p:sp>
        <p:nvSpPr>
          <p:cNvPr id="5" name="TextBox 4"/>
          <p:cNvSpPr txBox="1"/>
          <p:nvPr/>
        </p:nvSpPr>
        <p:spPr>
          <a:xfrm>
            <a:off x="749808" y="1847088"/>
            <a:ext cx="9789132" cy="658368"/>
          </a:xfrm>
          <a:prstGeom prst="rect">
            <a:avLst/>
          </a:prstGeom>
          <a:noFill/>
        </p:spPr>
        <p:txBody>
          <a:bodyPr wrap="square" lIns="0" rIns="0" tIns="0" bIns="0" anchor="t">
            <a:noAutofit/>
          </a:bodyPr>
          <a:lstStyle/>
          <a:p>
            <a:pPr algn="l">
              <a:lnSpc>
                <a:spcPct val="146000"/>
              </a:lnSpc>
            </a:pPr>
            <a:r>
              <a:rPr sz="1300" b="0">
                <a:solidFill>
                  <a:srgbClr val="8A8078"/>
                </a:solidFill>
                <a:latin typeface="Franklin Gothic Book"/>
              </a:rPr>
              <a:t>Fire years are not independent draws. A random shuffle would put 2024 in training and 2023 in test, and the model would be reading its own future. So the record is cut in chronological order and the last three years are never touched until the end.</a:t>
            </a:r>
          </a:p>
        </p:txBody>
      </p:sp>
      <p:sp>
        <p:nvSpPr>
          <p:cNvPr id="6" name="Rectangle 5"/>
          <p:cNvSpPr/>
          <p:nvPr/>
        </p:nvSpPr>
        <p:spPr>
          <a:xfrm>
            <a:off x="749808" y="2889504"/>
            <a:ext cx="7564243" cy="50292"/>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3072384"/>
            <a:ext cx="7564243" cy="329184"/>
          </a:xfrm>
          <a:prstGeom prst="rect">
            <a:avLst/>
          </a:prstGeom>
          <a:noFill/>
        </p:spPr>
        <p:txBody>
          <a:bodyPr wrap="square" lIns="0" rIns="0" tIns="0" bIns="0" anchor="t">
            <a:noAutofit/>
          </a:bodyPr>
          <a:lstStyle/>
          <a:p>
            <a:pPr algn="l">
              <a:lnSpc>
                <a:spcPct val="100000"/>
              </a:lnSpc>
            </a:pPr>
            <a:r>
              <a:rPr sz="1900" b="0">
                <a:solidFill>
                  <a:srgbClr val="F4EFE9"/>
                </a:solidFill>
                <a:latin typeface="Franklin Gothic Demi"/>
              </a:rPr>
              <a:t>Train</a:t>
            </a:r>
          </a:p>
        </p:txBody>
      </p:sp>
      <p:sp>
        <p:nvSpPr>
          <p:cNvPr id="8" name="TextBox 7"/>
          <p:cNvSpPr txBox="1"/>
          <p:nvPr/>
        </p:nvSpPr>
        <p:spPr>
          <a:xfrm>
            <a:off x="749808" y="3419856"/>
            <a:ext cx="7564243" cy="256032"/>
          </a:xfrm>
          <a:prstGeom prst="rect">
            <a:avLst/>
          </a:prstGeom>
          <a:noFill/>
        </p:spPr>
        <p:txBody>
          <a:bodyPr wrap="square" lIns="0" rIns="0" tIns="0" bIns="0" anchor="t">
            <a:noAutofit/>
          </a:bodyPr>
          <a:lstStyle/>
          <a:p>
            <a:pPr algn="l">
              <a:lnSpc>
                <a:spcPct val="100000"/>
              </a:lnSpc>
            </a:pPr>
            <a:r>
              <a:rPr sz="1250" b="0">
                <a:solidFill>
                  <a:srgbClr val="347FB0"/>
                </a:solidFill>
                <a:latin typeface="Consolas"/>
              </a:rPr>
              <a:t>2005 – 2019</a:t>
            </a:r>
          </a:p>
        </p:txBody>
      </p:sp>
      <p:sp>
        <p:nvSpPr>
          <p:cNvPr id="9" name="TextBox 8"/>
          <p:cNvSpPr txBox="1"/>
          <p:nvPr/>
        </p:nvSpPr>
        <p:spPr>
          <a:xfrm>
            <a:off x="749808" y="3712463"/>
            <a:ext cx="7564243" cy="237744"/>
          </a:xfrm>
          <a:prstGeom prst="rect">
            <a:avLst/>
          </a:prstGeom>
          <a:noFill/>
        </p:spPr>
        <p:txBody>
          <a:bodyPr wrap="square" lIns="0" rIns="0" tIns="0" bIns="0" anchor="t">
            <a:noAutofit/>
          </a:bodyPr>
          <a:lstStyle/>
          <a:p>
            <a:pPr algn="l">
              <a:lnSpc>
                <a:spcPct val="100000"/>
              </a:lnSpc>
            </a:pPr>
            <a:r>
              <a:rPr sz="1050" b="0">
                <a:solidFill>
                  <a:srgbClr val="8A8078"/>
                </a:solidFill>
                <a:latin typeface="Franklin Gothic Book"/>
              </a:rPr>
              <a:t>fifteen years</a:t>
            </a:r>
          </a:p>
        </p:txBody>
      </p:sp>
      <p:sp>
        <p:nvSpPr>
          <p:cNvPr id="10" name="Rectangle 9"/>
          <p:cNvSpPr/>
          <p:nvPr/>
        </p:nvSpPr>
        <p:spPr>
          <a:xfrm>
            <a:off x="8387203" y="2889504"/>
            <a:ext cx="1454327" cy="50292"/>
          </a:xfrm>
          <a:prstGeom prst="rect">
            <a:avLst/>
          </a:prstGeom>
          <a:solidFill>
            <a:srgbClr val="8C9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7203" y="3072384"/>
            <a:ext cx="1454327" cy="329184"/>
          </a:xfrm>
          <a:prstGeom prst="rect">
            <a:avLst/>
          </a:prstGeom>
          <a:noFill/>
        </p:spPr>
        <p:txBody>
          <a:bodyPr wrap="square" lIns="0" rIns="0" tIns="0" bIns="0" anchor="t">
            <a:noAutofit/>
          </a:bodyPr>
          <a:lstStyle/>
          <a:p>
            <a:pPr algn="l">
              <a:lnSpc>
                <a:spcPct val="100000"/>
              </a:lnSpc>
            </a:pPr>
            <a:r>
              <a:rPr sz="1900" b="0">
                <a:solidFill>
                  <a:srgbClr val="F4EFE9"/>
                </a:solidFill>
                <a:latin typeface="Franklin Gothic Demi"/>
              </a:rPr>
              <a:t>Tune</a:t>
            </a:r>
          </a:p>
        </p:txBody>
      </p:sp>
      <p:sp>
        <p:nvSpPr>
          <p:cNvPr id="12" name="TextBox 11"/>
          <p:cNvSpPr txBox="1"/>
          <p:nvPr/>
        </p:nvSpPr>
        <p:spPr>
          <a:xfrm>
            <a:off x="8387203" y="3419856"/>
            <a:ext cx="1454327" cy="256032"/>
          </a:xfrm>
          <a:prstGeom prst="rect">
            <a:avLst/>
          </a:prstGeom>
          <a:noFill/>
        </p:spPr>
        <p:txBody>
          <a:bodyPr wrap="square" lIns="0" rIns="0" tIns="0" bIns="0" anchor="t">
            <a:noAutofit/>
          </a:bodyPr>
          <a:lstStyle/>
          <a:p>
            <a:pPr algn="l">
              <a:lnSpc>
                <a:spcPct val="100000"/>
              </a:lnSpc>
            </a:pPr>
            <a:r>
              <a:rPr sz="1250" b="0">
                <a:solidFill>
                  <a:srgbClr val="8C9BA3"/>
                </a:solidFill>
                <a:latin typeface="Consolas"/>
              </a:rPr>
              <a:t>2020 – 2022</a:t>
            </a:r>
          </a:p>
        </p:txBody>
      </p:sp>
      <p:sp>
        <p:nvSpPr>
          <p:cNvPr id="13" name="TextBox 12"/>
          <p:cNvSpPr txBox="1"/>
          <p:nvPr/>
        </p:nvSpPr>
        <p:spPr>
          <a:xfrm>
            <a:off x="8387203" y="3712463"/>
            <a:ext cx="1454327" cy="237744"/>
          </a:xfrm>
          <a:prstGeom prst="rect">
            <a:avLst/>
          </a:prstGeom>
          <a:noFill/>
        </p:spPr>
        <p:txBody>
          <a:bodyPr wrap="square" lIns="0" rIns="0" tIns="0" bIns="0" anchor="t">
            <a:noAutofit/>
          </a:bodyPr>
          <a:lstStyle/>
          <a:p>
            <a:pPr algn="l">
              <a:lnSpc>
                <a:spcPct val="100000"/>
              </a:lnSpc>
            </a:pPr>
            <a:r>
              <a:rPr sz="1050" b="0">
                <a:solidFill>
                  <a:srgbClr val="8A8078"/>
                </a:solidFill>
                <a:latin typeface="Franklin Gothic Book"/>
              </a:rPr>
              <a:t>three years</a:t>
            </a:r>
          </a:p>
        </p:txBody>
      </p:sp>
      <p:sp>
        <p:nvSpPr>
          <p:cNvPr id="14" name="Rectangle 13"/>
          <p:cNvSpPr/>
          <p:nvPr/>
        </p:nvSpPr>
        <p:spPr>
          <a:xfrm>
            <a:off x="9914682" y="2889504"/>
            <a:ext cx="1454327" cy="50292"/>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14682" y="3072384"/>
            <a:ext cx="1454327" cy="329184"/>
          </a:xfrm>
          <a:prstGeom prst="rect">
            <a:avLst/>
          </a:prstGeom>
          <a:noFill/>
        </p:spPr>
        <p:txBody>
          <a:bodyPr wrap="square" lIns="0" rIns="0" tIns="0" bIns="0" anchor="t">
            <a:noAutofit/>
          </a:bodyPr>
          <a:lstStyle/>
          <a:p>
            <a:pPr algn="l">
              <a:lnSpc>
                <a:spcPct val="100000"/>
              </a:lnSpc>
            </a:pPr>
            <a:r>
              <a:rPr sz="1900" b="0">
                <a:solidFill>
                  <a:srgbClr val="F4EFE9"/>
                </a:solidFill>
                <a:latin typeface="Franklin Gothic Demi"/>
              </a:rPr>
              <a:t>Test</a:t>
            </a:r>
          </a:p>
        </p:txBody>
      </p:sp>
      <p:sp>
        <p:nvSpPr>
          <p:cNvPr id="16" name="TextBox 15"/>
          <p:cNvSpPr txBox="1"/>
          <p:nvPr/>
        </p:nvSpPr>
        <p:spPr>
          <a:xfrm>
            <a:off x="9914682" y="3419856"/>
            <a:ext cx="1454327" cy="256032"/>
          </a:xfrm>
          <a:prstGeom prst="rect">
            <a:avLst/>
          </a:prstGeom>
          <a:noFill/>
        </p:spPr>
        <p:txBody>
          <a:bodyPr wrap="square" lIns="0" rIns="0" tIns="0" bIns="0" anchor="t">
            <a:noAutofit/>
          </a:bodyPr>
          <a:lstStyle/>
          <a:p>
            <a:pPr algn="l">
              <a:lnSpc>
                <a:spcPct val="100000"/>
              </a:lnSpc>
            </a:pPr>
            <a:r>
              <a:rPr sz="1250" b="0">
                <a:solidFill>
                  <a:srgbClr val="FF5A1E"/>
                </a:solidFill>
                <a:latin typeface="Consolas"/>
              </a:rPr>
              <a:t>2023 – 2025</a:t>
            </a:r>
          </a:p>
        </p:txBody>
      </p:sp>
      <p:sp>
        <p:nvSpPr>
          <p:cNvPr id="17" name="TextBox 16"/>
          <p:cNvSpPr txBox="1"/>
          <p:nvPr/>
        </p:nvSpPr>
        <p:spPr>
          <a:xfrm>
            <a:off x="9914682" y="3712463"/>
            <a:ext cx="1454327" cy="237744"/>
          </a:xfrm>
          <a:prstGeom prst="rect">
            <a:avLst/>
          </a:prstGeom>
          <a:noFill/>
        </p:spPr>
        <p:txBody>
          <a:bodyPr wrap="square" lIns="0" rIns="0" tIns="0" bIns="0" anchor="t">
            <a:noAutofit/>
          </a:bodyPr>
          <a:lstStyle/>
          <a:p>
            <a:pPr algn="l">
              <a:lnSpc>
                <a:spcPct val="100000"/>
              </a:lnSpc>
            </a:pPr>
            <a:r>
              <a:rPr sz="1050" b="0">
                <a:solidFill>
                  <a:srgbClr val="8A8078"/>
                </a:solidFill>
                <a:latin typeface="Franklin Gothic Book"/>
              </a:rPr>
              <a:t>three years, seen once</a:t>
            </a:r>
          </a:p>
        </p:txBody>
      </p:sp>
      <p:cxnSp>
        <p:nvCxnSpPr>
          <p:cNvPr id="18" name="Connector 17"/>
          <p:cNvCxnSpPr/>
          <p:nvPr/>
        </p:nvCxnSpPr>
        <p:spPr>
          <a:xfrm>
            <a:off x="749808" y="4133087"/>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49808" y="4261104"/>
            <a:ext cx="1828800" cy="201168"/>
          </a:xfrm>
          <a:prstGeom prst="rect">
            <a:avLst/>
          </a:prstGeom>
          <a:noFill/>
        </p:spPr>
        <p:txBody>
          <a:bodyPr wrap="square" lIns="0" rIns="0" tIns="0" bIns="0" anchor="t">
            <a:noAutofit/>
          </a:bodyPr>
          <a:lstStyle/>
          <a:p>
            <a:pPr algn="l">
              <a:lnSpc>
                <a:spcPct val="100000"/>
              </a:lnSpc>
            </a:pPr>
            <a:r>
              <a:rPr sz="900" b="0">
                <a:solidFill>
                  <a:srgbClr val="5C554F"/>
                </a:solidFill>
                <a:latin typeface="Consolas"/>
              </a:rPr>
              <a:t>2005</a:t>
            </a:r>
          </a:p>
        </p:txBody>
      </p:sp>
      <p:sp>
        <p:nvSpPr>
          <p:cNvPr id="20" name="TextBox 19"/>
          <p:cNvSpPr txBox="1"/>
          <p:nvPr/>
        </p:nvSpPr>
        <p:spPr>
          <a:xfrm>
            <a:off x="9613361" y="4261104"/>
            <a:ext cx="1828800" cy="201168"/>
          </a:xfrm>
          <a:prstGeom prst="rect">
            <a:avLst/>
          </a:prstGeom>
          <a:noFill/>
        </p:spPr>
        <p:txBody>
          <a:bodyPr wrap="square" lIns="0" rIns="0" tIns="0" bIns="0" anchor="t">
            <a:noAutofit/>
          </a:bodyPr>
          <a:lstStyle/>
          <a:p>
            <a:pPr algn="r">
              <a:lnSpc>
                <a:spcPct val="100000"/>
              </a:lnSpc>
            </a:pPr>
            <a:r>
              <a:rPr sz="900" b="0">
                <a:solidFill>
                  <a:srgbClr val="5C554F"/>
                </a:solidFill>
                <a:latin typeface="Consolas"/>
              </a:rPr>
              <a:t>2025</a:t>
            </a:r>
          </a:p>
        </p:txBody>
      </p:sp>
      <p:sp>
        <p:nvSpPr>
          <p:cNvPr id="21" name="Rectangle 20"/>
          <p:cNvSpPr/>
          <p:nvPr/>
        </p:nvSpPr>
        <p:spPr>
          <a:xfrm>
            <a:off x="749808" y="4773168"/>
            <a:ext cx="10692353" cy="1115568"/>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9808" y="4773168"/>
            <a:ext cx="32004" cy="1115568"/>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33856" y="4992624"/>
            <a:ext cx="9924257" cy="694944"/>
          </a:xfrm>
          <a:prstGeom prst="rect">
            <a:avLst/>
          </a:prstGeom>
          <a:noFill/>
        </p:spPr>
        <p:txBody>
          <a:bodyPr wrap="square" lIns="0" rIns="0" tIns="0" bIns="0" anchor="t">
            <a:noAutofit/>
          </a:bodyPr>
          <a:lstStyle/>
          <a:p>
            <a:pPr algn="l">
              <a:lnSpc>
                <a:spcPct val="146000"/>
              </a:lnSpc>
            </a:pPr>
            <a:r>
              <a:rPr sz="1200" b="0">
                <a:solidFill>
                  <a:srgbClr val="BDB4AB"/>
                </a:solidFill>
                <a:latin typeface="Franklin Gothic Book"/>
              </a:rPr>
              <a:t>And once was once. The test years were scored a single time, at the end, after every decision about features and models had already been made. Tuning against them would have turned the held-out years into another training set.</a:t>
            </a:r>
          </a:p>
        </p:txBody>
      </p:sp>
      <p:cxnSp>
        <p:nvCxnSpPr>
          <p:cNvPr id="24" name="Connector 23"/>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9808" y="6345936"/>
            <a:ext cx="4455147"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Saira Zafar</a:t>
            </a:r>
          </a:p>
        </p:txBody>
      </p:sp>
      <p:sp>
        <p:nvSpPr>
          <p:cNvPr id="27" name="TextBox 26"/>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MODELS</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Six models, two baselines, and one correction for imbalance.</a:t>
            </a:r>
          </a:p>
        </p:txBody>
      </p:sp>
      <p:sp>
        <p:nvSpPr>
          <p:cNvPr id="5" name="Rectangle 4"/>
          <p:cNvSpPr/>
          <p:nvPr/>
        </p:nvSpPr>
        <p:spPr>
          <a:xfrm>
            <a:off x="749808" y="1920240"/>
            <a:ext cx="41148" cy="274320"/>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7" y="1883664"/>
            <a:ext cx="2743200" cy="292608"/>
          </a:xfrm>
          <a:prstGeom prst="rect">
            <a:avLst/>
          </a:prstGeom>
          <a:noFill/>
        </p:spPr>
        <p:txBody>
          <a:bodyPr wrap="square" lIns="0" rIns="0" tIns="0" bIns="0" anchor="t">
            <a:noAutofit/>
          </a:bodyPr>
          <a:lstStyle/>
          <a:p>
            <a:pPr algn="l">
              <a:lnSpc>
                <a:spcPct val="100000"/>
              </a:lnSpc>
            </a:pPr>
            <a:r>
              <a:rPr sz="1500" b="0">
                <a:solidFill>
                  <a:srgbClr val="BDB4AB"/>
                </a:solidFill>
                <a:latin typeface="Franklin Gothic Medium"/>
              </a:rPr>
              <a:t>Decision tree</a:t>
            </a:r>
          </a:p>
        </p:txBody>
      </p:sp>
      <p:sp>
        <p:nvSpPr>
          <p:cNvPr id="7" name="TextBox 6"/>
          <p:cNvSpPr txBox="1"/>
          <p:nvPr/>
        </p:nvSpPr>
        <p:spPr>
          <a:xfrm>
            <a:off x="3767328" y="1920240"/>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the readable one</a:t>
            </a:r>
          </a:p>
        </p:txBody>
      </p:sp>
      <p:sp>
        <p:nvSpPr>
          <p:cNvPr id="8" name="Rectangle 7"/>
          <p:cNvSpPr/>
          <p:nvPr/>
        </p:nvSpPr>
        <p:spPr>
          <a:xfrm>
            <a:off x="749808" y="2432304"/>
            <a:ext cx="41148" cy="274320"/>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2395728"/>
            <a:ext cx="2743200" cy="292608"/>
          </a:xfrm>
          <a:prstGeom prst="rect">
            <a:avLst/>
          </a:prstGeom>
          <a:noFill/>
        </p:spPr>
        <p:txBody>
          <a:bodyPr wrap="square" lIns="0" rIns="0" tIns="0" bIns="0" anchor="t">
            <a:noAutofit/>
          </a:bodyPr>
          <a:lstStyle/>
          <a:p>
            <a:pPr algn="l">
              <a:lnSpc>
                <a:spcPct val="100000"/>
              </a:lnSpc>
            </a:pPr>
            <a:r>
              <a:rPr sz="1500" b="0">
                <a:solidFill>
                  <a:srgbClr val="BDB4AB"/>
                </a:solidFill>
                <a:latin typeface="Franklin Gothic Medium"/>
              </a:rPr>
              <a:t>Random forest</a:t>
            </a:r>
          </a:p>
        </p:txBody>
      </p:sp>
      <p:sp>
        <p:nvSpPr>
          <p:cNvPr id="10" name="TextBox 9"/>
          <p:cNvSpPr txBox="1"/>
          <p:nvPr/>
        </p:nvSpPr>
        <p:spPr>
          <a:xfrm>
            <a:off x="3767328" y="2432304"/>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many trees, voting</a:t>
            </a:r>
          </a:p>
        </p:txBody>
      </p:sp>
      <p:sp>
        <p:nvSpPr>
          <p:cNvPr id="11" name="Rectangle 10"/>
          <p:cNvSpPr/>
          <p:nvPr/>
        </p:nvSpPr>
        <p:spPr>
          <a:xfrm>
            <a:off x="749808" y="2944368"/>
            <a:ext cx="41148" cy="274320"/>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2907792"/>
            <a:ext cx="2743200" cy="292608"/>
          </a:xfrm>
          <a:prstGeom prst="rect">
            <a:avLst/>
          </a:prstGeom>
          <a:noFill/>
        </p:spPr>
        <p:txBody>
          <a:bodyPr wrap="square" lIns="0" rIns="0" tIns="0" bIns="0" anchor="t">
            <a:noAutofit/>
          </a:bodyPr>
          <a:lstStyle/>
          <a:p>
            <a:pPr algn="l">
              <a:lnSpc>
                <a:spcPct val="100000"/>
              </a:lnSpc>
            </a:pPr>
            <a:r>
              <a:rPr sz="1500" b="0">
                <a:solidFill>
                  <a:srgbClr val="BDB4AB"/>
                </a:solidFill>
                <a:latin typeface="Franklin Gothic Medium"/>
              </a:rPr>
              <a:t>Naive Bayes</a:t>
            </a:r>
          </a:p>
        </p:txBody>
      </p:sp>
      <p:sp>
        <p:nvSpPr>
          <p:cNvPr id="13" name="TextBox 12"/>
          <p:cNvSpPr txBox="1"/>
          <p:nvPr/>
        </p:nvSpPr>
        <p:spPr>
          <a:xfrm>
            <a:off x="3767328" y="2944368"/>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the probabilistic floor</a:t>
            </a:r>
          </a:p>
        </p:txBody>
      </p:sp>
      <p:sp>
        <p:nvSpPr>
          <p:cNvPr id="14" name="Rectangle 13"/>
          <p:cNvSpPr/>
          <p:nvPr/>
        </p:nvSpPr>
        <p:spPr>
          <a:xfrm>
            <a:off x="749808" y="3456432"/>
            <a:ext cx="41148" cy="274320"/>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7" y="3419856"/>
            <a:ext cx="2743200" cy="292608"/>
          </a:xfrm>
          <a:prstGeom prst="rect">
            <a:avLst/>
          </a:prstGeom>
          <a:noFill/>
        </p:spPr>
        <p:txBody>
          <a:bodyPr wrap="square" lIns="0" rIns="0" tIns="0" bIns="0" anchor="t">
            <a:noAutofit/>
          </a:bodyPr>
          <a:lstStyle/>
          <a:p>
            <a:pPr algn="l">
              <a:lnSpc>
                <a:spcPct val="100000"/>
              </a:lnSpc>
            </a:pPr>
            <a:r>
              <a:rPr sz="1500" b="0">
                <a:solidFill>
                  <a:srgbClr val="BDB4AB"/>
                </a:solidFill>
                <a:latin typeface="Franklin Gothic Medium"/>
              </a:rPr>
              <a:t>Multilayer ANN</a:t>
            </a:r>
          </a:p>
        </p:txBody>
      </p:sp>
      <p:sp>
        <p:nvSpPr>
          <p:cNvPr id="16" name="TextBox 15"/>
          <p:cNvSpPr txBox="1"/>
          <p:nvPr/>
        </p:nvSpPr>
        <p:spPr>
          <a:xfrm>
            <a:off x="3767328" y="3456432"/>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a dense network</a:t>
            </a:r>
          </a:p>
        </p:txBody>
      </p:sp>
      <p:sp>
        <p:nvSpPr>
          <p:cNvPr id="17" name="Rectangle 16"/>
          <p:cNvSpPr/>
          <p:nvPr/>
        </p:nvSpPr>
        <p:spPr>
          <a:xfrm>
            <a:off x="749808" y="3968496"/>
            <a:ext cx="41148" cy="274320"/>
          </a:xfrm>
          <a:prstGeom prst="rect">
            <a:avLst/>
          </a:prstGeom>
          <a:solidFill>
            <a:srgbClr val="34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3931920"/>
            <a:ext cx="2743200" cy="292608"/>
          </a:xfrm>
          <a:prstGeom prst="rect">
            <a:avLst/>
          </a:prstGeom>
          <a:noFill/>
        </p:spPr>
        <p:txBody>
          <a:bodyPr wrap="square" lIns="0" rIns="0" tIns="0" bIns="0" anchor="t">
            <a:noAutofit/>
          </a:bodyPr>
          <a:lstStyle/>
          <a:p>
            <a:pPr algn="l">
              <a:lnSpc>
                <a:spcPct val="100000"/>
              </a:lnSpc>
            </a:pPr>
            <a:r>
              <a:rPr sz="1500" b="0">
                <a:solidFill>
                  <a:srgbClr val="BDB4AB"/>
                </a:solidFill>
                <a:latin typeface="Franklin Gothic Medium"/>
              </a:rPr>
              <a:t>LSTM</a:t>
            </a:r>
          </a:p>
        </p:txBody>
      </p:sp>
      <p:sp>
        <p:nvSpPr>
          <p:cNvPr id="19" name="TextBox 18"/>
          <p:cNvSpPr txBox="1"/>
          <p:nvPr/>
        </p:nvSpPr>
        <p:spPr>
          <a:xfrm>
            <a:off x="3767328" y="3968496"/>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reads the 26-year sequence</a:t>
            </a:r>
          </a:p>
        </p:txBody>
      </p:sp>
      <p:sp>
        <p:nvSpPr>
          <p:cNvPr id="20" name="Rectangle 19"/>
          <p:cNvSpPr/>
          <p:nvPr/>
        </p:nvSpPr>
        <p:spPr>
          <a:xfrm>
            <a:off x="749808" y="4480560"/>
            <a:ext cx="41148" cy="274320"/>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7" y="4443984"/>
            <a:ext cx="2743200" cy="292608"/>
          </a:xfrm>
          <a:prstGeom prst="rect">
            <a:avLst/>
          </a:prstGeom>
          <a:noFill/>
        </p:spPr>
        <p:txBody>
          <a:bodyPr wrap="square" lIns="0" rIns="0" tIns="0" bIns="0" anchor="t">
            <a:noAutofit/>
          </a:bodyPr>
          <a:lstStyle/>
          <a:p>
            <a:pPr algn="l">
              <a:lnSpc>
                <a:spcPct val="100000"/>
              </a:lnSpc>
            </a:pPr>
            <a:r>
              <a:rPr sz="1500" b="0">
                <a:solidFill>
                  <a:srgbClr val="F4EFE9"/>
                </a:solidFill>
                <a:latin typeface="Franklin Gothic Demi"/>
              </a:rPr>
              <a:t>Gradient boosting</a:t>
            </a:r>
          </a:p>
        </p:txBody>
      </p:sp>
      <p:sp>
        <p:nvSpPr>
          <p:cNvPr id="22" name="TextBox 21"/>
          <p:cNvSpPr txBox="1"/>
          <p:nvPr/>
        </p:nvSpPr>
        <p:spPr>
          <a:xfrm>
            <a:off x="3767328" y="4480560"/>
            <a:ext cx="2651760" cy="256032"/>
          </a:xfrm>
          <a:prstGeom prst="rect">
            <a:avLst/>
          </a:prstGeom>
          <a:noFill/>
        </p:spPr>
        <p:txBody>
          <a:bodyPr wrap="square" lIns="0" rIns="0" tIns="0" bIns="0" anchor="t">
            <a:noAutofit/>
          </a:bodyPr>
          <a:lstStyle/>
          <a:p>
            <a:pPr algn="l">
              <a:lnSpc>
                <a:spcPct val="100000"/>
              </a:lnSpc>
            </a:pPr>
            <a:r>
              <a:rPr sz="1150" b="0">
                <a:solidFill>
                  <a:srgbClr val="8A8078"/>
                </a:solidFill>
                <a:latin typeface="Franklin Gothic Book"/>
              </a:rPr>
              <a:t>trees that correct each other</a:t>
            </a:r>
          </a:p>
        </p:txBody>
      </p:sp>
      <p:cxnSp>
        <p:nvCxnSpPr>
          <p:cNvPr id="23" name="Connector 22"/>
          <p:cNvCxnSpPr/>
          <p:nvPr/>
        </p:nvCxnSpPr>
        <p:spPr>
          <a:xfrm>
            <a:off x="749808" y="5084064"/>
            <a:ext cx="5273024"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9808" y="5266944"/>
            <a:ext cx="5181584" cy="768096"/>
          </a:xfrm>
          <a:prstGeom prst="rect">
            <a:avLst/>
          </a:prstGeom>
          <a:noFill/>
        </p:spPr>
        <p:txBody>
          <a:bodyPr wrap="square" lIns="0" rIns="0" tIns="0" bIns="0" anchor="t">
            <a:noAutofit/>
          </a:bodyPr>
          <a:lstStyle/>
          <a:p>
            <a:pPr algn="l">
              <a:lnSpc>
                <a:spcPct val="144000"/>
              </a:lnSpc>
            </a:pPr>
            <a:r>
              <a:rPr sz="1150" b="0">
                <a:solidFill>
                  <a:srgbClr val="8A8078"/>
                </a:solidFill>
                <a:latin typeface="Franklin Gothic Book"/>
              </a:rPr>
              <a:t>Against two baselines: “whatever happened last year” and “always say unburnt”. A model that cannot beat those has learned nothing worth having.</a:t>
            </a:r>
          </a:p>
        </p:txBody>
      </p:sp>
      <p:sp>
        <p:nvSpPr>
          <p:cNvPr id="25" name="Rectangle 24"/>
          <p:cNvSpPr/>
          <p:nvPr/>
        </p:nvSpPr>
        <p:spPr>
          <a:xfrm>
            <a:off x="7072358" y="1828800"/>
            <a:ext cx="4369803" cy="3749039"/>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72358" y="1828800"/>
            <a:ext cx="32004" cy="3749039"/>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56406" y="2103120"/>
            <a:ext cx="3601707" cy="365760"/>
          </a:xfrm>
          <a:prstGeom prst="rect">
            <a:avLst/>
          </a:prstGeom>
          <a:noFill/>
        </p:spPr>
        <p:txBody>
          <a:bodyPr wrap="square" lIns="0" rIns="0" tIns="0" bIns="0" anchor="t">
            <a:noAutofit/>
          </a:bodyPr>
          <a:lstStyle/>
          <a:p>
            <a:pPr algn="l">
              <a:lnSpc>
                <a:spcPct val="100000"/>
              </a:lnSpc>
            </a:pPr>
            <a:r>
              <a:rPr sz="1900" b="0">
                <a:solidFill>
                  <a:srgbClr val="F4EFE9"/>
                </a:solidFill>
                <a:latin typeface="Franklin Gothic Demi"/>
              </a:rPr>
              <a:t>Why class weighting</a:t>
            </a:r>
          </a:p>
        </p:txBody>
      </p:sp>
      <p:sp>
        <p:nvSpPr>
          <p:cNvPr id="28" name="TextBox 27"/>
          <p:cNvSpPr txBox="1"/>
          <p:nvPr/>
        </p:nvSpPr>
        <p:spPr>
          <a:xfrm>
            <a:off x="7456406" y="2596896"/>
            <a:ext cx="3601707" cy="1371600"/>
          </a:xfrm>
          <a:prstGeom prst="rect">
            <a:avLst/>
          </a:prstGeom>
          <a:noFill/>
        </p:spPr>
        <p:txBody>
          <a:bodyPr wrap="square" lIns="0" rIns="0" tIns="0" bIns="0" anchor="t">
            <a:noAutofit/>
          </a:bodyPr>
          <a:lstStyle/>
          <a:p>
            <a:pPr algn="l">
              <a:lnSpc>
                <a:spcPct val="148000"/>
              </a:lnSpc>
            </a:pPr>
            <a:r>
              <a:rPr sz="1150" b="0">
                <a:solidFill>
                  <a:srgbClr val="BDB4AB"/>
                </a:solidFill>
                <a:latin typeface="Franklin Gothic Book"/>
              </a:rPr>
              <a:t>Late fires are the ones that matter and the rarest thing on the map. Left unweighted, every model quietly stopped predicting them — it is cheaper to be right about the common answer. Weighting the classes makes that trade expensive.</a:t>
            </a:r>
          </a:p>
        </p:txBody>
      </p:sp>
      <p:cxnSp>
        <p:nvCxnSpPr>
          <p:cNvPr id="29" name="Connector 28"/>
          <p:cNvCxnSpPr/>
          <p:nvPr/>
        </p:nvCxnSpPr>
        <p:spPr>
          <a:xfrm>
            <a:off x="7456406" y="4114800"/>
            <a:ext cx="3601707"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456406" y="4242816"/>
            <a:ext cx="3601707" cy="219456"/>
          </a:xfrm>
          <a:prstGeom prst="rect">
            <a:avLst/>
          </a:prstGeom>
          <a:noFill/>
        </p:spPr>
        <p:txBody>
          <a:bodyPr wrap="square" lIns="0" rIns="0" tIns="0" bIns="0" anchor="t">
            <a:noAutofit/>
          </a:bodyPr>
          <a:lstStyle/>
          <a:p>
            <a:pPr algn="l">
              <a:lnSpc>
                <a:spcPct val="100000"/>
              </a:lnSpc>
            </a:pPr>
            <a:r>
              <a:rPr sz="800" b="0" spc="100">
                <a:solidFill>
                  <a:srgbClr val="8A8078"/>
                </a:solidFill>
                <a:latin typeface="Consolas"/>
              </a:rPr>
              <a:t>GRADIENT BOOSTING, F1 ON LATE FIRES</a:t>
            </a:r>
          </a:p>
        </p:txBody>
      </p:sp>
      <p:sp>
        <p:nvSpPr>
          <p:cNvPr id="31" name="TextBox 30"/>
          <p:cNvSpPr txBox="1"/>
          <p:nvPr/>
        </p:nvSpPr>
        <p:spPr>
          <a:xfrm>
            <a:off x="7456406" y="4553712"/>
            <a:ext cx="1737360" cy="512064"/>
          </a:xfrm>
          <a:prstGeom prst="rect">
            <a:avLst/>
          </a:prstGeom>
          <a:noFill/>
        </p:spPr>
        <p:txBody>
          <a:bodyPr wrap="square" lIns="0" rIns="0" tIns="0" bIns="0" anchor="t">
            <a:noAutofit/>
          </a:bodyPr>
          <a:lstStyle/>
          <a:p>
            <a:pPr algn="l">
              <a:lnSpc>
                <a:spcPct val="100000"/>
              </a:lnSpc>
            </a:pPr>
            <a:r>
              <a:rPr sz="3000" b="0">
                <a:solidFill>
                  <a:srgbClr val="5C554F"/>
                </a:solidFill>
                <a:latin typeface="Franklin Gothic Demi"/>
              </a:rPr>
              <a:t>0.420</a:t>
            </a:r>
          </a:p>
        </p:txBody>
      </p:sp>
      <p:sp>
        <p:nvSpPr>
          <p:cNvPr id="32" name="TextBox 31"/>
          <p:cNvSpPr txBox="1"/>
          <p:nvPr/>
        </p:nvSpPr>
        <p:spPr>
          <a:xfrm>
            <a:off x="7456406" y="4992624"/>
            <a:ext cx="1737360" cy="219456"/>
          </a:xfrm>
          <a:prstGeom prst="rect">
            <a:avLst/>
          </a:prstGeom>
          <a:noFill/>
        </p:spPr>
        <p:txBody>
          <a:bodyPr wrap="square" lIns="0" rIns="0" tIns="0" bIns="0" anchor="t">
            <a:noAutofit/>
          </a:bodyPr>
          <a:lstStyle/>
          <a:p>
            <a:pPr algn="l">
              <a:lnSpc>
                <a:spcPct val="100000"/>
              </a:lnSpc>
            </a:pPr>
            <a:r>
              <a:rPr sz="900" b="0">
                <a:solidFill>
                  <a:srgbClr val="8A8078"/>
                </a:solidFill>
                <a:latin typeface="Consolas"/>
              </a:rPr>
              <a:t>unweighted</a:t>
            </a:r>
          </a:p>
        </p:txBody>
      </p:sp>
      <p:sp>
        <p:nvSpPr>
          <p:cNvPr id="33" name="TextBox 32"/>
          <p:cNvSpPr txBox="1"/>
          <p:nvPr/>
        </p:nvSpPr>
        <p:spPr>
          <a:xfrm>
            <a:off x="9266918" y="4553712"/>
            <a:ext cx="1737360" cy="512064"/>
          </a:xfrm>
          <a:prstGeom prst="rect">
            <a:avLst/>
          </a:prstGeom>
          <a:noFill/>
        </p:spPr>
        <p:txBody>
          <a:bodyPr wrap="square" lIns="0" rIns="0" tIns="0" bIns="0" anchor="t">
            <a:noAutofit/>
          </a:bodyPr>
          <a:lstStyle/>
          <a:p>
            <a:pPr algn="l">
              <a:lnSpc>
                <a:spcPct val="100000"/>
              </a:lnSpc>
            </a:pPr>
            <a:r>
              <a:rPr sz="3000" b="0">
                <a:solidFill>
                  <a:srgbClr val="FF5A1E"/>
                </a:solidFill>
                <a:latin typeface="Franklin Gothic Demi"/>
              </a:rPr>
              <a:t>0.553</a:t>
            </a:r>
          </a:p>
        </p:txBody>
      </p:sp>
      <p:sp>
        <p:nvSpPr>
          <p:cNvPr id="34" name="TextBox 33"/>
          <p:cNvSpPr txBox="1"/>
          <p:nvPr/>
        </p:nvSpPr>
        <p:spPr>
          <a:xfrm>
            <a:off x="9266918" y="4992624"/>
            <a:ext cx="1737360" cy="219456"/>
          </a:xfrm>
          <a:prstGeom prst="rect">
            <a:avLst/>
          </a:prstGeom>
          <a:noFill/>
        </p:spPr>
        <p:txBody>
          <a:bodyPr wrap="square" lIns="0" rIns="0" tIns="0" bIns="0" anchor="t">
            <a:noAutofit/>
          </a:bodyPr>
          <a:lstStyle/>
          <a:p>
            <a:pPr algn="l">
              <a:lnSpc>
                <a:spcPct val="100000"/>
              </a:lnSpc>
            </a:pPr>
            <a:r>
              <a:rPr sz="900" b="0">
                <a:solidFill>
                  <a:srgbClr val="8A8078"/>
                </a:solidFill>
                <a:latin typeface="Consolas"/>
              </a:rPr>
              <a:t>weighted</a:t>
            </a:r>
          </a:p>
        </p:txBody>
      </p:sp>
      <p:cxnSp>
        <p:nvCxnSpPr>
          <p:cNvPr id="35" name="Connector 34"/>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49808" y="6345936"/>
            <a:ext cx="4900662"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Saira Zafar</a:t>
            </a:r>
          </a:p>
        </p:txBody>
      </p:sp>
      <p:sp>
        <p:nvSpPr>
          <p:cNvPr id="38" name="TextBox 37"/>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11/24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pic>
        <p:nvPicPr>
          <p:cNvPr id="2" name="Picture 1" descr="grid_dim.png"/>
          <p:cNvPicPr>
            <a:picLocks noChangeAspect="1"/>
          </p:cNvPicPr>
          <p:nvPr/>
        </p:nvPicPr>
        <p:blipFill>
          <a:blip r:embed="rId2"/>
          <a:stretch>
            <a:fillRect/>
          </a:stretch>
        </p:blipFill>
        <p:spPr>
          <a:xfrm>
            <a:off x="8260049" y="-201168"/>
            <a:ext cx="3931920" cy="7260336"/>
          </a:xfrm>
          <a:prstGeom prst="rect">
            <a:avLst/>
          </a:prstGeom>
        </p:spPr>
      </p:pic>
      <p:cxnSp>
        <p:nvCxnSpPr>
          <p:cNvPr id="3" name="Connector 2"/>
          <p:cNvCxnSpPr/>
          <p:nvPr/>
        </p:nvCxnSpPr>
        <p:spPr>
          <a:xfrm>
            <a:off x="8260049" y="0"/>
            <a:ext cx="0" cy="6858000"/>
          </a:xfrm>
          <a:prstGeom prst="line">
            <a:avLst/>
          </a:prstGeom>
          <a:ln w="12700">
            <a:solidFill>
              <a:srgbClr val="332E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011680" y="960120"/>
            <a:ext cx="5577840" cy="3291840"/>
          </a:xfrm>
          <a:prstGeom prst="rect">
            <a:avLst/>
          </a:prstGeom>
          <a:noFill/>
        </p:spPr>
        <p:txBody>
          <a:bodyPr wrap="square" lIns="0" rIns="0" tIns="0" bIns="0" anchor="t">
            <a:noAutofit/>
          </a:bodyPr>
          <a:lstStyle/>
          <a:p>
            <a:pPr algn="r">
              <a:lnSpc>
                <a:spcPct val="88000"/>
              </a:lnSpc>
            </a:pPr>
            <a:r>
              <a:rPr sz="19600" b="0" spc="-400">
                <a:solidFill>
                  <a:srgbClr val="1F1B18"/>
                </a:solidFill>
                <a:latin typeface="Franklin Gothic Demi"/>
              </a:rPr>
              <a:t>03</a:t>
            </a:r>
          </a:p>
        </p:txBody>
      </p:sp>
      <p:cxnSp>
        <p:nvCxnSpPr>
          <p:cNvPr id="5" name="Connector 4"/>
          <p:cNvCxnSpPr/>
          <p:nvPr/>
        </p:nvCxnSpPr>
        <p:spPr>
          <a:xfrm>
            <a:off x="749808" y="2304288"/>
            <a:ext cx="1188720" cy="0"/>
          </a:xfrm>
          <a:prstGeom prst="line">
            <a:avLst/>
          </a:prstGeom>
          <a:ln w="33020">
            <a:solidFill>
              <a:srgbClr val="FF5A1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523744"/>
            <a:ext cx="5273024" cy="219456"/>
          </a:xfrm>
          <a:prstGeom prst="rect">
            <a:avLst/>
          </a:prstGeom>
          <a:noFill/>
        </p:spPr>
        <p:txBody>
          <a:bodyPr wrap="square" lIns="0" rIns="0" tIns="0" bIns="0" anchor="t">
            <a:noAutofit/>
          </a:bodyPr>
          <a:lstStyle/>
          <a:p>
            <a:pPr algn="l">
              <a:lnSpc>
                <a:spcPct val="100000"/>
              </a:lnSpc>
            </a:pPr>
            <a:r>
              <a:rPr sz="900" b="0" spc="240">
                <a:solidFill>
                  <a:srgbClr val="8A8078"/>
                </a:solidFill>
                <a:latin typeface="Consolas"/>
              </a:rPr>
              <a:t>ACT THREE</a:t>
            </a:r>
          </a:p>
        </p:txBody>
      </p:sp>
      <p:sp>
        <p:nvSpPr>
          <p:cNvPr id="7" name="TextBox 6"/>
          <p:cNvSpPr txBox="1"/>
          <p:nvPr/>
        </p:nvSpPr>
        <p:spPr>
          <a:xfrm>
            <a:off x="749808" y="2834640"/>
            <a:ext cx="5273024" cy="1280160"/>
          </a:xfrm>
          <a:prstGeom prst="rect">
            <a:avLst/>
          </a:prstGeom>
          <a:noFill/>
        </p:spPr>
        <p:txBody>
          <a:bodyPr wrap="square" lIns="0" rIns="0" tIns="0" bIns="0" anchor="t">
            <a:noAutofit/>
          </a:bodyPr>
          <a:lstStyle/>
          <a:p>
            <a:pPr algn="l">
              <a:lnSpc>
                <a:spcPct val="104000"/>
              </a:lnSpc>
            </a:pPr>
            <a:r>
              <a:rPr sz="4400" b="0" spc="-80">
                <a:solidFill>
                  <a:srgbClr val="F4EFE9"/>
                </a:solidFill>
                <a:latin typeface="Franklin Gothic Demi"/>
              </a:rPr>
              <a:t>Does it actually work?</a:t>
            </a:r>
          </a:p>
        </p:txBody>
      </p:sp>
      <p:sp>
        <p:nvSpPr>
          <p:cNvPr id="8" name="TextBox 7"/>
          <p:cNvSpPr txBox="1"/>
          <p:nvPr/>
        </p:nvSpPr>
        <p:spPr>
          <a:xfrm>
            <a:off x="749808" y="4352544"/>
            <a:ext cx="4998704" cy="1005840"/>
          </a:xfrm>
          <a:prstGeom prst="rect">
            <a:avLst/>
          </a:prstGeom>
          <a:noFill/>
        </p:spPr>
        <p:txBody>
          <a:bodyPr wrap="square" lIns="0" rIns="0" tIns="0" bIns="0" anchor="t">
            <a:noAutofit/>
          </a:bodyPr>
          <a:lstStyle/>
          <a:p>
            <a:pPr algn="l">
              <a:lnSpc>
                <a:spcPct val="152000"/>
              </a:lnSpc>
            </a:pPr>
            <a:r>
              <a:rPr sz="1350" b="0">
                <a:solidFill>
                  <a:srgbClr val="BDB4AB"/>
                </a:solidFill>
                <a:latin typeface="Franklin Gothic Book"/>
              </a:rPr>
              <a:t>Scores on years the models never saw, sixty-six separate re-tests, and the twenty-three experiments behind the one we kept.</a:t>
            </a:r>
          </a:p>
        </p:txBody>
      </p:sp>
      <p:sp>
        <p:nvSpPr>
          <p:cNvPr id="9" name="TextBox 8"/>
          <p:cNvSpPr txBox="1"/>
          <p:nvPr/>
        </p:nvSpPr>
        <p:spPr>
          <a:xfrm>
            <a:off x="749808" y="5522976"/>
            <a:ext cx="5273024" cy="274320"/>
          </a:xfrm>
          <a:prstGeom prst="rect">
            <a:avLst/>
          </a:prstGeom>
          <a:noFill/>
        </p:spPr>
        <p:txBody>
          <a:bodyPr wrap="square" lIns="0" rIns="0" tIns="0" bIns="0" anchor="t">
            <a:noAutofit/>
          </a:bodyPr>
          <a:lstStyle/>
          <a:p>
            <a:pPr algn="l">
              <a:lnSpc>
                <a:spcPct val="100000"/>
              </a:lnSpc>
            </a:pPr>
            <a:r>
              <a:rPr sz="1000" b="0" spc="80">
                <a:solidFill>
                  <a:srgbClr val="FF5A1E"/>
                </a:solidFill>
                <a:latin typeface="Consolas"/>
              </a:rPr>
              <a:t>Tharushi Wimalachandra</a:t>
            </a:r>
          </a:p>
        </p:txBody>
      </p:sp>
      <p:cxnSp>
        <p:nvCxnSpPr>
          <p:cNvPr id="10" name="Connector 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5346176"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12/24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RESULTS</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Gradient boosting wins, and every model beats the baselines.</a:t>
            </a:r>
          </a:p>
        </p:txBody>
      </p:sp>
      <p:pic>
        <p:nvPicPr>
          <p:cNvPr id="5" name="Picture 4" descr="models.png"/>
          <p:cNvPicPr>
            <a:picLocks noChangeAspect="1"/>
          </p:cNvPicPr>
          <p:nvPr/>
        </p:nvPicPr>
        <p:blipFill>
          <a:blip r:embed="rId2"/>
          <a:stretch>
            <a:fillRect/>
          </a:stretch>
        </p:blipFill>
        <p:spPr>
          <a:xfrm>
            <a:off x="585215" y="1773936"/>
            <a:ext cx="7187184" cy="3895484"/>
          </a:xfrm>
          <a:prstGeom prst="rect">
            <a:avLst/>
          </a:prstGeom>
        </p:spPr>
      </p:pic>
      <p:sp>
        <p:nvSpPr>
          <p:cNvPr id="6" name="Rectangle 5"/>
          <p:cNvSpPr/>
          <p:nvPr/>
        </p:nvSpPr>
        <p:spPr>
          <a:xfrm>
            <a:off x="7975579" y="1810512"/>
            <a:ext cx="3466581" cy="4169663"/>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975579" y="1810512"/>
            <a:ext cx="32004" cy="4169663"/>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04763" y="2066543"/>
            <a:ext cx="2808213" cy="310896"/>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Read it this way</a:t>
            </a:r>
          </a:p>
        </p:txBody>
      </p:sp>
      <p:sp>
        <p:nvSpPr>
          <p:cNvPr id="9" name="TextBox 8"/>
          <p:cNvSpPr txBox="1"/>
          <p:nvPr/>
        </p:nvSpPr>
        <p:spPr>
          <a:xfrm>
            <a:off x="8304763" y="2505456"/>
            <a:ext cx="2808213" cy="3108960"/>
          </a:xfrm>
          <a:prstGeom prst="rect">
            <a:avLst/>
          </a:prstGeom>
          <a:noFill/>
        </p:spPr>
        <p:txBody>
          <a:bodyPr wrap="square" lIns="0" rIns="0" tIns="0" bIns="0" anchor="t">
            <a:noAutofit/>
          </a:bodyPr>
          <a:lstStyle/>
          <a:p>
            <a:pPr algn="l">
              <a:lnSpc>
                <a:spcPct val="148000"/>
              </a:lnSpc>
            </a:pPr>
            <a:r>
              <a:rPr sz="1150" b="0">
                <a:solidFill>
                  <a:srgbClr val="BDB4AB"/>
                </a:solidFill>
                <a:latin typeface="Franklin Gothic Book"/>
              </a:rPr>
              <a:t>Balanced F1 treats all three answers as equally important, so a model cannot score well by ignoring the rare ones.</a:t>
            </a:r>
          </a:p>
          <a:p>
            <a:pPr algn="l">
              <a:lnSpc>
                <a:spcPct val="148000"/>
              </a:lnSpc>
              <a:spcBef>
                <a:spcPts val="1008"/>
              </a:spcBef>
            </a:pPr>
            <a:r>
              <a:rPr sz="1150" b="0">
                <a:solidFill>
                  <a:srgbClr val="BDB4AB"/>
                </a:solidFill>
                <a:latin typeface="Franklin Gothic Book"/>
              </a:rPr>
              <a:t>The number to watch is the gap to “same as last year” at 0.506. That is what a fire officer already knows without us. Gradient boosting adds 0.178 on top of it.</a:t>
            </a:r>
          </a:p>
          <a:p>
            <a:pPr algn="l">
              <a:lnSpc>
                <a:spcPct val="148000"/>
              </a:lnSpc>
              <a:spcBef>
                <a:spcPts val="1008"/>
              </a:spcBef>
            </a:pPr>
            <a:r>
              <a:rPr sz="1150" b="0">
                <a:solidFill>
                  <a:srgbClr val="FF5A1E"/>
                </a:solidFill>
                <a:latin typeface="Franklin Gothic Book"/>
              </a:rPr>
              <a:t>Accuracy on the same years is 0.725.</a:t>
            </a:r>
          </a:p>
        </p:txBody>
      </p:sp>
      <p:cxnSp>
        <p:nvCxnSpPr>
          <p:cNvPr id="10" name="Connector 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5791691"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13" name="TextBox 12"/>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13/24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WHAT THE DATA BOUGHT</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Weather earned its place. Greenness earned less, and we said so.</a:t>
            </a:r>
          </a:p>
        </p:txBody>
      </p:sp>
      <p:pic>
        <p:nvPicPr>
          <p:cNvPr id="5" name="Picture 4" descr="layers.png"/>
          <p:cNvPicPr>
            <a:picLocks noChangeAspect="1"/>
          </p:cNvPicPr>
          <p:nvPr/>
        </p:nvPicPr>
        <p:blipFill>
          <a:blip r:embed="rId2"/>
          <a:stretch>
            <a:fillRect/>
          </a:stretch>
        </p:blipFill>
        <p:spPr>
          <a:xfrm>
            <a:off x="603503" y="1883664"/>
            <a:ext cx="6309360" cy="3982900"/>
          </a:xfrm>
          <a:prstGeom prst="rect">
            <a:avLst/>
          </a:prstGeom>
        </p:spPr>
      </p:pic>
      <p:cxnSp>
        <p:nvCxnSpPr>
          <p:cNvPr id="6" name="Connector 5"/>
          <p:cNvCxnSpPr/>
          <p:nvPr/>
        </p:nvCxnSpPr>
        <p:spPr>
          <a:xfrm>
            <a:off x="6999206" y="1920240"/>
            <a:ext cx="0" cy="393192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072358" y="1920240"/>
            <a:ext cx="4369803" cy="3931920"/>
          </a:xfrm>
          <a:prstGeom prst="rect">
            <a:avLst/>
          </a:prstGeom>
          <a:noFill/>
        </p:spPr>
        <p:txBody>
          <a:bodyPr wrap="square" lIns="0" rIns="0" tIns="0" bIns="0" anchor="t">
            <a:noAutofit/>
          </a:bodyPr>
          <a:lstStyle/>
          <a:p>
            <a:pPr algn="l">
              <a:lnSpc>
                <a:spcPct val="150000"/>
              </a:lnSpc>
            </a:pPr>
            <a:r>
              <a:rPr sz="1300" b="0">
                <a:solidFill>
                  <a:srgbClr val="F4EFE9"/>
                </a:solidFill>
                <a:latin typeface="Franklin Gothic Book"/>
              </a:rPr>
              <a:t>Adding the weather was the single biggest step in the project — +0.035, from knowing how wet the wet season was.</a:t>
            </a:r>
          </a:p>
          <a:p>
            <a:pPr algn="l">
              <a:lnSpc>
                <a:spcPct val="150000"/>
              </a:lnSpc>
              <a:spcBef>
                <a:spcPts val="1440"/>
              </a:spcBef>
            </a:pPr>
            <a:r>
              <a:rPr sz="1200" b="0">
                <a:solidFill>
                  <a:srgbClr val="BDB4AB"/>
                </a:solidFill>
                <a:latin typeface="Franklin Gothic Book"/>
              </a:rPr>
              <a:t>The third run adds greenness, longer fire memory and elevation together, for +0.010. Isolated in the experiment ledger, greenness on its own is worth +0.029.</a:t>
            </a:r>
          </a:p>
          <a:p>
            <a:pPr algn="l">
              <a:lnSpc>
                <a:spcPct val="150000"/>
              </a:lnSpc>
              <a:spcBef>
                <a:spcPts val="1440"/>
              </a:spcBef>
            </a:pPr>
            <a:r>
              <a:rPr sz="1200" b="0">
                <a:solidFill>
                  <a:srgbClr val="BDB4AB"/>
                </a:solidFill>
                <a:latin typeface="Franklin Gothic Book"/>
              </a:rPr>
              <a:t>We kept it, because it holds up on years the model never saw and because two of the model's five strongest inputs turn out to be greenness — even though Earth Engine cost ten minutes a run against sixty seconds for everything else.</a:t>
            </a:r>
          </a:p>
        </p:txBody>
      </p:sp>
      <p:cxnSp>
        <p:nvCxnSpPr>
          <p:cNvPr id="8" name="Connector 7"/>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8" y="6345936"/>
            <a:ext cx="6237206"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11" name="TextBox 10"/>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14/24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WALK-FORWARD TESTING</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One good year could be luck. So we did it sixty-six times.</a:t>
            </a:r>
          </a:p>
        </p:txBody>
      </p:sp>
      <p:sp>
        <p:nvSpPr>
          <p:cNvPr id="5" name="TextBox 4"/>
          <p:cNvSpPr txBox="1"/>
          <p:nvPr/>
        </p:nvSpPr>
        <p:spPr>
          <a:xfrm>
            <a:off x="749808" y="1828800"/>
            <a:ext cx="9789132" cy="475488"/>
          </a:xfrm>
          <a:prstGeom prst="rect">
            <a:avLst/>
          </a:prstGeom>
          <a:noFill/>
        </p:spPr>
        <p:txBody>
          <a:bodyPr wrap="square" lIns="0" rIns="0" tIns="0" bIns="0" anchor="t">
            <a:noAutofit/>
          </a:bodyPr>
          <a:lstStyle/>
          <a:p>
            <a:pPr algn="l">
              <a:lnSpc>
                <a:spcPct val="142000"/>
              </a:lnSpc>
            </a:pPr>
            <a:r>
              <a:rPr sz="1250" b="0">
                <a:solidFill>
                  <a:srgbClr val="8A8078"/>
                </a:solidFill>
                <a:latin typeface="Franklin Gothic Book"/>
              </a:rPr>
              <a:t>We cut the record at each year from 2014 to 2024, let the model learn only what came before the cut, and scored it on every year after — 66 separate tests.</a:t>
            </a:r>
          </a:p>
        </p:txBody>
      </p:sp>
      <p:pic>
        <p:nvPicPr>
          <p:cNvPr id="6" name="Picture 5" descr="walk.png"/>
          <p:cNvPicPr>
            <a:picLocks noChangeAspect="1"/>
          </p:cNvPicPr>
          <p:nvPr/>
        </p:nvPicPr>
        <p:blipFill>
          <a:blip r:embed="rId2"/>
          <a:stretch>
            <a:fillRect/>
          </a:stretch>
        </p:blipFill>
        <p:spPr>
          <a:xfrm>
            <a:off x="585215" y="2432304"/>
            <a:ext cx="7187184" cy="3499112"/>
          </a:xfrm>
          <a:prstGeom prst="rect">
            <a:avLst/>
          </a:prstGeom>
        </p:spPr>
      </p:pic>
      <p:sp>
        <p:nvSpPr>
          <p:cNvPr id="7" name="Rectangle 6"/>
          <p:cNvSpPr/>
          <p:nvPr/>
        </p:nvSpPr>
        <p:spPr>
          <a:xfrm>
            <a:off x="7975579" y="2468880"/>
            <a:ext cx="3466581" cy="3108960"/>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75579" y="2468880"/>
            <a:ext cx="32004" cy="3108960"/>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4763" y="2724912"/>
            <a:ext cx="2808213" cy="310896"/>
          </a:xfrm>
          <a:prstGeom prst="rect">
            <a:avLst/>
          </a:prstGeom>
          <a:noFill/>
        </p:spPr>
        <p:txBody>
          <a:bodyPr wrap="square" lIns="0" rIns="0" tIns="0" bIns="0" anchor="t">
            <a:noAutofit/>
          </a:bodyPr>
          <a:lstStyle/>
          <a:p>
            <a:pPr algn="l">
              <a:lnSpc>
                <a:spcPct val="100000"/>
              </a:lnSpc>
            </a:pPr>
            <a:r>
              <a:rPr sz="1600" b="0">
                <a:solidFill>
                  <a:srgbClr val="F4EFE9"/>
                </a:solidFill>
                <a:latin typeface="Franklin Gothic Demi"/>
              </a:rPr>
              <a:t>The surprise</a:t>
            </a:r>
          </a:p>
        </p:txBody>
      </p:sp>
      <p:sp>
        <p:nvSpPr>
          <p:cNvPr id="10" name="TextBox 9"/>
          <p:cNvSpPr txBox="1"/>
          <p:nvPr/>
        </p:nvSpPr>
        <p:spPr>
          <a:xfrm>
            <a:off x="8304763" y="3163824"/>
            <a:ext cx="2808213" cy="2194560"/>
          </a:xfrm>
          <a:prstGeom prst="rect">
            <a:avLst/>
          </a:prstGeom>
          <a:noFill/>
        </p:spPr>
        <p:txBody>
          <a:bodyPr wrap="square" lIns="0" rIns="0" tIns="0" bIns="0" anchor="t">
            <a:noAutofit/>
          </a:bodyPr>
          <a:lstStyle/>
          <a:p>
            <a:pPr algn="l">
              <a:lnSpc>
                <a:spcPct val="148000"/>
              </a:lnSpc>
            </a:pPr>
            <a:r>
              <a:rPr sz="1150" b="0">
                <a:solidFill>
                  <a:srgbClr val="BDB4AB"/>
                </a:solidFill>
                <a:latin typeface="Franklin Gothic Book"/>
              </a:rPr>
              <a:t>Skill does not fade with distance. Guessing one year ahead scores 0.635; eleven years ahead it still scores 0.604.</a:t>
            </a:r>
          </a:p>
          <a:p>
            <a:pPr algn="l">
              <a:lnSpc>
                <a:spcPct val="148000"/>
              </a:lnSpc>
              <a:spcBef>
                <a:spcPts val="1152"/>
              </a:spcBef>
            </a:pPr>
            <a:r>
              <a:rPr sz="1150" b="0">
                <a:solidFill>
                  <a:srgbClr val="BDB4AB"/>
                </a:solidFill>
                <a:latin typeface="Franklin Gothic Book"/>
              </a:rPr>
              <a:t>That is not the model being clever. It is telling us the strongest clue is the wet season just gone, which is known by the end of April however old the fire history is.</a:t>
            </a:r>
          </a:p>
        </p:txBody>
      </p:sp>
      <p:cxnSp>
        <p:nvCxnSpPr>
          <p:cNvPr id="11" name="Connector 10"/>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8" y="6345936"/>
            <a:ext cx="6682720"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14" name="TextBox 13"/>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15/24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LEDGER</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2900" b="0" spc="-20">
                <a:solidFill>
                  <a:srgbClr val="F4EFE9"/>
                </a:solidFill>
                <a:latin typeface="Franklin Gothic Demi"/>
              </a:rPr>
              <a:t>Twenty-three experiments against a fixed benchmark. One was kept.</a:t>
            </a:r>
          </a:p>
        </p:txBody>
      </p:sp>
      <p:pic>
        <p:nvPicPr>
          <p:cNvPr id="5" name="Picture 4" descr="experiments.png"/>
          <p:cNvPicPr>
            <a:picLocks noChangeAspect="1"/>
          </p:cNvPicPr>
          <p:nvPr/>
        </p:nvPicPr>
        <p:blipFill>
          <a:blip r:embed="rId2"/>
          <a:stretch>
            <a:fillRect/>
          </a:stretch>
        </p:blipFill>
        <p:spPr>
          <a:xfrm>
            <a:off x="566927" y="1810512"/>
            <a:ext cx="7242048" cy="3797538"/>
          </a:xfrm>
          <a:prstGeom prst="rect">
            <a:avLst/>
          </a:prstGeom>
        </p:spPr>
      </p:pic>
      <p:sp>
        <p:nvSpPr>
          <p:cNvPr id="6" name="Rectangle 5"/>
          <p:cNvSpPr/>
          <p:nvPr/>
        </p:nvSpPr>
        <p:spPr>
          <a:xfrm>
            <a:off x="8067019" y="1847088"/>
            <a:ext cx="3375141" cy="4059936"/>
          </a:xfrm>
          <a:prstGeom prst="rect">
            <a:avLst/>
          </a:prstGeom>
          <a:solidFill>
            <a:srgbClr val="171513"/>
          </a:solidFill>
          <a:ln w="9525">
            <a:solidFill>
              <a:srgbClr val="332E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67019" y="1847088"/>
            <a:ext cx="32004" cy="405993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96203" y="2103120"/>
            <a:ext cx="2716773" cy="548640"/>
          </a:xfrm>
          <a:prstGeom prst="rect">
            <a:avLst/>
          </a:prstGeom>
          <a:noFill/>
        </p:spPr>
        <p:txBody>
          <a:bodyPr wrap="square" lIns="0" rIns="0" tIns="0" bIns="0" anchor="t">
            <a:noAutofit/>
          </a:bodyPr>
          <a:lstStyle/>
          <a:p>
            <a:pPr algn="l">
              <a:lnSpc>
                <a:spcPct val="112000"/>
              </a:lnSpc>
            </a:pPr>
            <a:r>
              <a:rPr sz="1550" b="0">
                <a:solidFill>
                  <a:srgbClr val="F4EFE9"/>
                </a:solidFill>
                <a:latin typeface="Franklin Gothic Demi"/>
              </a:rPr>
              <a:t>Including the one that failed</a:t>
            </a:r>
          </a:p>
        </p:txBody>
      </p:sp>
      <p:sp>
        <p:nvSpPr>
          <p:cNvPr id="9" name="TextBox 8"/>
          <p:cNvSpPr txBox="1"/>
          <p:nvPr/>
        </p:nvSpPr>
        <p:spPr>
          <a:xfrm>
            <a:off x="8396203" y="2761488"/>
            <a:ext cx="2716773" cy="2926080"/>
          </a:xfrm>
          <a:prstGeom prst="rect">
            <a:avLst/>
          </a:prstGeom>
          <a:noFill/>
        </p:spPr>
        <p:txBody>
          <a:bodyPr wrap="square" lIns="0" rIns="0" tIns="0" bIns="0" anchor="t">
            <a:noAutofit/>
          </a:bodyPr>
          <a:lstStyle/>
          <a:p>
            <a:pPr algn="l">
              <a:lnSpc>
                <a:spcPct val="146000"/>
              </a:lnSpc>
            </a:pPr>
            <a:r>
              <a:rPr sz="1130" b="0">
                <a:solidFill>
                  <a:srgbClr val="BDB4AB"/>
                </a:solidFill>
                <a:latin typeface="Franklin Gothic Book"/>
              </a:rPr>
              <a:t>We built a U-Net over the whole grid to let a convolutional network read fire as a picture rather than a table of numbers.</a:t>
            </a:r>
          </a:p>
          <a:p>
            <a:pPr algn="l">
              <a:lnSpc>
                <a:spcPct val="146000"/>
              </a:lnSpc>
              <a:spcBef>
                <a:spcPts val="1152"/>
              </a:spcBef>
            </a:pPr>
            <a:r>
              <a:rPr sz="1130" b="0">
                <a:solidFill>
                  <a:srgbClr val="BDB4AB"/>
                </a:solidFill>
                <a:latin typeface="Franklin Gothic Book"/>
              </a:rPr>
              <a:t>It scored 0.588 — 0.048 below the benchmark — so it went in the ledger as a reverted run and stayed out of the final model.</a:t>
            </a:r>
          </a:p>
          <a:p>
            <a:pPr algn="l">
              <a:lnSpc>
                <a:spcPct val="146000"/>
              </a:lnSpc>
              <a:spcBef>
                <a:spcPts val="1152"/>
              </a:spcBef>
            </a:pPr>
            <a:r>
              <a:rPr sz="1130" b="0">
                <a:solidFill>
                  <a:srgbClr val="BDB4AB"/>
                </a:solidFill>
                <a:latin typeface="Franklin Gothic Book"/>
              </a:rPr>
              <a:t>Every run was scored the same way, against the same fixed benchmark, and recorded whether it helped or not.</a:t>
            </a:r>
          </a:p>
        </p:txBody>
      </p:sp>
      <p:cxnSp>
        <p:nvCxnSpPr>
          <p:cNvPr id="10" name="Connector 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7128235"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13" name="TextBox 12"/>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16/24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WHAT IT LEANS ON</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The model rediscovered what land managers already knew.</a:t>
            </a:r>
          </a:p>
        </p:txBody>
      </p:sp>
      <p:pic>
        <p:nvPicPr>
          <p:cNvPr id="5" name="Picture 4" descr="importance.png"/>
          <p:cNvPicPr>
            <a:picLocks noChangeAspect="1"/>
          </p:cNvPicPr>
          <p:nvPr/>
        </p:nvPicPr>
        <p:blipFill>
          <a:blip r:embed="rId2"/>
          <a:stretch>
            <a:fillRect/>
          </a:stretch>
        </p:blipFill>
        <p:spPr>
          <a:xfrm>
            <a:off x="566927" y="1847088"/>
            <a:ext cx="7296912" cy="3243980"/>
          </a:xfrm>
          <a:prstGeom prst="rect">
            <a:avLst/>
          </a:prstGeom>
        </p:spPr>
      </p:pic>
      <p:cxnSp>
        <p:nvCxnSpPr>
          <p:cNvPr id="6" name="Connector 5"/>
          <p:cNvCxnSpPr/>
          <p:nvPr/>
        </p:nvCxnSpPr>
        <p:spPr>
          <a:xfrm>
            <a:off x="8085307" y="1920240"/>
            <a:ext cx="0" cy="384048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158459" y="1920240"/>
            <a:ext cx="3283701" cy="3840480"/>
          </a:xfrm>
          <a:prstGeom prst="rect">
            <a:avLst/>
          </a:prstGeom>
          <a:noFill/>
        </p:spPr>
        <p:txBody>
          <a:bodyPr wrap="square" lIns="0" rIns="0" tIns="0" bIns="0" anchor="t">
            <a:noAutofit/>
          </a:bodyPr>
          <a:lstStyle/>
          <a:p>
            <a:pPr algn="l">
              <a:lnSpc>
                <a:spcPct val="150000"/>
              </a:lnSpc>
            </a:pPr>
            <a:r>
              <a:rPr sz="1260" b="0">
                <a:solidFill>
                  <a:srgbClr val="F4EFE9"/>
                </a:solidFill>
                <a:latin typeface="Franklin Gothic Book"/>
              </a:rPr>
              <a:t>Nobody told it that a wet, hot wet season grows the grass that carries an October fire. It found that in the data.</a:t>
            </a:r>
          </a:p>
          <a:p>
            <a:pPr algn="l">
              <a:lnSpc>
                <a:spcPct val="150000"/>
              </a:lnSpc>
              <a:spcBef>
                <a:spcPts val="1440"/>
              </a:spcBef>
            </a:pPr>
            <a:r>
              <a:rPr sz="1180" b="0">
                <a:solidFill>
                  <a:srgbClr val="BDB4AB"/>
                </a:solidFill>
                <a:latin typeface="Franklin Gothic Book"/>
              </a:rPr>
              <a:t>The top five inputs are the dryness of the air, average greenness, wet-season rainfall, what the neighbouring country did last year, and the lowest greenness of the wet.</a:t>
            </a:r>
          </a:p>
          <a:p>
            <a:pPr algn="l">
              <a:lnSpc>
                <a:spcPct val="150000"/>
              </a:lnSpc>
              <a:spcBef>
                <a:spcPts val="1440"/>
              </a:spcBef>
            </a:pPr>
            <a:r>
              <a:rPr sz="1180" b="0">
                <a:solidFill>
                  <a:srgbClr val="BDB4AB"/>
                </a:solidFill>
                <a:latin typeface="Franklin Gothic Book"/>
              </a:rPr>
              <a:t>That it lands where fire ecology already sits is the best evidence we have that it learned the problem rather than the dataset.</a:t>
            </a:r>
          </a:p>
        </p:txBody>
      </p:sp>
      <p:cxnSp>
        <p:nvCxnSpPr>
          <p:cNvPr id="8" name="Connector 7"/>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8" y="6345936"/>
            <a:ext cx="7573750"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11" name="TextBox 10"/>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17/24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LIMITATIONS</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What this does not do.</a:t>
            </a:r>
          </a:p>
        </p:txBody>
      </p:sp>
      <p:cxnSp>
        <p:nvCxnSpPr>
          <p:cNvPr id="5" name="Connector 4"/>
          <p:cNvCxnSpPr/>
          <p:nvPr/>
        </p:nvCxnSpPr>
        <p:spPr>
          <a:xfrm>
            <a:off x="749808" y="1828800"/>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749808" y="1828800"/>
            <a:ext cx="548640" cy="2011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048256"/>
            <a:ext cx="3375141" cy="310896"/>
          </a:xfrm>
          <a:prstGeom prst="rect">
            <a:avLst/>
          </a:prstGeom>
          <a:noFill/>
        </p:spPr>
        <p:txBody>
          <a:bodyPr wrap="square" lIns="0" rIns="0" tIns="0" bIns="0" anchor="t">
            <a:noAutofit/>
          </a:bodyPr>
          <a:lstStyle/>
          <a:p>
            <a:pPr algn="l">
              <a:lnSpc>
                <a:spcPct val="114000"/>
              </a:lnSpc>
            </a:pPr>
            <a:r>
              <a:rPr sz="1500" b="0">
                <a:solidFill>
                  <a:srgbClr val="F4EFE9"/>
                </a:solidFill>
                <a:latin typeface="Franklin Gothic Demi"/>
              </a:rPr>
              <a:t>Late fires are still the hardest call</a:t>
            </a:r>
          </a:p>
        </p:txBody>
      </p:sp>
      <p:sp>
        <p:nvSpPr>
          <p:cNvPr id="8" name="TextBox 7"/>
          <p:cNvSpPr txBox="1"/>
          <p:nvPr/>
        </p:nvSpPr>
        <p:spPr>
          <a:xfrm>
            <a:off x="749808" y="2414016"/>
            <a:ext cx="3375141" cy="219456"/>
          </a:xfrm>
          <a:prstGeom prst="rect">
            <a:avLst/>
          </a:prstGeom>
          <a:noFill/>
        </p:spPr>
        <p:txBody>
          <a:bodyPr wrap="square" lIns="0" rIns="0" tIns="0" bIns="0" anchor="t">
            <a:noAutofit/>
          </a:bodyPr>
          <a:lstStyle/>
          <a:p>
            <a:pPr algn="l">
              <a:lnSpc>
                <a:spcPct val="100000"/>
              </a:lnSpc>
            </a:pPr>
            <a:r>
              <a:rPr sz="900" b="0">
                <a:solidFill>
                  <a:srgbClr val="FF5A1E"/>
                </a:solidFill>
                <a:latin typeface="Consolas"/>
              </a:rPr>
              <a:t>balanced F1 0.553</a:t>
            </a:r>
          </a:p>
        </p:txBody>
      </p:sp>
      <p:sp>
        <p:nvSpPr>
          <p:cNvPr id="9" name="TextBox 8"/>
          <p:cNvSpPr txBox="1"/>
          <p:nvPr/>
        </p:nvSpPr>
        <p:spPr>
          <a:xfrm>
            <a:off x="5265915" y="2048256"/>
            <a:ext cx="6176246" cy="64008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The class that matters most is the one we predict worst. It is the rarest and the most weather-driven, and a year's weather after April is exactly what we refuse to look at.</a:t>
            </a:r>
          </a:p>
        </p:txBody>
      </p:sp>
      <p:cxnSp>
        <p:nvCxnSpPr>
          <p:cNvPr id="10" name="Connector 9"/>
          <p:cNvCxnSpPr/>
          <p:nvPr/>
        </p:nvCxnSpPr>
        <p:spPr>
          <a:xfrm>
            <a:off x="749808" y="2871215"/>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49808" y="2871215"/>
            <a:ext cx="548640" cy="2011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090672"/>
            <a:ext cx="3375141" cy="310896"/>
          </a:xfrm>
          <a:prstGeom prst="rect">
            <a:avLst/>
          </a:prstGeom>
          <a:noFill/>
        </p:spPr>
        <p:txBody>
          <a:bodyPr wrap="square" lIns="0" rIns="0" tIns="0" bIns="0" anchor="t">
            <a:noAutofit/>
          </a:bodyPr>
          <a:lstStyle/>
          <a:p>
            <a:pPr algn="l">
              <a:lnSpc>
                <a:spcPct val="114000"/>
              </a:lnSpc>
            </a:pPr>
            <a:r>
              <a:rPr sz="1500" b="0">
                <a:solidFill>
                  <a:srgbClr val="F4EFE9"/>
                </a:solidFill>
                <a:latin typeface="Franklin Gothic Demi"/>
              </a:rPr>
              <a:t>A season, not a day</a:t>
            </a:r>
          </a:p>
        </p:txBody>
      </p:sp>
      <p:sp>
        <p:nvSpPr>
          <p:cNvPr id="13" name="TextBox 12"/>
          <p:cNvSpPr txBox="1"/>
          <p:nvPr/>
        </p:nvSpPr>
        <p:spPr>
          <a:xfrm>
            <a:off x="5265915" y="3090672"/>
            <a:ext cx="6176246" cy="64008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This says which squares are likely to burn and roughly when. It does not say which Tuesday, and it is not a fire-danger rating.</a:t>
            </a:r>
          </a:p>
        </p:txBody>
      </p:sp>
      <p:cxnSp>
        <p:nvCxnSpPr>
          <p:cNvPr id="14" name="Connector 13"/>
          <p:cNvCxnSpPr/>
          <p:nvPr/>
        </p:nvCxnSpPr>
        <p:spPr>
          <a:xfrm>
            <a:off x="749808" y="3913631"/>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49808" y="3913631"/>
            <a:ext cx="548640" cy="2011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133087"/>
            <a:ext cx="3375141" cy="310896"/>
          </a:xfrm>
          <a:prstGeom prst="rect">
            <a:avLst/>
          </a:prstGeom>
          <a:noFill/>
        </p:spPr>
        <p:txBody>
          <a:bodyPr wrap="square" lIns="0" rIns="0" tIns="0" bIns="0" anchor="t">
            <a:noAutofit/>
          </a:bodyPr>
          <a:lstStyle/>
          <a:p>
            <a:pPr algn="l">
              <a:lnSpc>
                <a:spcPct val="114000"/>
              </a:lnSpc>
            </a:pPr>
            <a:r>
              <a:rPr sz="1500" b="0">
                <a:solidFill>
                  <a:srgbClr val="F4EFE9"/>
                </a:solidFill>
                <a:latin typeface="Franklin Gothic Demi"/>
              </a:rPr>
              <a:t>2026 is unverified</a:t>
            </a:r>
          </a:p>
        </p:txBody>
      </p:sp>
      <p:sp>
        <p:nvSpPr>
          <p:cNvPr id="17" name="TextBox 16"/>
          <p:cNvSpPr txBox="1"/>
          <p:nvPr/>
        </p:nvSpPr>
        <p:spPr>
          <a:xfrm>
            <a:off x="5265915" y="4133087"/>
            <a:ext cx="6176246" cy="64008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No burnt-area record exists for a year still running. The forecast is published as a claim that can be checked in 2027, not as a result.</a:t>
            </a:r>
          </a:p>
        </p:txBody>
      </p:sp>
      <p:cxnSp>
        <p:nvCxnSpPr>
          <p:cNvPr id="18" name="Connector 17"/>
          <p:cNvCxnSpPr/>
          <p:nvPr/>
        </p:nvCxnSpPr>
        <p:spPr>
          <a:xfrm>
            <a:off x="749808" y="4956047"/>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49808" y="4956047"/>
            <a:ext cx="548640" cy="20116"/>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175503"/>
            <a:ext cx="3375141" cy="310896"/>
          </a:xfrm>
          <a:prstGeom prst="rect">
            <a:avLst/>
          </a:prstGeom>
          <a:noFill/>
        </p:spPr>
        <p:txBody>
          <a:bodyPr wrap="square" lIns="0" rIns="0" tIns="0" bIns="0" anchor="t">
            <a:noAutofit/>
          </a:bodyPr>
          <a:lstStyle/>
          <a:p>
            <a:pPr algn="l">
              <a:lnSpc>
                <a:spcPct val="114000"/>
              </a:lnSpc>
            </a:pPr>
            <a:r>
              <a:rPr sz="1500" b="0">
                <a:solidFill>
                  <a:srgbClr val="F4EFE9"/>
                </a:solidFill>
                <a:latin typeface="Franklin Gothic Demi"/>
              </a:rPr>
              <a:t>One Territory, one grid</a:t>
            </a:r>
          </a:p>
        </p:txBody>
      </p:sp>
      <p:sp>
        <p:nvSpPr>
          <p:cNvPr id="21" name="TextBox 20"/>
          <p:cNvSpPr txBox="1"/>
          <p:nvPr/>
        </p:nvSpPr>
        <p:spPr>
          <a:xfrm>
            <a:off x="5265915" y="5175503"/>
            <a:ext cx="6176246" cy="640080"/>
          </a:xfrm>
          <a:prstGeom prst="rect">
            <a:avLst/>
          </a:prstGeom>
          <a:noFill/>
        </p:spPr>
        <p:txBody>
          <a:bodyPr wrap="square" lIns="0" rIns="0" tIns="0" bIns="0" anchor="t">
            <a:noAutofit/>
          </a:bodyPr>
          <a:lstStyle/>
          <a:p>
            <a:pPr algn="l">
              <a:lnSpc>
                <a:spcPct val="144000"/>
              </a:lnSpc>
            </a:pPr>
            <a:r>
              <a:rPr sz="1150" b="0">
                <a:solidFill>
                  <a:srgbClr val="BDB4AB"/>
                </a:solidFill>
                <a:latin typeface="Franklin Gothic Book"/>
              </a:rPr>
              <a:t>Everything is fitted to the NT at 0.05°. Whether it transfers to the Kimberley or Cape York is an open question, not an assumption.</a:t>
            </a:r>
          </a:p>
        </p:txBody>
      </p:sp>
      <p:cxnSp>
        <p:nvCxnSpPr>
          <p:cNvPr id="22" name="Connector 21"/>
          <p:cNvCxnSpPr/>
          <p:nvPr/>
        </p:nvCxnSpPr>
        <p:spPr>
          <a:xfrm>
            <a:off x="749808" y="5998463"/>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9808" y="6345936"/>
            <a:ext cx="8019265"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Tharushi Wimalachandra</a:t>
            </a:r>
          </a:p>
        </p:txBody>
      </p:sp>
      <p:sp>
        <p:nvSpPr>
          <p:cNvPr id="26" name="TextBox 25"/>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pic>
        <p:nvPicPr>
          <p:cNvPr id="2" name="Picture 1" descr="grid_dim.png"/>
          <p:cNvPicPr>
            <a:picLocks noChangeAspect="1"/>
          </p:cNvPicPr>
          <p:nvPr/>
        </p:nvPicPr>
        <p:blipFill>
          <a:blip r:embed="rId2"/>
          <a:stretch>
            <a:fillRect/>
          </a:stretch>
        </p:blipFill>
        <p:spPr>
          <a:xfrm>
            <a:off x="8260049" y="-201168"/>
            <a:ext cx="3931920" cy="7260336"/>
          </a:xfrm>
          <a:prstGeom prst="rect">
            <a:avLst/>
          </a:prstGeom>
        </p:spPr>
      </p:pic>
      <p:cxnSp>
        <p:nvCxnSpPr>
          <p:cNvPr id="3" name="Connector 2"/>
          <p:cNvCxnSpPr/>
          <p:nvPr/>
        </p:nvCxnSpPr>
        <p:spPr>
          <a:xfrm>
            <a:off x="8260049" y="0"/>
            <a:ext cx="0" cy="6858000"/>
          </a:xfrm>
          <a:prstGeom prst="line">
            <a:avLst/>
          </a:prstGeom>
          <a:ln w="12700">
            <a:solidFill>
              <a:srgbClr val="332E2A"/>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011680" y="960120"/>
            <a:ext cx="5577840" cy="3291840"/>
          </a:xfrm>
          <a:prstGeom prst="rect">
            <a:avLst/>
          </a:prstGeom>
          <a:noFill/>
        </p:spPr>
        <p:txBody>
          <a:bodyPr wrap="square" lIns="0" rIns="0" tIns="0" bIns="0" anchor="t">
            <a:noAutofit/>
          </a:bodyPr>
          <a:lstStyle/>
          <a:p>
            <a:pPr algn="r">
              <a:lnSpc>
                <a:spcPct val="88000"/>
              </a:lnSpc>
            </a:pPr>
            <a:r>
              <a:rPr sz="19600" b="0" spc="-400">
                <a:solidFill>
                  <a:srgbClr val="1F1B18"/>
                </a:solidFill>
                <a:latin typeface="Franklin Gothic Demi"/>
              </a:rPr>
              <a:t>04</a:t>
            </a:r>
          </a:p>
        </p:txBody>
      </p:sp>
      <p:cxnSp>
        <p:nvCxnSpPr>
          <p:cNvPr id="5" name="Connector 4"/>
          <p:cNvCxnSpPr/>
          <p:nvPr/>
        </p:nvCxnSpPr>
        <p:spPr>
          <a:xfrm>
            <a:off x="749808" y="2304288"/>
            <a:ext cx="1188720" cy="0"/>
          </a:xfrm>
          <a:prstGeom prst="line">
            <a:avLst/>
          </a:prstGeom>
          <a:ln w="33020">
            <a:solidFill>
              <a:srgbClr val="FF5A1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49808" y="2523744"/>
            <a:ext cx="5273024" cy="219456"/>
          </a:xfrm>
          <a:prstGeom prst="rect">
            <a:avLst/>
          </a:prstGeom>
          <a:noFill/>
        </p:spPr>
        <p:txBody>
          <a:bodyPr wrap="square" lIns="0" rIns="0" tIns="0" bIns="0" anchor="t">
            <a:noAutofit/>
          </a:bodyPr>
          <a:lstStyle/>
          <a:p>
            <a:pPr algn="l">
              <a:lnSpc>
                <a:spcPct val="100000"/>
              </a:lnSpc>
            </a:pPr>
            <a:r>
              <a:rPr sz="900" b="0" spc="240">
                <a:solidFill>
                  <a:srgbClr val="8A8078"/>
                </a:solidFill>
                <a:latin typeface="Consolas"/>
              </a:rPr>
              <a:t>ACT FOUR</a:t>
            </a:r>
          </a:p>
        </p:txBody>
      </p:sp>
      <p:sp>
        <p:nvSpPr>
          <p:cNvPr id="7" name="TextBox 6"/>
          <p:cNvSpPr txBox="1"/>
          <p:nvPr/>
        </p:nvSpPr>
        <p:spPr>
          <a:xfrm>
            <a:off x="749808" y="2834640"/>
            <a:ext cx="5273024" cy="1280160"/>
          </a:xfrm>
          <a:prstGeom prst="rect">
            <a:avLst/>
          </a:prstGeom>
          <a:noFill/>
        </p:spPr>
        <p:txBody>
          <a:bodyPr wrap="square" lIns="0" rIns="0" tIns="0" bIns="0" anchor="t">
            <a:noAutofit/>
          </a:bodyPr>
          <a:lstStyle/>
          <a:p>
            <a:pPr algn="l">
              <a:lnSpc>
                <a:spcPct val="104000"/>
              </a:lnSpc>
            </a:pPr>
            <a:r>
              <a:rPr sz="4400" b="0" spc="-80">
                <a:solidFill>
                  <a:srgbClr val="F4EFE9"/>
                </a:solidFill>
                <a:latin typeface="Franklin Gothic Demi"/>
              </a:rPr>
              <a:t>What it says about 2026</a:t>
            </a:r>
          </a:p>
        </p:txBody>
      </p:sp>
      <p:sp>
        <p:nvSpPr>
          <p:cNvPr id="8" name="TextBox 7"/>
          <p:cNvSpPr txBox="1"/>
          <p:nvPr/>
        </p:nvSpPr>
        <p:spPr>
          <a:xfrm>
            <a:off x="749808" y="4352544"/>
            <a:ext cx="4998704" cy="1005840"/>
          </a:xfrm>
          <a:prstGeom prst="rect">
            <a:avLst/>
          </a:prstGeom>
          <a:noFill/>
        </p:spPr>
        <p:txBody>
          <a:bodyPr wrap="square" lIns="0" rIns="0" tIns="0" bIns="0" anchor="t">
            <a:noAutofit/>
          </a:bodyPr>
          <a:lstStyle/>
          <a:p>
            <a:pPr algn="l">
              <a:lnSpc>
                <a:spcPct val="152000"/>
              </a:lnSpc>
            </a:pPr>
            <a:r>
              <a:rPr sz="1350" b="0">
                <a:solidFill>
                  <a:srgbClr val="BDB4AB"/>
                </a:solidFill>
                <a:latin typeface="Franklin Gothic Book"/>
              </a:rPr>
              <a:t>A forecast that can be checked next year, and the product that puts it in front of someone who is not a data scientist.</a:t>
            </a:r>
          </a:p>
        </p:txBody>
      </p:sp>
      <p:sp>
        <p:nvSpPr>
          <p:cNvPr id="9" name="TextBox 8"/>
          <p:cNvSpPr txBox="1"/>
          <p:nvPr/>
        </p:nvSpPr>
        <p:spPr>
          <a:xfrm>
            <a:off x="749808" y="5522976"/>
            <a:ext cx="5273024" cy="274320"/>
          </a:xfrm>
          <a:prstGeom prst="rect">
            <a:avLst/>
          </a:prstGeom>
          <a:noFill/>
        </p:spPr>
        <p:txBody>
          <a:bodyPr wrap="square" lIns="0" rIns="0" tIns="0" bIns="0" anchor="t">
            <a:noAutofit/>
          </a:bodyPr>
          <a:lstStyle/>
          <a:p>
            <a:pPr algn="l">
              <a:lnSpc>
                <a:spcPct val="100000"/>
              </a:lnSpc>
            </a:pPr>
            <a:r>
              <a:rPr sz="1000" b="0" spc="80">
                <a:solidFill>
                  <a:srgbClr val="FF5A1E"/>
                </a:solidFill>
                <a:latin typeface="Consolas"/>
              </a:rPr>
              <a:t>Harsh Rastogi</a:t>
            </a:r>
          </a:p>
        </p:txBody>
      </p:sp>
      <p:cxnSp>
        <p:nvCxnSpPr>
          <p:cNvPr id="10" name="Connector 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49808" y="6345936"/>
            <a:ext cx="8464779"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19/24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FORECAST</a:t>
            </a:r>
          </a:p>
        </p:txBody>
      </p:sp>
      <p:sp>
        <p:nvSpPr>
          <p:cNvPr id="4" name="TextBox 3"/>
          <p:cNvSpPr txBox="1"/>
          <p:nvPr/>
        </p:nvSpPr>
        <p:spPr>
          <a:xfrm>
            <a:off x="749808" y="713232"/>
            <a:ext cx="9789132"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2026 is running heavy, and most of what is left will burn late.</a:t>
            </a:r>
          </a:p>
        </p:txBody>
      </p:sp>
      <p:pic>
        <p:nvPicPr>
          <p:cNvPr id="5" name="Picture 4" descr="forecast.png"/>
          <p:cNvPicPr>
            <a:picLocks noChangeAspect="1"/>
          </p:cNvPicPr>
          <p:nvPr/>
        </p:nvPicPr>
        <p:blipFill>
          <a:blip r:embed="rId2"/>
          <a:stretch>
            <a:fillRect/>
          </a:stretch>
        </p:blipFill>
        <p:spPr>
          <a:xfrm>
            <a:off x="585215" y="2304288"/>
            <a:ext cx="7132320" cy="3127441"/>
          </a:xfrm>
          <a:prstGeom prst="rect">
            <a:avLst/>
          </a:prstGeom>
        </p:spPr>
      </p:pic>
      <p:cxnSp>
        <p:nvCxnSpPr>
          <p:cNvPr id="6" name="Connector 5"/>
          <p:cNvCxnSpPr/>
          <p:nvPr/>
        </p:nvCxnSpPr>
        <p:spPr>
          <a:xfrm>
            <a:off x="7902427" y="1810512"/>
            <a:ext cx="0" cy="404164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975579" y="1810512"/>
            <a:ext cx="3466581" cy="822960"/>
          </a:xfrm>
          <a:prstGeom prst="rect">
            <a:avLst/>
          </a:prstGeom>
          <a:noFill/>
        </p:spPr>
        <p:txBody>
          <a:bodyPr wrap="square" lIns="0" rIns="0" tIns="0" bIns="0" anchor="t">
            <a:noAutofit/>
          </a:bodyPr>
          <a:lstStyle/>
          <a:p>
            <a:pPr algn="l">
              <a:lnSpc>
                <a:spcPct val="98000"/>
              </a:lnSpc>
            </a:pPr>
            <a:r>
              <a:rPr sz="6000" b="0" spc="-140">
                <a:solidFill>
                  <a:srgbClr val="FF5A1E"/>
                </a:solidFill>
                <a:latin typeface="Franklin Gothic Demi"/>
              </a:rPr>
              <a:t>51%</a:t>
            </a:r>
          </a:p>
        </p:txBody>
      </p:sp>
      <p:sp>
        <p:nvSpPr>
          <p:cNvPr id="8" name="TextBox 7"/>
          <p:cNvSpPr txBox="1"/>
          <p:nvPr/>
        </p:nvSpPr>
        <p:spPr>
          <a:xfrm>
            <a:off x="7975579" y="2688336"/>
            <a:ext cx="3466581" cy="548640"/>
          </a:xfrm>
          <a:prstGeom prst="rect">
            <a:avLst/>
          </a:prstGeom>
          <a:noFill/>
        </p:spPr>
        <p:txBody>
          <a:bodyPr wrap="square" lIns="0" rIns="0" tIns="0" bIns="0" anchor="t">
            <a:noAutofit/>
          </a:bodyPr>
          <a:lstStyle/>
          <a:p>
            <a:pPr algn="l">
              <a:lnSpc>
                <a:spcPct val="142000"/>
              </a:lnSpc>
            </a:pPr>
            <a:r>
              <a:rPr sz="950" b="0">
                <a:solidFill>
                  <a:srgbClr val="8A8078"/>
                </a:solidFill>
                <a:latin typeface="Consolas"/>
              </a:rPr>
              <a:t>of the Territory forecast to burn in 2026, against a 26-year average of 33%</a:t>
            </a:r>
          </a:p>
        </p:txBody>
      </p:sp>
      <p:cxnSp>
        <p:nvCxnSpPr>
          <p:cNvPr id="9" name="Connector 8"/>
          <p:cNvCxnSpPr/>
          <p:nvPr/>
        </p:nvCxnSpPr>
        <p:spPr>
          <a:xfrm>
            <a:off x="7975579" y="3438144"/>
            <a:ext cx="3466582"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75579" y="3602736"/>
            <a:ext cx="3466581" cy="2286000"/>
          </a:xfrm>
          <a:prstGeom prst="rect">
            <a:avLst/>
          </a:prstGeom>
          <a:noFill/>
        </p:spPr>
        <p:txBody>
          <a:bodyPr wrap="square" lIns="0" rIns="0" tIns="0" bIns="0" anchor="t">
            <a:noAutofit/>
          </a:bodyPr>
          <a:lstStyle/>
          <a:p>
            <a:pPr algn="l">
              <a:lnSpc>
                <a:spcPct val="148000"/>
              </a:lnSpc>
            </a:pPr>
            <a:r>
              <a:rPr sz="1160" b="0">
                <a:solidFill>
                  <a:srgbClr val="BDB4AB"/>
                </a:solidFill>
                <a:latin typeface="Franklin Gothic Book"/>
              </a:rPr>
              <a:t>The model reads a wet season that delivered 783 mm — 45% above the 2005 to 2019 average and the second wettest in 22 years — and the greenest April on record at 0.46.</a:t>
            </a:r>
          </a:p>
          <a:p>
            <a:pPr algn="l">
              <a:lnSpc>
                <a:spcPct val="148000"/>
              </a:lnSpc>
              <a:spcBef>
                <a:spcPts val="1152"/>
              </a:spcBef>
            </a:pPr>
            <a:r>
              <a:rPr sz="1160" b="0">
                <a:solidFill>
                  <a:srgbClr val="F4EFE9"/>
                </a:solidFill>
                <a:latin typeface="Franklin Gothic Medium"/>
              </a:rPr>
              <a:t>More water grew more grass. More grass is more fuel.</a:t>
            </a:r>
          </a:p>
          <a:p>
            <a:pPr algn="l">
              <a:lnSpc>
                <a:spcPct val="148000"/>
              </a:lnSpc>
              <a:spcBef>
                <a:spcPts val="1152"/>
              </a:spcBef>
            </a:pPr>
            <a:r>
              <a:rPr sz="1100" b="0">
                <a:solidFill>
                  <a:srgbClr val="8A8078"/>
                </a:solidFill>
                <a:latin typeface="Franklin Gothic Book"/>
              </a:rPr>
              <a:t>Mean confidence across the map is 0.733. No fire scars exist for 2026 yet, so this is a claim we can be held to in 2027.</a:t>
            </a:r>
          </a:p>
        </p:txBody>
      </p:sp>
      <p:cxnSp>
        <p:nvCxnSpPr>
          <p:cNvPr id="11" name="Connector 10"/>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49808" y="6345936"/>
            <a:ext cx="8910294"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14" name="TextBox 13"/>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20/24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THE PRODUCT</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A model in a notebook helps nobody.</a:t>
            </a:r>
          </a:p>
        </p:txBody>
      </p:sp>
      <p:sp>
        <p:nvSpPr>
          <p:cNvPr id="5" name="TextBox 4"/>
          <p:cNvSpPr txBox="1"/>
          <p:nvPr/>
        </p:nvSpPr>
        <p:spPr>
          <a:xfrm>
            <a:off x="749808" y="1682496"/>
            <a:ext cx="10692353" cy="402336"/>
          </a:xfrm>
          <a:prstGeom prst="rect">
            <a:avLst/>
          </a:prstGeom>
          <a:noFill/>
        </p:spPr>
        <p:txBody>
          <a:bodyPr wrap="square" lIns="0" rIns="0" tIns="0" bIns="0" anchor="t">
            <a:noAutofit/>
          </a:bodyPr>
          <a:lstStyle/>
          <a:p>
            <a:pPr algn="l">
              <a:lnSpc>
                <a:spcPct val="140000"/>
              </a:lnSpc>
            </a:pPr>
            <a:r>
              <a:rPr sz="1220" b="0">
                <a:solidFill>
                  <a:srgbClr val="8A8078"/>
                </a:solidFill>
                <a:latin typeface="Franklin Gothic Book"/>
              </a:rPr>
              <a:t>So we shipped it: a public site that answers the question in plain English first, and shows the map, the record and the evidence underneath.</a:t>
            </a:r>
          </a:p>
        </p:txBody>
      </p:sp>
      <p:sp>
        <p:nvSpPr>
          <p:cNvPr id="6" name="Rectangle 5"/>
          <p:cNvSpPr/>
          <p:nvPr/>
        </p:nvSpPr>
        <p:spPr>
          <a:xfrm>
            <a:off x="749808" y="2157984"/>
            <a:ext cx="6217920" cy="3772408"/>
          </a:xfrm>
          <a:prstGeom prst="rect">
            <a:avLst/>
          </a:prstGeom>
          <a:solidFill>
            <a:srgbClr val="1F1B18"/>
          </a:solidFill>
          <a:ln w="9525">
            <a:solidFill>
              <a:srgbClr val="4A4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utlook.png"/>
          <p:cNvPicPr>
            <a:picLocks noChangeAspect="1"/>
          </p:cNvPicPr>
          <p:nvPr/>
        </p:nvPicPr>
        <p:blipFill>
          <a:blip r:embed="rId2"/>
          <a:stretch>
            <a:fillRect/>
          </a:stretch>
        </p:blipFill>
        <p:spPr>
          <a:xfrm>
            <a:off x="822959" y="2231136"/>
            <a:ext cx="6071616" cy="3626104"/>
          </a:xfrm>
          <a:prstGeom prst="rect">
            <a:avLst/>
          </a:prstGeom>
        </p:spPr>
      </p:pic>
      <p:sp>
        <p:nvSpPr>
          <p:cNvPr id="8" name="TextBox 7"/>
          <p:cNvSpPr txBox="1"/>
          <p:nvPr/>
        </p:nvSpPr>
        <p:spPr>
          <a:xfrm>
            <a:off x="749808" y="6040120"/>
            <a:ext cx="6217920" cy="256032"/>
          </a:xfrm>
          <a:prstGeom prst="rect">
            <a:avLst/>
          </a:prstGeom>
          <a:noFill/>
        </p:spPr>
        <p:txBody>
          <a:bodyPr wrap="square" lIns="0" rIns="0" tIns="0" bIns="0" anchor="t">
            <a:noAutofit/>
          </a:bodyPr>
          <a:lstStyle/>
          <a:p>
            <a:pPr algn="l">
              <a:lnSpc>
                <a:spcPct val="120000"/>
              </a:lnSpc>
            </a:pPr>
            <a:r>
              <a:rPr sz="900" b="0">
                <a:solidFill>
                  <a:srgbClr val="8A8078"/>
                </a:solidFill>
                <a:latin typeface="Consolas"/>
              </a:rPr>
              <a:t>This year — the forecast for any town or square</a:t>
            </a:r>
          </a:p>
        </p:txBody>
      </p:sp>
      <p:sp>
        <p:nvSpPr>
          <p:cNvPr id="9" name="Rectangle 8"/>
          <p:cNvSpPr/>
          <p:nvPr/>
        </p:nvSpPr>
        <p:spPr>
          <a:xfrm>
            <a:off x="7278624" y="2157984"/>
            <a:ext cx="4163537" cy="1506843"/>
          </a:xfrm>
          <a:prstGeom prst="rect">
            <a:avLst/>
          </a:prstGeom>
          <a:solidFill>
            <a:srgbClr val="1F1B18"/>
          </a:solidFill>
          <a:ln w="9525">
            <a:solidFill>
              <a:srgbClr val="4A4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odels_panel.png"/>
          <p:cNvPicPr>
            <a:picLocks noChangeAspect="1"/>
          </p:cNvPicPr>
          <p:nvPr/>
        </p:nvPicPr>
        <p:blipFill>
          <a:blip r:embed="rId3"/>
          <a:stretch>
            <a:fillRect/>
          </a:stretch>
        </p:blipFill>
        <p:spPr>
          <a:xfrm>
            <a:off x="7370064" y="2249424"/>
            <a:ext cx="3980657" cy="1323963"/>
          </a:xfrm>
          <a:prstGeom prst="rect">
            <a:avLst/>
          </a:prstGeom>
        </p:spPr>
      </p:pic>
      <p:sp>
        <p:nvSpPr>
          <p:cNvPr id="11" name="TextBox 10"/>
          <p:cNvSpPr txBox="1"/>
          <p:nvPr/>
        </p:nvSpPr>
        <p:spPr>
          <a:xfrm>
            <a:off x="7278624" y="3774555"/>
            <a:ext cx="4163537" cy="420624"/>
          </a:xfrm>
          <a:prstGeom prst="rect">
            <a:avLst/>
          </a:prstGeom>
          <a:noFill/>
        </p:spPr>
        <p:txBody>
          <a:bodyPr wrap="square" lIns="0" rIns="0" tIns="0" bIns="0" anchor="t">
            <a:noAutofit/>
          </a:bodyPr>
          <a:lstStyle/>
          <a:p>
            <a:pPr algn="l">
              <a:lnSpc>
                <a:spcPct val="135000"/>
              </a:lnSpc>
            </a:pPr>
            <a:r>
              <a:rPr sz="900" b="0">
                <a:solidFill>
                  <a:srgbClr val="8A8078"/>
                </a:solidFill>
                <a:latin typeface="Consolas"/>
              </a:rPr>
              <a:t>How good is it — every model, scored on years it never saw</a:t>
            </a:r>
          </a:p>
        </p:txBody>
      </p:sp>
      <p:cxnSp>
        <p:nvCxnSpPr>
          <p:cNvPr id="12" name="Connector 11"/>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8" y="6345936"/>
            <a:ext cx="9355809"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9808" y="6473952"/>
            <a:ext cx="5486400" cy="201168"/>
          </a:xfrm>
          <a:prstGeom prst="rect">
            <a:avLst/>
          </a:prstGeom>
          <a:noFill/>
        </p:spPr>
        <p:txBody>
          <a:bodyPr wrap="square" lIns="0" rIns="0" tIns="0" bIns="0" anchor="t">
            <a:noAutofit/>
          </a:bodyPr>
          <a:lstStyle/>
          <a:p>
            <a:pPr algn="l">
              <a:lnSpc>
                <a:spcPct val="100000"/>
              </a:lnSpc>
            </a:pPr>
            <a:r>
              <a:rPr sz="800" b="0" spc="80">
                <a:solidFill>
                  <a:srgbClr val="5C554F"/>
                </a:solidFill>
                <a:latin typeface="Consolas"/>
              </a:rPr>
              <a:t>Harsh Rastogi</a:t>
            </a:r>
          </a:p>
        </p:txBody>
      </p:sp>
      <p:sp>
        <p:nvSpPr>
          <p:cNvPr id="15" name="TextBox 14"/>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21/24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pic>
        <p:nvPicPr>
          <p:cNvPr id="2" name="Picture 1" descr="grid_dim.png"/>
          <p:cNvPicPr>
            <a:picLocks noChangeAspect="1"/>
          </p:cNvPicPr>
          <p:nvPr/>
        </p:nvPicPr>
        <p:blipFill>
          <a:blip r:embed="rId2"/>
          <a:stretch>
            <a:fillRect/>
          </a:stretch>
        </p:blipFill>
        <p:spPr>
          <a:xfrm>
            <a:off x="10006553" y="-201168"/>
            <a:ext cx="2185416" cy="7260336"/>
          </a:xfrm>
          <a:prstGeom prst="rect">
            <a:avLst/>
          </a:prstGeom>
        </p:spPr>
      </p:pic>
      <p:cxnSp>
        <p:nvCxnSpPr>
          <p:cNvPr id="3" name="Connector 2"/>
          <p:cNvCxnSpPr/>
          <p:nvPr/>
        </p:nvCxnSpPr>
        <p:spPr>
          <a:xfrm>
            <a:off x="10006553" y="0"/>
            <a:ext cx="0" cy="6858000"/>
          </a:xfrm>
          <a:prstGeom prst="line">
            <a:avLst/>
          </a:prstGeom>
          <a:ln w="1270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749808" y="1389888"/>
            <a:ext cx="1188720" cy="0"/>
          </a:xfrm>
          <a:prstGeom prst="line">
            <a:avLst/>
          </a:prstGeom>
          <a:ln w="33020">
            <a:solidFill>
              <a:srgbClr val="FF5A1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49808" y="1700784"/>
            <a:ext cx="5273024" cy="2103120"/>
          </a:xfrm>
          <a:prstGeom prst="rect">
            <a:avLst/>
          </a:prstGeom>
          <a:noFill/>
        </p:spPr>
        <p:txBody>
          <a:bodyPr wrap="square" lIns="0" rIns="0" tIns="0" bIns="0" anchor="t">
            <a:noAutofit/>
          </a:bodyPr>
          <a:lstStyle/>
          <a:p>
            <a:pPr algn="l">
              <a:lnSpc>
                <a:spcPct val="108000"/>
              </a:lnSpc>
            </a:pPr>
            <a:r>
              <a:rPr sz="3500" b="0" spc="-50">
                <a:solidFill>
                  <a:srgbClr val="F4EFE9"/>
                </a:solidFill>
                <a:latin typeface="Franklin Gothic Demi"/>
              </a:rPr>
              <a:t>Every square, every year, and an honest number on how often it is right.</a:t>
            </a:r>
          </a:p>
        </p:txBody>
      </p:sp>
      <p:sp>
        <p:nvSpPr>
          <p:cNvPr id="6" name="TextBox 5"/>
          <p:cNvSpPr txBox="1"/>
          <p:nvPr/>
        </p:nvSpPr>
        <p:spPr>
          <a:xfrm>
            <a:off x="749808" y="3822191"/>
            <a:ext cx="5273024" cy="1280160"/>
          </a:xfrm>
          <a:prstGeom prst="rect">
            <a:avLst/>
          </a:prstGeom>
          <a:noFill/>
        </p:spPr>
        <p:txBody>
          <a:bodyPr wrap="square" lIns="0" rIns="0" tIns="0" bIns="0" anchor="t">
            <a:noAutofit/>
          </a:bodyPr>
          <a:lstStyle/>
          <a:p>
            <a:pPr algn="l">
              <a:lnSpc>
                <a:spcPct val="152000"/>
              </a:lnSpc>
            </a:pPr>
            <a:r>
              <a:rPr sz="1400" b="0">
                <a:solidFill>
                  <a:srgbClr val="BDB4AB"/>
                </a:solidFill>
                <a:latin typeface="Franklin Gothic Book"/>
              </a:rPr>
              <a:t>Fire in the Territory is not going to stop. Knowing in April which country is likely to carry an October fire is how a burning programme gets planned while there is still time to plan it.</a:t>
            </a:r>
          </a:p>
        </p:txBody>
      </p:sp>
      <p:sp>
        <p:nvSpPr>
          <p:cNvPr id="7" name="Rectangle 6"/>
          <p:cNvSpPr/>
          <p:nvPr/>
        </p:nvSpPr>
        <p:spPr>
          <a:xfrm>
            <a:off x="6327648" y="3602736"/>
            <a:ext cx="3456432" cy="1554480"/>
          </a:xfrm>
          <a:prstGeom prst="rect">
            <a:avLst/>
          </a:prstGeom>
          <a:solidFill>
            <a:srgbClr val="0C0B0A"/>
          </a:solidFill>
          <a:ln w="9525">
            <a:solidFill>
              <a:srgbClr val="4A4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38544" y="3822191"/>
            <a:ext cx="2834639" cy="256032"/>
          </a:xfrm>
          <a:prstGeom prst="rect">
            <a:avLst/>
          </a:prstGeom>
          <a:noFill/>
        </p:spPr>
        <p:txBody>
          <a:bodyPr wrap="square" lIns="0" rIns="0" tIns="0" bIns="0" anchor="t">
            <a:noAutofit/>
          </a:bodyPr>
          <a:lstStyle/>
          <a:p>
            <a:pPr algn="l">
              <a:lnSpc>
                <a:spcPct val="100000"/>
              </a:lnSpc>
            </a:pPr>
            <a:r>
              <a:rPr sz="1050" b="0">
                <a:solidFill>
                  <a:srgbClr val="FF5A1E"/>
                </a:solidFill>
                <a:latin typeface="Consolas"/>
              </a:rPr>
              <a:t>pyrantis.harshlabs.workers.dev</a:t>
            </a:r>
          </a:p>
        </p:txBody>
      </p:sp>
      <p:sp>
        <p:nvSpPr>
          <p:cNvPr id="9" name="TextBox 8"/>
          <p:cNvSpPr txBox="1"/>
          <p:nvPr/>
        </p:nvSpPr>
        <p:spPr>
          <a:xfrm>
            <a:off x="6638544" y="4133087"/>
            <a:ext cx="2834639" cy="256032"/>
          </a:xfrm>
          <a:prstGeom prst="rect">
            <a:avLst/>
          </a:prstGeom>
          <a:noFill/>
        </p:spPr>
        <p:txBody>
          <a:bodyPr wrap="square" lIns="0" rIns="0" tIns="0" bIns="0" anchor="t">
            <a:noAutofit/>
          </a:bodyPr>
          <a:lstStyle/>
          <a:p>
            <a:pPr algn="l">
              <a:lnSpc>
                <a:spcPct val="100000"/>
              </a:lnSpc>
            </a:pPr>
            <a:r>
              <a:rPr sz="1050" b="0">
                <a:solidFill>
                  <a:srgbClr val="BDB4AB"/>
                </a:solidFill>
                <a:latin typeface="Consolas"/>
              </a:rPr>
              <a:t>github.com/harshrastogii/PYRANTIS</a:t>
            </a:r>
          </a:p>
        </p:txBody>
      </p:sp>
      <p:sp>
        <p:nvSpPr>
          <p:cNvPr id="10" name="TextBox 9"/>
          <p:cNvSpPr txBox="1"/>
          <p:nvPr/>
        </p:nvSpPr>
        <p:spPr>
          <a:xfrm>
            <a:off x="6638544" y="4517136"/>
            <a:ext cx="2834639" cy="512064"/>
          </a:xfrm>
          <a:prstGeom prst="rect">
            <a:avLst/>
          </a:prstGeom>
          <a:noFill/>
        </p:spPr>
        <p:txBody>
          <a:bodyPr wrap="square" lIns="0" rIns="0" tIns="0" bIns="0" anchor="t">
            <a:noAutofit/>
          </a:bodyPr>
          <a:lstStyle/>
          <a:p>
            <a:pPr algn="l">
              <a:lnSpc>
                <a:spcPct val="136000"/>
              </a:lnSpc>
            </a:pPr>
            <a:r>
              <a:rPr sz="1050" b="0">
                <a:solidFill>
                  <a:srgbClr val="8A8078"/>
                </a:solidFill>
                <a:latin typeface="Franklin Gothic Book"/>
              </a:rPr>
              <a:t>Every figure in this deck is generated from the repository, not typed in.</a:t>
            </a:r>
          </a:p>
        </p:txBody>
      </p:sp>
      <p:cxnSp>
        <p:nvCxnSpPr>
          <p:cNvPr id="11" name="Connector 10"/>
          <p:cNvCxnSpPr/>
          <p:nvPr/>
        </p:nvCxnSpPr>
        <p:spPr>
          <a:xfrm>
            <a:off x="749808" y="5358384"/>
            <a:ext cx="7982689"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5541264"/>
            <a:ext cx="2417056" cy="566928"/>
          </a:xfrm>
          <a:prstGeom prst="rect">
            <a:avLst/>
          </a:prstGeom>
          <a:noFill/>
        </p:spPr>
        <p:txBody>
          <a:bodyPr wrap="square" lIns="0" rIns="0" tIns="0" bIns="0" anchor="t">
            <a:noAutofit/>
          </a:bodyPr>
          <a:lstStyle/>
          <a:p>
            <a:pPr algn="l">
              <a:lnSpc>
                <a:spcPct val="100000"/>
              </a:lnSpc>
            </a:pPr>
            <a:r>
              <a:rPr sz="3000" b="0" spc="-60">
                <a:solidFill>
                  <a:srgbClr val="F4EFE9"/>
                </a:solidFill>
                <a:latin typeface="Franklin Gothic Demi"/>
              </a:rPr>
              <a:t>0.684</a:t>
            </a:r>
          </a:p>
        </p:txBody>
      </p:sp>
      <p:sp>
        <p:nvSpPr>
          <p:cNvPr id="13" name="TextBox 12"/>
          <p:cNvSpPr txBox="1"/>
          <p:nvPr/>
        </p:nvSpPr>
        <p:spPr>
          <a:xfrm>
            <a:off x="749808" y="5983224"/>
            <a:ext cx="2417056"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balanced F1, years never seen</a:t>
            </a:r>
          </a:p>
        </p:txBody>
      </p:sp>
      <p:cxnSp>
        <p:nvCxnSpPr>
          <p:cNvPr id="14" name="Connector 13"/>
          <p:cNvCxnSpPr/>
          <p:nvPr/>
        </p:nvCxnSpPr>
        <p:spPr>
          <a:xfrm>
            <a:off x="3368032" y="5541264"/>
            <a:ext cx="0" cy="74980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59472" y="5541264"/>
            <a:ext cx="2417056" cy="566928"/>
          </a:xfrm>
          <a:prstGeom prst="rect">
            <a:avLst/>
          </a:prstGeom>
          <a:noFill/>
        </p:spPr>
        <p:txBody>
          <a:bodyPr wrap="square" lIns="0" rIns="0" tIns="0" bIns="0" anchor="t">
            <a:noAutofit/>
          </a:bodyPr>
          <a:lstStyle/>
          <a:p>
            <a:pPr algn="l">
              <a:lnSpc>
                <a:spcPct val="100000"/>
              </a:lnSpc>
            </a:pPr>
            <a:r>
              <a:rPr sz="3000" b="0" spc="-60">
                <a:solidFill>
                  <a:srgbClr val="F4EFE9"/>
                </a:solidFill>
                <a:latin typeface="Franklin Gothic Demi"/>
              </a:rPr>
              <a:t>66</a:t>
            </a:r>
          </a:p>
        </p:txBody>
      </p:sp>
      <p:sp>
        <p:nvSpPr>
          <p:cNvPr id="16" name="TextBox 15"/>
          <p:cNvSpPr txBox="1"/>
          <p:nvPr/>
        </p:nvSpPr>
        <p:spPr>
          <a:xfrm>
            <a:off x="3459472" y="5983224"/>
            <a:ext cx="2417056"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independent re-tests</a:t>
            </a:r>
          </a:p>
        </p:txBody>
      </p:sp>
      <p:cxnSp>
        <p:nvCxnSpPr>
          <p:cNvPr id="17" name="Connector 16"/>
          <p:cNvCxnSpPr/>
          <p:nvPr/>
        </p:nvCxnSpPr>
        <p:spPr>
          <a:xfrm>
            <a:off x="6077696" y="5541264"/>
            <a:ext cx="0" cy="749808"/>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69136" y="5541264"/>
            <a:ext cx="2417056" cy="566928"/>
          </a:xfrm>
          <a:prstGeom prst="rect">
            <a:avLst/>
          </a:prstGeom>
          <a:noFill/>
        </p:spPr>
        <p:txBody>
          <a:bodyPr wrap="square" lIns="0" rIns="0" tIns="0" bIns="0" anchor="t">
            <a:noAutofit/>
          </a:bodyPr>
          <a:lstStyle/>
          <a:p>
            <a:pPr algn="l">
              <a:lnSpc>
                <a:spcPct val="100000"/>
              </a:lnSpc>
            </a:pPr>
            <a:r>
              <a:rPr sz="3000" b="0" spc="-60">
                <a:solidFill>
                  <a:srgbClr val="FF5A1E"/>
                </a:solidFill>
                <a:latin typeface="Franklin Gothic Demi"/>
              </a:rPr>
              <a:t>51%</a:t>
            </a:r>
          </a:p>
        </p:txBody>
      </p:sp>
      <p:sp>
        <p:nvSpPr>
          <p:cNvPr id="19" name="TextBox 18"/>
          <p:cNvSpPr txBox="1"/>
          <p:nvPr/>
        </p:nvSpPr>
        <p:spPr>
          <a:xfrm>
            <a:off x="6169136" y="5983224"/>
            <a:ext cx="2417056" cy="548640"/>
          </a:xfrm>
          <a:prstGeom prst="rect">
            <a:avLst/>
          </a:prstGeom>
          <a:noFill/>
        </p:spPr>
        <p:txBody>
          <a:bodyPr wrap="square" lIns="0" rIns="0" tIns="0" bIns="0" anchor="t">
            <a:noAutofit/>
          </a:bodyPr>
          <a:lstStyle/>
          <a:p>
            <a:pPr algn="l">
              <a:lnSpc>
                <a:spcPct val="130000"/>
              </a:lnSpc>
            </a:pPr>
            <a:r>
              <a:rPr sz="902" b="0" spc="40">
                <a:solidFill>
                  <a:srgbClr val="8A8078"/>
                </a:solidFill>
                <a:latin typeface="Consolas"/>
              </a:rPr>
              <a:t>forecast to burn in 2026</a:t>
            </a:r>
          </a:p>
        </p:txBody>
      </p:sp>
      <p:cxnSp>
        <p:nvCxnSpPr>
          <p:cNvPr id="20" name="Connector 19"/>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9808" y="6345936"/>
            <a:ext cx="9801324"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22/24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REFERENCES</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References (1 of 2)</a:t>
            </a:r>
          </a:p>
        </p:txBody>
      </p:sp>
      <p:sp>
        <p:nvSpPr>
          <p:cNvPr id="5" name="TextBox 4"/>
          <p:cNvSpPr txBox="1"/>
          <p:nvPr/>
        </p:nvSpPr>
        <p:spPr>
          <a:xfrm>
            <a:off x="749808" y="1755648"/>
            <a:ext cx="9789132" cy="256032"/>
          </a:xfrm>
          <a:prstGeom prst="rect">
            <a:avLst/>
          </a:prstGeom>
          <a:noFill/>
        </p:spPr>
        <p:txBody>
          <a:bodyPr wrap="square" lIns="0" rIns="0" tIns="0" bIns="0" anchor="t">
            <a:noAutofit/>
          </a:bodyPr>
          <a:lstStyle/>
          <a:p>
            <a:pPr algn="l">
              <a:lnSpc>
                <a:spcPct val="100000"/>
              </a:lnSpc>
            </a:pPr>
            <a:r>
              <a:rPr sz="900" b="0" spc="80">
                <a:solidFill>
                  <a:srgbClr val="8A8078"/>
                </a:solidFill>
                <a:latin typeface="Consolas"/>
              </a:rPr>
              <a:t>American Psychological Association, 7th edition</a:t>
            </a:r>
          </a:p>
        </p:txBody>
      </p:sp>
      <p:cxnSp>
        <p:nvCxnSpPr>
          <p:cNvPr id="6" name="Connector 5"/>
          <p:cNvCxnSpPr/>
          <p:nvPr/>
        </p:nvCxnSpPr>
        <p:spPr>
          <a:xfrm>
            <a:off x="749808" y="2066543"/>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49808" y="2315260"/>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2249424"/>
            <a:ext cx="10418033" cy="238658"/>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Breiman, L. (2001). Random forests. Machine Learning, 45(1), 5–32. https://doi.org/10.1023/A:1010933404324</a:t>
            </a:r>
          </a:p>
        </p:txBody>
      </p:sp>
      <p:sp>
        <p:nvSpPr>
          <p:cNvPr id="9" name="Rectangle 8"/>
          <p:cNvSpPr/>
          <p:nvPr/>
        </p:nvSpPr>
        <p:spPr>
          <a:xfrm>
            <a:off x="749808" y="2686507"/>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7" y="2620670"/>
            <a:ext cx="10418033" cy="238658"/>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Chollet, F., &amp; others. (2015). Keras [Computer software]. https://keras.io</a:t>
            </a:r>
          </a:p>
        </p:txBody>
      </p:sp>
      <p:sp>
        <p:nvSpPr>
          <p:cNvPr id="11" name="Rectangle 10"/>
          <p:cNvSpPr/>
          <p:nvPr/>
        </p:nvSpPr>
        <p:spPr>
          <a:xfrm>
            <a:off x="749808" y="3057753"/>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2991916"/>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Didan, K. (2021). MODIS/Terra vegetation indices 16-day L3 global 250 m SIN grid V061 [Data set]. NASA EOSDIS Land Processes Distributed Active Archive Center. https://doi.org/10.5067/MODIS/MOD13Q1.061</a:t>
            </a:r>
          </a:p>
        </p:txBody>
      </p:sp>
      <p:sp>
        <p:nvSpPr>
          <p:cNvPr id="13" name="Rectangle 12"/>
          <p:cNvSpPr/>
          <p:nvPr/>
        </p:nvSpPr>
        <p:spPr>
          <a:xfrm>
            <a:off x="749808" y="3612794"/>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7" y="3546957"/>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Friedman, J. H. (2001). Greedy function approximation: A gradient boosting machine. The Annals of Statistics, 29(5), 1189–1232. https://doi.org/10.1214/aos/1013203451</a:t>
            </a:r>
          </a:p>
        </p:txBody>
      </p:sp>
      <p:sp>
        <p:nvSpPr>
          <p:cNvPr id="15" name="Rectangle 14"/>
          <p:cNvSpPr/>
          <p:nvPr/>
        </p:nvSpPr>
        <p:spPr>
          <a:xfrm>
            <a:off x="749808" y="4167835"/>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7" y="4101998"/>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Gorelick, N., Hancher, M., Dixon, M., Ilyushchenko, S., Thau, D., &amp; Moore, R. (2017). Google Earth Engine: Planetary-scale geospatial analysis for everyone. Remote Sensing of Environment, 202, 18–27. https://doi.org/10.1016/j.rse.2017.06.031</a:t>
            </a:r>
          </a:p>
        </p:txBody>
      </p:sp>
      <p:sp>
        <p:nvSpPr>
          <p:cNvPr id="17" name="Rectangle 16"/>
          <p:cNvSpPr/>
          <p:nvPr/>
        </p:nvSpPr>
        <p:spPr>
          <a:xfrm>
            <a:off x="749808" y="4722876"/>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4657039"/>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Harris, C. R., Millman, K. J., van der Walt, S. J., Gommers, R., Virtanen, P., Cournapeau, D., … Oliphant, T. E. (2020). Array programming with NumPy. Nature, 585(7825), 357–362. https://doi.org/10.1038/s41586-020-2649-2</a:t>
            </a:r>
          </a:p>
        </p:txBody>
      </p:sp>
      <p:sp>
        <p:nvSpPr>
          <p:cNvPr id="19" name="Rectangle 18"/>
          <p:cNvSpPr/>
          <p:nvPr/>
        </p:nvSpPr>
        <p:spPr>
          <a:xfrm>
            <a:off x="749808" y="5277916"/>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7" y="5212080"/>
            <a:ext cx="10418033" cy="238658"/>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Hochreiter, S., &amp; Schmidhuber, J. (1997). Long short-term memory. Neural Computation, 9(8), 1735–1780. https://doi.org/10.1162/neco.1997.9.8.1735</a:t>
            </a:r>
          </a:p>
        </p:txBody>
      </p:sp>
      <p:sp>
        <p:nvSpPr>
          <p:cNvPr id="21" name="Rectangle 20"/>
          <p:cNvSpPr/>
          <p:nvPr/>
        </p:nvSpPr>
        <p:spPr>
          <a:xfrm>
            <a:off x="749808" y="5649163"/>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7" y="5583326"/>
            <a:ext cx="10418033" cy="238658"/>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Hunter, J. D. (2007). Matplotlib: A 2D graphics environment. Computing in Science &amp; Engineering, 9(3), 90–95. https://doi.org/10.1109/MCSE.2007.55</a:t>
            </a:r>
          </a:p>
        </p:txBody>
      </p:sp>
      <p:cxnSp>
        <p:nvCxnSpPr>
          <p:cNvPr id="23" name="Connector 22"/>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9808" y="6345936"/>
            <a:ext cx="10246838"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23/24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0D0C"/>
        </a:solidFill>
        <a:effectLst/>
      </p:bgPr>
    </p:bg>
    <p:spTree>
      <p:nvGrpSpPr>
        <p:cNvPr id="1" name=""/>
        <p:cNvGrpSpPr/>
        <p:nvPr/>
      </p:nvGrpSpPr>
      <p:grpSpPr/>
      <p:sp>
        <p:nvSpPr>
          <p:cNvPr id="2" name="Rectangle 1"/>
          <p:cNvSpPr/>
          <p:nvPr/>
        </p:nvSpPr>
        <p:spPr>
          <a:xfrm>
            <a:off x="749808" y="443484"/>
            <a:ext cx="77724" cy="7772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32688" y="402336"/>
            <a:ext cx="8229600" cy="182880"/>
          </a:xfrm>
          <a:prstGeom prst="rect">
            <a:avLst/>
          </a:prstGeom>
          <a:noFill/>
        </p:spPr>
        <p:txBody>
          <a:bodyPr wrap="square" lIns="0" rIns="0" tIns="0" bIns="0" anchor="t">
            <a:noAutofit/>
          </a:bodyPr>
          <a:lstStyle/>
          <a:p>
            <a:pPr algn="l">
              <a:lnSpc>
                <a:spcPct val="100000"/>
              </a:lnSpc>
            </a:pPr>
            <a:r>
              <a:rPr sz="850" b="0" spc="160">
                <a:solidFill>
                  <a:srgbClr val="8A8078"/>
                </a:solidFill>
                <a:latin typeface="Consolas"/>
              </a:rPr>
              <a:t>REFERENCES</a:t>
            </a:r>
          </a:p>
        </p:txBody>
      </p:sp>
      <p:sp>
        <p:nvSpPr>
          <p:cNvPr id="4" name="TextBox 3"/>
          <p:cNvSpPr txBox="1"/>
          <p:nvPr/>
        </p:nvSpPr>
        <p:spPr>
          <a:xfrm>
            <a:off x="749808" y="713232"/>
            <a:ext cx="8885910" cy="960120"/>
          </a:xfrm>
          <a:prstGeom prst="rect">
            <a:avLst/>
          </a:prstGeom>
          <a:noFill/>
        </p:spPr>
        <p:txBody>
          <a:bodyPr wrap="square" lIns="0" rIns="0" tIns="0" bIns="0" anchor="t">
            <a:noAutofit/>
          </a:bodyPr>
          <a:lstStyle/>
          <a:p>
            <a:pPr algn="l">
              <a:lnSpc>
                <a:spcPct val="106000"/>
              </a:lnSpc>
            </a:pPr>
            <a:r>
              <a:rPr sz="3000" b="0" spc="-20">
                <a:solidFill>
                  <a:srgbClr val="F4EFE9"/>
                </a:solidFill>
                <a:latin typeface="Franklin Gothic Demi"/>
              </a:rPr>
              <a:t>References (2 of 2)</a:t>
            </a:r>
          </a:p>
        </p:txBody>
      </p:sp>
      <p:sp>
        <p:nvSpPr>
          <p:cNvPr id="5" name="TextBox 4"/>
          <p:cNvSpPr txBox="1"/>
          <p:nvPr/>
        </p:nvSpPr>
        <p:spPr>
          <a:xfrm>
            <a:off x="749808" y="1755648"/>
            <a:ext cx="9789132" cy="256032"/>
          </a:xfrm>
          <a:prstGeom prst="rect">
            <a:avLst/>
          </a:prstGeom>
          <a:noFill/>
        </p:spPr>
        <p:txBody>
          <a:bodyPr wrap="square" lIns="0" rIns="0" tIns="0" bIns="0" anchor="t">
            <a:noAutofit/>
          </a:bodyPr>
          <a:lstStyle/>
          <a:p>
            <a:pPr algn="l">
              <a:lnSpc>
                <a:spcPct val="100000"/>
              </a:lnSpc>
            </a:pPr>
            <a:r>
              <a:rPr sz="900" b="0" spc="80">
                <a:solidFill>
                  <a:srgbClr val="8A8078"/>
                </a:solidFill>
                <a:latin typeface="Consolas"/>
              </a:rPr>
              <a:t>American Psychological Association, 7th edition</a:t>
            </a:r>
          </a:p>
        </p:txBody>
      </p:sp>
      <p:cxnSp>
        <p:nvCxnSpPr>
          <p:cNvPr id="6" name="Connector 5"/>
          <p:cNvCxnSpPr/>
          <p:nvPr/>
        </p:nvCxnSpPr>
        <p:spPr>
          <a:xfrm>
            <a:off x="749808" y="2066543"/>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49808" y="2315260"/>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7" y="2249424"/>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Jeffrey, S. J., Carter, J. O., Moodie, K. B., &amp; Beswick, A. R. (2001). Using spatial interpolation to construct a comprehensive archive of Australian climate data. Environmental Modelling &amp; Software, 16(4), 309–330. https://doi.org/10.1016/S1364-8152(01)00008-1</a:t>
            </a:r>
          </a:p>
        </p:txBody>
      </p:sp>
      <p:sp>
        <p:nvSpPr>
          <p:cNvPr id="9" name="Rectangle 8"/>
          <p:cNvSpPr/>
          <p:nvPr/>
        </p:nvSpPr>
        <p:spPr>
          <a:xfrm>
            <a:off x="749808" y="2870301"/>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7" y="2804464"/>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North Australian Fire Information. (2026). Northern Territory fire scar mapping [Data set]. Darwin Centre for Bushfire Research, Charles Darwin University. https://firenorth.org.au</a:t>
            </a:r>
          </a:p>
        </p:txBody>
      </p:sp>
      <p:sp>
        <p:nvSpPr>
          <p:cNvPr id="11" name="Rectangle 10"/>
          <p:cNvSpPr/>
          <p:nvPr/>
        </p:nvSpPr>
        <p:spPr>
          <a:xfrm>
            <a:off x="749808" y="3425342"/>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7" y="3359505"/>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Pedregosa, F., Varoquaux, G., Gramfort, A., Michel, V., Thirion, B., Grisel, O., … Duchesnay, É. (2011). Scikit-learn: Machine learning in Python. Journal of Machine Learning Research, 12, 2825–2830.</a:t>
            </a:r>
          </a:p>
        </p:txBody>
      </p:sp>
      <p:sp>
        <p:nvSpPr>
          <p:cNvPr id="13" name="Rectangle 12"/>
          <p:cNvSpPr/>
          <p:nvPr/>
        </p:nvSpPr>
        <p:spPr>
          <a:xfrm>
            <a:off x="749808" y="3980383"/>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7" y="3914546"/>
            <a:ext cx="10418033" cy="238658"/>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Queensland Government. (2026). SILO climate data: Data Drill [Data set]. Long Paddock. https://www.longpaddock.qld.gov.au/silo/</a:t>
            </a:r>
          </a:p>
        </p:txBody>
      </p:sp>
      <p:sp>
        <p:nvSpPr>
          <p:cNvPr id="15" name="Rectangle 14"/>
          <p:cNvSpPr/>
          <p:nvPr/>
        </p:nvSpPr>
        <p:spPr>
          <a:xfrm>
            <a:off x="749808" y="4351629"/>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7" y="4285792"/>
            <a:ext cx="10418033" cy="422452"/>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Ronneberger, O., Fischer, P., &amp; Brox, T. (2015). U-Net: Convolutional networks for biomedical image segmentation. In N. Navab, J. Hornegger, W. M. Wells, &amp; A. F. Frangi (Eds.), Medical image computing and computer-assisted intervention – MICCAI 2015 (pp. 234–241). Springer. https://doi.org/10.1007/978-3-319-24574-4_28</a:t>
            </a:r>
          </a:p>
        </p:txBody>
      </p:sp>
      <p:sp>
        <p:nvSpPr>
          <p:cNvPr id="17" name="Rectangle 16"/>
          <p:cNvSpPr/>
          <p:nvPr/>
        </p:nvSpPr>
        <p:spPr>
          <a:xfrm>
            <a:off x="749808" y="4906670"/>
            <a:ext cx="32004" cy="32004"/>
          </a:xfrm>
          <a:prstGeom prst="rect">
            <a:avLst/>
          </a:prstGeom>
          <a:solidFill>
            <a:srgbClr val="FF5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7" y="4840833"/>
            <a:ext cx="10418033" cy="606247"/>
          </a:xfrm>
          <a:prstGeom prst="rect">
            <a:avLst/>
          </a:prstGeom>
          <a:noFill/>
        </p:spPr>
        <p:txBody>
          <a:bodyPr wrap="square" lIns="0" rIns="0" tIns="0" bIns="0" anchor="t">
            <a:noAutofit/>
          </a:bodyPr>
          <a:lstStyle/>
          <a:p>
            <a:pPr algn="l">
              <a:lnSpc>
                <a:spcPct val="134000"/>
              </a:lnSpc>
            </a:pPr>
            <a:r>
              <a:rPr sz="1080" b="0">
                <a:solidFill>
                  <a:srgbClr val="BDB4AB"/>
                </a:solidFill>
                <a:latin typeface="Franklin Gothic Book"/>
              </a:rPr>
              <a:t>Russell-Smith, J., Yates, C. P., Whitehead, P. J., Smith, R., Craig, R., Allan, G. E., Thackway, R., Frakes, I., Cridland, S., Meyer, M. C. P., &amp; Gill, A. M. (2007). Bushfires 'down under': Patterns and implications of contemporary Australian landscape burning. International Journal of Wildland Fire, 16(4), 361–377. https://doi.org/10.1071/WF07018</a:t>
            </a:r>
          </a:p>
        </p:txBody>
      </p:sp>
      <p:cxnSp>
        <p:nvCxnSpPr>
          <p:cNvPr id="19" name="Connector 18"/>
          <p:cNvCxnSpPr/>
          <p:nvPr/>
        </p:nvCxnSpPr>
        <p:spPr>
          <a:xfrm>
            <a:off x="749808" y="6345936"/>
            <a:ext cx="10692353" cy="0"/>
          </a:xfrm>
          <a:prstGeom prst="line">
            <a:avLst/>
          </a:prstGeom>
          <a:ln w="11430">
            <a:solidFill>
              <a:srgbClr val="332E2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49808" y="6345936"/>
            <a:ext cx="10692353" cy="0"/>
          </a:xfrm>
          <a:prstGeom prst="line">
            <a:avLst/>
          </a:prstGeom>
          <a:ln w="20320">
            <a:solidFill>
              <a:srgbClr val="FF5A1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613361" y="6473952"/>
            <a:ext cx="1828800" cy="201168"/>
          </a:xfrm>
          <a:prstGeom prst="rect">
            <a:avLst/>
          </a:prstGeom>
          <a:noFill/>
        </p:spPr>
        <p:txBody>
          <a:bodyPr wrap="square" lIns="0" rIns="0" tIns="0" bIns="0" anchor="t">
            <a:noAutofit/>
          </a:bodyPr>
          <a:lstStyle/>
          <a:p>
            <a:pPr algn="r">
              <a:lnSpc>
                <a:spcPct val="100000"/>
              </a:lnSpc>
            </a:pPr>
            <a:r>
              <a:rPr sz="800" b="0" spc="80">
                <a:solidFill>
                  <a:srgbClr val="5C554F"/>
                </a:solidFill>
                <a:latin typeface="Consola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